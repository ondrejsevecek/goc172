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48" r:id="rId2"/>
    <p:sldMasterId id="2147483733" r:id="rId3"/>
    <p:sldMasterId id="2147483763" r:id="rId4"/>
  </p:sldMasterIdLst>
  <p:notesMasterIdLst>
    <p:notesMasterId r:id="rId68"/>
  </p:notesMasterIdLst>
  <p:sldIdLst>
    <p:sldId id="257" r:id="rId5"/>
    <p:sldId id="258" r:id="rId6"/>
    <p:sldId id="294" r:id="rId7"/>
    <p:sldId id="260" r:id="rId8"/>
    <p:sldId id="259" r:id="rId9"/>
    <p:sldId id="263" r:id="rId10"/>
    <p:sldId id="314" r:id="rId11"/>
    <p:sldId id="319" r:id="rId12"/>
    <p:sldId id="317" r:id="rId13"/>
    <p:sldId id="318" r:id="rId14"/>
    <p:sldId id="261" r:id="rId15"/>
    <p:sldId id="262" r:id="rId16"/>
    <p:sldId id="264" r:id="rId17"/>
    <p:sldId id="265" r:id="rId18"/>
    <p:sldId id="306" r:id="rId19"/>
    <p:sldId id="266" r:id="rId20"/>
    <p:sldId id="296" r:id="rId21"/>
    <p:sldId id="299" r:id="rId22"/>
    <p:sldId id="297" r:id="rId23"/>
    <p:sldId id="301" r:id="rId24"/>
    <p:sldId id="302" r:id="rId25"/>
    <p:sldId id="310" r:id="rId26"/>
    <p:sldId id="298" r:id="rId27"/>
    <p:sldId id="300" r:id="rId28"/>
    <p:sldId id="303" r:id="rId29"/>
    <p:sldId id="304" r:id="rId30"/>
    <p:sldId id="267" r:id="rId31"/>
    <p:sldId id="275" r:id="rId32"/>
    <p:sldId id="268" r:id="rId33"/>
    <p:sldId id="308" r:id="rId34"/>
    <p:sldId id="270" r:id="rId35"/>
    <p:sldId id="271" r:id="rId36"/>
    <p:sldId id="307" r:id="rId37"/>
    <p:sldId id="269" r:id="rId38"/>
    <p:sldId id="273" r:id="rId39"/>
    <p:sldId id="274" r:id="rId40"/>
    <p:sldId id="272" r:id="rId41"/>
    <p:sldId id="315" r:id="rId42"/>
    <p:sldId id="276" r:id="rId43"/>
    <p:sldId id="277" r:id="rId44"/>
    <p:sldId id="313" r:id="rId45"/>
    <p:sldId id="316" r:id="rId46"/>
    <p:sldId id="295" r:id="rId47"/>
    <p:sldId id="280" r:id="rId48"/>
    <p:sldId id="278" r:id="rId49"/>
    <p:sldId id="281" r:id="rId50"/>
    <p:sldId id="279" r:id="rId51"/>
    <p:sldId id="309" r:id="rId52"/>
    <p:sldId id="305" r:id="rId53"/>
    <p:sldId id="292" r:id="rId54"/>
    <p:sldId id="282" r:id="rId55"/>
    <p:sldId id="283" r:id="rId56"/>
    <p:sldId id="284" r:id="rId57"/>
    <p:sldId id="285" r:id="rId58"/>
    <p:sldId id="286" r:id="rId59"/>
    <p:sldId id="287" r:id="rId60"/>
    <p:sldId id="288" r:id="rId61"/>
    <p:sldId id="311" r:id="rId62"/>
    <p:sldId id="289" r:id="rId63"/>
    <p:sldId id="290" r:id="rId64"/>
    <p:sldId id="291" r:id="rId65"/>
    <p:sldId id="293" r:id="rId66"/>
    <p:sldId id="312" r:id="rId67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6C"/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00" autoAdjust="0"/>
    <p:restoredTop sz="94673" autoAdjust="0"/>
  </p:normalViewPr>
  <p:slideViewPr>
    <p:cSldViewPr showGuides="1">
      <p:cViewPr varScale="1">
        <p:scale>
          <a:sx n="70" d="100"/>
          <a:sy n="70" d="100"/>
        </p:scale>
        <p:origin x="92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howGuides="1">
      <p:cViewPr varScale="1">
        <p:scale>
          <a:sx n="98" d="100"/>
          <a:sy n="98" d="100"/>
        </p:scale>
        <p:origin x="-351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1C7F656-6C7C-4016-B601-23B462E6BC26}" type="datetimeFigureOut">
              <a:rPr lang="cs-CZ" smtClean="0"/>
              <a:pPr/>
              <a:t>15.12.2025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319F00E-1642-4F00-B8AC-7581C0C92EAE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786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0FFFC-B299-4DB4-A5A2-5FE0A233D24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018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311807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674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6824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0943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794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619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2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1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69699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295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585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69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9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62114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8070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62414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968323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7881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7906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32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5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42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730256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06096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2593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46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27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02226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103820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376351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51896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12993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1476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748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65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687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2170547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74053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83218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4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9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68896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61573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43512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4917918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737352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69903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607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155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01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0546098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94504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621723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705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6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9370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694" r:id="rId2"/>
    <p:sldLayoutId id="2147483728" r:id="rId3"/>
    <p:sldLayoutId id="2147483726" r:id="rId4"/>
    <p:sldLayoutId id="2147483695" r:id="rId5"/>
    <p:sldLayoutId id="2147483696" r:id="rId6"/>
    <p:sldLayoutId id="2147483723" r:id="rId7"/>
    <p:sldLayoutId id="2147483729" r:id="rId8"/>
    <p:sldLayoutId id="2147483732" r:id="rId9"/>
    <p:sldLayoutId id="2147483727" r:id="rId10"/>
    <p:sldLayoutId id="2147483697" r:id="rId11"/>
    <p:sldLayoutId id="2147483698" r:id="rId12"/>
    <p:sldLayoutId id="2147483730" r:id="rId13"/>
    <p:sldLayoutId id="2147483731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1" name="Skupina 30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74754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76495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4" name="Skupina 23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41237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611188" y="1628801"/>
            <a:ext cx="7921252" cy="1368152"/>
          </a:xfrm>
        </p:spPr>
        <p:txBody>
          <a:bodyPr>
            <a:normAutofit/>
          </a:bodyPr>
          <a:lstStyle/>
          <a:p>
            <a:r>
              <a:rPr lang="en-US" dirty="0"/>
              <a:t>User and computer accounts</a:t>
            </a:r>
            <a:endParaRPr lang="cs-CZ" dirty="0"/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GOPAS: info@gopas</a:t>
            </a:r>
            <a:r>
              <a:rPr lang="en-US"/>
              <a:t>.</a:t>
            </a:r>
            <a:r>
              <a:rPr lang="cs-CZ"/>
              <a:t>cz </a:t>
            </a:r>
            <a:r>
              <a:rPr lang="en-US" dirty="0"/>
              <a:t>|</a:t>
            </a:r>
            <a:r>
              <a:rPr lang="cs-CZ" dirty="0"/>
              <a:t> www.gopas.cz</a:t>
            </a:r>
            <a:r>
              <a:rPr lang="en-US" dirty="0"/>
              <a:t> |</a:t>
            </a:r>
            <a:r>
              <a:rPr lang="cs-CZ" dirty="0"/>
              <a:t> www.facebook.com/P.S.GOPAS</a:t>
            </a:r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0"/>
          </p:nvPr>
        </p:nvSpPr>
        <p:spPr>
          <a:xfrm>
            <a:off x="611188" y="3285232"/>
            <a:ext cx="7921625" cy="2015976"/>
          </a:xfrm>
        </p:spPr>
        <p:txBody>
          <a:bodyPr/>
          <a:lstStyle/>
          <a:p>
            <a:r>
              <a:rPr lang="en-US" dirty="0"/>
              <a:t>Ing. </a:t>
            </a:r>
            <a:r>
              <a:rPr lang="en-US" dirty="0" err="1"/>
              <a:t>Ond</a:t>
            </a:r>
            <a:r>
              <a:rPr lang="cs-CZ" dirty="0" err="1"/>
              <a:t>řej</a:t>
            </a:r>
            <a:r>
              <a:rPr lang="cs-CZ" dirty="0"/>
              <a:t> Ševeček </a:t>
            </a:r>
            <a:r>
              <a:rPr lang="en-US" dirty="0"/>
              <a:t>| GOPAS a.s. |</a:t>
            </a:r>
          </a:p>
          <a:p>
            <a:r>
              <a:rPr lang="en-US" sz="1800" dirty="0"/>
              <a:t>MCSM:Directory2012 | MCM:Directory2008 | </a:t>
            </a:r>
            <a:r>
              <a:rPr lang="en-US" sz="1800" dirty="0" err="1"/>
              <a:t>MVP:Enterprise</a:t>
            </a:r>
            <a:r>
              <a:rPr lang="en-US" sz="1800" dirty="0"/>
              <a:t> Security | Certified Ethical </a:t>
            </a:r>
            <a:r>
              <a:rPr lang="en-US" sz="1800"/>
              <a:t>Hacker | CISA |</a:t>
            </a:r>
            <a:endParaRPr lang="en-US" sz="1800" dirty="0"/>
          </a:p>
          <a:p>
            <a:r>
              <a:rPr lang="en-US" dirty="0"/>
              <a:t>ondrej@sevecek.com | www.sevecek.com |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81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accounts recap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logins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sAMAccountName</a:t>
            </a:r>
            <a:r>
              <a:rPr lang="en-US" dirty="0"/>
              <a:t>: </a:t>
            </a:r>
            <a:r>
              <a:rPr lang="en-US" dirty="0" err="1"/>
              <a:t>gps</a:t>
            </a:r>
            <a:r>
              <a:rPr lang="en-US" dirty="0"/>
              <a:t>\</a:t>
            </a:r>
            <a:r>
              <a:rPr lang="en-US" dirty="0" err="1"/>
              <a:t>kamil</a:t>
            </a:r>
            <a:endParaRPr lang="en-US" dirty="0"/>
          </a:p>
          <a:p>
            <a:pPr lvl="2"/>
            <a:r>
              <a:rPr lang="en-US" dirty="0"/>
              <a:t>20 characters limit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userPrincipalName</a:t>
            </a:r>
            <a:r>
              <a:rPr lang="en-US" dirty="0"/>
              <a:t>: rychnovsky.kamil@gopas.cz</a:t>
            </a:r>
          </a:p>
          <a:p>
            <a:pPr lvl="2"/>
            <a:r>
              <a:rPr lang="en-US" dirty="0"/>
              <a:t>can have variable UPN suffixes</a:t>
            </a:r>
          </a:p>
          <a:p>
            <a:pPr lvl="2"/>
            <a:r>
              <a:rPr lang="en-US" dirty="0"/>
              <a:t>64 characters limit on login prefix, and 64 chars UPN suffix</a:t>
            </a:r>
          </a:p>
          <a:p>
            <a:r>
              <a:rPr lang="en-US" dirty="0"/>
              <a:t>Password stored in AD or local SAM database</a:t>
            </a:r>
          </a:p>
          <a:p>
            <a:pPr lvl="1"/>
            <a:r>
              <a:rPr lang="en-US" dirty="0"/>
              <a:t>hashed form (full-text can be enabled)</a:t>
            </a:r>
          </a:p>
          <a:p>
            <a:r>
              <a:rPr lang="en-US" dirty="0"/>
              <a:t>Stores </a:t>
            </a:r>
            <a:r>
              <a:rPr lang="en-US" dirty="0">
                <a:solidFill>
                  <a:schemeClr val="accent1"/>
                </a:solidFill>
              </a:rPr>
              <a:t>hash history</a:t>
            </a:r>
          </a:p>
          <a:p>
            <a:pPr lvl="1"/>
            <a:r>
              <a:rPr lang="en-US" dirty="0"/>
              <a:t>up to 24 hashes</a:t>
            </a:r>
          </a:p>
          <a:p>
            <a:r>
              <a:rPr lang="en-US" dirty="0"/>
              <a:t>Applies password policies</a:t>
            </a:r>
          </a:p>
          <a:p>
            <a:pPr lvl="1"/>
            <a:r>
              <a:rPr lang="en-US" dirty="0"/>
              <a:t>complexity, length, regular expiration, history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2555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modifications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Change (</a:t>
            </a:r>
            <a:r>
              <a:rPr lang="cs-CZ" dirty="0"/>
              <a:t>změnit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LDAP method </a:t>
            </a:r>
            <a:r>
              <a:rPr lang="en-US" dirty="0" err="1"/>
              <a:t>ChangePassword</a:t>
            </a:r>
            <a:r>
              <a:rPr lang="en-US" dirty="0"/>
              <a:t>(), Win32 function </a:t>
            </a:r>
            <a:r>
              <a:rPr lang="en-US" dirty="0" err="1"/>
              <a:t>NetUserChangePassword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Everyone as long as the current password is supplied</a:t>
            </a:r>
          </a:p>
          <a:p>
            <a:r>
              <a:rPr lang="en-US"/>
              <a:t>Reset (nastavit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LDAP method </a:t>
            </a:r>
            <a:r>
              <a:rPr lang="en-US" dirty="0" err="1"/>
              <a:t>ResetPassword</a:t>
            </a:r>
            <a:r>
              <a:rPr lang="en-US" dirty="0"/>
              <a:t>(), Win32 function </a:t>
            </a:r>
            <a:r>
              <a:rPr lang="en-US" dirty="0" err="1"/>
              <a:t>NetUserSetInfo</a:t>
            </a:r>
            <a:r>
              <a:rPr lang="en-US" dirty="0"/>
              <a:t>()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administrative action</a:t>
            </a:r>
            <a:r>
              <a:rPr lang="en-US" dirty="0"/>
              <a:t>, no previous password knowledge</a:t>
            </a:r>
          </a:p>
          <a:p>
            <a:pPr lvl="2"/>
            <a:r>
              <a:rPr lang="en-US" dirty="0"/>
              <a:t>no history constraint (history yet pushed further)</a:t>
            </a:r>
          </a:p>
          <a:p>
            <a:pPr lvl="2"/>
            <a:r>
              <a:rPr lang="en-US" dirty="0"/>
              <a:t>no minimum password age</a:t>
            </a:r>
          </a:p>
          <a:p>
            <a:r>
              <a:rPr lang="en-US" dirty="0"/>
              <a:t>Interfaces in Secure Channel, LDAP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dirty="0"/>
              <a:t>, Kerberos</a:t>
            </a:r>
          </a:p>
          <a:p>
            <a:pPr lvl="1"/>
            <a:r>
              <a:rPr lang="en-US" dirty="0"/>
              <a:t>SMB TCP 445 named pipes, </a:t>
            </a:r>
            <a:r>
              <a:rPr lang="en-US" dirty="0" err="1"/>
              <a:t>Netlogon</a:t>
            </a:r>
            <a:r>
              <a:rPr lang="en-US" dirty="0"/>
              <a:t> DCOM, TCP 636 (389), TCP/UDP 464</a:t>
            </a:r>
          </a:p>
        </p:txBody>
      </p:sp>
    </p:spTree>
    <p:extLst>
      <p:ext uri="{BB962C8B-B14F-4D97-AF65-F5344CB8AC3E}">
        <p14:creationId xmlns:p14="http://schemas.microsoft.com/office/powerpoint/2010/main" val="324031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point about password history #</a:t>
            </a:r>
            <a:r>
              <a:rPr lang="cs-CZ" dirty="0"/>
              <a:t>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Password history check (N-2)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badPasswordCount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1"/>
                </a:solidFill>
              </a:rPr>
              <a:t>badPasswordTime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do not update for two previous password attempts</a:t>
            </a:r>
          </a:p>
          <a:p>
            <a:pPr lvl="1"/>
            <a:r>
              <a:rPr lang="en-US" dirty="0"/>
              <a:t>requires password history with at least 2 previous hashes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6827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point about password history #</a:t>
            </a:r>
            <a:r>
              <a:rPr lang="cs-CZ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hour after a password change</a:t>
            </a:r>
          </a:p>
          <a:p>
            <a:r>
              <a:rPr lang="en-US" dirty="0">
                <a:solidFill>
                  <a:schemeClr val="accent1"/>
                </a:solidFill>
              </a:rPr>
              <a:t>NTLM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LDAP simple bind </a:t>
            </a:r>
            <a:r>
              <a:rPr lang="en-US" dirty="0"/>
              <a:t>can use previous password for logon</a:t>
            </a:r>
          </a:p>
          <a:p>
            <a:pPr lvl="1"/>
            <a:r>
              <a:rPr lang="en-US" dirty="0"/>
              <a:t>requires password history enabled</a:t>
            </a:r>
            <a:endParaRPr lang="cs-CZ" dirty="0"/>
          </a:p>
          <a:p>
            <a:pPr lvl="1"/>
            <a:r>
              <a:rPr lang="sk-SK" dirty="0"/>
              <a:t>(example - for sure works with IIS NTLM provider</a:t>
            </a:r>
            <a:r>
              <a:rPr lang="en-US" dirty="0"/>
              <a:t>)</a:t>
            </a:r>
          </a:p>
          <a:p>
            <a:r>
              <a:rPr lang="en-US" dirty="0"/>
              <a:t>Does not apply to </a:t>
            </a:r>
            <a:r>
              <a:rPr lang="en-US" dirty="0">
                <a:solidFill>
                  <a:schemeClr val="accent1"/>
                </a:solidFill>
              </a:rPr>
              <a:t>Kerberos</a:t>
            </a:r>
            <a:endParaRPr lang="cs-CZ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993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and account expiration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Password expiration</a:t>
            </a:r>
          </a:p>
          <a:p>
            <a:pPr lvl="1"/>
            <a:r>
              <a:rPr lang="cs-CZ" sz="2000" dirty="0"/>
              <a:t>0xC0000071</a:t>
            </a:r>
            <a:r>
              <a:rPr lang="en-US" sz="2000" dirty="0"/>
              <a:t> = STATUS_PASSWORD_EXPIRED</a:t>
            </a:r>
          </a:p>
          <a:p>
            <a:pPr lvl="1"/>
            <a:r>
              <a:rPr lang="en-US" sz="2000" dirty="0"/>
              <a:t>0xC0000224 = STATUS_PASSWORD_MUST_CHANGE</a:t>
            </a:r>
          </a:p>
          <a:p>
            <a:pPr lvl="1"/>
            <a:r>
              <a:rPr lang="en-US" sz="2000" dirty="0"/>
              <a:t>0x17 = </a:t>
            </a:r>
            <a:r>
              <a:rPr lang="cs-CZ" sz="2000" dirty="0"/>
              <a:t>KDC_ERR_KEY_EXPIRED</a:t>
            </a:r>
            <a:endParaRPr lang="en-US" sz="2000" dirty="0"/>
          </a:p>
          <a:p>
            <a:pPr lvl="1"/>
            <a:r>
              <a:rPr lang="en-US" sz="2000" dirty="0"/>
              <a:t>The user account's password has expired</a:t>
            </a:r>
          </a:p>
          <a:p>
            <a:pPr lvl="1"/>
            <a:r>
              <a:rPr lang="en-US" sz="2000" dirty="0"/>
              <a:t>cannot log on at all, </a:t>
            </a:r>
            <a:r>
              <a:rPr lang="en-US" sz="2000" dirty="0">
                <a:solidFill>
                  <a:schemeClr val="accent1"/>
                </a:solidFill>
              </a:rPr>
              <a:t>visual effect </a:t>
            </a:r>
            <a:r>
              <a:rPr lang="en-US" sz="2000" dirty="0"/>
              <a:t>is just different</a:t>
            </a:r>
          </a:p>
          <a:p>
            <a:pPr lvl="1"/>
            <a:r>
              <a:rPr lang="en-US" sz="2000" dirty="0"/>
              <a:t>controlled by </a:t>
            </a:r>
            <a:r>
              <a:rPr lang="en-US" sz="2000" dirty="0" err="1">
                <a:solidFill>
                  <a:schemeClr val="accent1"/>
                </a:solidFill>
              </a:rPr>
              <a:t>pwdLastSet</a:t>
            </a:r>
            <a:r>
              <a:rPr lang="en-US" sz="2000" dirty="0"/>
              <a:t> attribute</a:t>
            </a:r>
          </a:p>
          <a:p>
            <a:pPr lvl="1"/>
            <a:r>
              <a:rPr lang="en-US" sz="2000" dirty="0"/>
              <a:t>"Must change password at next logon"</a:t>
            </a:r>
          </a:p>
          <a:p>
            <a:pPr lvl="2"/>
            <a:r>
              <a:rPr lang="en-US" sz="1800" dirty="0" err="1"/>
              <a:t>pwdLastSet</a:t>
            </a:r>
            <a:r>
              <a:rPr lang="en-US" sz="1800" dirty="0"/>
              <a:t> = 0</a:t>
            </a:r>
          </a:p>
          <a:p>
            <a:endParaRPr lang="en-US" sz="2400" dirty="0"/>
          </a:p>
          <a:p>
            <a:r>
              <a:rPr lang="en-US" sz="2400" dirty="0"/>
              <a:t>Account expiration</a:t>
            </a:r>
          </a:p>
          <a:p>
            <a:pPr lvl="1"/>
            <a:r>
              <a:rPr lang="cs-CZ" sz="2000" dirty="0"/>
              <a:t>0xC0000193</a:t>
            </a:r>
            <a:r>
              <a:rPr lang="en-US" sz="2000" dirty="0"/>
              <a:t> = STATUS_ACCOUNT_EXPIRED</a:t>
            </a:r>
          </a:p>
          <a:p>
            <a:pPr lvl="1"/>
            <a:r>
              <a:rPr lang="en-US" sz="2000" dirty="0"/>
              <a:t>0x12 = KDC_ERR_CLIENT_REVOKED (TGT request)</a:t>
            </a:r>
          </a:p>
          <a:p>
            <a:pPr lvl="1"/>
            <a:r>
              <a:rPr lang="en-US" sz="2000" dirty="0"/>
              <a:t>0x01 = KDC_ERR_NAME_EXP (TGS request)</a:t>
            </a:r>
          </a:p>
          <a:p>
            <a:pPr lvl="1"/>
            <a:r>
              <a:rPr lang="en-US" sz="2000" dirty="0"/>
              <a:t>"The user's account has expired"</a:t>
            </a:r>
          </a:p>
        </p:txBody>
      </p:sp>
    </p:spTree>
    <p:extLst>
      <p:ext uri="{BB962C8B-B14F-4D97-AF65-F5344CB8AC3E}">
        <p14:creationId xmlns:p14="http://schemas.microsoft.com/office/powerpoint/2010/main" val="380185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3D81-DF3D-1A99-C2E2-67405C0A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account authentication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CD63-BA00-122A-B43A-833F30597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incorrect login</a:t>
            </a:r>
          </a:p>
          <a:p>
            <a:pPr lvl="1"/>
            <a:r>
              <a:rPr lang="en-US" dirty="0"/>
              <a:t>0x6 = KDC_ERR_C_PRINCIPAL_UNKNOWN (event ID = 4771, Kerberos Authentication Service)</a:t>
            </a:r>
          </a:p>
          <a:p>
            <a:pPr lvl="1"/>
            <a:r>
              <a:rPr lang="en-US" dirty="0"/>
              <a:t>0xC000006D = STATUS_LOGON_FAILURE (event ID = 4625, </a:t>
            </a:r>
            <a:r>
              <a:rPr lang="en-US" dirty="0">
                <a:solidFill>
                  <a:schemeClr val="accent2"/>
                </a:solidFill>
              </a:rPr>
              <a:t>Logon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0xC0000064 = STATUS_NO_SUCH_USER</a:t>
            </a:r>
          </a:p>
          <a:p>
            <a:r>
              <a:rPr lang="en-US" dirty="0"/>
              <a:t>bad password</a:t>
            </a:r>
          </a:p>
          <a:p>
            <a:pPr lvl="1"/>
            <a:r>
              <a:rPr lang="en-US" dirty="0"/>
              <a:t>0x18 = KDC_ERR_PREAUTH_FAILED (event ID = 4771, Kerberos Authentication Service)</a:t>
            </a:r>
          </a:p>
          <a:p>
            <a:pPr lvl="1"/>
            <a:r>
              <a:rPr lang="en-US" dirty="0"/>
              <a:t>0xC000006D = STATUS_LOGON_FAILURE (event ID = 4625, </a:t>
            </a:r>
            <a:r>
              <a:rPr lang="en-US" dirty="0">
                <a:solidFill>
                  <a:schemeClr val="accent2"/>
                </a:solidFill>
              </a:rPr>
              <a:t>Logon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0xC000006A = STATUS_WRONG_PASSWORD</a:t>
            </a:r>
          </a:p>
          <a:p>
            <a:r>
              <a:rPr lang="en-US" dirty="0"/>
              <a:t>account locked out</a:t>
            </a:r>
          </a:p>
          <a:p>
            <a:pPr lvl="1"/>
            <a:r>
              <a:rPr lang="en-US" dirty="0"/>
              <a:t>0x12 = KDC_ERR_CLIENT_REVOKED (event ID = 4771, Kerberos Authentication Service)</a:t>
            </a:r>
          </a:p>
          <a:p>
            <a:pPr lvl="1"/>
            <a:r>
              <a:rPr lang="en-US" dirty="0"/>
              <a:t>0xC0000234 = STATUS_ACCOUNT_LOCKED_OUT (event ID = 4625, </a:t>
            </a:r>
            <a:r>
              <a:rPr lang="en-US" dirty="0">
                <a:solidFill>
                  <a:schemeClr val="accent2"/>
                </a:solidFill>
              </a:rPr>
              <a:t>Account Lockout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account disabled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checking even before trying password</a:t>
            </a:r>
          </a:p>
          <a:p>
            <a:pPr lvl="1"/>
            <a:r>
              <a:rPr lang="en-US" dirty="0"/>
              <a:t>0x12 = KDC_ERR_CLIENT_REVOKED (event ID = 4771, Kerberos Authentication Service)</a:t>
            </a:r>
          </a:p>
          <a:p>
            <a:pPr lvl="1"/>
            <a:r>
              <a:rPr lang="en-US" dirty="0"/>
              <a:t>0xC000006E = STATUS_ACCOUNT_RESTRICTION (event ID = 4625, Logon)</a:t>
            </a:r>
          </a:p>
          <a:p>
            <a:pPr lvl="1"/>
            <a:r>
              <a:rPr lang="en-US" dirty="0"/>
              <a:t>0xC0000072 = STATUS_ACCOUNT_DISABLED</a:t>
            </a:r>
          </a:p>
          <a:p>
            <a:r>
              <a:rPr lang="en-US" dirty="0"/>
              <a:t>Smart card is required for interactive logon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checking even before trying password</a:t>
            </a:r>
          </a:p>
          <a:p>
            <a:pPr lvl="1"/>
            <a:r>
              <a:rPr lang="en-US" dirty="0"/>
              <a:t>0xC = KDC_ERR_POLICY (event ID = 4771, Kerberos Authentication Service)</a:t>
            </a:r>
          </a:p>
          <a:p>
            <a:pPr lvl="1"/>
            <a:r>
              <a:rPr lang="en-US" dirty="0"/>
              <a:t>0xC000006E = STATUS_ACCOUNT_RESTRICTION (event ID = 4625, Logon)</a:t>
            </a:r>
          </a:p>
          <a:p>
            <a:pPr lvl="1"/>
            <a:r>
              <a:rPr lang="en-US" dirty="0"/>
              <a:t>0xC00002FA = STATUS_SMARTCARD_LOGON_REQUIRED</a:t>
            </a:r>
          </a:p>
          <a:p>
            <a:r>
              <a:rPr lang="en-US" dirty="0"/>
              <a:t>logon workstations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checking even before trying password</a:t>
            </a:r>
          </a:p>
          <a:p>
            <a:pPr lvl="1"/>
            <a:r>
              <a:rPr lang="en-US" dirty="0"/>
              <a:t>0xC = KDC_ERR_POLICY (event ID = 4771, Kerberos Authentication Service)</a:t>
            </a:r>
          </a:p>
          <a:p>
            <a:pPr lvl="1"/>
            <a:r>
              <a:rPr lang="en-US" dirty="0"/>
              <a:t>0xC000006E = STATUS_ACCOUNT_RESTRICTION (event ID = 4625, Logon)</a:t>
            </a:r>
          </a:p>
          <a:p>
            <a:pPr lvl="1"/>
            <a:r>
              <a:rPr lang="en-US" dirty="0"/>
              <a:t>0xC0000070 = STATUS_INVALID_WORKSTATION</a:t>
            </a:r>
          </a:p>
          <a:p>
            <a:r>
              <a:rPr lang="en-US" dirty="0"/>
              <a:t>logon hours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checking even before trying password</a:t>
            </a:r>
          </a:p>
          <a:p>
            <a:pPr lvl="1"/>
            <a:r>
              <a:rPr lang="en-US" dirty="0"/>
              <a:t>0x12 = KDC_ERR_CLIENT_REVOKED (event ID = 4771, Kerberos Authentication Service)</a:t>
            </a:r>
          </a:p>
          <a:p>
            <a:pPr lvl="1"/>
            <a:r>
              <a:rPr lang="en-US" dirty="0"/>
              <a:t>0xC000006E = STATUS_ACCOUNT_RESTRICTION (event ID = 4625, Logon)</a:t>
            </a:r>
          </a:p>
          <a:p>
            <a:pPr lvl="1"/>
            <a:r>
              <a:rPr lang="en-US" dirty="0"/>
              <a:t>0xC000006F = STATUS_INVALID_LOGON_HOURS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6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7914-0505-4A02-09ED-D4BA593E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782960"/>
          </a:xfrm>
        </p:spPr>
        <p:txBody>
          <a:bodyPr>
            <a:noAutofit/>
          </a:bodyPr>
          <a:lstStyle/>
          <a:p>
            <a:r>
              <a:rPr lang="en-US" sz="2000" dirty="0"/>
              <a:t>Different order of checking password vs. account states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11361E8-7724-2C02-49CC-EB5BD8EC4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373337"/>
              </p:ext>
            </p:extLst>
          </p:nvPr>
        </p:nvGraphicFramePr>
        <p:xfrm>
          <a:off x="914400" y="1713843"/>
          <a:ext cx="8229600" cy="5144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468840" imgH="4668059" progId="">
                  <p:embed/>
                </p:oleObj>
              </mc:Choice>
              <mc:Fallback>
                <p:oleObj r:id="rId2" imgW="7468840" imgH="4668059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1713843"/>
                        <a:ext cx="8229600" cy="5144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326692-D16C-EBD3-D7A8-E2507A7387FE}"/>
              </a:ext>
            </a:extLst>
          </p:cNvPr>
          <p:cNvSpPr txBox="1"/>
          <p:nvPr/>
        </p:nvSpPr>
        <p:spPr>
          <a:xfrm>
            <a:off x="2555776" y="981690"/>
            <a:ext cx="6390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Note: Kerberos checks account status first and only then its password, while NTLM may lock even disabled accounts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2ABBE-6303-35D4-BBF4-E92D931C9255}"/>
              </a:ext>
            </a:extLst>
          </p:cNvPr>
          <p:cNvSpPr txBox="1"/>
          <p:nvPr/>
        </p:nvSpPr>
        <p:spPr>
          <a:xfrm>
            <a:off x="4211960" y="3789040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Note: empty Source Workstation from non-Windows clients</a:t>
            </a:r>
          </a:p>
        </p:txBody>
      </p:sp>
    </p:spTree>
    <p:extLst>
      <p:ext uri="{BB962C8B-B14F-4D97-AF65-F5344CB8AC3E}">
        <p14:creationId xmlns:p14="http://schemas.microsoft.com/office/powerpoint/2010/main" val="3301068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CCCD-F15F-7764-D053-88B258AE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>
            <a:normAutofit/>
          </a:bodyPr>
          <a:lstStyle/>
          <a:p>
            <a:r>
              <a:rPr lang="en-US" sz="1800" dirty="0"/>
              <a:t>Event filters and logins (</a:t>
            </a:r>
            <a:r>
              <a:rPr lang="en-US" sz="1800" dirty="0">
                <a:solidFill>
                  <a:schemeClr val="accent5"/>
                </a:solidFill>
              </a:rPr>
              <a:t>SAM login </a:t>
            </a:r>
            <a:r>
              <a:rPr lang="en-US" sz="1800" dirty="0"/>
              <a:t>if found, or </a:t>
            </a:r>
            <a:r>
              <a:rPr lang="en-US" sz="1800" dirty="0">
                <a:solidFill>
                  <a:schemeClr val="accent4"/>
                </a:solidFill>
              </a:rPr>
              <a:t>what the user supplied</a:t>
            </a:r>
            <a:r>
              <a:rPr lang="en-US" sz="1800" dirty="0"/>
              <a:t> exactly)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DF520-8A9B-4441-1F4D-7AB1CC1E1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9592"/>
            <a:ext cx="8229600" cy="58417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*[</a:t>
            </a: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System[Provider[@Name='Microsoft-Windows-Security-Auditing']]</a:t>
            </a: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System[TimeCreated[timediff(@SystemTime) </a:t>
            </a:r>
            <a:r>
              <a:rPr lang="nn-NO" sz="1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&amp;lt;=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3600000]]</a:t>
            </a: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EventData/Data[@Name='</a:t>
            </a:r>
            <a:r>
              <a:rPr lang="nn-NO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SubjectUserName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 = '</a:t>
            </a:r>
            <a:r>
              <a:rPr lang="nn-NO" sz="1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kamil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EventData/Data[@Name='</a:t>
            </a:r>
            <a:r>
              <a:rPr lang="nn-NO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TargetUserName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 = '</a:t>
            </a:r>
            <a:r>
              <a:rPr lang="nn-NO" sz="1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kamil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EventData/Data[@Name='</a:t>
            </a:r>
            <a:r>
              <a:rPr lang="nn-NO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AccountName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 = '</a:t>
            </a:r>
            <a:r>
              <a:rPr lang="nn-NO" sz="1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kamil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EventData/Data[@Name='SubjectUserName'] = '</a:t>
            </a:r>
            <a:r>
              <a:rPr lang="nn-NO" sz="1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failure.invalid.login@gopas.cz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EventData/Data[@Name='TargetUserName'] = '</a:t>
            </a:r>
            <a:r>
              <a:rPr lang="nn-NO" sz="1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failure.invalid.login@gopas.cz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EventData/Data[@Name='AccountName'] = '</a:t>
            </a:r>
            <a:r>
              <a:rPr lang="nn-NO" sz="1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failure.invalid.login@gopas.cz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85225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CCCD-F15F-7764-D053-88B258AE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>
            <a:normAutofit/>
          </a:bodyPr>
          <a:lstStyle/>
          <a:p>
            <a:r>
              <a:rPr lang="en-US" sz="1800" dirty="0"/>
              <a:t>Event filters and WEVTUTIL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DF520-8A9B-4441-1F4D-7AB1CC1E1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9592"/>
            <a:ext cx="8229600" cy="584177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wevtutil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qe </a:t>
            </a:r>
            <a:r>
              <a:rPr lang="nn-NO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/r:</a:t>
            </a:r>
            <a:r>
              <a:rPr lang="nn-NO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DC1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/f:</a:t>
            </a:r>
            <a:r>
              <a:rPr lang="nn-NO" sz="1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n-NO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'/q: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*[System[TimeCreated[timediff(@SystemTime)</a:t>
            </a:r>
            <a:r>
              <a:rPr lang="nn-NO" sz="1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3600000]]]</a:t>
            </a:r>
            <a:r>
              <a:rPr lang="nn-NO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nn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 c:\temp\lastHour.xml</a:t>
            </a:r>
          </a:p>
          <a:p>
            <a:pPr marL="0" indent="0">
              <a:buNone/>
            </a:pPr>
            <a:endParaRPr lang="nn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468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accounts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 classes</a:t>
            </a:r>
          </a:p>
          <a:p>
            <a:pPr lvl="1"/>
            <a:r>
              <a:rPr lang="en-US" dirty="0"/>
              <a:t>user, computer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userPrincipalName</a:t>
            </a:r>
            <a:r>
              <a:rPr lang="en-US" dirty="0"/>
              <a:t> = -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 err="1">
                <a:solidFill>
                  <a:schemeClr val="accent1"/>
                </a:solidFill>
              </a:rPr>
              <a:t>sAMAccountName</a:t>
            </a:r>
            <a:r>
              <a:rPr lang="en-US" dirty="0"/>
              <a:t> = comp</a:t>
            </a:r>
            <a:r>
              <a:rPr lang="en-US" dirty="0">
                <a:solidFill>
                  <a:schemeClr val="accent1"/>
                </a:solidFill>
              </a:rPr>
              <a:t>$</a:t>
            </a:r>
          </a:p>
          <a:p>
            <a:r>
              <a:rPr lang="en-US" dirty="0"/>
              <a:t>No password policies</a:t>
            </a:r>
          </a:p>
          <a:p>
            <a:pPr lvl="1"/>
            <a:r>
              <a:rPr lang="en-US" dirty="0"/>
              <a:t>never lock out</a:t>
            </a:r>
          </a:p>
          <a:p>
            <a:pPr lvl="1"/>
            <a:r>
              <a:rPr lang="en-US" dirty="0"/>
              <a:t>no complexity enforced</a:t>
            </a:r>
          </a:p>
          <a:p>
            <a:pPr lvl="1"/>
            <a:r>
              <a:rPr lang="en-US" dirty="0"/>
              <a:t>history maintained because of the previous two specials</a:t>
            </a:r>
          </a:p>
          <a:p>
            <a:pPr lvl="1"/>
            <a:r>
              <a:rPr lang="en-US" dirty="0"/>
              <a:t>never expires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91940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account password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Stored locally in registry</a:t>
            </a:r>
          </a:p>
          <a:p>
            <a:pPr lvl="1"/>
            <a:r>
              <a:rPr lang="en-US"/>
              <a:t>HKLM\SECURITY\Policy\Secrets\$MACHINE.ACC</a:t>
            </a:r>
            <a:endParaRPr lang="en-US" dirty="0"/>
          </a:p>
          <a:p>
            <a:pPr lvl="2"/>
            <a:r>
              <a:rPr lang="en-US" dirty="0"/>
              <a:t>current and previous password</a:t>
            </a:r>
          </a:p>
          <a:p>
            <a:pPr lvl="2"/>
            <a:r>
              <a:rPr lang="en-US" dirty="0"/>
              <a:t>full-text version</a:t>
            </a:r>
          </a:p>
          <a:p>
            <a:r>
              <a:rPr lang="en-US" dirty="0"/>
              <a:t>Changed regularly every 30 days</a:t>
            </a:r>
          </a:p>
          <a:p>
            <a:pPr lvl="1"/>
            <a:r>
              <a:rPr lang="en-US" dirty="0"/>
              <a:t>does not change if offline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9496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machine account password age</a:t>
            </a:r>
            <a:endParaRPr lang="cs-CZ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695" y="1196752"/>
            <a:ext cx="8820609" cy="5040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6442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Disable machine account password changes</a:t>
            </a:r>
            <a:endParaRPr lang="cs-CZ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1412776"/>
            <a:ext cx="83915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2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password change event on DC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1571625"/>
            <a:ext cx="6210300" cy="5286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71625"/>
            <a:ext cx="238660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Audit Success</a:t>
            </a:r>
          </a:p>
          <a:p>
            <a:r>
              <a:rPr lang="en-US" sz="1600" dirty="0"/>
              <a:t>Event ID: </a:t>
            </a:r>
            <a:r>
              <a:rPr lang="en-US" sz="1600" dirty="0">
                <a:solidFill>
                  <a:schemeClr val="accent1"/>
                </a:solidFill>
              </a:rPr>
              <a:t>4742</a:t>
            </a:r>
          </a:p>
          <a:p>
            <a:r>
              <a:rPr lang="en-US" sz="1600" dirty="0"/>
              <a:t>Source: Microsoft Windows security auditing</a:t>
            </a:r>
          </a:p>
          <a:p>
            <a:r>
              <a:rPr lang="en-US" sz="1600" dirty="0"/>
              <a:t>Category: </a:t>
            </a:r>
            <a:r>
              <a:rPr lang="en-US" sz="1600" dirty="0">
                <a:solidFill>
                  <a:schemeClr val="accent1"/>
                </a:solidFill>
              </a:rPr>
              <a:t>Computer Account Management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accent1"/>
                </a:solidFill>
              </a:rPr>
              <a:t>Password Last Set </a:t>
            </a:r>
            <a:r>
              <a:rPr lang="en-US" sz="1600" dirty="0"/>
              <a:t>attribute modified by ANONYMOUS LOGON</a:t>
            </a:r>
          </a:p>
        </p:txBody>
      </p:sp>
    </p:spTree>
    <p:extLst>
      <p:ext uri="{BB962C8B-B14F-4D97-AF65-F5344CB8AC3E}">
        <p14:creationId xmlns:p14="http://schemas.microsoft.com/office/powerpoint/2010/main" val="2142195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password tools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nltest</a:t>
            </a:r>
            <a:r>
              <a:rPr lang="en-US" dirty="0"/>
              <a:t> /</a:t>
            </a:r>
            <a:r>
              <a:rPr lang="en-US" dirty="0" err="1"/>
              <a:t>sc_verify:gps</a:t>
            </a:r>
            <a:endParaRPr lang="en-US" dirty="0"/>
          </a:p>
          <a:p>
            <a:r>
              <a:rPr lang="en-US" dirty="0" err="1"/>
              <a:t>nltest</a:t>
            </a:r>
            <a:r>
              <a:rPr lang="en-US" dirty="0"/>
              <a:t> /</a:t>
            </a:r>
            <a:r>
              <a:rPr lang="en-US" dirty="0" err="1"/>
              <a:t>sc_reset:gps</a:t>
            </a:r>
            <a:endParaRPr lang="en-US" dirty="0"/>
          </a:p>
          <a:p>
            <a:r>
              <a:rPr lang="en-US" dirty="0" err="1">
                <a:solidFill>
                  <a:schemeClr val="accent1"/>
                </a:solidFill>
              </a:rPr>
              <a:t>netdom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resetpwd</a:t>
            </a:r>
            <a:r>
              <a:rPr lang="en-US" dirty="0"/>
              <a:t> /Server:dc1 /</a:t>
            </a:r>
            <a:r>
              <a:rPr lang="en-US" dirty="0" err="1"/>
              <a:t>UserD:gps</a:t>
            </a:r>
            <a:r>
              <a:rPr lang="en-US" dirty="0"/>
              <a:t>\domain-admin /</a:t>
            </a:r>
            <a:r>
              <a:rPr lang="en-US" dirty="0" err="1"/>
              <a:t>PasswordD:Pa</a:t>
            </a:r>
            <a:r>
              <a:rPr lang="en-US" dirty="0"/>
              <a:t>$$w0rd</a:t>
            </a:r>
          </a:p>
          <a:p>
            <a:pPr lvl="1"/>
            <a:r>
              <a:rPr lang="en-US" dirty="0"/>
              <a:t>or dis-join and re-join again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accent1"/>
                </a:solidFill>
              </a:rPr>
              <a:t>Test-</a:t>
            </a:r>
            <a:r>
              <a:rPr lang="en-US" dirty="0" err="1">
                <a:solidFill>
                  <a:schemeClr val="accent1"/>
                </a:solidFill>
              </a:rPr>
              <a:t>ComputerSecureChannel</a:t>
            </a:r>
            <a:r>
              <a:rPr lang="en-US" dirty="0">
                <a:solidFill>
                  <a:schemeClr val="accent1"/>
                </a:solidFill>
              </a:rPr>
              <a:t> -Repair</a:t>
            </a:r>
          </a:p>
          <a:p>
            <a:pPr lvl="1"/>
            <a:r>
              <a:rPr lang="en-US" dirty="0"/>
              <a:t>Reset-</a:t>
            </a:r>
            <a:r>
              <a:rPr lang="en-US" dirty="0" err="1"/>
              <a:t>ComputerMachinePassword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44877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password and secure channel error symptoms </a:t>
            </a:r>
            <a:r>
              <a:rPr lang="en-US" dirty="0">
                <a:solidFill>
                  <a:schemeClr val="accent1"/>
                </a:solidFill>
              </a:rPr>
              <a:t>on the affected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Cannot logon locally online (from cache ok)</a:t>
            </a:r>
          </a:p>
          <a:p>
            <a:pPr lvl="1"/>
            <a:r>
              <a:rPr lang="en-US" dirty="0"/>
              <a:t>the trust relationship between this workstation and the primary domain failed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03620"/>
            <a:ext cx="7848872" cy="406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11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password and secure channel error symptoms </a:t>
            </a:r>
            <a:r>
              <a:rPr lang="en-US" dirty="0">
                <a:solidFill>
                  <a:schemeClr val="accent1"/>
                </a:solidFill>
              </a:rPr>
              <a:t>on the affected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nltest</a:t>
            </a:r>
            <a:r>
              <a:rPr lang="en-US" dirty="0"/>
              <a:t> /</a:t>
            </a:r>
            <a:r>
              <a:rPr lang="en-US" dirty="0" err="1"/>
              <a:t>sc_verify:gps</a:t>
            </a:r>
            <a:endParaRPr lang="en-US" dirty="0"/>
          </a:p>
          <a:p>
            <a:pPr lvl="1"/>
            <a:r>
              <a:rPr lang="en-US" dirty="0"/>
              <a:t>ERROR_ACCESS_DENIED = 0x5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83" y="3356992"/>
            <a:ext cx="8868833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22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password and secure channel error symptoms </a:t>
            </a:r>
            <a:r>
              <a:rPr lang="en-US" dirty="0">
                <a:solidFill>
                  <a:schemeClr val="accent1"/>
                </a:solidFill>
              </a:rPr>
              <a:t>on the affected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2098576" cy="4824536"/>
          </a:xfrm>
        </p:spPr>
        <p:txBody>
          <a:bodyPr>
            <a:normAutofit/>
          </a:bodyPr>
          <a:lstStyle/>
          <a:p>
            <a:r>
              <a:rPr lang="en-US" sz="1600" dirty="0" err="1"/>
              <a:t>gpupdate</a:t>
            </a:r>
            <a:endParaRPr lang="en-US" sz="1600" dirty="0"/>
          </a:p>
          <a:p>
            <a:pPr lvl="1"/>
            <a:r>
              <a:rPr lang="en-US" sz="1600" dirty="0"/>
              <a:t>computer update fails</a:t>
            </a:r>
          </a:p>
          <a:p>
            <a:pPr lvl="1"/>
            <a:r>
              <a:rPr lang="en-US" sz="1600" dirty="0"/>
              <a:t>user update ok</a:t>
            </a:r>
          </a:p>
          <a:p>
            <a:r>
              <a:rPr lang="en-US" sz="1600" dirty="0" err="1"/>
              <a:t>ipconfig</a:t>
            </a:r>
            <a:r>
              <a:rPr lang="en-US" sz="1600" dirty="0"/>
              <a:t> /</a:t>
            </a:r>
            <a:r>
              <a:rPr lang="en-US" sz="1600" dirty="0" err="1"/>
              <a:t>registerdns</a:t>
            </a:r>
            <a:endParaRPr lang="en-US" sz="1600" dirty="0"/>
          </a:p>
          <a:p>
            <a:pPr lvl="1"/>
            <a:r>
              <a:rPr lang="en-US" sz="1600" dirty="0"/>
              <a:t>fails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800" y="1700808"/>
            <a:ext cx="6402200" cy="514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88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password and secure channel error symptoms </a:t>
            </a:r>
            <a:r>
              <a:rPr lang="en-US" dirty="0">
                <a:solidFill>
                  <a:schemeClr val="accent1"/>
                </a:solidFill>
              </a:rPr>
              <a:t>on the affected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/>
          <a:p>
            <a:r>
              <a:rPr lang="en-US" sz="1600" dirty="0"/>
              <a:t>Warning, Event ID 130, Time-Service</a:t>
            </a:r>
          </a:p>
          <a:p>
            <a:pPr lvl="1"/>
            <a:r>
              <a:rPr lang="en-US" sz="1200" dirty="0" err="1"/>
              <a:t>NtpClient</a:t>
            </a:r>
            <a:r>
              <a:rPr lang="en-US" sz="1200" dirty="0"/>
              <a:t> was unable to set a domain peer to use as a time source because of failure in establishing a trust relationship between this computer and the domain in order to securely synchronize time.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264673"/>
            <a:ext cx="6588224" cy="458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91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password and secure channel error symptoms </a:t>
            </a:r>
            <a:r>
              <a:rPr lang="en-US" dirty="0">
                <a:solidFill>
                  <a:schemeClr val="accent1"/>
                </a:solidFill>
              </a:rPr>
              <a:t>on the affected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/>
          <a:p>
            <a:r>
              <a:rPr lang="en-US" sz="1600" dirty="0"/>
              <a:t>Error, Event ID 3210, NETLOGON</a:t>
            </a:r>
          </a:p>
          <a:p>
            <a:pPr lvl="1"/>
            <a:r>
              <a:rPr lang="en-US" sz="1200" dirty="0"/>
              <a:t>This computer could not authenticate with a Windows domain controller for domain, and therefore this computer might deny logon requests. This inability to authenticate might be cause by the password for this computer account is not recognized.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327193"/>
            <a:ext cx="6516216" cy="453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26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session setup from computer failed to authenticate when doing NTLM pass-through</a:t>
            </a:r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775" y="1844825"/>
            <a:ext cx="7209961" cy="5013176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/>
          <a:p>
            <a:r>
              <a:rPr lang="en-US" sz="1600" dirty="0"/>
              <a:t>Error, Event ID 5722, NETLOGON</a:t>
            </a:r>
          </a:p>
        </p:txBody>
      </p:sp>
    </p:spTree>
    <p:extLst>
      <p:ext uri="{BB962C8B-B14F-4D97-AF65-F5344CB8AC3E}">
        <p14:creationId xmlns:p14="http://schemas.microsoft.com/office/powerpoint/2010/main" val="769880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password and secure channel error symptoms </a:t>
            </a:r>
            <a:r>
              <a:rPr lang="en-US" dirty="0">
                <a:solidFill>
                  <a:schemeClr val="accent1"/>
                </a:solidFill>
              </a:rPr>
              <a:t>from the remote client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NTLM authentication fails with</a:t>
            </a:r>
          </a:p>
          <a:p>
            <a:pPr lvl="1"/>
            <a:r>
              <a:rPr lang="en-US" dirty="0"/>
              <a:t>the trust relationship between this workstation and the primary domain failed</a:t>
            </a:r>
          </a:p>
          <a:p>
            <a:r>
              <a:rPr lang="en-US" dirty="0"/>
              <a:t>Kerberos authentication fails with</a:t>
            </a:r>
          </a:p>
          <a:p>
            <a:pPr lvl="1"/>
            <a:r>
              <a:rPr lang="en-US" dirty="0"/>
              <a:t>the target principal name is incorrect</a:t>
            </a:r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9" y="3748112"/>
            <a:ext cx="8960041" cy="26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87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password and secure channel error symptoms </a:t>
            </a:r>
            <a:r>
              <a:rPr lang="en-US" dirty="0">
                <a:solidFill>
                  <a:schemeClr val="accent1"/>
                </a:solidFill>
              </a:rPr>
              <a:t>from the remote client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RDP access fails</a:t>
            </a:r>
          </a:p>
          <a:p>
            <a:pPr lvl="1"/>
            <a:r>
              <a:rPr lang="en-US" dirty="0"/>
              <a:t>an authentication error has occurred. The specified network password is not correct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996952"/>
            <a:ext cx="463867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744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password and secure channel error troubleshooting </a:t>
            </a:r>
            <a:r>
              <a:rPr lang="en-US" dirty="0">
                <a:solidFill>
                  <a:schemeClr val="accent1"/>
                </a:solidFill>
              </a:rPr>
              <a:t>on DCs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pwdLastSet</a:t>
            </a:r>
            <a:r>
              <a:rPr lang="en-US" dirty="0"/>
              <a:t> attribute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884193"/>
            <a:ext cx="7084030" cy="494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58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Machine password and secure channel error troubleshooting </a:t>
            </a:r>
            <a:r>
              <a:rPr lang="en-US" sz="2400" dirty="0">
                <a:solidFill>
                  <a:schemeClr val="accent1"/>
                </a:solidFill>
              </a:rPr>
              <a:t>on DCs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unicodePwd</a:t>
            </a:r>
            <a:r>
              <a:rPr lang="en-US" dirty="0"/>
              <a:t> attribute metadata</a:t>
            </a:r>
          </a:p>
          <a:p>
            <a:pPr lvl="1"/>
            <a:r>
              <a:rPr lang="en-US" dirty="0" err="1"/>
              <a:t>repadmin</a:t>
            </a:r>
            <a:r>
              <a:rPr lang="en-US" dirty="0"/>
              <a:t> /</a:t>
            </a:r>
            <a:r>
              <a:rPr lang="en-US" dirty="0" err="1"/>
              <a:t>showobjmeta</a:t>
            </a:r>
            <a:endParaRPr lang="en-US" dirty="0"/>
          </a:p>
          <a:p>
            <a:pPr lvl="1"/>
            <a:r>
              <a:rPr lang="en-US" dirty="0" err="1"/>
              <a:t>repadmin</a:t>
            </a:r>
            <a:r>
              <a:rPr lang="en-US" dirty="0"/>
              <a:t> /</a:t>
            </a:r>
            <a:r>
              <a:rPr lang="en-US" dirty="0" err="1"/>
              <a:t>replsummary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9" y="2780928"/>
            <a:ext cx="8922382" cy="38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3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Accounts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Services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jobs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IIS application pools </a:t>
            </a:r>
            <a:r>
              <a:rPr lang="en-US" dirty="0"/>
              <a:t>run under some service identity</a:t>
            </a:r>
          </a:p>
          <a:p>
            <a:r>
              <a:rPr lang="en-US" dirty="0"/>
              <a:t>NT AUTHORITY\System</a:t>
            </a:r>
          </a:p>
          <a:p>
            <a:r>
              <a:rPr lang="en-US" dirty="0"/>
              <a:t>NT AUTHORITY\Network Service</a:t>
            </a:r>
          </a:p>
          <a:p>
            <a:r>
              <a:rPr lang="en-US" dirty="0"/>
              <a:t>NT AUTHORITY\Local Service</a:t>
            </a:r>
          </a:p>
          <a:p>
            <a:r>
              <a:rPr lang="en-US" dirty="0"/>
              <a:t>NT SERVICE\*</a:t>
            </a:r>
          </a:p>
          <a:p>
            <a:r>
              <a:rPr lang="en-US" dirty="0"/>
              <a:t>IIS APPPOOL\*</a:t>
            </a:r>
          </a:p>
          <a:p>
            <a:r>
              <a:rPr lang="en-US" dirty="0"/>
              <a:t>&lt;domain&gt;\*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49794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identities on Windows XP+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SYSTEM</a:t>
            </a:r>
          </a:p>
          <a:p>
            <a:pPr lvl="1"/>
            <a:r>
              <a:rPr lang="en-US" dirty="0"/>
              <a:t>local </a:t>
            </a:r>
            <a:r>
              <a:rPr lang="en-US" dirty="0">
                <a:solidFill>
                  <a:schemeClr val="accent1"/>
                </a:solidFill>
              </a:rPr>
              <a:t>Administrators</a:t>
            </a:r>
          </a:p>
          <a:p>
            <a:pPr lvl="1"/>
            <a:r>
              <a:rPr lang="en-US" dirty="0"/>
              <a:t>uses </a:t>
            </a:r>
            <a:r>
              <a:rPr lang="en-US" dirty="0">
                <a:solidFill>
                  <a:schemeClr val="accent1"/>
                </a:solidFill>
              </a:rPr>
              <a:t>COMPUTER$</a:t>
            </a:r>
            <a:r>
              <a:rPr lang="en-US" dirty="0"/>
              <a:t> to access network resources</a:t>
            </a:r>
          </a:p>
          <a:p>
            <a:pPr lvl="1"/>
            <a:r>
              <a:rPr lang="en-US" dirty="0"/>
              <a:t>must use Kerberos on 2003- (cannot use NTLM)</a:t>
            </a:r>
          </a:p>
          <a:p>
            <a:pPr lvl="1"/>
            <a:r>
              <a:rPr lang="en-US" dirty="0"/>
              <a:t>2008+ </a:t>
            </a:r>
            <a:r>
              <a:rPr lang="en-US" dirty="0">
                <a:solidFill>
                  <a:schemeClr val="accent1"/>
                </a:solidFill>
              </a:rPr>
              <a:t>Allow Local System to use computer identity for NTLM</a:t>
            </a:r>
          </a:p>
          <a:p>
            <a:r>
              <a:rPr lang="en-US" dirty="0"/>
              <a:t>Network Service</a:t>
            </a:r>
          </a:p>
          <a:p>
            <a:pPr lvl="1"/>
            <a:r>
              <a:rPr lang="en-US" dirty="0"/>
              <a:t>local </a:t>
            </a:r>
            <a:r>
              <a:rPr lang="en-US" dirty="0">
                <a:solidFill>
                  <a:schemeClr val="accent1"/>
                </a:solidFill>
              </a:rPr>
              <a:t>Users</a:t>
            </a:r>
          </a:p>
          <a:p>
            <a:pPr lvl="1"/>
            <a:r>
              <a:rPr lang="en-US" dirty="0"/>
              <a:t>uses </a:t>
            </a:r>
            <a:r>
              <a:rPr lang="en-US" dirty="0">
                <a:solidFill>
                  <a:schemeClr val="accent1"/>
                </a:solidFill>
              </a:rPr>
              <a:t>COMPUTER$</a:t>
            </a:r>
            <a:r>
              <a:rPr lang="en-US" dirty="0"/>
              <a:t> to access network resources</a:t>
            </a:r>
          </a:p>
          <a:p>
            <a:r>
              <a:rPr lang="en-US" dirty="0"/>
              <a:t>Local Service</a:t>
            </a:r>
          </a:p>
          <a:p>
            <a:pPr lvl="1"/>
            <a:r>
              <a:rPr lang="en-US" dirty="0"/>
              <a:t>local </a:t>
            </a:r>
            <a:r>
              <a:rPr lang="en-US" dirty="0">
                <a:solidFill>
                  <a:schemeClr val="accent1"/>
                </a:solidFill>
              </a:rPr>
              <a:t>Users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anonymous</a:t>
            </a:r>
            <a:r>
              <a:rPr lang="en-US" dirty="0"/>
              <a:t> network access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33340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Service vs. Local Service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DNS Client </a:t>
            </a:r>
            <a:r>
              <a:rPr lang="en-US" dirty="0"/>
              <a:t>must register DNS name</a:t>
            </a:r>
          </a:p>
          <a:p>
            <a:pPr lvl="1"/>
            <a:r>
              <a:rPr lang="en-US" dirty="0"/>
              <a:t>NT AUTHORITY\Network Service</a:t>
            </a:r>
          </a:p>
          <a:p>
            <a:pPr lvl="1"/>
            <a:r>
              <a:rPr lang="en-US" dirty="0"/>
              <a:t>dynamic </a:t>
            </a:r>
            <a:r>
              <a:rPr lang="en-US" dirty="0" err="1"/>
              <a:t>dns</a:t>
            </a:r>
            <a:r>
              <a:rPr lang="en-US" dirty="0"/>
              <a:t> update requires Kerberos authentication</a:t>
            </a:r>
          </a:p>
          <a:p>
            <a:r>
              <a:rPr lang="en-US" dirty="0">
                <a:solidFill>
                  <a:schemeClr val="accent1"/>
                </a:solidFill>
              </a:rPr>
              <a:t>DHCP Client </a:t>
            </a:r>
            <a:r>
              <a:rPr lang="en-US" dirty="0"/>
              <a:t>although is a networking service, does not require any authentication</a:t>
            </a:r>
          </a:p>
          <a:p>
            <a:pPr lvl="1"/>
            <a:r>
              <a:rPr lang="en-US" dirty="0"/>
              <a:t>NT AUTHORITY\Local Service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85812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Network Service does </a:t>
            </a:r>
            <a:r>
              <a:rPr lang="en-US" sz="2400">
                <a:solidFill>
                  <a:schemeClr val="accent1"/>
                </a:solidFill>
              </a:rPr>
              <a:t>not</a:t>
            </a:r>
            <a:r>
              <a:rPr lang="en-US" sz="2400"/>
              <a:t> even have </a:t>
            </a:r>
            <a:r>
              <a:rPr lang="en-US" sz="2400" dirty="0">
                <a:solidFill>
                  <a:schemeClr val="accent1"/>
                </a:solidFill>
              </a:rPr>
              <a:t>local</a:t>
            </a:r>
            <a:r>
              <a:rPr lang="en-US" sz="2400" dirty="0"/>
              <a:t>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71600" y="1628800"/>
            <a:ext cx="2592288" cy="45365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SRV-IIS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24128" y="1628800"/>
            <a:ext cx="2592288" cy="45365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SRV-SQL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616" y="2204864"/>
            <a:ext cx="1656184" cy="4320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http://finance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63688" y="3429000"/>
            <a:ext cx="1656184" cy="4320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G:\IIS\finance</a:t>
            </a:r>
          </a:p>
        </p:txBody>
      </p:sp>
      <p:cxnSp>
        <p:nvCxnSpPr>
          <p:cNvPr id="14" name="Elbow Connector 13"/>
          <p:cNvCxnSpPr>
            <a:stCxn id="7" idx="3"/>
            <a:endCxn id="10" idx="0"/>
          </p:cNvCxnSpPr>
          <p:nvPr/>
        </p:nvCxnSpPr>
        <p:spPr>
          <a:xfrm flipH="1">
            <a:off x="2591780" y="2420888"/>
            <a:ext cx="180020" cy="1008112"/>
          </a:xfrm>
          <a:prstGeom prst="bentConnector4">
            <a:avLst>
              <a:gd name="adj1" fmla="val -126986"/>
              <a:gd name="adj2" fmla="val 60714"/>
            </a:avLst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5" name="Rectangle 14"/>
          <p:cNvSpPr/>
          <p:nvPr/>
        </p:nvSpPr>
        <p:spPr>
          <a:xfrm>
            <a:off x="1095149" y="4221088"/>
            <a:ext cx="1656184" cy="4320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http://warehouse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43221" y="5517232"/>
            <a:ext cx="1656184" cy="4320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G:\IIS\warehouse</a:t>
            </a:r>
          </a:p>
        </p:txBody>
      </p:sp>
      <p:cxnSp>
        <p:nvCxnSpPr>
          <p:cNvPr id="17" name="Elbow Connector 16"/>
          <p:cNvCxnSpPr>
            <a:stCxn id="15" idx="3"/>
            <a:endCxn id="16" idx="0"/>
          </p:cNvCxnSpPr>
          <p:nvPr/>
        </p:nvCxnSpPr>
        <p:spPr>
          <a:xfrm flipH="1">
            <a:off x="2571313" y="4437112"/>
            <a:ext cx="180020" cy="1080120"/>
          </a:xfrm>
          <a:prstGeom prst="bentConnector4">
            <a:avLst>
              <a:gd name="adj1" fmla="val -126986"/>
              <a:gd name="adj2" fmla="val 6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8" name="Rectangle 17"/>
          <p:cNvSpPr/>
          <p:nvPr/>
        </p:nvSpPr>
        <p:spPr>
          <a:xfrm>
            <a:off x="6372200" y="2492896"/>
            <a:ext cx="1656184" cy="4320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DB_Finance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6192180" y="4869160"/>
            <a:ext cx="1656184" cy="4320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DB_Warehouse</a:t>
            </a:r>
            <a:endParaRPr lang="en-US" sz="1400" dirty="0"/>
          </a:p>
        </p:txBody>
      </p:sp>
      <p:cxnSp>
        <p:nvCxnSpPr>
          <p:cNvPr id="21" name="Elbow Connector 20"/>
          <p:cNvCxnSpPr>
            <a:stCxn id="15" idx="3"/>
            <a:endCxn id="19" idx="1"/>
          </p:cNvCxnSpPr>
          <p:nvPr/>
        </p:nvCxnSpPr>
        <p:spPr>
          <a:xfrm>
            <a:off x="2751333" y="4437112"/>
            <a:ext cx="3440847" cy="6480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22" name="Elbow Connector 21"/>
          <p:cNvCxnSpPr>
            <a:stCxn id="7" idx="3"/>
            <a:endCxn id="18" idx="1"/>
          </p:cNvCxnSpPr>
          <p:nvPr/>
        </p:nvCxnSpPr>
        <p:spPr>
          <a:xfrm>
            <a:off x="2771800" y="2420888"/>
            <a:ext cx="3600400" cy="2880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25" name="Rectangle 24"/>
          <p:cNvSpPr/>
          <p:nvPr/>
        </p:nvSpPr>
        <p:spPr>
          <a:xfrm>
            <a:off x="2088285" y="2600908"/>
            <a:ext cx="1326096" cy="2880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Network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8043" y="4611318"/>
            <a:ext cx="1326096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Network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3026" y="2564904"/>
            <a:ext cx="1326096" cy="2880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GPS\SRV-IIS$</a:t>
            </a:r>
          </a:p>
        </p:txBody>
      </p:sp>
      <p:cxnSp>
        <p:nvCxnSpPr>
          <p:cNvPr id="29" name="Elbow Connector 28"/>
          <p:cNvCxnSpPr>
            <a:stCxn id="28" idx="3"/>
            <a:endCxn id="18" idx="2"/>
          </p:cNvCxnSpPr>
          <p:nvPr/>
        </p:nvCxnSpPr>
        <p:spPr>
          <a:xfrm flipV="1">
            <a:off x="5439122" y="2924944"/>
            <a:ext cx="1761170" cy="1512168"/>
          </a:xfrm>
          <a:prstGeom prst="bentConnector2">
            <a:avLst/>
          </a:prstGeom>
          <a:ln>
            <a:prstDash val="sysDot"/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28" name="Rectangle 27"/>
          <p:cNvSpPr/>
          <p:nvPr/>
        </p:nvSpPr>
        <p:spPr>
          <a:xfrm>
            <a:off x="4113026" y="4293096"/>
            <a:ext cx="1326096" cy="2880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GPS\SRV-IIS$</a:t>
            </a:r>
          </a:p>
        </p:txBody>
      </p:sp>
      <p:cxnSp>
        <p:nvCxnSpPr>
          <p:cNvPr id="33" name="Elbow Connector 32"/>
          <p:cNvCxnSpPr>
            <a:stCxn id="27" idx="2"/>
            <a:endCxn id="19" idx="0"/>
          </p:cNvCxnSpPr>
          <p:nvPr/>
        </p:nvCxnSpPr>
        <p:spPr>
          <a:xfrm rot="16200000" flipH="1">
            <a:off x="4890061" y="2738949"/>
            <a:ext cx="2016224" cy="2244198"/>
          </a:xfrm>
          <a:prstGeom prst="bent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146491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NT SERVICE</a:t>
            </a:r>
            <a:endParaRPr lang="cs-CZ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77099"/>
            <a:ext cx="6156176" cy="6736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10607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IIS APPPOOL</a:t>
            </a:r>
            <a:endParaRPr lang="cs-CZ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16632"/>
            <a:ext cx="5940152" cy="6669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39469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NT SERVICE and IIS APPPOOL have </a:t>
            </a:r>
            <a:r>
              <a:rPr lang="en-US" sz="2400" dirty="0">
                <a:solidFill>
                  <a:schemeClr val="accent1"/>
                </a:solidFill>
              </a:rPr>
              <a:t>local</a:t>
            </a:r>
            <a:r>
              <a:rPr lang="en-US" sz="2400" dirty="0"/>
              <a:t> isolation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971600" y="1628800"/>
            <a:ext cx="2592288" cy="45365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SRV-IIS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24128" y="1628800"/>
            <a:ext cx="2592288" cy="45365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SRV-SQL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616" y="2204864"/>
            <a:ext cx="1656184" cy="4320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http://finance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63688" y="3429000"/>
            <a:ext cx="1656184" cy="4320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G:\IIS\finance</a:t>
            </a:r>
          </a:p>
        </p:txBody>
      </p:sp>
      <p:cxnSp>
        <p:nvCxnSpPr>
          <p:cNvPr id="14" name="Elbow Connector 13"/>
          <p:cNvCxnSpPr>
            <a:stCxn id="7" idx="3"/>
            <a:endCxn id="10" idx="0"/>
          </p:cNvCxnSpPr>
          <p:nvPr/>
        </p:nvCxnSpPr>
        <p:spPr>
          <a:xfrm flipH="1">
            <a:off x="2591780" y="2420888"/>
            <a:ext cx="180020" cy="1008112"/>
          </a:xfrm>
          <a:prstGeom prst="bentConnector4">
            <a:avLst>
              <a:gd name="adj1" fmla="val -126986"/>
              <a:gd name="adj2" fmla="val 60714"/>
            </a:avLst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5" name="Rectangle 14"/>
          <p:cNvSpPr/>
          <p:nvPr/>
        </p:nvSpPr>
        <p:spPr>
          <a:xfrm>
            <a:off x="1095149" y="4221088"/>
            <a:ext cx="1656184" cy="4320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http://warehouse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43221" y="5517232"/>
            <a:ext cx="1656184" cy="4320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G:\IIS\warehouse</a:t>
            </a:r>
          </a:p>
        </p:txBody>
      </p:sp>
      <p:cxnSp>
        <p:nvCxnSpPr>
          <p:cNvPr id="17" name="Elbow Connector 16"/>
          <p:cNvCxnSpPr>
            <a:stCxn id="15" idx="3"/>
            <a:endCxn id="16" idx="0"/>
          </p:cNvCxnSpPr>
          <p:nvPr/>
        </p:nvCxnSpPr>
        <p:spPr>
          <a:xfrm flipH="1">
            <a:off x="2571313" y="4437112"/>
            <a:ext cx="180020" cy="1080120"/>
          </a:xfrm>
          <a:prstGeom prst="bentConnector4">
            <a:avLst>
              <a:gd name="adj1" fmla="val -126986"/>
              <a:gd name="adj2" fmla="val 6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8" name="Rectangle 17"/>
          <p:cNvSpPr/>
          <p:nvPr/>
        </p:nvSpPr>
        <p:spPr>
          <a:xfrm>
            <a:off x="6372200" y="2492896"/>
            <a:ext cx="1656184" cy="4320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DB_Finance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6192180" y="4869160"/>
            <a:ext cx="1656184" cy="4320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DB_Warehouse</a:t>
            </a:r>
            <a:endParaRPr lang="en-US" sz="1400" dirty="0"/>
          </a:p>
        </p:txBody>
      </p:sp>
      <p:cxnSp>
        <p:nvCxnSpPr>
          <p:cNvPr id="21" name="Elbow Connector 20"/>
          <p:cNvCxnSpPr>
            <a:stCxn id="15" idx="3"/>
            <a:endCxn id="19" idx="1"/>
          </p:cNvCxnSpPr>
          <p:nvPr/>
        </p:nvCxnSpPr>
        <p:spPr>
          <a:xfrm>
            <a:off x="2751333" y="4437112"/>
            <a:ext cx="3440847" cy="6480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22" name="Elbow Connector 21"/>
          <p:cNvCxnSpPr>
            <a:stCxn id="7" idx="3"/>
            <a:endCxn id="18" idx="1"/>
          </p:cNvCxnSpPr>
          <p:nvPr/>
        </p:nvCxnSpPr>
        <p:spPr>
          <a:xfrm>
            <a:off x="2771800" y="2420888"/>
            <a:ext cx="3600400" cy="2880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25" name="Rectangle 24"/>
          <p:cNvSpPr/>
          <p:nvPr/>
        </p:nvSpPr>
        <p:spPr>
          <a:xfrm>
            <a:off x="2088285" y="2600908"/>
            <a:ext cx="1326096" cy="2880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IIS APPPOOL\fin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8043" y="4611318"/>
            <a:ext cx="1326096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IIS APPPOOL\</a:t>
            </a:r>
            <a:r>
              <a:rPr lang="en-US" sz="1050" dirty="0" err="1"/>
              <a:t>wh</a:t>
            </a:r>
            <a:endParaRPr lang="en-US" sz="1050" dirty="0"/>
          </a:p>
        </p:txBody>
      </p:sp>
      <p:sp>
        <p:nvSpPr>
          <p:cNvPr id="27" name="Rectangle 26"/>
          <p:cNvSpPr/>
          <p:nvPr/>
        </p:nvSpPr>
        <p:spPr>
          <a:xfrm>
            <a:off x="4113026" y="2564904"/>
            <a:ext cx="1326096" cy="2880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GPS\SRV-IIS$</a:t>
            </a:r>
          </a:p>
        </p:txBody>
      </p:sp>
      <p:cxnSp>
        <p:nvCxnSpPr>
          <p:cNvPr id="29" name="Elbow Connector 28"/>
          <p:cNvCxnSpPr>
            <a:stCxn id="28" idx="3"/>
            <a:endCxn id="18" idx="2"/>
          </p:cNvCxnSpPr>
          <p:nvPr/>
        </p:nvCxnSpPr>
        <p:spPr>
          <a:xfrm flipV="1">
            <a:off x="5439122" y="2924944"/>
            <a:ext cx="1761170" cy="1512168"/>
          </a:xfrm>
          <a:prstGeom prst="bentConnector2">
            <a:avLst/>
          </a:prstGeom>
          <a:ln>
            <a:prstDash val="sysDot"/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28" name="Rectangle 27"/>
          <p:cNvSpPr/>
          <p:nvPr/>
        </p:nvSpPr>
        <p:spPr>
          <a:xfrm>
            <a:off x="4113026" y="4293096"/>
            <a:ext cx="1326096" cy="2880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GPS\SRV-IIS$</a:t>
            </a:r>
          </a:p>
        </p:txBody>
      </p:sp>
      <p:cxnSp>
        <p:nvCxnSpPr>
          <p:cNvPr id="33" name="Elbow Connector 32"/>
          <p:cNvCxnSpPr>
            <a:stCxn id="27" idx="2"/>
            <a:endCxn id="19" idx="0"/>
          </p:cNvCxnSpPr>
          <p:nvPr/>
        </p:nvCxnSpPr>
        <p:spPr>
          <a:xfrm rot="16200000" flipH="1">
            <a:off x="4890061" y="2738949"/>
            <a:ext cx="2016224" cy="2244198"/>
          </a:xfrm>
          <a:prstGeom prst="bent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63638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 administrator can obtain service and scheduled task passwords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86508"/>
            <a:ext cx="7920880" cy="541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127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AppPool</a:t>
            </a:r>
            <a:r>
              <a:rPr lang="en-US" dirty="0"/>
              <a:t> passwords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C:\Windows\System32\InetSrv\APPCMD LIST APPPOOL </a:t>
            </a:r>
            <a:r>
              <a:rPr lang="en-US" dirty="0" err="1"/>
              <a:t>MyPool</a:t>
            </a:r>
            <a:r>
              <a:rPr lang="en-US" dirty="0"/>
              <a:t> /text:*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68367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scheduler passwords</a:t>
            </a:r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68760"/>
            <a:ext cx="7210028" cy="543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06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180411"/>
              </p:ext>
            </p:extLst>
          </p:nvPr>
        </p:nvGraphicFramePr>
        <p:xfrm>
          <a:off x="107504" y="1260608"/>
          <a:ext cx="8928991" cy="5408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1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59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59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74632">
                <a:tc>
                  <a:txBody>
                    <a:bodyPr/>
                    <a:lstStyle/>
                    <a:p>
                      <a:r>
                        <a:rPr lang="en-US" sz="1200" dirty="0"/>
                        <a:t>Domain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Account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Network Password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Groups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Local Isolation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Network Isolation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Kerberos PAC Validation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1200" dirty="0"/>
                        <a:t>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765">
                <a:tc>
                  <a:txBody>
                    <a:bodyPr/>
                    <a:lstStyle/>
                    <a:p>
                      <a:r>
                        <a:rPr lang="en-US" sz="1200" dirty="0"/>
                        <a:t>NT AUTHORITY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SYSTEM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automatic</a:t>
                      </a:r>
                    </a:p>
                    <a:p>
                      <a:r>
                        <a:rPr lang="en-US" sz="1200" dirty="0"/>
                        <a:t>30 days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Administrators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MACHINE$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2000</a:t>
                      </a:r>
                      <a:endParaRPr lang="cs-CZ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765">
                <a:tc>
                  <a:txBody>
                    <a:bodyPr/>
                    <a:lstStyle/>
                    <a:p>
                      <a:r>
                        <a:rPr lang="en-US" sz="1200" dirty="0"/>
                        <a:t>NT AUTHORITY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Network</a:t>
                      </a:r>
                      <a:r>
                        <a:rPr lang="en-US" sz="1200" baseline="0" dirty="0"/>
                        <a:t> Service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automatic</a:t>
                      </a:r>
                    </a:p>
                    <a:p>
                      <a:r>
                        <a:rPr lang="en-US" sz="1200" dirty="0"/>
                        <a:t>30</a:t>
                      </a:r>
                      <a:r>
                        <a:rPr lang="en-US" sz="1200" baseline="0" dirty="0"/>
                        <a:t> days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MACHINE$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XP</a:t>
                      </a:r>
                      <a:endParaRPr lang="cs-CZ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765">
                <a:tc>
                  <a:txBody>
                    <a:bodyPr/>
                    <a:lstStyle/>
                    <a:p>
                      <a:r>
                        <a:rPr lang="en-US" sz="1200" dirty="0"/>
                        <a:t>NT AUTHORITY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Local</a:t>
                      </a:r>
                      <a:r>
                        <a:rPr lang="en-US" sz="1200" baseline="0" dirty="0"/>
                        <a:t> Service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anonymous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XP</a:t>
                      </a:r>
                      <a:endParaRPr lang="cs-CZ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765">
                <a:tc>
                  <a:txBody>
                    <a:bodyPr/>
                    <a:lstStyle/>
                    <a:p>
                      <a:r>
                        <a:rPr lang="en-US" sz="1200" dirty="0"/>
                        <a:t>NT</a:t>
                      </a:r>
                      <a:r>
                        <a:rPr lang="en-US" sz="1200" baseline="0" dirty="0"/>
                        <a:t> SERVICE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serviceName</a:t>
                      </a:r>
                      <a:r>
                        <a:rPr lang="en-US" sz="1200" dirty="0"/>
                        <a:t>&gt;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automatic</a:t>
                      </a:r>
                    </a:p>
                    <a:p>
                      <a:r>
                        <a:rPr lang="en-US" sz="1200" dirty="0"/>
                        <a:t>30 days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MACHINE$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Vista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2008</a:t>
                      </a:r>
                      <a:endParaRPr lang="cs-CZ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765">
                <a:tc>
                  <a:txBody>
                    <a:bodyPr/>
                    <a:lstStyle/>
                    <a:p>
                      <a:r>
                        <a:rPr lang="en-US" sz="1200" dirty="0"/>
                        <a:t>IIS</a:t>
                      </a:r>
                      <a:r>
                        <a:rPr lang="en-US" sz="1200" baseline="0" dirty="0"/>
                        <a:t> APPPOOL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appPoolName</a:t>
                      </a:r>
                      <a:r>
                        <a:rPr lang="en-US" sz="1200" dirty="0"/>
                        <a:t>&gt;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automatic</a:t>
                      </a:r>
                    </a:p>
                    <a:p>
                      <a:r>
                        <a:rPr lang="en-US" sz="1200" dirty="0"/>
                        <a:t>30 days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MACHINE$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Vista</a:t>
                      </a:r>
                    </a:p>
                    <a:p>
                      <a:r>
                        <a:rPr lang="en-US" sz="1200" dirty="0"/>
                        <a:t>2008</a:t>
                      </a:r>
                      <a:endParaRPr lang="cs-CZ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765">
                <a:tc>
                  <a:txBody>
                    <a:bodyPr/>
                    <a:lstStyle/>
                    <a:p>
                      <a:r>
                        <a:rPr lang="en-US" sz="1200" dirty="0"/>
                        <a:t>&lt;domain&gt;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userName</a:t>
                      </a:r>
                      <a:r>
                        <a:rPr lang="en-US" sz="1200" dirty="0"/>
                        <a:t>&gt;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manual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2000</a:t>
                      </a:r>
                      <a:endParaRPr lang="cs-CZ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1765">
                <a:tc>
                  <a:txBody>
                    <a:bodyPr/>
                    <a:lstStyle/>
                    <a:p>
                      <a:r>
                        <a:rPr lang="en-US" sz="1200" dirty="0"/>
                        <a:t>&lt;domain&gt;</a:t>
                      </a:r>
                    </a:p>
                    <a:p>
                      <a:r>
                        <a:rPr lang="en-US" sz="1200" dirty="0"/>
                        <a:t>MSA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managedSvcAccount</a:t>
                      </a:r>
                      <a:r>
                        <a:rPr lang="en-US" sz="1200" dirty="0"/>
                        <a:t>&gt;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automatic</a:t>
                      </a:r>
                    </a:p>
                    <a:p>
                      <a:r>
                        <a:rPr lang="en-US" sz="1200" dirty="0"/>
                        <a:t>30</a:t>
                      </a:r>
                      <a:r>
                        <a:rPr lang="en-US" sz="1200" baseline="0" dirty="0"/>
                        <a:t> days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  <a:p>
                      <a:r>
                        <a:rPr lang="en-US" sz="1200" dirty="0"/>
                        <a:t>2008 R2</a:t>
                      </a:r>
                      <a:endParaRPr lang="cs-CZ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1765">
                <a:tc>
                  <a:txBody>
                    <a:bodyPr/>
                    <a:lstStyle/>
                    <a:p>
                      <a:r>
                        <a:rPr lang="en-US" sz="1200" dirty="0"/>
                        <a:t>&lt;domain&gt;</a:t>
                      </a:r>
                    </a:p>
                    <a:p>
                      <a:r>
                        <a:rPr lang="en-US" sz="1200" dirty="0" err="1"/>
                        <a:t>gMSA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&lt;</a:t>
                      </a:r>
                      <a:r>
                        <a:rPr lang="en-US" sz="1200" dirty="0" err="1"/>
                        <a:t>groupSvcAccount</a:t>
                      </a:r>
                      <a:r>
                        <a:rPr lang="en-US" sz="1200" dirty="0"/>
                        <a:t>&gt;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automatic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30 days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  <a:p>
                      <a:r>
                        <a:rPr lang="en-US" sz="1200" dirty="0"/>
                        <a:t>2012</a:t>
                      </a:r>
                      <a:endParaRPr lang="cs-CZ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420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624A-EF99-422B-BC2F-9A8A7A30B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en-US" dirty="0" err="1"/>
              <a:t>gMSA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5FD77-FDDD-40BF-81C5-15E8247DD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New-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ADServiceAccount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gsvc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-warehouse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do </a:t>
            </a:r>
            <a:r>
              <a:rPr lang="en-US" sz="1800" dirty="0">
                <a:solidFill>
                  <a:schemeClr val="accent4"/>
                </a:solidFill>
              </a:rPr>
              <a:t>NOT configure the web site yet</a:t>
            </a:r>
          </a:p>
          <a:p>
            <a:pPr lvl="1"/>
            <a:r>
              <a:rPr lang="en-US" sz="1600" dirty="0"/>
              <a:t>will use for Kerberos test later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but you can verify logon with </a:t>
            </a:r>
            <a:r>
              <a:rPr lang="en-US" sz="1800" dirty="0" err="1">
                <a:solidFill>
                  <a:schemeClr val="accent1"/>
                </a:solidFill>
              </a:rPr>
              <a:t>psexec</a:t>
            </a:r>
            <a:r>
              <a:rPr lang="en-US" sz="1800" dirty="0"/>
              <a:t> (</a:t>
            </a:r>
            <a:r>
              <a:rPr lang="en-US" sz="1800" dirty="0" err="1">
                <a:solidFill>
                  <a:schemeClr val="accent1"/>
                </a:solidFill>
              </a:rPr>
              <a:t>gsvc</a:t>
            </a:r>
            <a:r>
              <a:rPr lang="en-US" sz="1800" dirty="0">
                <a:solidFill>
                  <a:schemeClr val="accent1"/>
                </a:solidFill>
              </a:rPr>
              <a:t>-warehouse</a:t>
            </a:r>
            <a:r>
              <a:rPr lang="en-US" sz="1800" dirty="0">
                <a:solidFill>
                  <a:schemeClr val="accent2"/>
                </a:solidFill>
              </a:rPr>
              <a:t>$</a:t>
            </a:r>
            <a:r>
              <a:rPr lang="en-US" sz="1800" dirty="0"/>
              <a:t>, empty password)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FF7336-30DA-46EE-A63D-CBC123FFA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79" y="4437112"/>
            <a:ext cx="7177221" cy="24208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BD1E7F-5EA9-45FF-9816-6F0B34287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" y="1513676"/>
            <a:ext cx="9141904" cy="133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371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Task scheduler without password requires S4U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</a:t>
            </a:r>
            <a:r>
              <a:rPr lang="en-US" dirty="0" err="1">
                <a:solidFill>
                  <a:schemeClr val="accent1"/>
                </a:solidFill>
              </a:rPr>
              <a:t>tokenGroupsGlobalAndUniversal</a:t>
            </a:r>
            <a:r>
              <a:rPr lang="en-US" dirty="0"/>
              <a:t> attribute on the service account</a:t>
            </a:r>
          </a:p>
          <a:p>
            <a:r>
              <a:rPr lang="en-US" dirty="0"/>
              <a:t>or be member of </a:t>
            </a:r>
            <a:r>
              <a:rPr lang="en-US" dirty="0">
                <a:solidFill>
                  <a:schemeClr val="accent1"/>
                </a:solidFill>
              </a:rPr>
              <a:t>Windows Authorization Access Group</a:t>
            </a:r>
            <a:r>
              <a:rPr lang="en-US" dirty="0"/>
              <a:t> (WAAG)</a:t>
            </a:r>
          </a:p>
          <a:p>
            <a:r>
              <a:rPr lang="en-US" dirty="0">
                <a:solidFill>
                  <a:schemeClr val="accent1"/>
                </a:solidFill>
              </a:rPr>
              <a:t>Anonymous</a:t>
            </a:r>
            <a:r>
              <a:rPr lang="en-US" dirty="0"/>
              <a:t> access to network resources</a:t>
            </a:r>
          </a:p>
          <a:p>
            <a:pPr lvl="1"/>
            <a:r>
              <a:rPr lang="en-US" dirty="0"/>
              <a:t>or enable Kerberos delegation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42765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hashes in Active Directory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Windows 2000 DC</a:t>
            </a:r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pwd</a:t>
            </a:r>
            <a:r>
              <a:rPr lang="en-US" dirty="0"/>
              <a:t>, LM, MD4 (NT hash)</a:t>
            </a:r>
          </a:p>
          <a:p>
            <a:r>
              <a:rPr lang="en-US" dirty="0"/>
              <a:t>Windows 2003 DC</a:t>
            </a:r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pwd</a:t>
            </a:r>
            <a:r>
              <a:rPr lang="en-US" dirty="0"/>
              <a:t>, LM, MD4 (NT hash), MD5 (advanced digest hash, CHAP)</a:t>
            </a:r>
          </a:p>
          <a:p>
            <a:r>
              <a:rPr lang="en-US" dirty="0"/>
              <a:t>Windows 2008+ DC</a:t>
            </a:r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pwd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</a:rPr>
              <a:t>LM</a:t>
            </a:r>
            <a:r>
              <a:rPr lang="en-US" dirty="0"/>
              <a:t> (not by default), </a:t>
            </a:r>
            <a:r>
              <a:rPr lang="en-US" dirty="0">
                <a:solidFill>
                  <a:schemeClr val="accent1"/>
                </a:solidFill>
              </a:rPr>
              <a:t>MD4</a:t>
            </a:r>
            <a:r>
              <a:rPr lang="en-US" dirty="0"/>
              <a:t> (NT hash), MD5, </a:t>
            </a:r>
            <a:r>
              <a:rPr lang="en-US" dirty="0">
                <a:solidFill>
                  <a:schemeClr val="accent1"/>
                </a:solidFill>
              </a:rPr>
              <a:t>SHA-1</a:t>
            </a:r>
            <a:r>
              <a:rPr lang="en-US" dirty="0"/>
              <a:t> (Kerberos AES)</a:t>
            </a:r>
          </a:p>
          <a:p>
            <a:r>
              <a:rPr lang="en-US" dirty="0"/>
              <a:t>Windows 2025+ DC</a:t>
            </a:r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pwd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</a:rPr>
              <a:t>LM</a:t>
            </a:r>
            <a:r>
              <a:rPr lang="en-US" dirty="0"/>
              <a:t> (not by default), </a:t>
            </a:r>
            <a:r>
              <a:rPr lang="en-US" dirty="0">
                <a:solidFill>
                  <a:schemeClr val="accent1"/>
                </a:solidFill>
              </a:rPr>
              <a:t>MD4</a:t>
            </a:r>
            <a:r>
              <a:rPr lang="en-US" dirty="0"/>
              <a:t> (NT hash), MD5, </a:t>
            </a:r>
            <a:r>
              <a:rPr lang="en-US" dirty="0">
                <a:solidFill>
                  <a:schemeClr val="accent1"/>
                </a:solidFill>
              </a:rPr>
              <a:t>SHA-1</a:t>
            </a:r>
            <a:r>
              <a:rPr lang="en-US" dirty="0"/>
              <a:t> (Kerberos AES), </a:t>
            </a:r>
            <a:r>
              <a:rPr lang="en-US" dirty="0">
                <a:solidFill>
                  <a:schemeClr val="accent3"/>
                </a:solidFill>
              </a:rPr>
              <a:t>SHA256</a:t>
            </a:r>
            <a:r>
              <a:rPr lang="en-US" dirty="0"/>
              <a:t> (Kerberos AES)</a:t>
            </a:r>
          </a:p>
          <a:p>
            <a:pPr lvl="1"/>
            <a:endParaRPr lang="en-US" dirty="0"/>
          </a:p>
          <a:p>
            <a:r>
              <a:rPr lang="en-US" dirty="0"/>
              <a:t>MD4 NT hash</a:t>
            </a:r>
          </a:p>
          <a:p>
            <a:pPr lvl="1"/>
            <a:r>
              <a:rPr lang="en-US" dirty="0"/>
              <a:t>NTLM/MS-CHAP, NTLMv2/MS-CHAPv2, Kerberos DES, Kerberos RC4</a:t>
            </a:r>
          </a:p>
        </p:txBody>
      </p:sp>
    </p:spTree>
    <p:extLst>
      <p:ext uri="{BB962C8B-B14F-4D97-AF65-F5344CB8AC3E}">
        <p14:creationId xmlns:p14="http://schemas.microsoft.com/office/powerpoint/2010/main" val="19747270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ACF5-AAE8-7F4E-60A6-D0E21A19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 err="1"/>
              <a:t>repadmin</a:t>
            </a:r>
            <a:r>
              <a:rPr lang="en-US" sz="2400" dirty="0"/>
              <a:t> /</a:t>
            </a:r>
            <a:r>
              <a:rPr lang="en-US" sz="2400" dirty="0" err="1"/>
              <a:t>showobjmeta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114AA-2A94-CC0C-05D5-05153F43C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328592"/>
          </a:xfrm>
        </p:spPr>
        <p:txBody>
          <a:bodyPr>
            <a:normAutofit/>
          </a:bodyPr>
          <a:lstStyle/>
          <a:p>
            <a:r>
              <a:rPr lang="en-US" sz="1400" dirty="0" err="1"/>
              <a:t>unicodePwd</a:t>
            </a:r>
            <a:r>
              <a:rPr lang="en-US" sz="1400" dirty="0"/>
              <a:t> - NTLM </a:t>
            </a:r>
            <a:r>
              <a:rPr lang="en-US" sz="1400" dirty="0">
                <a:solidFill>
                  <a:schemeClr val="accent1"/>
                </a:solidFill>
              </a:rPr>
              <a:t>MD4</a:t>
            </a:r>
          </a:p>
          <a:p>
            <a:r>
              <a:rPr lang="en-US" sz="1400" dirty="0" err="1"/>
              <a:t>dBCSPwd</a:t>
            </a:r>
            <a:r>
              <a:rPr lang="en-US" sz="1400" dirty="0"/>
              <a:t> - LM</a:t>
            </a:r>
          </a:p>
          <a:p>
            <a:r>
              <a:rPr lang="en-US" sz="1400" dirty="0" err="1"/>
              <a:t>supplementalCredentials</a:t>
            </a:r>
            <a:r>
              <a:rPr lang="en-US" sz="1400" dirty="0"/>
              <a:t> - Digest MD5, cleartext, </a:t>
            </a:r>
            <a:r>
              <a:rPr lang="en-US" sz="1400" dirty="0">
                <a:solidFill>
                  <a:schemeClr val="accent1"/>
                </a:solidFill>
              </a:rPr>
              <a:t>SHA1</a:t>
            </a:r>
          </a:p>
          <a:p>
            <a:r>
              <a:rPr lang="en-US" sz="1400" dirty="0" err="1"/>
              <a:t>pwdLastSet</a:t>
            </a:r>
            <a:r>
              <a:rPr lang="en-US" sz="1400" dirty="0"/>
              <a:t> - changed on change, reset, but not on enabling Smart Card is Required for Interactive Logon (SMARTCARD_REQUIRED = 0x40000)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5928952-83EF-1357-B688-070CAEE861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933" y="2204865"/>
          <a:ext cx="9010067" cy="4651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467560" imgH="4371840" progId="">
                  <p:embed/>
                </p:oleObj>
              </mc:Choice>
              <mc:Fallback>
                <p:oleObj r:id="rId2" imgW="8467560" imgH="4371840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5928952-83EF-1357-B688-070CAEE861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933" y="2204865"/>
                        <a:ext cx="9010067" cy="4651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41386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8B3D-0E0C-480B-8034-2F529B579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Real </a:t>
            </a:r>
            <a:r>
              <a:rPr lang="en-US" sz="2400" dirty="0" err="1"/>
              <a:t>pwdLastSet</a:t>
            </a:r>
            <a:r>
              <a:rPr lang="en-US" sz="2400" dirty="0"/>
              <a:t> values from replication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F3CC1-6204-4EE5-82D9-DD4DFB6C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899592"/>
            <a:ext cx="8784976" cy="53377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/>
              <a:t> </a:t>
            </a: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6400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6400"/>
                </a:solidFill>
                <a:latin typeface="Lucida Console" panose="020B0609040504020204" pitchFamily="49" charset="0"/>
              </a:rPr>
              <a:t># Note: constructed attribute </a:t>
            </a:r>
            <a:r>
              <a:rPr lang="en-US" sz="1800" dirty="0" err="1">
                <a:solidFill>
                  <a:srgbClr val="006400"/>
                </a:solidFill>
                <a:latin typeface="Lucida Console" panose="020B0609040504020204" pitchFamily="49" charset="0"/>
              </a:rPr>
              <a:t>msDS-ReplAttributeMetadata</a:t>
            </a:r>
            <a:r>
              <a:rPr lang="en-US" sz="1800" dirty="0">
                <a:solidFill>
                  <a:srgbClr val="006400"/>
                </a:solidFill>
                <a:latin typeface="Lucida Console" panose="020B0609040504020204" pitchFamily="49" charset="0"/>
              </a:rPr>
              <a:t> is present since Windows 2008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[</a:t>
            </a:r>
            <a:r>
              <a:rPr lang="en-US" sz="1800" dirty="0">
                <a:solidFill>
                  <a:srgbClr val="008080"/>
                </a:solidFill>
                <a:latin typeface="Lucida Console" panose="020B0609040504020204" pitchFamily="49" charset="0"/>
              </a:rPr>
              <a:t>object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[]]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$accounts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Get-</a:t>
            </a:r>
            <a:r>
              <a:rPr 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ADObject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80"/>
                </a:solidFill>
                <a:latin typeface="Lucida Console" panose="020B0609040504020204" pitchFamily="49" charset="0"/>
              </a:rPr>
              <a:t>-</a:t>
            </a:r>
            <a:r>
              <a:rPr lang="en-US" sz="1800" dirty="0" err="1">
                <a:solidFill>
                  <a:srgbClr val="000080"/>
                </a:solidFill>
                <a:latin typeface="Lucida Console" panose="020B0609040504020204" pitchFamily="49" charset="0"/>
              </a:rPr>
              <a:t>LDAPFilter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B0000"/>
                </a:solidFill>
                <a:latin typeface="Lucida Console" panose="020B0609040504020204" pitchFamily="49" charset="0"/>
              </a:rPr>
              <a:t>'(</a:t>
            </a:r>
            <a:r>
              <a:rPr lang="en-US" sz="1800" dirty="0" err="1">
                <a:solidFill>
                  <a:srgbClr val="8B0000"/>
                </a:solidFill>
                <a:latin typeface="Lucida Console" panose="020B0609040504020204" pitchFamily="49" charset="0"/>
              </a:rPr>
              <a:t>objectClass</a:t>
            </a:r>
            <a:r>
              <a:rPr lang="en-US" sz="1800" dirty="0">
                <a:solidFill>
                  <a:srgbClr val="8B0000"/>
                </a:solidFill>
                <a:latin typeface="Lucida Console" panose="020B0609040504020204" pitchFamily="49" charset="0"/>
              </a:rPr>
              <a:t>=user)'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`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</a:t>
            </a:r>
            <a:r>
              <a:rPr lang="en-US" sz="1800" dirty="0">
                <a:solidFill>
                  <a:srgbClr val="000080"/>
                </a:solidFill>
                <a:latin typeface="Lucida Console" panose="020B0609040504020204" pitchFamily="49" charset="0"/>
              </a:rPr>
              <a:t>-Properties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sAMAccountName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msDS-ReplAttributeMetadata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8B"/>
                </a:solidFill>
                <a:latin typeface="Lucida Console" panose="020B0609040504020204" pitchFamily="49" charset="0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accounts</a:t>
            </a:r>
            <a:r>
              <a:rPr lang="en-US" sz="1800" dirty="0" err="1">
                <a:solidFill>
                  <a:srgbClr val="A9A9A9"/>
                </a:solidFill>
                <a:latin typeface="Lucida Console" panose="020B0609040504020204" pitchFamily="49" charset="0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Length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-</a:t>
            </a:r>
            <a:r>
              <a:rPr lang="en-US" sz="1800" dirty="0" err="1">
                <a:solidFill>
                  <a:srgbClr val="A9A9A9"/>
                </a:solidFill>
                <a:latin typeface="Lucida Console" panose="020B0609040504020204" pitchFamily="49" charset="0"/>
              </a:rPr>
              <a:t>gt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{ </a:t>
            </a:r>
            <a:r>
              <a:rPr lang="en-US" sz="1800" dirty="0">
                <a:solidFill>
                  <a:srgbClr val="00008B"/>
                </a:solidFill>
                <a:latin typeface="Lucida Console" panose="020B0609040504020204" pitchFamily="49" charset="0"/>
              </a:rPr>
              <a:t>foreach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oneAccount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8B"/>
                </a:solidFill>
                <a:latin typeface="Lucida Console" panose="020B0609040504020204" pitchFamily="49" charset="0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$accounts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[</a:t>
            </a:r>
            <a:r>
              <a:rPr lang="en-US" sz="1800" dirty="0" err="1">
                <a:solidFill>
                  <a:srgbClr val="008080"/>
                </a:solidFill>
                <a:latin typeface="Lucida Console" panose="020B0609040504020204" pitchFamily="49" charset="0"/>
              </a:rPr>
              <a:t>DateTime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lastPwdChange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[</a:t>
            </a:r>
            <a:r>
              <a:rPr lang="en-US" sz="1800" dirty="0" err="1">
                <a:solidFill>
                  <a:srgbClr val="008080"/>
                </a:solidFill>
                <a:latin typeface="Lucida Console" panose="020B0609040504020204" pitchFamily="49" charset="0"/>
              </a:rPr>
              <a:t>DateTime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]::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MaxValue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[</a:t>
            </a:r>
            <a:r>
              <a:rPr lang="en-US" sz="1800" dirty="0" err="1">
                <a:solidFill>
                  <a:srgbClr val="008080"/>
                </a:solidFill>
                <a:latin typeface="Lucida Console" panose="020B0609040504020204" pitchFamily="49" charset="0"/>
              </a:rPr>
              <a:t>Microsoft.ActiveDirectory.Management.ADPropertyValueCollection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$metadata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`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                         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oneAccount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.</a:t>
            </a:r>
            <a:r>
              <a:rPr lang="en-US" sz="1800" dirty="0">
                <a:solidFill>
                  <a:srgbClr val="8B0000"/>
                </a:solidFill>
                <a:latin typeface="Lucida Console" panose="020B0609040504020204" pitchFamily="49" charset="0"/>
              </a:rPr>
              <a:t>'</a:t>
            </a:r>
            <a:r>
              <a:rPr lang="en-US" sz="1800" dirty="0" err="1">
                <a:solidFill>
                  <a:srgbClr val="8B0000"/>
                </a:solidFill>
                <a:latin typeface="Lucida Console" panose="020B0609040504020204" pitchFamily="49" charset="0"/>
              </a:rPr>
              <a:t>msDS-ReplAttributeMetadata</a:t>
            </a:r>
            <a:r>
              <a:rPr lang="en-US" sz="1800" dirty="0">
                <a:solidFill>
                  <a:srgbClr val="8B0000"/>
                </a:solidFill>
                <a:latin typeface="Lucida Console" panose="020B0609040504020204" pitchFamily="49" charset="0"/>
              </a:rPr>
              <a:t>'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</a:t>
            </a:r>
            <a:r>
              <a:rPr lang="en-US" sz="1800" dirty="0">
                <a:solidFill>
                  <a:srgbClr val="00008B"/>
                </a:solidFill>
                <a:latin typeface="Lucida Console" panose="020B0609040504020204" pitchFamily="49" charset="0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metadata</a:t>
            </a:r>
            <a:r>
              <a:rPr lang="en-US" sz="1800" dirty="0" err="1">
                <a:solidFill>
                  <a:srgbClr val="A9A9A9"/>
                </a:solidFill>
                <a:latin typeface="Lucida Console" panose="020B0609040504020204" pitchFamily="49" charset="0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Count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-</a:t>
            </a:r>
            <a:r>
              <a:rPr lang="en-US" sz="1800" dirty="0" err="1">
                <a:solidFill>
                  <a:srgbClr val="A9A9A9"/>
                </a:solidFill>
                <a:latin typeface="Lucida Console" panose="020B0609040504020204" pitchFamily="49" charset="0"/>
              </a:rPr>
              <a:t>gt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{ </a:t>
            </a:r>
            <a:r>
              <a:rPr lang="en-US" sz="1800" dirty="0">
                <a:solidFill>
                  <a:srgbClr val="00008B"/>
                </a:solidFill>
                <a:latin typeface="Lucida Console" panose="020B0609040504020204" pitchFamily="49" charset="0"/>
              </a:rPr>
              <a:t>foreach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oneMeta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8B"/>
                </a:solidFill>
                <a:latin typeface="Lucida Console" panose="020B0609040504020204" pitchFamily="49" charset="0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$metadata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[</a:t>
            </a:r>
            <a:r>
              <a:rPr lang="en-US" sz="1800" dirty="0">
                <a:solidFill>
                  <a:srgbClr val="008080"/>
                </a:solidFill>
                <a:latin typeface="Lucida Console" panose="020B0609040504020204" pitchFamily="49" charset="0"/>
              </a:rPr>
              <a:t>XML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xmlMeta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[</a:t>
            </a:r>
            <a:r>
              <a:rPr lang="en-US" sz="1800" dirty="0">
                <a:solidFill>
                  <a:srgbClr val="008080"/>
                </a:solidFill>
                <a:latin typeface="Lucida Console" panose="020B0609040504020204" pitchFamily="49" charset="0"/>
              </a:rPr>
              <a:t>XML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oneMeta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-replace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B0000"/>
                </a:solidFill>
                <a:latin typeface="Lucida Console" panose="020B0609040504020204" pitchFamily="49" charset="0"/>
              </a:rPr>
              <a:t>'[\x0A\x0D\x00]'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B0000"/>
                </a:solidFill>
                <a:latin typeface="Lucida Console" panose="020B0609040504020204" pitchFamily="49" charset="0"/>
              </a:rPr>
              <a:t>''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800" dirty="0">
                <a:solidFill>
                  <a:srgbClr val="00008B"/>
                </a:solidFill>
                <a:latin typeface="Lucida Console" panose="020B0609040504020204" pitchFamily="49" charset="0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xmlMeta</a:t>
            </a:r>
            <a:r>
              <a:rPr lang="en-US" sz="1800" dirty="0" err="1">
                <a:solidFill>
                  <a:srgbClr val="A9A9A9"/>
                </a:solidFill>
                <a:latin typeface="Lucida Console" panose="020B0609040504020204" pitchFamily="49" charset="0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DS_REPL_ATTR_META_DATA</a:t>
            </a:r>
            <a:r>
              <a:rPr lang="en-US" sz="1800" dirty="0" err="1">
                <a:solidFill>
                  <a:srgbClr val="A9A9A9"/>
                </a:solidFill>
                <a:latin typeface="Lucida Console" panose="020B0609040504020204" pitchFamily="49" charset="0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pszAttributeName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-eq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B0000"/>
                </a:solidFill>
                <a:latin typeface="Lucida Console" panose="020B0609040504020204" pitchFamily="49" charset="0"/>
              </a:rPr>
              <a:t>'</a:t>
            </a:r>
            <a:r>
              <a:rPr lang="en-US" sz="1800" dirty="0" err="1">
                <a:solidFill>
                  <a:srgbClr val="8B0000"/>
                </a:solidFill>
                <a:latin typeface="Lucida Console" panose="020B0609040504020204" pitchFamily="49" charset="0"/>
              </a:rPr>
              <a:t>unicodePwd</a:t>
            </a:r>
            <a:r>
              <a:rPr lang="en-US" sz="1800" dirty="0">
                <a:solidFill>
                  <a:srgbClr val="8B0000"/>
                </a:solidFill>
                <a:latin typeface="Lucida Console" panose="020B0609040504020204" pitchFamily="49" charset="0"/>
              </a:rPr>
              <a:t>'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 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lastPwdChange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[</a:t>
            </a:r>
            <a:r>
              <a:rPr lang="en-US" sz="1800" dirty="0" err="1">
                <a:solidFill>
                  <a:srgbClr val="008080"/>
                </a:solidFill>
                <a:latin typeface="Lucida Console" panose="020B0609040504020204" pitchFamily="49" charset="0"/>
              </a:rPr>
              <a:t>DateTime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]::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Parse(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xmlMeta</a:t>
            </a:r>
            <a:r>
              <a:rPr lang="en-US" sz="1800" dirty="0" err="1">
                <a:solidFill>
                  <a:srgbClr val="A9A9A9"/>
                </a:solidFill>
                <a:latin typeface="Lucida Console" panose="020B0609040504020204" pitchFamily="49" charset="0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DS_REPL_ATTR_META_DATA</a:t>
            </a:r>
            <a:r>
              <a:rPr lang="en-US" sz="1800" dirty="0" err="1">
                <a:solidFill>
                  <a:srgbClr val="A9A9A9"/>
                </a:solidFill>
                <a:latin typeface="Lucida Console" panose="020B0609040504020204" pitchFamily="49" charset="0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ftimeLastOriginatingChange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}}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Add-Member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80"/>
                </a:solidFill>
                <a:latin typeface="Lucida Console" panose="020B0609040504020204" pitchFamily="49" charset="0"/>
              </a:rPr>
              <a:t>-In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oneAccount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80"/>
                </a:solidFill>
                <a:latin typeface="Lucida Console" panose="020B0609040504020204" pitchFamily="49" charset="0"/>
              </a:rPr>
              <a:t>-</a:t>
            </a:r>
            <a:r>
              <a:rPr lang="en-US" sz="1800" dirty="0" err="1">
                <a:solidFill>
                  <a:srgbClr val="000080"/>
                </a:solidFill>
                <a:latin typeface="Lucida Console" panose="020B0609040504020204" pitchFamily="49" charset="0"/>
              </a:rPr>
              <a:t>MemberType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NoteProperty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80"/>
                </a:solidFill>
                <a:latin typeface="Lucida Console" panose="020B0609040504020204" pitchFamily="49" charset="0"/>
              </a:rPr>
              <a:t>-Name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pwdLastSetReal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80"/>
                </a:solidFill>
                <a:latin typeface="Lucida Console" panose="020B0609040504020204" pitchFamily="49" charset="0"/>
              </a:rPr>
              <a:t>-Val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solidFill>
                  <a:srgbClr val="FF4500"/>
                </a:solidFill>
                <a:latin typeface="Lucida Console" panose="020B0609040504020204" pitchFamily="49" charset="0"/>
              </a:rPr>
              <a:t>lastPwdChange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80"/>
                </a:solidFill>
                <a:latin typeface="Lucida Console" panose="020B0609040504020204" pitchFamily="49" charset="0"/>
              </a:rPr>
              <a:t>-Force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}}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4500"/>
                </a:solidFill>
                <a:latin typeface="Lucida Console" panose="020B0609040504020204" pitchFamily="49" charset="0"/>
              </a:rPr>
              <a:t>$accounts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sort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pwdLastSetReal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select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sAMAccountName</a:t>
            </a:r>
            <a:r>
              <a:rPr lang="en-US" sz="1800" dirty="0">
                <a:solidFill>
                  <a:srgbClr val="A9A9A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pwdLastSetReal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990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propagation in mixed environments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4067944" y="1772816"/>
            <a:ext cx="1152128" cy="11521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 2003</a:t>
            </a:r>
            <a:endParaRPr lang="cs-CZ" dirty="0"/>
          </a:p>
        </p:txBody>
      </p:sp>
      <p:sp>
        <p:nvSpPr>
          <p:cNvPr id="5" name="Rectangle 4"/>
          <p:cNvSpPr/>
          <p:nvPr/>
        </p:nvSpPr>
        <p:spPr>
          <a:xfrm>
            <a:off x="4067944" y="3284984"/>
            <a:ext cx="1152128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 2008</a:t>
            </a:r>
            <a:endParaRPr lang="cs-CZ" dirty="0"/>
          </a:p>
        </p:txBody>
      </p:sp>
      <p:sp>
        <p:nvSpPr>
          <p:cNvPr id="6" name="Rectangle 5"/>
          <p:cNvSpPr/>
          <p:nvPr/>
        </p:nvSpPr>
        <p:spPr>
          <a:xfrm>
            <a:off x="4067944" y="4797152"/>
            <a:ext cx="1152128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 2008</a:t>
            </a:r>
            <a:endParaRPr lang="cs-CZ" dirty="0"/>
          </a:p>
        </p:txBody>
      </p:sp>
      <p:sp>
        <p:nvSpPr>
          <p:cNvPr id="7" name="Right Arrow 6"/>
          <p:cNvSpPr/>
          <p:nvPr/>
        </p:nvSpPr>
        <p:spPr>
          <a:xfrm>
            <a:off x="899592" y="5697252"/>
            <a:ext cx="2988332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403648" y="5517232"/>
            <a:ext cx="108012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password</a:t>
            </a:r>
            <a:endParaRPr lang="cs-CZ" sz="1400" dirty="0"/>
          </a:p>
        </p:txBody>
      </p:sp>
      <p:sp>
        <p:nvSpPr>
          <p:cNvPr id="9" name="Rectangle 8"/>
          <p:cNvSpPr/>
          <p:nvPr/>
        </p:nvSpPr>
        <p:spPr>
          <a:xfrm>
            <a:off x="4644008" y="5697252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10" name="Rectangle 9"/>
          <p:cNvSpPr/>
          <p:nvPr/>
        </p:nvSpPr>
        <p:spPr>
          <a:xfrm>
            <a:off x="5394424" y="5697252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SHA-1</a:t>
            </a:r>
            <a:endParaRPr lang="cs-CZ" sz="1400" dirty="0"/>
          </a:p>
        </p:txBody>
      </p:sp>
      <p:sp>
        <p:nvSpPr>
          <p:cNvPr id="11" name="Rectangle 10"/>
          <p:cNvSpPr/>
          <p:nvPr/>
        </p:nvSpPr>
        <p:spPr>
          <a:xfrm>
            <a:off x="4644008" y="4221088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12" name="Rectangle 11"/>
          <p:cNvSpPr/>
          <p:nvPr/>
        </p:nvSpPr>
        <p:spPr>
          <a:xfrm>
            <a:off x="5394424" y="4221088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SHA-1</a:t>
            </a:r>
            <a:endParaRPr lang="cs-CZ" sz="1400" dirty="0"/>
          </a:p>
        </p:txBody>
      </p:sp>
      <p:sp>
        <p:nvSpPr>
          <p:cNvPr id="13" name="Rectangle 12"/>
          <p:cNvSpPr/>
          <p:nvPr/>
        </p:nvSpPr>
        <p:spPr>
          <a:xfrm>
            <a:off x="4644008" y="2708920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5394424" y="2708920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SHA-1</a:t>
            </a:r>
            <a:endParaRPr lang="cs-CZ" sz="1400" dirty="0"/>
          </a:p>
        </p:txBody>
      </p:sp>
      <p:sp>
        <p:nvSpPr>
          <p:cNvPr id="15" name="Right Arrow 14"/>
          <p:cNvSpPr/>
          <p:nvPr/>
        </p:nvSpPr>
        <p:spPr>
          <a:xfrm rot="16200000">
            <a:off x="5344610" y="4958562"/>
            <a:ext cx="855712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Right Arrow 15"/>
          <p:cNvSpPr/>
          <p:nvPr/>
        </p:nvSpPr>
        <p:spPr>
          <a:xfrm rot="16200000">
            <a:off x="5344610" y="3465004"/>
            <a:ext cx="855712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Right Arrow 16"/>
          <p:cNvSpPr/>
          <p:nvPr/>
        </p:nvSpPr>
        <p:spPr>
          <a:xfrm>
            <a:off x="899592" y="1592796"/>
            <a:ext cx="244827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1403648" y="1412776"/>
            <a:ext cx="1080120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password</a:t>
            </a:r>
            <a:endParaRPr lang="cs-CZ" sz="1400" dirty="0"/>
          </a:p>
        </p:txBody>
      </p:sp>
      <p:sp>
        <p:nvSpPr>
          <p:cNvPr id="19" name="Rectangle 18"/>
          <p:cNvSpPr/>
          <p:nvPr/>
        </p:nvSpPr>
        <p:spPr>
          <a:xfrm>
            <a:off x="3509882" y="1592796"/>
            <a:ext cx="756084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20" name="Rectangle 19"/>
          <p:cNvSpPr/>
          <p:nvPr/>
        </p:nvSpPr>
        <p:spPr>
          <a:xfrm>
            <a:off x="3503715" y="3140968"/>
            <a:ext cx="756084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21" name="Rectangle 20"/>
          <p:cNvSpPr/>
          <p:nvPr/>
        </p:nvSpPr>
        <p:spPr>
          <a:xfrm>
            <a:off x="3515550" y="4653136"/>
            <a:ext cx="756084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22" name="Right Arrow 21"/>
          <p:cNvSpPr/>
          <p:nvPr/>
        </p:nvSpPr>
        <p:spPr>
          <a:xfrm rot="5400000">
            <a:off x="3285716" y="2367620"/>
            <a:ext cx="85571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Right Arrow 22"/>
          <p:cNvSpPr/>
          <p:nvPr/>
        </p:nvSpPr>
        <p:spPr>
          <a:xfrm rot="5400000">
            <a:off x="3285716" y="3914316"/>
            <a:ext cx="85571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82832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Full-text passwords for digest on 2000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" y="1192807"/>
            <a:ext cx="8435280" cy="562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514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to stored hashes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Regardless of DFL</a:t>
            </a:r>
          </a:p>
          <a:p>
            <a:pPr lvl="1"/>
            <a:r>
              <a:rPr lang="en-US" dirty="0"/>
              <a:t>the hashes are updated only on DC which computes it and </a:t>
            </a:r>
            <a:r>
              <a:rPr lang="en-US" dirty="0">
                <a:solidFill>
                  <a:schemeClr val="accent1"/>
                </a:solidFill>
              </a:rPr>
              <a:t>replicate</a:t>
            </a:r>
          </a:p>
          <a:p>
            <a:pPr lvl="1"/>
            <a:r>
              <a:rPr lang="en-US" dirty="0"/>
              <a:t>after upgrading DFL, some passwords </a:t>
            </a:r>
            <a:r>
              <a:rPr lang="en-US" dirty="0">
                <a:solidFill>
                  <a:schemeClr val="accent1"/>
                </a:solidFill>
              </a:rPr>
              <a:t>need change </a:t>
            </a:r>
            <a:r>
              <a:rPr lang="en-US" dirty="0"/>
              <a:t>before digest/AES</a:t>
            </a:r>
          </a:p>
          <a:p>
            <a:r>
              <a:rPr lang="en-US" dirty="0"/>
              <a:t>LM can be disabled</a:t>
            </a:r>
          </a:p>
          <a:p>
            <a:r>
              <a:rPr lang="en-US" dirty="0"/>
              <a:t>LM is disabled by default if first domain DC is 2008+</a:t>
            </a:r>
          </a:p>
          <a:p>
            <a:r>
              <a:rPr lang="en-US" dirty="0"/>
              <a:t>LM is not stored if password is 15+ chars</a:t>
            </a:r>
          </a:p>
          <a:p>
            <a:r>
              <a:rPr lang="en-US" dirty="0"/>
              <a:t>DC can store passwords in full-text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56650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Šipka dolů 32"/>
          <p:cNvSpPr/>
          <p:nvPr/>
        </p:nvSpPr>
        <p:spPr>
          <a:xfrm>
            <a:off x="3357682" y="1196751"/>
            <a:ext cx="2857220" cy="508976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endParaRPr lang="cs-CZ" sz="1633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 hash is extremely weak</a:t>
            </a:r>
            <a:endParaRPr lang="cs-CZ" dirty="0"/>
          </a:p>
        </p:txBody>
      </p:sp>
      <p:sp>
        <p:nvSpPr>
          <p:cNvPr id="9" name="Zaoblený obdélník 8"/>
          <p:cNvSpPr/>
          <p:nvPr/>
        </p:nvSpPr>
        <p:spPr>
          <a:xfrm>
            <a:off x="1929071" y="1571612"/>
            <a:ext cx="6071593" cy="5715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User’s password</a:t>
            </a:r>
            <a:endParaRPr lang="cs-CZ" sz="1633" dirty="0"/>
          </a:p>
        </p:txBody>
      </p:sp>
      <p:sp>
        <p:nvSpPr>
          <p:cNvPr id="10" name="Zaoblený obdélník 9"/>
          <p:cNvSpPr/>
          <p:nvPr/>
        </p:nvSpPr>
        <p:spPr>
          <a:xfrm>
            <a:off x="643324" y="1571612"/>
            <a:ext cx="1204796" cy="57150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64</a:t>
            </a:r>
            <a:endParaRPr lang="cs-CZ" sz="1633" dirty="0"/>
          </a:p>
        </p:txBody>
      </p:sp>
      <p:sp>
        <p:nvSpPr>
          <p:cNvPr id="11" name="Zaoblený obdélník 10"/>
          <p:cNvSpPr/>
          <p:nvPr/>
        </p:nvSpPr>
        <p:spPr>
          <a:xfrm>
            <a:off x="1929072" y="2357431"/>
            <a:ext cx="5857301" cy="5715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UPPERCASE PASSWORD</a:t>
            </a:r>
            <a:endParaRPr lang="cs-CZ" sz="1633" dirty="0"/>
          </a:p>
        </p:txBody>
      </p:sp>
      <p:sp>
        <p:nvSpPr>
          <p:cNvPr id="12" name="Zaoblený obdélník 11"/>
          <p:cNvSpPr/>
          <p:nvPr/>
        </p:nvSpPr>
        <p:spPr>
          <a:xfrm>
            <a:off x="643324" y="2357431"/>
            <a:ext cx="1204796" cy="57150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14</a:t>
            </a:r>
            <a:endParaRPr lang="cs-CZ" sz="1633" dirty="0"/>
          </a:p>
        </p:txBody>
      </p:sp>
      <p:sp>
        <p:nvSpPr>
          <p:cNvPr id="13" name="Zaoblený obdélník 12"/>
          <p:cNvSpPr/>
          <p:nvPr/>
        </p:nvSpPr>
        <p:spPr>
          <a:xfrm>
            <a:off x="1929072" y="3143249"/>
            <a:ext cx="2214345" cy="5715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LEFT</a:t>
            </a:r>
            <a:endParaRPr lang="cs-CZ" sz="1633" dirty="0"/>
          </a:p>
        </p:txBody>
      </p:sp>
      <p:sp>
        <p:nvSpPr>
          <p:cNvPr id="14" name="Zaoblený obdélník 13"/>
          <p:cNvSpPr/>
          <p:nvPr/>
        </p:nvSpPr>
        <p:spPr>
          <a:xfrm>
            <a:off x="643324" y="3143249"/>
            <a:ext cx="1204796" cy="57150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7</a:t>
            </a:r>
            <a:endParaRPr lang="cs-CZ" sz="1633" dirty="0"/>
          </a:p>
        </p:txBody>
      </p:sp>
      <p:sp>
        <p:nvSpPr>
          <p:cNvPr id="15" name="Zaoblený obdélník 14"/>
          <p:cNvSpPr/>
          <p:nvPr/>
        </p:nvSpPr>
        <p:spPr>
          <a:xfrm>
            <a:off x="5572028" y="3143249"/>
            <a:ext cx="2214345" cy="5715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RIGHT</a:t>
            </a:r>
            <a:endParaRPr lang="cs-CZ" sz="1633" dirty="0"/>
          </a:p>
        </p:txBody>
      </p:sp>
      <p:sp>
        <p:nvSpPr>
          <p:cNvPr id="16" name="Zaoblený obdélník 15"/>
          <p:cNvSpPr/>
          <p:nvPr/>
        </p:nvSpPr>
        <p:spPr>
          <a:xfrm>
            <a:off x="4286279" y="3143249"/>
            <a:ext cx="1204796" cy="57150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7</a:t>
            </a:r>
            <a:endParaRPr lang="cs-CZ" sz="1633" dirty="0"/>
          </a:p>
        </p:txBody>
      </p:sp>
      <p:sp>
        <p:nvSpPr>
          <p:cNvPr id="17" name="Zaoblený obdélník 16"/>
          <p:cNvSpPr/>
          <p:nvPr/>
        </p:nvSpPr>
        <p:spPr>
          <a:xfrm>
            <a:off x="8072095" y="1571612"/>
            <a:ext cx="285722" cy="5715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endParaRPr lang="cs-CZ" sz="1633" dirty="0"/>
          </a:p>
        </p:txBody>
      </p:sp>
      <p:sp>
        <p:nvSpPr>
          <p:cNvPr id="19" name="Zaoblený obdélník 18"/>
          <p:cNvSpPr/>
          <p:nvPr/>
        </p:nvSpPr>
        <p:spPr>
          <a:xfrm>
            <a:off x="8429248" y="1571612"/>
            <a:ext cx="285722" cy="5715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endParaRPr lang="cs-CZ" sz="1633" dirty="0"/>
          </a:p>
        </p:txBody>
      </p:sp>
      <p:sp>
        <p:nvSpPr>
          <p:cNvPr id="20" name="Zaoblený obdélník 19"/>
          <p:cNvSpPr/>
          <p:nvPr/>
        </p:nvSpPr>
        <p:spPr>
          <a:xfrm>
            <a:off x="1714780" y="4143380"/>
            <a:ext cx="1000027" cy="57150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DES</a:t>
            </a:r>
            <a:endParaRPr lang="cs-CZ" sz="1633" dirty="0"/>
          </a:p>
        </p:txBody>
      </p:sp>
      <p:sp>
        <p:nvSpPr>
          <p:cNvPr id="22" name="Zaoblený obdélník 21"/>
          <p:cNvSpPr/>
          <p:nvPr/>
        </p:nvSpPr>
        <p:spPr>
          <a:xfrm>
            <a:off x="2786238" y="4143380"/>
            <a:ext cx="1500040" cy="57150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cs-CZ" sz="1633" dirty="0"/>
              <a:t>KGS!@#$%</a:t>
            </a:r>
          </a:p>
        </p:txBody>
      </p:sp>
      <p:sp>
        <p:nvSpPr>
          <p:cNvPr id="25" name="Zaoblený obdélník 24"/>
          <p:cNvSpPr/>
          <p:nvPr/>
        </p:nvSpPr>
        <p:spPr>
          <a:xfrm>
            <a:off x="2000503" y="5143512"/>
            <a:ext cx="2500067" cy="5715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Left part of the hash</a:t>
            </a:r>
            <a:endParaRPr lang="cs-CZ" sz="1633" dirty="0"/>
          </a:p>
        </p:txBody>
      </p:sp>
      <p:sp>
        <p:nvSpPr>
          <p:cNvPr id="26" name="Zaoblený obdélník 25"/>
          <p:cNvSpPr/>
          <p:nvPr/>
        </p:nvSpPr>
        <p:spPr>
          <a:xfrm>
            <a:off x="714754" y="5143512"/>
            <a:ext cx="1204796" cy="57150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8</a:t>
            </a:r>
            <a:endParaRPr lang="cs-CZ" sz="1633" dirty="0"/>
          </a:p>
        </p:txBody>
      </p:sp>
      <p:sp>
        <p:nvSpPr>
          <p:cNvPr id="27" name="Zaoblený obdélník 26"/>
          <p:cNvSpPr/>
          <p:nvPr/>
        </p:nvSpPr>
        <p:spPr>
          <a:xfrm>
            <a:off x="5357736" y="4143380"/>
            <a:ext cx="1000027" cy="57150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DES</a:t>
            </a:r>
            <a:endParaRPr lang="cs-CZ" sz="1633" dirty="0"/>
          </a:p>
        </p:txBody>
      </p:sp>
      <p:sp>
        <p:nvSpPr>
          <p:cNvPr id="28" name="Zaoblený obdélník 27"/>
          <p:cNvSpPr/>
          <p:nvPr/>
        </p:nvSpPr>
        <p:spPr>
          <a:xfrm>
            <a:off x="6429194" y="4143380"/>
            <a:ext cx="1500040" cy="57150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cs-CZ" sz="1633" dirty="0"/>
              <a:t>KGS!@#$%</a:t>
            </a:r>
          </a:p>
        </p:txBody>
      </p:sp>
      <p:sp>
        <p:nvSpPr>
          <p:cNvPr id="29" name="Zaoblený obdélník 28"/>
          <p:cNvSpPr/>
          <p:nvPr/>
        </p:nvSpPr>
        <p:spPr>
          <a:xfrm>
            <a:off x="5929180" y="5143512"/>
            <a:ext cx="2500067" cy="5715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Right part of the hash</a:t>
            </a:r>
            <a:endParaRPr lang="cs-CZ" sz="1633" dirty="0"/>
          </a:p>
        </p:txBody>
      </p:sp>
      <p:sp>
        <p:nvSpPr>
          <p:cNvPr id="30" name="Zaoblený obdélník 29"/>
          <p:cNvSpPr/>
          <p:nvPr/>
        </p:nvSpPr>
        <p:spPr>
          <a:xfrm>
            <a:off x="4643431" y="5143512"/>
            <a:ext cx="1204796" cy="57150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8</a:t>
            </a:r>
            <a:endParaRPr lang="cs-CZ" sz="1633" dirty="0"/>
          </a:p>
        </p:txBody>
      </p:sp>
      <p:sp>
        <p:nvSpPr>
          <p:cNvPr id="31" name="Zaoblený obdélník 30"/>
          <p:cNvSpPr/>
          <p:nvPr/>
        </p:nvSpPr>
        <p:spPr>
          <a:xfrm>
            <a:off x="2000503" y="5857892"/>
            <a:ext cx="6428745" cy="5715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LM hash</a:t>
            </a:r>
            <a:endParaRPr lang="cs-CZ" sz="1633" dirty="0"/>
          </a:p>
        </p:txBody>
      </p:sp>
      <p:sp>
        <p:nvSpPr>
          <p:cNvPr id="32" name="Zaoblený obdélník 31"/>
          <p:cNvSpPr/>
          <p:nvPr/>
        </p:nvSpPr>
        <p:spPr>
          <a:xfrm>
            <a:off x="714754" y="5857892"/>
            <a:ext cx="1204796" cy="57150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/>
            <a:r>
              <a:rPr lang="en-US" sz="1633" dirty="0"/>
              <a:t>16</a:t>
            </a:r>
            <a:endParaRPr lang="cs-CZ" sz="1633" dirty="0"/>
          </a:p>
        </p:txBody>
      </p:sp>
    </p:spTree>
    <p:extLst>
      <p:ext uri="{BB962C8B-B14F-4D97-AF65-F5344CB8AC3E}">
        <p14:creationId xmlns:p14="http://schemas.microsoft.com/office/powerpoint/2010/main" val="20318479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not store LM hashes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888" y="1414611"/>
            <a:ext cx="8869562" cy="5254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371075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longer than 14 chars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not generate LM hash at all</a:t>
            </a:r>
          </a:p>
          <a:p>
            <a:pPr lvl="1"/>
            <a:r>
              <a:rPr lang="en-US" dirty="0"/>
              <a:t>since Windows 2000+</a:t>
            </a:r>
          </a:p>
        </p:txBody>
      </p:sp>
    </p:spTree>
    <p:extLst>
      <p:ext uri="{BB962C8B-B14F-4D97-AF65-F5344CB8AC3E}">
        <p14:creationId xmlns:p14="http://schemas.microsoft.com/office/powerpoint/2010/main" val="30646722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Password (confidential attribute) replication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Replication Synchronization</a:t>
            </a:r>
          </a:p>
          <a:p>
            <a:pPr lvl="1"/>
            <a:r>
              <a:rPr lang="en-US" dirty="0"/>
              <a:t>invoke DC's own replication operation, such as trigger the following outside of schedule</a:t>
            </a:r>
          </a:p>
          <a:p>
            <a:pPr lvl="2"/>
            <a:r>
              <a:rPr lang="en-US" dirty="0" err="1"/>
              <a:t>repadmin</a:t>
            </a:r>
            <a:r>
              <a:rPr lang="en-US" dirty="0"/>
              <a:t> /</a:t>
            </a:r>
            <a:r>
              <a:rPr lang="en-US" dirty="0" err="1"/>
              <a:t>kcc</a:t>
            </a:r>
            <a:endParaRPr lang="en-US" dirty="0"/>
          </a:p>
          <a:p>
            <a:pPr lvl="2"/>
            <a:r>
              <a:rPr lang="en-US" dirty="0" err="1"/>
              <a:t>repadmin</a:t>
            </a:r>
            <a:r>
              <a:rPr lang="en-US" dirty="0"/>
              <a:t> /replicate</a:t>
            </a:r>
          </a:p>
          <a:p>
            <a:pPr lvl="2"/>
            <a:r>
              <a:rPr lang="en-US" dirty="0" err="1"/>
              <a:t>repadmin</a:t>
            </a:r>
            <a:r>
              <a:rPr lang="en-US" dirty="0"/>
              <a:t> /</a:t>
            </a:r>
            <a:r>
              <a:rPr lang="en-US" dirty="0" err="1"/>
              <a:t>syncall</a:t>
            </a:r>
            <a:endParaRPr lang="en-US" dirty="0"/>
          </a:p>
          <a:p>
            <a:r>
              <a:rPr lang="en-US" dirty="0"/>
              <a:t>Replicate Directory Changes in Filtered Set</a:t>
            </a:r>
          </a:p>
          <a:p>
            <a:pPr lvl="1"/>
            <a:r>
              <a:rPr lang="en-US" dirty="0"/>
              <a:t>contains only the GC/RODC attributes</a:t>
            </a:r>
          </a:p>
          <a:p>
            <a:r>
              <a:rPr lang="en-US" dirty="0"/>
              <a:t>Replicate Directory Changes</a:t>
            </a:r>
          </a:p>
          <a:p>
            <a:pPr lvl="1"/>
            <a:r>
              <a:rPr lang="en-US" dirty="0"/>
              <a:t>contains everything except for secrets and confidential attributes (such as BitLocker and TPM secrets, KDS secrets etc.)</a:t>
            </a:r>
          </a:p>
          <a:p>
            <a:r>
              <a:rPr lang="en-US" dirty="0">
                <a:solidFill>
                  <a:schemeClr val="accent1"/>
                </a:solidFill>
              </a:rPr>
              <a:t>Replicate Directory Changes All</a:t>
            </a:r>
          </a:p>
          <a:p>
            <a:pPr lvl="1"/>
            <a:r>
              <a:rPr lang="en-US" dirty="0"/>
              <a:t>can download the whole replica from a DC including password hashes etc.</a:t>
            </a:r>
          </a:p>
          <a:p>
            <a:pPr lvl="1"/>
            <a:r>
              <a:rPr lang="en-US" dirty="0"/>
              <a:t>required by </a:t>
            </a:r>
            <a:r>
              <a:rPr lang="en-US" dirty="0">
                <a:solidFill>
                  <a:schemeClr val="accent1"/>
                </a:solidFill>
              </a:rPr>
              <a:t>Azure AD (AAD</a:t>
            </a:r>
            <a:r>
              <a:rPr lang="en-US">
                <a:solidFill>
                  <a:schemeClr val="accent1"/>
                </a:solidFill>
              </a:rPr>
              <a:t>) Connect/DirSync </a:t>
            </a:r>
            <a:r>
              <a:rPr lang="en-US" dirty="0"/>
              <a:t>for example when syncing passwords to AAD</a:t>
            </a:r>
          </a:p>
        </p:txBody>
      </p:sp>
    </p:spTree>
    <p:extLst>
      <p:ext uri="{BB962C8B-B14F-4D97-AF65-F5344CB8AC3E}">
        <p14:creationId xmlns:p14="http://schemas.microsoft.com/office/powerpoint/2010/main" val="22161490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Cracking hashes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Brute-force MD4</a:t>
            </a:r>
          </a:p>
          <a:p>
            <a:pPr lvl="1"/>
            <a:r>
              <a:rPr lang="en-US" dirty="0"/>
              <a:t>ca 80^N</a:t>
            </a:r>
          </a:p>
          <a:p>
            <a:pPr lvl="1"/>
            <a:r>
              <a:rPr lang="en-US" dirty="0"/>
              <a:t>12+ chars well unbreakable today</a:t>
            </a:r>
          </a:p>
          <a:p>
            <a:pPr lvl="1"/>
            <a:r>
              <a:rPr lang="en-US" dirty="0"/>
              <a:t>hashes from: AD, SAM, LSASS memory, NTLM/Kerberos network authentication</a:t>
            </a:r>
          </a:p>
          <a:p>
            <a:r>
              <a:rPr lang="en-US" dirty="0"/>
              <a:t>Rainbow table</a:t>
            </a:r>
          </a:p>
          <a:p>
            <a:pPr lvl="1"/>
            <a:r>
              <a:rPr lang="en-US" dirty="0"/>
              <a:t>hash dictionary</a:t>
            </a:r>
          </a:p>
          <a:p>
            <a:pPr lvl="1"/>
            <a:r>
              <a:rPr lang="en-US" dirty="0"/>
              <a:t>very quick</a:t>
            </a:r>
          </a:p>
          <a:p>
            <a:pPr lvl="1"/>
            <a:r>
              <a:rPr lang="en-US" dirty="0"/>
              <a:t>complete LM table 2 GB</a:t>
            </a:r>
          </a:p>
          <a:p>
            <a:pPr lvl="1"/>
            <a:r>
              <a:rPr lang="en-US" dirty="0"/>
              <a:t>120 GB for </a:t>
            </a:r>
            <a:r>
              <a:rPr lang="en-US" dirty="0" err="1"/>
              <a:t>mixalfanum</a:t>
            </a:r>
            <a:r>
              <a:rPr lang="en-US" dirty="0"/>
              <a:t> 8 MD4 character set</a:t>
            </a:r>
          </a:p>
          <a:p>
            <a:pPr lvl="1"/>
            <a:r>
              <a:rPr lang="en-US" dirty="0"/>
              <a:t>4 TB for 9 character set</a:t>
            </a:r>
          </a:p>
          <a:p>
            <a:pPr lvl="1"/>
            <a:r>
              <a:rPr lang="en-US" dirty="0"/>
              <a:t>hashes from: AD, SAM, LSASS memory</a:t>
            </a:r>
          </a:p>
          <a:p>
            <a:pPr lvl="1"/>
            <a:endParaRPr lang="en-US" dirty="0"/>
          </a:p>
          <a:p>
            <a:r>
              <a:rPr lang="en-US" dirty="0"/>
              <a:t>SSD vs. RAM ~ 10 000 x slower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259125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policies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of 4 character classes</a:t>
            </a:r>
          </a:p>
          <a:p>
            <a:pPr lvl="1"/>
            <a:r>
              <a:rPr lang="en-US" dirty="0"/>
              <a:t>a-z, A-Z, 0-9, #!@$%^&amp;*()</a:t>
            </a:r>
            <a:r>
              <a:rPr lang="cs-CZ" dirty="0"/>
              <a:t>...</a:t>
            </a:r>
            <a:endParaRPr lang="en-US" dirty="0"/>
          </a:p>
          <a:p>
            <a:r>
              <a:rPr lang="en-US" dirty="0"/>
              <a:t>No 3 and more letters from login sequentially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ondrej</a:t>
            </a:r>
            <a:r>
              <a:rPr lang="en-US" dirty="0"/>
              <a:t>: #.JaME5-B</a:t>
            </a:r>
            <a:r>
              <a:rPr lang="en-US" dirty="0">
                <a:solidFill>
                  <a:schemeClr val="accent1"/>
                </a:solidFill>
              </a:rPr>
              <a:t>onD</a:t>
            </a:r>
            <a:r>
              <a:rPr lang="en-US" dirty="0"/>
              <a:t>38</a:t>
            </a:r>
          </a:p>
          <a:p>
            <a:r>
              <a:rPr lang="en-US" dirty="0"/>
              <a:t>Maximum password age</a:t>
            </a:r>
          </a:p>
          <a:p>
            <a:pPr lvl="1"/>
            <a:r>
              <a:rPr lang="en-US" dirty="0"/>
              <a:t>prevents colleagues from guessing the password</a:t>
            </a:r>
          </a:p>
          <a:p>
            <a:pPr lvl="1"/>
            <a:r>
              <a:rPr lang="en-US" dirty="0"/>
              <a:t>does not affect security against remote anonymous attacks</a:t>
            </a:r>
          </a:p>
          <a:p>
            <a:r>
              <a:rPr lang="en-US" dirty="0"/>
              <a:t>Minimum password age</a:t>
            </a:r>
          </a:p>
          <a:p>
            <a:pPr lvl="1"/>
            <a:r>
              <a:rPr lang="en-US" dirty="0"/>
              <a:t>only to enforce password history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50559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changes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DC in full-text</a:t>
            </a:r>
          </a:p>
          <a:p>
            <a:pPr lvl="1"/>
            <a:r>
              <a:rPr lang="en-US" dirty="0"/>
              <a:t>channel encrypted with Kerberos (original password)</a:t>
            </a:r>
          </a:p>
          <a:p>
            <a:r>
              <a:rPr lang="en-US" dirty="0"/>
              <a:t>Password filters .DLL</a:t>
            </a:r>
          </a:p>
          <a:p>
            <a:pPr lvl="1"/>
            <a:r>
              <a:rPr lang="en-US" dirty="0"/>
              <a:t>policies</a:t>
            </a:r>
          </a:p>
          <a:p>
            <a:pPr lvl="1"/>
            <a:r>
              <a:rPr lang="en-US" dirty="0"/>
              <a:t>identity integration</a:t>
            </a:r>
          </a:p>
          <a:p>
            <a:pPr lvl="1"/>
            <a:r>
              <a:rPr lang="en-US" dirty="0"/>
              <a:t>auditing</a:t>
            </a:r>
          </a:p>
          <a:p>
            <a:pPr lvl="1"/>
            <a:r>
              <a:rPr lang="en-US" dirty="0"/>
              <a:t>HKLM\System\CCS\Control\</a:t>
            </a:r>
            <a:r>
              <a:rPr lang="en-US" dirty="0" err="1"/>
              <a:t>Lsa</a:t>
            </a:r>
            <a:endParaRPr lang="en-US" dirty="0"/>
          </a:p>
          <a:p>
            <a:pPr lvl="2"/>
            <a:r>
              <a:rPr lang="en-US" dirty="0" err="1"/>
              <a:t>NotificationPackages</a:t>
            </a:r>
            <a:r>
              <a:rPr lang="en-US" dirty="0"/>
              <a:t> = MULTI_SZ</a:t>
            </a:r>
          </a:p>
          <a:p>
            <a:pPr lvl="2"/>
            <a:r>
              <a:rPr lang="en-US" dirty="0"/>
              <a:t>.DLL in System32</a:t>
            </a:r>
          </a:p>
          <a:p>
            <a:pPr lvl="1"/>
            <a:r>
              <a:rPr lang="en-US" dirty="0"/>
              <a:t>must be installed on </a:t>
            </a:r>
            <a:r>
              <a:rPr lang="en-US" dirty="0">
                <a:solidFill>
                  <a:schemeClr val="accent1"/>
                </a:solidFill>
              </a:rPr>
              <a:t>all writable </a:t>
            </a:r>
            <a:r>
              <a:rPr lang="en-US" dirty="0"/>
              <a:t>DCs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61674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filters</a:t>
            </a:r>
            <a:endParaRPr lang="cs-CZ" dirty="0"/>
          </a:p>
        </p:txBody>
      </p:sp>
      <p:cxnSp>
        <p:nvCxnSpPr>
          <p:cNvPr id="21" name="Straight Arrow Connector 20"/>
          <p:cNvCxnSpPr>
            <a:stCxn id="4" idx="1"/>
            <a:endCxn id="9" idx="2"/>
          </p:cNvCxnSpPr>
          <p:nvPr/>
        </p:nvCxnSpPr>
        <p:spPr>
          <a:xfrm flipH="1" flipV="1">
            <a:off x="2995964" y="2511123"/>
            <a:ext cx="1792060" cy="78639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1"/>
            <a:endCxn id="5" idx="3"/>
          </p:cNvCxnSpPr>
          <p:nvPr/>
        </p:nvCxnSpPr>
        <p:spPr>
          <a:xfrm flipH="1" flipV="1">
            <a:off x="2186616" y="2577604"/>
            <a:ext cx="2601408" cy="71990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4" idx="1"/>
            <a:endCxn id="6" idx="3"/>
          </p:cNvCxnSpPr>
          <p:nvPr/>
        </p:nvCxnSpPr>
        <p:spPr>
          <a:xfrm flipH="1">
            <a:off x="1826576" y="3297513"/>
            <a:ext cx="2961448" cy="59526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4" idx="1"/>
            <a:endCxn id="7" idx="0"/>
          </p:cNvCxnSpPr>
          <p:nvPr/>
        </p:nvCxnSpPr>
        <p:spPr>
          <a:xfrm flipH="1">
            <a:off x="2047160" y="3297513"/>
            <a:ext cx="2740864" cy="157164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4" idx="1"/>
            <a:endCxn id="8" idx="0"/>
          </p:cNvCxnSpPr>
          <p:nvPr/>
        </p:nvCxnSpPr>
        <p:spPr>
          <a:xfrm flipH="1">
            <a:off x="3631336" y="3297513"/>
            <a:ext cx="1156688" cy="210743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Zaoblený obdélník 4"/>
          <p:cNvSpPr/>
          <p:nvPr/>
        </p:nvSpPr>
        <p:spPr>
          <a:xfrm>
            <a:off x="1043608" y="2041819"/>
            <a:ext cx="1143008" cy="1071570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Oracle</a:t>
            </a:r>
          </a:p>
        </p:txBody>
      </p:sp>
      <p:sp>
        <p:nvSpPr>
          <p:cNvPr id="6" name="Zaoblený obdélník 4"/>
          <p:cNvSpPr/>
          <p:nvPr/>
        </p:nvSpPr>
        <p:spPr>
          <a:xfrm>
            <a:off x="683568" y="3356992"/>
            <a:ext cx="1143008" cy="1071570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SAP</a:t>
            </a:r>
          </a:p>
        </p:txBody>
      </p:sp>
      <p:sp>
        <p:nvSpPr>
          <p:cNvPr id="7" name="Zaoblený obdélník 4"/>
          <p:cNvSpPr/>
          <p:nvPr/>
        </p:nvSpPr>
        <p:spPr>
          <a:xfrm>
            <a:off x="1475656" y="4869160"/>
            <a:ext cx="1143008" cy="1071570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Unix</a:t>
            </a:r>
          </a:p>
        </p:txBody>
      </p:sp>
      <p:sp>
        <p:nvSpPr>
          <p:cNvPr id="8" name="Zaoblený obdélník 4"/>
          <p:cNvSpPr/>
          <p:nvPr/>
        </p:nvSpPr>
        <p:spPr>
          <a:xfrm>
            <a:off x="3059832" y="5404945"/>
            <a:ext cx="1143008" cy="1071570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Router</a:t>
            </a:r>
          </a:p>
        </p:txBody>
      </p:sp>
      <p:sp>
        <p:nvSpPr>
          <p:cNvPr id="9" name="Zaoblený obdélník 4"/>
          <p:cNvSpPr/>
          <p:nvPr/>
        </p:nvSpPr>
        <p:spPr>
          <a:xfrm>
            <a:off x="2424460" y="1439553"/>
            <a:ext cx="1143008" cy="1071570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VoIP</a:t>
            </a:r>
          </a:p>
        </p:txBody>
      </p:sp>
      <p:cxnSp>
        <p:nvCxnSpPr>
          <p:cNvPr id="35" name="Straight Arrow Connector 34"/>
          <p:cNvCxnSpPr>
            <a:stCxn id="10" idx="1"/>
            <a:endCxn id="4" idx="3"/>
          </p:cNvCxnSpPr>
          <p:nvPr/>
        </p:nvCxnSpPr>
        <p:spPr>
          <a:xfrm flipH="1">
            <a:off x="5931032" y="1198357"/>
            <a:ext cx="1580960" cy="209915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Zaoblený obdélník 4"/>
          <p:cNvSpPr/>
          <p:nvPr/>
        </p:nvSpPr>
        <p:spPr>
          <a:xfrm>
            <a:off x="7511992" y="662572"/>
            <a:ext cx="1143008" cy="1071570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40" name="Zaoblený obdélník 4"/>
          <p:cNvSpPr/>
          <p:nvPr/>
        </p:nvSpPr>
        <p:spPr>
          <a:xfrm>
            <a:off x="6134732" y="2084213"/>
            <a:ext cx="1539048" cy="413821"/>
          </a:xfrm>
          <a:prstGeom prst="roundRect">
            <a:avLst>
              <a:gd name="adj" fmla="val 636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plain text password</a:t>
            </a:r>
          </a:p>
        </p:txBody>
      </p:sp>
      <p:sp>
        <p:nvSpPr>
          <p:cNvPr id="41" name="Zaoblený obdélník 4"/>
          <p:cNvSpPr/>
          <p:nvPr/>
        </p:nvSpPr>
        <p:spPr>
          <a:xfrm>
            <a:off x="2693764" y="3357154"/>
            <a:ext cx="1539048" cy="1071408"/>
          </a:xfrm>
          <a:prstGeom prst="roundRect">
            <a:avLst>
              <a:gd name="adj" fmla="val 636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custom application password change protocol</a:t>
            </a:r>
          </a:p>
        </p:txBody>
      </p:sp>
      <p:cxnSp>
        <p:nvCxnSpPr>
          <p:cNvPr id="44" name="Straight Arrow Connector 43"/>
          <p:cNvCxnSpPr>
            <a:stCxn id="4" idx="2"/>
            <a:endCxn id="42" idx="0"/>
          </p:cNvCxnSpPr>
          <p:nvPr/>
        </p:nvCxnSpPr>
        <p:spPr>
          <a:xfrm>
            <a:off x="5359528" y="3833298"/>
            <a:ext cx="983564" cy="15250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" idx="2"/>
            <a:endCxn id="43" idx="0"/>
          </p:cNvCxnSpPr>
          <p:nvPr/>
        </p:nvCxnSpPr>
        <p:spPr>
          <a:xfrm>
            <a:off x="5359528" y="3833298"/>
            <a:ext cx="2376264" cy="15261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aoblený obdélník 4"/>
          <p:cNvSpPr/>
          <p:nvPr/>
        </p:nvSpPr>
        <p:spPr>
          <a:xfrm>
            <a:off x="4788024" y="2761728"/>
            <a:ext cx="1143008" cy="1071570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DC with password filter</a:t>
            </a:r>
          </a:p>
        </p:txBody>
      </p:sp>
      <p:sp>
        <p:nvSpPr>
          <p:cNvPr id="42" name="Zaoblený obdélník 4"/>
          <p:cNvSpPr/>
          <p:nvPr/>
        </p:nvSpPr>
        <p:spPr>
          <a:xfrm>
            <a:off x="5771588" y="5358337"/>
            <a:ext cx="1143008" cy="1071570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43" name="Zaoblený obdélník 4"/>
          <p:cNvSpPr/>
          <p:nvPr/>
        </p:nvSpPr>
        <p:spPr>
          <a:xfrm>
            <a:off x="7164288" y="5359427"/>
            <a:ext cx="1143008" cy="1071570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52" name="Zaoblený obdélník 4"/>
          <p:cNvSpPr/>
          <p:nvPr/>
        </p:nvSpPr>
        <p:spPr>
          <a:xfrm>
            <a:off x="5712972" y="4527059"/>
            <a:ext cx="1799020" cy="413821"/>
          </a:xfrm>
          <a:prstGeom prst="roundRect">
            <a:avLst>
              <a:gd name="adj" fmla="val 63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hash replication</a:t>
            </a:r>
          </a:p>
        </p:txBody>
      </p:sp>
    </p:spTree>
    <p:extLst>
      <p:ext uri="{BB962C8B-B14F-4D97-AF65-F5344CB8AC3E}">
        <p14:creationId xmlns:p14="http://schemas.microsoft.com/office/powerpoint/2010/main" val="25015131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secrets DC (RODC)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Physically insecure locations</a:t>
            </a:r>
          </a:p>
          <a:p>
            <a:r>
              <a:rPr lang="en-US" dirty="0"/>
              <a:t>Caches/replicates </a:t>
            </a:r>
            <a:r>
              <a:rPr lang="en-US" dirty="0">
                <a:solidFill>
                  <a:schemeClr val="accent1"/>
                </a:solidFill>
              </a:rPr>
              <a:t>only some</a:t>
            </a:r>
            <a:r>
              <a:rPr lang="en-US" dirty="0"/>
              <a:t> hashes</a:t>
            </a:r>
          </a:p>
          <a:p>
            <a:r>
              <a:rPr lang="en-US" dirty="0"/>
              <a:t>Forwards other authentication transparently to writable DCs</a:t>
            </a:r>
          </a:p>
          <a:p>
            <a:r>
              <a:rPr lang="en-US" dirty="0"/>
              <a:t>Has a </a:t>
            </a:r>
            <a:r>
              <a:rPr lang="en-US" dirty="0">
                <a:solidFill>
                  <a:schemeClr val="accent1"/>
                </a:solidFill>
              </a:rPr>
              <a:t>local Administrators</a:t>
            </a:r>
            <a:r>
              <a:rPr lang="en-US" dirty="0"/>
              <a:t> member who does not need to be member of </a:t>
            </a:r>
            <a:r>
              <a:rPr lang="en-US" dirty="0">
                <a:solidFill>
                  <a:schemeClr val="accent1"/>
                </a:solidFill>
              </a:rPr>
              <a:t>Domain Admins</a:t>
            </a:r>
            <a:r>
              <a:rPr lang="en-US" dirty="0"/>
              <a:t> group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593325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Tvar 22"/>
          <p:cNvCxnSpPr>
            <a:stCxn id="9" idx="1"/>
            <a:endCxn id="11" idx="2"/>
          </p:cNvCxnSpPr>
          <p:nvPr/>
        </p:nvCxnSpPr>
        <p:spPr>
          <a:xfrm rot="10800000">
            <a:off x="2447764" y="4293097"/>
            <a:ext cx="3276364" cy="571869"/>
          </a:xfrm>
          <a:prstGeom prst="bentConnector2">
            <a:avLst/>
          </a:prstGeom>
          <a:ln w="571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caching/forwarding</a:t>
            </a:r>
            <a:endParaRPr lang="cs-CZ" dirty="0"/>
          </a:p>
        </p:txBody>
      </p:sp>
      <p:sp>
        <p:nvSpPr>
          <p:cNvPr id="25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sz="1800" dirty="0"/>
              <a:t>not cached yet</a:t>
            </a:r>
          </a:p>
          <a:p>
            <a:pPr algn="r"/>
            <a:r>
              <a:rPr lang="en-US" sz="1800" dirty="0"/>
              <a:t>not cached yet after</a:t>
            </a:r>
            <a:br>
              <a:rPr lang="en-US" sz="1800" dirty="0"/>
            </a:br>
            <a:r>
              <a:rPr lang="en-US" sz="1800" dirty="0"/>
              <a:t>recent password change</a:t>
            </a:r>
          </a:p>
          <a:p>
            <a:pPr algn="r"/>
            <a:r>
              <a:rPr lang="en-US" sz="1800" dirty="0"/>
              <a:t>wrong password</a:t>
            </a:r>
          </a:p>
          <a:p>
            <a:pPr algn="r"/>
            <a:r>
              <a:rPr lang="en-US" sz="1800" dirty="0"/>
              <a:t>expired password</a:t>
            </a:r>
          </a:p>
          <a:p>
            <a:pPr algn="r"/>
            <a:r>
              <a:rPr lang="en-US" sz="1800" dirty="0"/>
              <a:t>account locked</a:t>
            </a:r>
          </a:p>
        </p:txBody>
      </p:sp>
      <p:sp>
        <p:nvSpPr>
          <p:cNvPr id="9" name="Zaoblený obdélník 8"/>
          <p:cNvSpPr/>
          <p:nvPr/>
        </p:nvSpPr>
        <p:spPr>
          <a:xfrm>
            <a:off x="5724128" y="3645024"/>
            <a:ext cx="2736304" cy="2439882"/>
          </a:xfrm>
          <a:prstGeom prst="roundRect">
            <a:avLst>
              <a:gd name="adj" fmla="val 626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Cyprus</a:t>
            </a:r>
            <a:br>
              <a:rPr lang="en-US" sz="1400" dirty="0"/>
            </a:br>
            <a:r>
              <a:rPr lang="en-US" sz="1400" dirty="0"/>
              <a:t>10.40.x.x</a:t>
            </a:r>
            <a:endParaRPr lang="cs-CZ" sz="1400" dirty="0"/>
          </a:p>
        </p:txBody>
      </p:sp>
      <p:sp>
        <p:nvSpPr>
          <p:cNvPr id="11" name="Zaoblený obdélník 10"/>
          <p:cNvSpPr/>
          <p:nvPr/>
        </p:nvSpPr>
        <p:spPr>
          <a:xfrm>
            <a:off x="899592" y="1700808"/>
            <a:ext cx="3096344" cy="2592288"/>
          </a:xfrm>
          <a:prstGeom prst="roundRect">
            <a:avLst>
              <a:gd name="adj" fmla="val 5153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London</a:t>
            </a:r>
            <a:br>
              <a:rPr lang="en-US" sz="1400" dirty="0"/>
            </a:br>
            <a:r>
              <a:rPr lang="en-US" sz="1400" dirty="0"/>
              <a:t>10.10.x.x</a:t>
            </a:r>
            <a:endParaRPr lang="cs-CZ" sz="1400" dirty="0"/>
          </a:p>
        </p:txBody>
      </p:sp>
      <p:sp>
        <p:nvSpPr>
          <p:cNvPr id="12" name="Zaoblený obdélník 11"/>
          <p:cNvSpPr/>
          <p:nvPr/>
        </p:nvSpPr>
        <p:spPr>
          <a:xfrm>
            <a:off x="1115616" y="1916832"/>
            <a:ext cx="720080" cy="648072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DC1</a:t>
            </a:r>
            <a:endParaRPr lang="cs-CZ" sz="1400" dirty="0"/>
          </a:p>
        </p:txBody>
      </p:sp>
      <p:sp>
        <p:nvSpPr>
          <p:cNvPr id="13" name="Zaoblený obdélník 12"/>
          <p:cNvSpPr/>
          <p:nvPr/>
        </p:nvSpPr>
        <p:spPr>
          <a:xfrm>
            <a:off x="2051720" y="1916832"/>
            <a:ext cx="720080" cy="648072"/>
          </a:xfrm>
          <a:prstGeom prst="roundRect">
            <a:avLst>
              <a:gd name="adj" fmla="val 120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DC2</a:t>
            </a:r>
            <a:endParaRPr lang="cs-CZ" sz="1400" dirty="0"/>
          </a:p>
        </p:txBody>
      </p:sp>
      <p:sp>
        <p:nvSpPr>
          <p:cNvPr id="14" name="Zaoblený obdélník 13"/>
          <p:cNvSpPr/>
          <p:nvPr/>
        </p:nvSpPr>
        <p:spPr>
          <a:xfrm>
            <a:off x="2987824" y="1916832"/>
            <a:ext cx="720080" cy="648072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DC3</a:t>
            </a:r>
            <a:endParaRPr lang="cs-CZ" sz="1400" dirty="0"/>
          </a:p>
        </p:txBody>
      </p:sp>
      <p:sp>
        <p:nvSpPr>
          <p:cNvPr id="18" name="Zaoblený obdélník 17"/>
          <p:cNvSpPr/>
          <p:nvPr/>
        </p:nvSpPr>
        <p:spPr>
          <a:xfrm>
            <a:off x="5868144" y="4293096"/>
            <a:ext cx="720080" cy="648072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100" dirty="0"/>
              <a:t>RO</a:t>
            </a:r>
            <a:r>
              <a:rPr lang="en-US" sz="1100" dirty="0"/>
              <a:t>D</a:t>
            </a:r>
            <a:r>
              <a:rPr lang="cs-CZ" sz="1100" dirty="0"/>
              <a:t>C</a:t>
            </a:r>
          </a:p>
        </p:txBody>
      </p:sp>
      <p:sp>
        <p:nvSpPr>
          <p:cNvPr id="28" name="Zaoblený obdélník 27"/>
          <p:cNvSpPr/>
          <p:nvPr/>
        </p:nvSpPr>
        <p:spPr>
          <a:xfrm>
            <a:off x="6876256" y="3861048"/>
            <a:ext cx="720080" cy="648072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SRV</a:t>
            </a:r>
            <a:endParaRPr lang="cs-CZ" sz="1400" dirty="0"/>
          </a:p>
        </p:txBody>
      </p:sp>
      <p:sp>
        <p:nvSpPr>
          <p:cNvPr id="29" name="Zaoblený obdélník 28"/>
          <p:cNvSpPr/>
          <p:nvPr/>
        </p:nvSpPr>
        <p:spPr>
          <a:xfrm>
            <a:off x="7380312" y="4725144"/>
            <a:ext cx="720080" cy="648072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SRV</a:t>
            </a:r>
            <a:endParaRPr lang="cs-CZ" sz="1400" dirty="0"/>
          </a:p>
        </p:txBody>
      </p:sp>
      <p:sp>
        <p:nvSpPr>
          <p:cNvPr id="30" name="Zaoblený obdélník 29"/>
          <p:cNvSpPr/>
          <p:nvPr/>
        </p:nvSpPr>
        <p:spPr>
          <a:xfrm>
            <a:off x="7524328" y="4869160"/>
            <a:ext cx="720080" cy="648072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CL1</a:t>
            </a:r>
            <a:endParaRPr lang="cs-CZ" sz="1400" dirty="0"/>
          </a:p>
        </p:txBody>
      </p:sp>
      <p:sp>
        <p:nvSpPr>
          <p:cNvPr id="31" name="Zaoblený obdélník 30"/>
          <p:cNvSpPr/>
          <p:nvPr/>
        </p:nvSpPr>
        <p:spPr>
          <a:xfrm>
            <a:off x="1115616" y="2564904"/>
            <a:ext cx="720080" cy="432048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2003</a:t>
            </a:r>
            <a:endParaRPr lang="cs-CZ" sz="1400" dirty="0"/>
          </a:p>
        </p:txBody>
      </p:sp>
      <p:sp>
        <p:nvSpPr>
          <p:cNvPr id="32" name="Zaoblený obdélník 31"/>
          <p:cNvSpPr/>
          <p:nvPr/>
        </p:nvSpPr>
        <p:spPr>
          <a:xfrm>
            <a:off x="2051720" y="2564904"/>
            <a:ext cx="720080" cy="432048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2003</a:t>
            </a:r>
            <a:endParaRPr lang="cs-CZ" sz="1400" dirty="0"/>
          </a:p>
        </p:txBody>
      </p:sp>
      <p:sp>
        <p:nvSpPr>
          <p:cNvPr id="33" name="Zaoblený obdélník 32"/>
          <p:cNvSpPr/>
          <p:nvPr/>
        </p:nvSpPr>
        <p:spPr>
          <a:xfrm>
            <a:off x="2987824" y="2564904"/>
            <a:ext cx="720080" cy="432048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2008</a:t>
            </a:r>
            <a:endParaRPr lang="cs-CZ" sz="1400" dirty="0"/>
          </a:p>
        </p:txBody>
      </p:sp>
      <p:sp>
        <p:nvSpPr>
          <p:cNvPr id="35" name="Zaoblený obdélník 34"/>
          <p:cNvSpPr/>
          <p:nvPr/>
        </p:nvSpPr>
        <p:spPr>
          <a:xfrm>
            <a:off x="1115616" y="2996952"/>
            <a:ext cx="720080" cy="432048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GC</a:t>
            </a:r>
            <a:endParaRPr lang="cs-CZ" sz="1400" dirty="0"/>
          </a:p>
        </p:txBody>
      </p:sp>
      <p:sp>
        <p:nvSpPr>
          <p:cNvPr id="36" name="Zaoblený obdélník 35"/>
          <p:cNvSpPr/>
          <p:nvPr/>
        </p:nvSpPr>
        <p:spPr>
          <a:xfrm>
            <a:off x="5868144" y="4941168"/>
            <a:ext cx="720080" cy="432048"/>
          </a:xfrm>
          <a:prstGeom prst="roundRect">
            <a:avLst>
              <a:gd name="adj" fmla="val 143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2008</a:t>
            </a:r>
            <a:endParaRPr lang="cs-CZ" sz="1400" dirty="0"/>
          </a:p>
        </p:txBody>
      </p:sp>
      <p:sp>
        <p:nvSpPr>
          <p:cNvPr id="19" name="Šipka doprava 18"/>
          <p:cNvSpPr/>
          <p:nvPr/>
        </p:nvSpPr>
        <p:spPr>
          <a:xfrm rot="10800000">
            <a:off x="6444208" y="4725144"/>
            <a:ext cx="792088" cy="36004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1400"/>
          </a:p>
        </p:txBody>
      </p:sp>
      <p:sp>
        <p:nvSpPr>
          <p:cNvPr id="20" name="Šipka doprava 19"/>
          <p:cNvSpPr/>
          <p:nvPr/>
        </p:nvSpPr>
        <p:spPr>
          <a:xfrm rot="12600000">
            <a:off x="2532517" y="3894663"/>
            <a:ext cx="3706428" cy="36004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1400"/>
          </a:p>
        </p:txBody>
      </p:sp>
      <p:sp>
        <p:nvSpPr>
          <p:cNvPr id="21" name="Plus 20"/>
          <p:cNvSpPr/>
          <p:nvPr/>
        </p:nvSpPr>
        <p:spPr>
          <a:xfrm rot="18900000">
            <a:off x="6070004" y="3954896"/>
            <a:ext cx="504056" cy="576064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1400"/>
          </a:p>
        </p:txBody>
      </p:sp>
      <p:sp>
        <p:nvSpPr>
          <p:cNvPr id="24" name="Plus 23"/>
          <p:cNvSpPr/>
          <p:nvPr/>
        </p:nvSpPr>
        <p:spPr>
          <a:xfrm rot="18900000">
            <a:off x="5264791" y="1770755"/>
            <a:ext cx="994294" cy="935455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1400"/>
          </a:p>
        </p:txBody>
      </p:sp>
    </p:spTree>
    <p:extLst>
      <p:ext uri="{BB962C8B-B14F-4D97-AF65-F5344CB8AC3E}">
        <p14:creationId xmlns:p14="http://schemas.microsoft.com/office/powerpoint/2010/main" val="37645410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Ticket produced by KDC on RODC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683568" y="1988840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3701728" y="1988840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RODC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2987824" y="2708920"/>
            <a:ext cx="86409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  <p:sp>
        <p:nvSpPr>
          <p:cNvPr id="7" name="Rectangle 6"/>
          <p:cNvSpPr/>
          <p:nvPr/>
        </p:nvSpPr>
        <p:spPr>
          <a:xfrm>
            <a:off x="3851920" y="2708920"/>
            <a:ext cx="567680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Pwd</a:t>
            </a:r>
            <a:endParaRPr lang="cs-CZ" sz="1200" dirty="0"/>
          </a:p>
        </p:txBody>
      </p:sp>
      <p:sp>
        <p:nvSpPr>
          <p:cNvPr id="8" name="Rectangle 7"/>
          <p:cNvSpPr/>
          <p:nvPr/>
        </p:nvSpPr>
        <p:spPr>
          <a:xfrm>
            <a:off x="2987824" y="3068960"/>
            <a:ext cx="86409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Jitka</a:t>
            </a:r>
            <a:endParaRPr lang="cs-CZ" sz="1200" dirty="0"/>
          </a:p>
        </p:txBody>
      </p:sp>
      <p:sp>
        <p:nvSpPr>
          <p:cNvPr id="9" name="Rectangle 8"/>
          <p:cNvSpPr/>
          <p:nvPr/>
        </p:nvSpPr>
        <p:spPr>
          <a:xfrm>
            <a:off x="3851920" y="3068960"/>
            <a:ext cx="567680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Pwd</a:t>
            </a:r>
            <a:endParaRPr lang="cs-CZ" sz="1200" dirty="0"/>
          </a:p>
        </p:txBody>
      </p:sp>
      <p:sp>
        <p:nvSpPr>
          <p:cNvPr id="10" name="Rectangle 9"/>
          <p:cNvSpPr/>
          <p:nvPr/>
        </p:nvSpPr>
        <p:spPr>
          <a:xfrm>
            <a:off x="2987824" y="3429000"/>
            <a:ext cx="86409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Tana</a:t>
            </a:r>
            <a:endParaRPr lang="cs-CZ" sz="1200" dirty="0"/>
          </a:p>
        </p:txBody>
      </p:sp>
      <p:sp>
        <p:nvSpPr>
          <p:cNvPr id="11" name="Rectangle 10"/>
          <p:cNvSpPr/>
          <p:nvPr/>
        </p:nvSpPr>
        <p:spPr>
          <a:xfrm>
            <a:off x="3851920" y="3429000"/>
            <a:ext cx="56768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</a:t>
            </a:r>
            <a:endParaRPr lang="cs-CZ" sz="1200" dirty="0"/>
          </a:p>
        </p:txBody>
      </p:sp>
      <p:sp>
        <p:nvSpPr>
          <p:cNvPr id="12" name="Left-Right Arrow 11"/>
          <p:cNvSpPr/>
          <p:nvPr/>
        </p:nvSpPr>
        <p:spPr>
          <a:xfrm>
            <a:off x="1691680" y="2204864"/>
            <a:ext cx="1872208" cy="360040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1115616" y="1689956"/>
            <a:ext cx="86409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  <p:sp>
        <p:nvSpPr>
          <p:cNvPr id="14" name="Rectangle 13"/>
          <p:cNvSpPr/>
          <p:nvPr/>
        </p:nvSpPr>
        <p:spPr>
          <a:xfrm>
            <a:off x="7308304" y="4005064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Writable DC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7308304" y="2996952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Writable DC</a:t>
            </a:r>
            <a:endParaRPr lang="cs-CZ" sz="1400" dirty="0"/>
          </a:p>
        </p:txBody>
      </p:sp>
      <p:sp>
        <p:nvSpPr>
          <p:cNvPr id="16" name="Rectangle 15"/>
          <p:cNvSpPr/>
          <p:nvPr/>
        </p:nvSpPr>
        <p:spPr>
          <a:xfrm>
            <a:off x="7308304" y="1988840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Writable DC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6775376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Ticket produced by KDC on a full DC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683568" y="1988840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12" name="Left-Right Arrow 11"/>
          <p:cNvSpPr/>
          <p:nvPr/>
        </p:nvSpPr>
        <p:spPr>
          <a:xfrm>
            <a:off x="1691680" y="2204864"/>
            <a:ext cx="1872208" cy="360040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1115616" y="1689956"/>
            <a:ext cx="86409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Tana</a:t>
            </a:r>
            <a:endParaRPr lang="cs-CZ" sz="1200" dirty="0"/>
          </a:p>
        </p:txBody>
      </p:sp>
      <p:sp>
        <p:nvSpPr>
          <p:cNvPr id="14" name="Rectangle 13"/>
          <p:cNvSpPr/>
          <p:nvPr/>
        </p:nvSpPr>
        <p:spPr>
          <a:xfrm>
            <a:off x="7308304" y="4005064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Writable DC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7308304" y="2996952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Writable DC</a:t>
            </a:r>
            <a:endParaRPr lang="cs-CZ" sz="1400" dirty="0"/>
          </a:p>
        </p:txBody>
      </p:sp>
      <p:sp>
        <p:nvSpPr>
          <p:cNvPr id="16" name="Rectangle 15"/>
          <p:cNvSpPr/>
          <p:nvPr/>
        </p:nvSpPr>
        <p:spPr>
          <a:xfrm>
            <a:off x="7308304" y="1988840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Writable DC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3701728" y="1988840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RODC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2987824" y="2708920"/>
            <a:ext cx="86409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  <p:sp>
        <p:nvSpPr>
          <p:cNvPr id="7" name="Rectangle 6"/>
          <p:cNvSpPr/>
          <p:nvPr/>
        </p:nvSpPr>
        <p:spPr>
          <a:xfrm>
            <a:off x="3851920" y="2708920"/>
            <a:ext cx="567680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Pwd</a:t>
            </a:r>
            <a:endParaRPr lang="cs-CZ" sz="1200" dirty="0"/>
          </a:p>
        </p:txBody>
      </p:sp>
      <p:sp>
        <p:nvSpPr>
          <p:cNvPr id="8" name="Rectangle 7"/>
          <p:cNvSpPr/>
          <p:nvPr/>
        </p:nvSpPr>
        <p:spPr>
          <a:xfrm>
            <a:off x="2987824" y="3068960"/>
            <a:ext cx="86409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Jitka</a:t>
            </a:r>
            <a:endParaRPr lang="cs-CZ" sz="1200" dirty="0"/>
          </a:p>
        </p:txBody>
      </p:sp>
      <p:sp>
        <p:nvSpPr>
          <p:cNvPr id="9" name="Rectangle 8"/>
          <p:cNvSpPr/>
          <p:nvPr/>
        </p:nvSpPr>
        <p:spPr>
          <a:xfrm>
            <a:off x="3851920" y="3068960"/>
            <a:ext cx="567680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Pwd</a:t>
            </a:r>
            <a:endParaRPr lang="cs-CZ" sz="1200" dirty="0"/>
          </a:p>
        </p:txBody>
      </p:sp>
      <p:sp>
        <p:nvSpPr>
          <p:cNvPr id="10" name="Rectangle 9"/>
          <p:cNvSpPr/>
          <p:nvPr/>
        </p:nvSpPr>
        <p:spPr>
          <a:xfrm>
            <a:off x="2987824" y="3429000"/>
            <a:ext cx="86409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Tana</a:t>
            </a:r>
            <a:endParaRPr lang="cs-CZ" sz="1200" dirty="0"/>
          </a:p>
        </p:txBody>
      </p:sp>
      <p:sp>
        <p:nvSpPr>
          <p:cNvPr id="11" name="Rectangle 10"/>
          <p:cNvSpPr/>
          <p:nvPr/>
        </p:nvSpPr>
        <p:spPr>
          <a:xfrm>
            <a:off x="3851920" y="3429000"/>
            <a:ext cx="56768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</a:t>
            </a:r>
            <a:endParaRPr lang="cs-CZ" sz="1200" dirty="0"/>
          </a:p>
        </p:txBody>
      </p:sp>
      <p:sp>
        <p:nvSpPr>
          <p:cNvPr id="3" name="Left-Right Arrow 11">
            <a:extLst>
              <a:ext uri="{FF2B5EF4-FFF2-40B4-BE49-F238E27FC236}">
                <a16:creationId xmlns:a16="http://schemas.microsoft.com/office/drawing/2014/main" id="{0D847E40-4470-26F3-E2F8-FF036DBEBF2F}"/>
              </a:ext>
            </a:extLst>
          </p:cNvPr>
          <p:cNvSpPr/>
          <p:nvPr/>
        </p:nvSpPr>
        <p:spPr>
          <a:xfrm>
            <a:off x="4703664" y="2204864"/>
            <a:ext cx="2460624" cy="360040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42151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Ticket produced by KDC on a full DC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683568" y="1988840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12" name="Left-Right Arrow 11"/>
          <p:cNvSpPr/>
          <p:nvPr/>
        </p:nvSpPr>
        <p:spPr>
          <a:xfrm>
            <a:off x="1691680" y="2204864"/>
            <a:ext cx="1872208" cy="360040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7308304" y="4005064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Writable DC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7308304" y="2996952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Writable DC</a:t>
            </a:r>
            <a:endParaRPr lang="cs-CZ" sz="1400" dirty="0"/>
          </a:p>
        </p:txBody>
      </p:sp>
      <p:sp>
        <p:nvSpPr>
          <p:cNvPr id="16" name="Rectangle 15"/>
          <p:cNvSpPr/>
          <p:nvPr/>
        </p:nvSpPr>
        <p:spPr>
          <a:xfrm>
            <a:off x="7308304" y="1988840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Writable DC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3701728" y="1988840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RODC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2987824" y="2708920"/>
            <a:ext cx="86409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  <p:sp>
        <p:nvSpPr>
          <p:cNvPr id="7" name="Rectangle 6"/>
          <p:cNvSpPr/>
          <p:nvPr/>
        </p:nvSpPr>
        <p:spPr>
          <a:xfrm>
            <a:off x="3851920" y="2708920"/>
            <a:ext cx="567680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Pwd</a:t>
            </a:r>
            <a:endParaRPr lang="cs-CZ" sz="1200" dirty="0"/>
          </a:p>
        </p:txBody>
      </p:sp>
      <p:sp>
        <p:nvSpPr>
          <p:cNvPr id="8" name="Rectangle 7"/>
          <p:cNvSpPr/>
          <p:nvPr/>
        </p:nvSpPr>
        <p:spPr>
          <a:xfrm>
            <a:off x="2987824" y="3068960"/>
            <a:ext cx="86409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Jitka</a:t>
            </a:r>
            <a:endParaRPr lang="cs-CZ" sz="1200" dirty="0"/>
          </a:p>
        </p:txBody>
      </p:sp>
      <p:sp>
        <p:nvSpPr>
          <p:cNvPr id="9" name="Rectangle 8"/>
          <p:cNvSpPr/>
          <p:nvPr/>
        </p:nvSpPr>
        <p:spPr>
          <a:xfrm>
            <a:off x="3851920" y="3068960"/>
            <a:ext cx="567680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Pwd</a:t>
            </a:r>
            <a:endParaRPr lang="cs-CZ" sz="1200" dirty="0"/>
          </a:p>
        </p:txBody>
      </p:sp>
      <p:sp>
        <p:nvSpPr>
          <p:cNvPr id="10" name="Rectangle 9"/>
          <p:cNvSpPr/>
          <p:nvPr/>
        </p:nvSpPr>
        <p:spPr>
          <a:xfrm>
            <a:off x="2987824" y="3429000"/>
            <a:ext cx="86409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Tana</a:t>
            </a:r>
            <a:endParaRPr lang="cs-CZ" sz="1200" dirty="0"/>
          </a:p>
        </p:txBody>
      </p:sp>
      <p:sp>
        <p:nvSpPr>
          <p:cNvPr id="11" name="Rectangle 10"/>
          <p:cNvSpPr/>
          <p:nvPr/>
        </p:nvSpPr>
        <p:spPr>
          <a:xfrm>
            <a:off x="3851920" y="3429000"/>
            <a:ext cx="56768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</a:t>
            </a:r>
            <a:endParaRPr lang="cs-CZ" sz="1200" dirty="0"/>
          </a:p>
        </p:txBody>
      </p:sp>
      <p:sp>
        <p:nvSpPr>
          <p:cNvPr id="17" name="Rectangle 16"/>
          <p:cNvSpPr/>
          <p:nvPr/>
        </p:nvSpPr>
        <p:spPr>
          <a:xfrm>
            <a:off x="1115616" y="1689956"/>
            <a:ext cx="86409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  <p:sp>
        <p:nvSpPr>
          <p:cNvPr id="18" name="Rectangle 17"/>
          <p:cNvSpPr/>
          <p:nvPr/>
        </p:nvSpPr>
        <p:spPr>
          <a:xfrm>
            <a:off x="1975080" y="1689956"/>
            <a:ext cx="710816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Pwd2</a:t>
            </a:r>
            <a:endParaRPr lang="cs-CZ" sz="1200" dirty="0"/>
          </a:p>
        </p:txBody>
      </p:sp>
      <p:sp>
        <p:nvSpPr>
          <p:cNvPr id="3" name="Left-Right Arrow 11">
            <a:extLst>
              <a:ext uri="{FF2B5EF4-FFF2-40B4-BE49-F238E27FC236}">
                <a16:creationId xmlns:a16="http://schemas.microsoft.com/office/drawing/2014/main" id="{EEDC3A78-0129-A463-E403-AB859DF12718}"/>
              </a:ext>
            </a:extLst>
          </p:cNvPr>
          <p:cNvSpPr/>
          <p:nvPr/>
        </p:nvSpPr>
        <p:spPr>
          <a:xfrm>
            <a:off x="4703664" y="2203989"/>
            <a:ext cx="2460624" cy="360040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54735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Cached passwords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 10 different </a:t>
            </a:r>
            <a:r>
              <a:rPr lang="en-US" dirty="0">
                <a:solidFill>
                  <a:schemeClr val="accent1"/>
                </a:solidFill>
              </a:rPr>
              <a:t>password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access token</a:t>
            </a:r>
            <a:r>
              <a:rPr lang="en-US" dirty="0"/>
              <a:t> caches</a:t>
            </a:r>
          </a:p>
          <a:p>
            <a:pPr lvl="1"/>
            <a:r>
              <a:rPr lang="en-US" dirty="0"/>
              <a:t>interactive logon</a:t>
            </a:r>
          </a:p>
          <a:p>
            <a:pPr lvl="1"/>
            <a:r>
              <a:rPr lang="en-US" dirty="0"/>
              <a:t>service logon</a:t>
            </a:r>
          </a:p>
          <a:p>
            <a:pPr lvl="1"/>
            <a:r>
              <a:rPr lang="en-US" dirty="0"/>
              <a:t>batch logon (scheduled tasks, IIS app pools)</a:t>
            </a:r>
          </a:p>
          <a:p>
            <a:r>
              <a:rPr lang="en-US" dirty="0"/>
              <a:t>Available only for local logon</a:t>
            </a:r>
          </a:p>
          <a:p>
            <a:r>
              <a:rPr lang="en-US" dirty="0"/>
              <a:t>Never expires</a:t>
            </a:r>
          </a:p>
          <a:p>
            <a:pPr lvl="1"/>
            <a:r>
              <a:rPr lang="en-US" dirty="0"/>
              <a:t>no regard to password expiration</a:t>
            </a:r>
          </a:p>
          <a:p>
            <a:r>
              <a:rPr lang="en-US" dirty="0"/>
              <a:t>No network credentials</a:t>
            </a:r>
          </a:p>
          <a:p>
            <a:pPr lvl="1"/>
            <a:r>
              <a:rPr lang="en-US" dirty="0"/>
              <a:t>anonymous access to network resources</a:t>
            </a:r>
          </a:p>
        </p:txBody>
      </p:sp>
    </p:spTree>
    <p:extLst>
      <p:ext uri="{BB962C8B-B14F-4D97-AF65-F5344CB8AC3E}">
        <p14:creationId xmlns:p14="http://schemas.microsoft.com/office/powerpoint/2010/main" val="27800908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previous logons to cache</a:t>
            </a:r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196752"/>
            <a:ext cx="88011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221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Cached hashes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1 (MSCACHEv1)</a:t>
            </a:r>
          </a:p>
          <a:p>
            <a:pPr lvl="1"/>
            <a:r>
              <a:rPr lang="en-US" dirty="0"/>
              <a:t>Windows 2000, XP, 2003</a:t>
            </a:r>
          </a:p>
          <a:p>
            <a:pPr lvl="1"/>
            <a:r>
              <a:rPr lang="en-US" dirty="0"/>
              <a:t>2x MD4 salted with user login</a:t>
            </a:r>
          </a:p>
          <a:p>
            <a:pPr lvl="2"/>
            <a:r>
              <a:rPr lang="en-US" dirty="0"/>
              <a:t>prevents </a:t>
            </a:r>
            <a:r>
              <a:rPr lang="en-US" dirty="0">
                <a:solidFill>
                  <a:schemeClr val="accent1"/>
                </a:solidFill>
              </a:rPr>
              <a:t>rainbow-table</a:t>
            </a:r>
            <a:r>
              <a:rPr lang="en-US" dirty="0"/>
              <a:t> attacks</a:t>
            </a:r>
          </a:p>
          <a:p>
            <a:r>
              <a:rPr lang="en-US" dirty="0"/>
              <a:t>Version 2 (MSCACHEv2)</a:t>
            </a:r>
          </a:p>
          <a:p>
            <a:pPr lvl="1"/>
            <a:r>
              <a:rPr lang="en-US" dirty="0"/>
              <a:t>Windows Vista, 2008+</a:t>
            </a:r>
          </a:p>
          <a:p>
            <a:pPr lvl="1"/>
            <a:r>
              <a:rPr lang="en-US" dirty="0"/>
              <a:t>1000x SHA-1 salted with user login</a:t>
            </a:r>
          </a:p>
          <a:p>
            <a:pPr lvl="2"/>
            <a:r>
              <a:rPr lang="en-US" dirty="0"/>
              <a:t>prevents </a:t>
            </a:r>
            <a:r>
              <a:rPr lang="en-US" dirty="0">
                <a:solidFill>
                  <a:schemeClr val="accent1"/>
                </a:solidFill>
              </a:rPr>
              <a:t>rainbow-tables</a:t>
            </a:r>
            <a:r>
              <a:rPr lang="en-US" dirty="0"/>
              <a:t> and complicates </a:t>
            </a:r>
            <a:r>
              <a:rPr lang="en-US" dirty="0">
                <a:solidFill>
                  <a:schemeClr val="accent1"/>
                </a:solidFill>
              </a:rPr>
              <a:t>brute-force</a:t>
            </a:r>
            <a:r>
              <a:rPr lang="en-US" dirty="0"/>
              <a:t> attacks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816209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access token refresh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logons from cache since XP+</a:t>
            </a:r>
          </a:p>
          <a:p>
            <a:pPr lvl="1"/>
            <a:r>
              <a:rPr lang="en-US" dirty="0"/>
              <a:t>speed up access token creation</a:t>
            </a:r>
          </a:p>
          <a:p>
            <a:r>
              <a:rPr lang="en-US" dirty="0"/>
              <a:t>Log off </a:t>
            </a:r>
            <a:r>
              <a:rPr lang="en-US" dirty="0">
                <a:solidFill>
                  <a:schemeClr val="accent1"/>
                </a:solidFill>
              </a:rPr>
              <a:t>twice </a:t>
            </a:r>
            <a:r>
              <a:rPr lang="en-US" dirty="0"/>
              <a:t>to update </a:t>
            </a:r>
            <a:r>
              <a:rPr lang="en-US" dirty="0">
                <a:solidFill>
                  <a:schemeClr val="accent1"/>
                </a:solidFill>
              </a:rPr>
              <a:t>local </a:t>
            </a:r>
            <a:r>
              <a:rPr lang="en-US" dirty="0"/>
              <a:t>access token</a:t>
            </a:r>
          </a:p>
          <a:p>
            <a:pPr lvl="1"/>
            <a:r>
              <a:rPr lang="en-US" dirty="0"/>
              <a:t>verify always with Process Explorer or WHOAMI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468714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any accounts with </a:t>
            </a:r>
            <a:r>
              <a:rPr lang="en-US" dirty="0">
                <a:solidFill>
                  <a:schemeClr val="accent1"/>
                </a:solidFill>
              </a:rPr>
              <a:t>/</a:t>
            </a:r>
            <a:r>
              <a:rPr lang="en-US" dirty="0" err="1">
                <a:solidFill>
                  <a:schemeClr val="accent1"/>
                </a:solidFill>
              </a:rPr>
              <a:t>netonly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netonly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/user:...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account credentials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not validated locally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validated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at the time of use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use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@gopas.virtual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 order to invoke Kerberos from non-domain machines or non-trusted forests</a:t>
            </a:r>
          </a:p>
        </p:txBody>
      </p:sp>
    </p:spTree>
    <p:extLst>
      <p:ext uri="{BB962C8B-B14F-4D97-AF65-F5344CB8AC3E}">
        <p14:creationId xmlns:p14="http://schemas.microsoft.com/office/powerpoint/2010/main" val="609837524"/>
      </p:ext>
    </p:extLst>
  </p:cSld>
  <p:clrMapOvr>
    <a:masterClrMapping/>
  </p:clrMapOvr>
</p:sld>
</file>

<file path=ppt/theme/theme1.xml><?xml version="1.0" encoding="utf-8"?>
<a:theme xmlns:a="http://schemas.openxmlformats.org/drawingml/2006/main" name="Gopas 1  (3 barvy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Gopas 2  (3 barvy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opas 3  (6 barev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opas 4  (6 barev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2982</Words>
  <Application>Microsoft Office PowerPoint</Application>
  <PresentationFormat>On-screen Show (4:3)</PresentationFormat>
  <Paragraphs>606</Paragraphs>
  <Slides>63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Arial</vt:lpstr>
      <vt:lpstr>Courier New</vt:lpstr>
      <vt:lpstr>Lucida Console</vt:lpstr>
      <vt:lpstr>Wingdings</vt:lpstr>
      <vt:lpstr>Gopas 1  (3 barvy)</vt:lpstr>
      <vt:lpstr>Gopas 2  (3 barvy + "planetka")</vt:lpstr>
      <vt:lpstr>Gopas 3  (6 barev)</vt:lpstr>
      <vt:lpstr>Gopas 4  (6 barev + "planetka")</vt:lpstr>
      <vt:lpstr>User and computer accounts</vt:lpstr>
      <vt:lpstr>User accounts recap</vt:lpstr>
      <vt:lpstr>Password modifications</vt:lpstr>
      <vt:lpstr>Interesting point about password history #1</vt:lpstr>
      <vt:lpstr>Interesting point about password history #2</vt:lpstr>
      <vt:lpstr>Password and account expiration</vt:lpstr>
      <vt:lpstr>Other account authentication failures</vt:lpstr>
      <vt:lpstr>Different order of checking password vs. account states</vt:lpstr>
      <vt:lpstr>Event filters and logins (SAM login if found, or what the user supplied exactly)</vt:lpstr>
      <vt:lpstr>Event filters and WEVTUTIL</vt:lpstr>
      <vt:lpstr>Computer accounts</vt:lpstr>
      <vt:lpstr>Computer account password</vt:lpstr>
      <vt:lpstr>Maximum machine account password age</vt:lpstr>
      <vt:lpstr>Disable machine account password changes</vt:lpstr>
      <vt:lpstr>Computer password change event on DC</vt:lpstr>
      <vt:lpstr>Computer password tools</vt:lpstr>
      <vt:lpstr>Machine password and secure channel error symptoms on the affected server</vt:lpstr>
      <vt:lpstr>Machine password and secure channel error symptoms on the affected server</vt:lpstr>
      <vt:lpstr>Machine password and secure channel error symptoms on the affected server</vt:lpstr>
      <vt:lpstr>Machine password and secure channel error symptoms on the affected server</vt:lpstr>
      <vt:lpstr>Machine password and secure channel error symptoms on the affected server</vt:lpstr>
      <vt:lpstr>The session setup from computer failed to authenticate when doing NTLM pass-through</vt:lpstr>
      <vt:lpstr>Machine password and secure channel error symptoms from the remote client side</vt:lpstr>
      <vt:lpstr>Machine password and secure channel error symptoms from the remote client side</vt:lpstr>
      <vt:lpstr>Machine password and secure channel error troubleshooting on DCs</vt:lpstr>
      <vt:lpstr>Machine password and secure channel error troubleshooting on DCs</vt:lpstr>
      <vt:lpstr>Service Accounts</vt:lpstr>
      <vt:lpstr>Service identities on Windows XP+</vt:lpstr>
      <vt:lpstr>Network Service vs. Local Service</vt:lpstr>
      <vt:lpstr>Network Service does not even have local isolation</vt:lpstr>
      <vt:lpstr>NT SERVICE</vt:lpstr>
      <vt:lpstr>IIS APPPOOL</vt:lpstr>
      <vt:lpstr>NT SERVICE and IIS APPPOOL have local isolation only</vt:lpstr>
      <vt:lpstr>Local administrator can obtain service and scheduled task passwords</vt:lpstr>
      <vt:lpstr>AppPool passwords</vt:lpstr>
      <vt:lpstr>Task scheduler passwords</vt:lpstr>
      <vt:lpstr>Isolation</vt:lpstr>
      <vt:lpstr>gMSA</vt:lpstr>
      <vt:lpstr>Task scheduler without password requires S4U</vt:lpstr>
      <vt:lpstr>Password hashes in Active Directory</vt:lpstr>
      <vt:lpstr>repadmin /showobjmeta</vt:lpstr>
      <vt:lpstr>Real pwdLastSet values from replication metadata</vt:lpstr>
      <vt:lpstr>Hash propagation in mixed environments</vt:lpstr>
      <vt:lpstr>Full-text passwords for digest on 2000</vt:lpstr>
      <vt:lpstr>Notes to stored hashes</vt:lpstr>
      <vt:lpstr>LM hash is extremely weak</vt:lpstr>
      <vt:lpstr>Do not store LM hashes</vt:lpstr>
      <vt:lpstr>Password longer than 14 chars</vt:lpstr>
      <vt:lpstr>Password (confidential attribute) replication permissions</vt:lpstr>
      <vt:lpstr>Cracking hashes</vt:lpstr>
      <vt:lpstr>Password policies</vt:lpstr>
      <vt:lpstr>Password changes</vt:lpstr>
      <vt:lpstr>Password filters</vt:lpstr>
      <vt:lpstr>Partial secrets DC (RODC)</vt:lpstr>
      <vt:lpstr>Password caching/forwarding</vt:lpstr>
      <vt:lpstr>Ticket produced by KDC on RODC</vt:lpstr>
      <vt:lpstr>Ticket produced by KDC on a full DC</vt:lpstr>
      <vt:lpstr>Ticket produced by KDC on a full DC</vt:lpstr>
      <vt:lpstr>Cached passwords</vt:lpstr>
      <vt:lpstr>Number of previous logons to cache</vt:lpstr>
      <vt:lpstr>Cached hashes</vt:lpstr>
      <vt:lpstr>Local access token refresh</vt:lpstr>
      <vt:lpstr>Testing any accounts with /netonly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Administrator</cp:lastModifiedBy>
  <cp:revision>3</cp:revision>
  <dcterms:created xsi:type="dcterms:W3CDTF">2013-03-17T16:22:31Z</dcterms:created>
  <dcterms:modified xsi:type="dcterms:W3CDTF">2025-12-15T14:58:18Z</dcterms:modified>
</cp:coreProperties>
</file>