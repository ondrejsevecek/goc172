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notesMasterIdLst>
    <p:notesMasterId r:id="rId121"/>
  </p:notesMasterIdLst>
  <p:sldIdLst>
    <p:sldId id="257" r:id="rId2"/>
    <p:sldId id="544" r:id="rId3"/>
    <p:sldId id="322" r:id="rId4"/>
    <p:sldId id="546" r:id="rId5"/>
    <p:sldId id="545" r:id="rId6"/>
    <p:sldId id="547" r:id="rId7"/>
    <p:sldId id="570" r:id="rId8"/>
    <p:sldId id="454" r:id="rId9"/>
    <p:sldId id="534" r:id="rId10"/>
    <p:sldId id="535" r:id="rId11"/>
    <p:sldId id="548" r:id="rId12"/>
    <p:sldId id="455" r:id="rId13"/>
    <p:sldId id="549" r:id="rId14"/>
    <p:sldId id="552" r:id="rId15"/>
    <p:sldId id="550" r:id="rId16"/>
    <p:sldId id="613" r:id="rId17"/>
    <p:sldId id="536" r:id="rId18"/>
    <p:sldId id="538" r:id="rId19"/>
    <p:sldId id="537" r:id="rId20"/>
    <p:sldId id="456" r:id="rId21"/>
    <p:sldId id="539" r:id="rId22"/>
    <p:sldId id="551" r:id="rId23"/>
    <p:sldId id="588" r:id="rId24"/>
    <p:sldId id="457" r:id="rId25"/>
    <p:sldId id="540" r:id="rId26"/>
    <p:sldId id="591" r:id="rId27"/>
    <p:sldId id="524" r:id="rId28"/>
    <p:sldId id="604" r:id="rId29"/>
    <p:sldId id="553" r:id="rId30"/>
    <p:sldId id="592" r:id="rId31"/>
    <p:sldId id="554" r:id="rId32"/>
    <p:sldId id="555" r:id="rId33"/>
    <p:sldId id="608" r:id="rId34"/>
    <p:sldId id="609" r:id="rId35"/>
    <p:sldId id="542" r:id="rId36"/>
    <p:sldId id="458" r:id="rId37"/>
    <p:sldId id="541" r:id="rId38"/>
    <p:sldId id="459" r:id="rId39"/>
    <p:sldId id="543" r:id="rId40"/>
    <p:sldId id="463" r:id="rId41"/>
    <p:sldId id="464" r:id="rId42"/>
    <p:sldId id="465" r:id="rId43"/>
    <p:sldId id="520" r:id="rId44"/>
    <p:sldId id="521" r:id="rId45"/>
    <p:sldId id="587" r:id="rId46"/>
    <p:sldId id="522" r:id="rId47"/>
    <p:sldId id="610" r:id="rId48"/>
    <p:sldId id="611" r:id="rId49"/>
    <p:sldId id="635" r:id="rId50"/>
    <p:sldId id="572" r:id="rId51"/>
    <p:sldId id="556" r:id="rId52"/>
    <p:sldId id="614" r:id="rId53"/>
    <p:sldId id="567" r:id="rId54"/>
    <p:sldId id="615" r:id="rId55"/>
    <p:sldId id="558" r:id="rId56"/>
    <p:sldId id="559" r:id="rId57"/>
    <p:sldId id="560" r:id="rId58"/>
    <p:sldId id="557" r:id="rId59"/>
    <p:sldId id="566" r:id="rId60"/>
    <p:sldId id="561" r:id="rId61"/>
    <p:sldId id="562" r:id="rId62"/>
    <p:sldId id="563" r:id="rId63"/>
    <p:sldId id="565" r:id="rId64"/>
    <p:sldId id="564" r:id="rId65"/>
    <p:sldId id="568" r:id="rId66"/>
    <p:sldId id="636" r:id="rId67"/>
    <p:sldId id="577" r:id="rId68"/>
    <p:sldId id="585" r:id="rId69"/>
    <p:sldId id="571" r:id="rId70"/>
    <p:sldId id="569" r:id="rId71"/>
    <p:sldId id="573" r:id="rId72"/>
    <p:sldId id="574" r:id="rId73"/>
    <p:sldId id="597" r:id="rId74"/>
    <p:sldId id="576" r:id="rId75"/>
    <p:sldId id="575" r:id="rId76"/>
    <p:sldId id="578" r:id="rId77"/>
    <p:sldId id="586" r:id="rId78"/>
    <p:sldId id="580" r:id="rId79"/>
    <p:sldId id="579" r:id="rId80"/>
    <p:sldId id="598" r:id="rId81"/>
    <p:sldId id="584" r:id="rId82"/>
    <p:sldId id="589" r:id="rId83"/>
    <p:sldId id="590" r:id="rId84"/>
    <p:sldId id="582" r:id="rId85"/>
    <p:sldId id="333" r:id="rId86"/>
    <p:sldId id="581" r:id="rId87"/>
    <p:sldId id="583" r:id="rId88"/>
    <p:sldId id="593" r:id="rId89"/>
    <p:sldId id="594" r:id="rId90"/>
    <p:sldId id="596" r:id="rId91"/>
    <p:sldId id="607" r:id="rId92"/>
    <p:sldId id="633" r:id="rId93"/>
    <p:sldId id="595" r:id="rId94"/>
    <p:sldId id="634" r:id="rId95"/>
    <p:sldId id="632" r:id="rId96"/>
    <p:sldId id="612" r:id="rId97"/>
    <p:sldId id="606" r:id="rId98"/>
    <p:sldId id="605" r:id="rId99"/>
    <p:sldId id="599" r:id="rId100"/>
    <p:sldId id="601" r:id="rId101"/>
    <p:sldId id="602" r:id="rId102"/>
    <p:sldId id="600" r:id="rId103"/>
    <p:sldId id="603" r:id="rId104"/>
    <p:sldId id="616" r:id="rId105"/>
    <p:sldId id="617" r:id="rId106"/>
    <p:sldId id="620" r:id="rId107"/>
    <p:sldId id="618" r:id="rId108"/>
    <p:sldId id="619" r:id="rId109"/>
    <p:sldId id="621" r:id="rId110"/>
    <p:sldId id="622" r:id="rId111"/>
    <p:sldId id="623" r:id="rId112"/>
    <p:sldId id="624" r:id="rId113"/>
    <p:sldId id="625" r:id="rId114"/>
    <p:sldId id="626" r:id="rId115"/>
    <p:sldId id="627" r:id="rId116"/>
    <p:sldId id="628" r:id="rId117"/>
    <p:sldId id="629" r:id="rId118"/>
    <p:sldId id="630" r:id="rId119"/>
    <p:sldId id="631" r:id="rId120"/>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046"/>
    <a:srgbClr val="1E32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3" autoAdjust="0"/>
    <p:restoredTop sz="94673" autoAdjust="0"/>
  </p:normalViewPr>
  <p:slideViewPr>
    <p:cSldViewPr showGuides="1">
      <p:cViewPr varScale="1">
        <p:scale>
          <a:sx n="70" d="100"/>
          <a:sy n="70" d="100"/>
        </p:scale>
        <p:origin x="1290"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40" d="100"/>
        <a:sy n="140" d="100"/>
      </p:scale>
      <p:origin x="0" y="0"/>
    </p:cViewPr>
  </p:sorterViewPr>
  <p:notesViewPr>
    <p:cSldViewPr showGuides="1">
      <p:cViewPr varScale="1">
        <p:scale>
          <a:sx n="98" d="100"/>
          <a:sy n="98" d="100"/>
        </p:scale>
        <p:origin x="-351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cs-CZ" dirty="0"/>
          </a:p>
        </p:txBody>
      </p:sp>
      <p:sp>
        <p:nvSpPr>
          <p:cNvPr id="3" name="Zástupný symbol pro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51C7F656-6C7C-4016-B601-23B462E6BC26}" type="datetimeFigureOut">
              <a:rPr lang="cs-CZ" smtClean="0"/>
              <a:pPr/>
              <a:t>02.03.2026</a:t>
            </a:fld>
            <a:endParaRPr lang="cs-CZ" dirty="0"/>
          </a:p>
        </p:txBody>
      </p:sp>
      <p:sp>
        <p:nvSpPr>
          <p:cNvPr id="4" name="Zástupný symbol pro obrázek snímk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cs-CZ" dirty="0"/>
          </a:p>
        </p:txBody>
      </p:sp>
      <p:sp>
        <p:nvSpPr>
          <p:cNvPr id="5" name="Zástupný symbol pro poznámky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cs-CZ" dirty="0"/>
              <a:t>Kliknutím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Zástupný symbol pro zápatí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cs-CZ" dirty="0"/>
          </a:p>
        </p:txBody>
      </p:sp>
      <p:sp>
        <p:nvSpPr>
          <p:cNvPr id="7" name="Zástupný symbol pro číslo snímk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319F00E-1642-4F00-B8AC-7581C0C92EAE}" type="slidenum">
              <a:rPr lang="cs-CZ" smtClean="0"/>
              <a:pPr/>
              <a:t>‹#›</a:t>
            </a:fld>
            <a:endParaRPr lang="cs-CZ" dirty="0"/>
          </a:p>
        </p:txBody>
      </p:sp>
    </p:spTree>
    <p:extLst>
      <p:ext uri="{BB962C8B-B14F-4D97-AF65-F5344CB8AC3E}">
        <p14:creationId xmlns:p14="http://schemas.microsoft.com/office/powerpoint/2010/main" val="4237861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1EE0FFFC-B299-4DB4-A5A2-5FE0A233D244}" type="slidenum">
              <a:rPr lang="cs-CZ" smtClean="0"/>
              <a:t>1</a:t>
            </a:fld>
            <a:endParaRPr lang="cs-CZ"/>
          </a:p>
        </p:txBody>
      </p:sp>
    </p:spTree>
    <p:extLst>
      <p:ext uri="{BB962C8B-B14F-4D97-AF65-F5344CB8AC3E}">
        <p14:creationId xmlns:p14="http://schemas.microsoft.com/office/powerpoint/2010/main" val="1870180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19F00E-1642-4F00-B8AC-7581C0C92EAE}" type="slidenum">
              <a:rPr lang="cs-CZ" smtClean="0"/>
              <a:pPr/>
              <a:t>83</a:t>
            </a:fld>
            <a:endParaRPr lang="cs-CZ" dirty="0"/>
          </a:p>
        </p:txBody>
      </p:sp>
    </p:spTree>
    <p:extLst>
      <p:ext uri="{BB962C8B-B14F-4D97-AF65-F5344CB8AC3E}">
        <p14:creationId xmlns:p14="http://schemas.microsoft.com/office/powerpoint/2010/main" val="1032661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Úvodní snímek s podnadpisem">
    <p:spTree>
      <p:nvGrpSpPr>
        <p:cNvPr id="1" name=""/>
        <p:cNvGrpSpPr/>
        <p:nvPr/>
      </p:nvGrpSpPr>
      <p:grpSpPr>
        <a:xfrm>
          <a:off x="0" y="0"/>
          <a:ext cx="0" cy="0"/>
          <a:chOff x="0" y="0"/>
          <a:chExt cx="0" cy="0"/>
        </a:xfrm>
      </p:grpSpPr>
      <p:sp>
        <p:nvSpPr>
          <p:cNvPr id="2" name="Nadpis 1"/>
          <p:cNvSpPr>
            <a:spLocks noGrp="1"/>
          </p:cNvSpPr>
          <p:nvPr>
            <p:ph type="ctrTitle" hasCustomPrompt="1"/>
          </p:nvPr>
        </p:nvSpPr>
        <p:spPr>
          <a:xfrm>
            <a:off x="611188" y="2130425"/>
            <a:ext cx="7921252" cy="1688464"/>
          </a:xfrm>
        </p:spPr>
        <p:txBody>
          <a:bodyPr anchor="t">
            <a:normAutofit/>
          </a:bodyPr>
          <a:lstStyle>
            <a:lvl1pPr>
              <a:defRPr sz="4400"/>
            </a:lvl1pPr>
          </a:lstStyle>
          <a:p>
            <a:r>
              <a:rPr lang="cs-CZ" dirty="0"/>
              <a:t>Název kurzu nebo modulu</a:t>
            </a:r>
            <a:br>
              <a:rPr lang="cs-CZ" dirty="0"/>
            </a:br>
            <a:r>
              <a:rPr lang="cs-CZ" dirty="0"/>
              <a:t>na dva řádky</a:t>
            </a:r>
          </a:p>
        </p:txBody>
      </p:sp>
      <p:sp>
        <p:nvSpPr>
          <p:cNvPr id="3" name="Podnadpis 2"/>
          <p:cNvSpPr>
            <a:spLocks noGrp="1"/>
          </p:cNvSpPr>
          <p:nvPr>
            <p:ph type="subTitle" idx="1" hasCustomPrompt="1"/>
          </p:nvPr>
        </p:nvSpPr>
        <p:spPr>
          <a:xfrm>
            <a:off x="611188" y="5445224"/>
            <a:ext cx="7921252" cy="576064"/>
          </a:xfrm>
        </p:spPr>
        <p:txBody>
          <a:bodyPr anchor="b" anchorCtr="0">
            <a:normAutofit/>
          </a:bodyPr>
          <a:lstStyle>
            <a:lvl1pPr marL="0" indent="0" algn="l">
              <a:buNone/>
              <a:defRPr sz="1800" spc="-60" baseline="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GOPAS</a:t>
            </a:r>
            <a:r>
              <a:rPr lang="cs-CZ" dirty="0"/>
              <a:t> hlavička</a:t>
            </a:r>
          </a:p>
        </p:txBody>
      </p:sp>
      <p:grpSp>
        <p:nvGrpSpPr>
          <p:cNvPr id="7" name="Skupina 6"/>
          <p:cNvGrpSpPr/>
          <p:nvPr/>
        </p:nvGrpSpPr>
        <p:grpSpPr bwMode="black">
          <a:xfrm>
            <a:off x="611189" y="934260"/>
            <a:ext cx="2195193" cy="410057"/>
            <a:chOff x="2695600" y="3623226"/>
            <a:chExt cx="4376738" cy="817563"/>
          </a:xfrm>
          <a:solidFill>
            <a:schemeClr val="tx2"/>
          </a:solidFill>
        </p:grpSpPr>
        <p:sp>
          <p:nvSpPr>
            <p:cNvPr id="8" name="Freeform 6"/>
            <p:cNvSpPr>
              <a:spLocks/>
            </p:cNvSpPr>
            <p:nvPr/>
          </p:nvSpPr>
          <p:spPr bwMode="black">
            <a:xfrm>
              <a:off x="2695600" y="3623226"/>
              <a:ext cx="744538" cy="746125"/>
            </a:xfrm>
            <a:custGeom>
              <a:avLst/>
              <a:gdLst>
                <a:gd name="T0" fmla="*/ 544 w 937"/>
                <a:gd name="T1" fmla="*/ 0 h 940"/>
                <a:gd name="T2" fmla="*/ 665 w 937"/>
                <a:gd name="T3" fmla="*/ 22 h 940"/>
                <a:gd name="T4" fmla="*/ 777 w 937"/>
                <a:gd name="T5" fmla="*/ 74 h 940"/>
                <a:gd name="T6" fmla="*/ 879 w 937"/>
                <a:gd name="T7" fmla="*/ 153 h 940"/>
                <a:gd name="T8" fmla="*/ 921 w 937"/>
                <a:gd name="T9" fmla="*/ 210 h 940"/>
                <a:gd name="T10" fmla="*/ 937 w 937"/>
                <a:gd name="T11" fmla="*/ 272 h 940"/>
                <a:gd name="T12" fmla="*/ 934 w 937"/>
                <a:gd name="T13" fmla="*/ 314 h 940"/>
                <a:gd name="T14" fmla="*/ 929 w 937"/>
                <a:gd name="T15" fmla="*/ 321 h 940"/>
                <a:gd name="T16" fmla="*/ 922 w 937"/>
                <a:gd name="T17" fmla="*/ 323 h 940"/>
                <a:gd name="T18" fmla="*/ 917 w 937"/>
                <a:gd name="T19" fmla="*/ 318 h 940"/>
                <a:gd name="T20" fmla="*/ 916 w 937"/>
                <a:gd name="T21" fmla="*/ 307 h 940"/>
                <a:gd name="T22" fmla="*/ 907 w 937"/>
                <a:gd name="T23" fmla="*/ 250 h 940"/>
                <a:gd name="T24" fmla="*/ 870 w 937"/>
                <a:gd name="T25" fmla="*/ 215 h 940"/>
                <a:gd name="T26" fmla="*/ 812 w 937"/>
                <a:gd name="T27" fmla="*/ 205 h 940"/>
                <a:gd name="T28" fmla="*/ 735 w 937"/>
                <a:gd name="T29" fmla="*/ 225 h 940"/>
                <a:gd name="T30" fmla="*/ 645 w 937"/>
                <a:gd name="T31" fmla="*/ 270 h 940"/>
                <a:gd name="T32" fmla="*/ 542 w 937"/>
                <a:gd name="T33" fmla="*/ 341 h 940"/>
                <a:gd name="T34" fmla="*/ 437 w 937"/>
                <a:gd name="T35" fmla="*/ 437 h 940"/>
                <a:gd name="T36" fmla="*/ 342 w 937"/>
                <a:gd name="T37" fmla="*/ 544 h 940"/>
                <a:gd name="T38" fmla="*/ 271 w 937"/>
                <a:gd name="T39" fmla="*/ 645 h 940"/>
                <a:gd name="T40" fmla="*/ 225 w 937"/>
                <a:gd name="T41" fmla="*/ 736 h 940"/>
                <a:gd name="T42" fmla="*/ 206 w 937"/>
                <a:gd name="T43" fmla="*/ 813 h 940"/>
                <a:gd name="T44" fmla="*/ 215 w 937"/>
                <a:gd name="T45" fmla="*/ 874 h 940"/>
                <a:gd name="T46" fmla="*/ 251 w 937"/>
                <a:gd name="T47" fmla="*/ 909 h 940"/>
                <a:gd name="T48" fmla="*/ 308 w 937"/>
                <a:gd name="T49" fmla="*/ 918 h 940"/>
                <a:gd name="T50" fmla="*/ 318 w 937"/>
                <a:gd name="T51" fmla="*/ 921 h 940"/>
                <a:gd name="T52" fmla="*/ 322 w 937"/>
                <a:gd name="T53" fmla="*/ 926 h 940"/>
                <a:gd name="T54" fmla="*/ 322 w 937"/>
                <a:gd name="T55" fmla="*/ 931 h 940"/>
                <a:gd name="T56" fmla="*/ 315 w 937"/>
                <a:gd name="T57" fmla="*/ 936 h 940"/>
                <a:gd name="T58" fmla="*/ 273 w 937"/>
                <a:gd name="T59" fmla="*/ 940 h 940"/>
                <a:gd name="T60" fmla="*/ 211 w 937"/>
                <a:gd name="T61" fmla="*/ 924 h 940"/>
                <a:gd name="T62" fmla="*/ 154 w 937"/>
                <a:gd name="T63" fmla="*/ 881 h 940"/>
                <a:gd name="T64" fmla="*/ 74 w 937"/>
                <a:gd name="T65" fmla="*/ 778 h 940"/>
                <a:gd name="T66" fmla="*/ 24 w 937"/>
                <a:gd name="T67" fmla="*/ 666 h 940"/>
                <a:gd name="T68" fmla="*/ 2 w 937"/>
                <a:gd name="T69" fmla="*/ 544 h 940"/>
                <a:gd name="T70" fmla="*/ 7 w 937"/>
                <a:gd name="T71" fmla="*/ 423 h 940"/>
                <a:gd name="T72" fmla="*/ 42 w 937"/>
                <a:gd name="T73" fmla="*/ 304 h 940"/>
                <a:gd name="T74" fmla="*/ 106 w 937"/>
                <a:gd name="T75" fmla="*/ 196 h 940"/>
                <a:gd name="T76" fmla="*/ 198 w 937"/>
                <a:gd name="T77" fmla="*/ 106 h 940"/>
                <a:gd name="T78" fmla="*/ 305 w 937"/>
                <a:gd name="T79" fmla="*/ 42 h 940"/>
                <a:gd name="T80" fmla="*/ 422 w 937"/>
                <a:gd name="T81" fmla="*/ 6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7" h="940">
                  <a:moveTo>
                    <a:pt x="482" y="0"/>
                  </a:moveTo>
                  <a:lnTo>
                    <a:pt x="544" y="0"/>
                  </a:lnTo>
                  <a:lnTo>
                    <a:pt x="604" y="6"/>
                  </a:lnTo>
                  <a:lnTo>
                    <a:pt x="665" y="22"/>
                  </a:lnTo>
                  <a:lnTo>
                    <a:pt x="721" y="43"/>
                  </a:lnTo>
                  <a:lnTo>
                    <a:pt x="777" y="74"/>
                  </a:lnTo>
                  <a:lnTo>
                    <a:pt x="830" y="109"/>
                  </a:lnTo>
                  <a:lnTo>
                    <a:pt x="879" y="153"/>
                  </a:lnTo>
                  <a:lnTo>
                    <a:pt x="904" y="181"/>
                  </a:lnTo>
                  <a:lnTo>
                    <a:pt x="921" y="210"/>
                  </a:lnTo>
                  <a:lnTo>
                    <a:pt x="932" y="240"/>
                  </a:lnTo>
                  <a:lnTo>
                    <a:pt x="937" y="272"/>
                  </a:lnTo>
                  <a:lnTo>
                    <a:pt x="936" y="309"/>
                  </a:lnTo>
                  <a:lnTo>
                    <a:pt x="934" y="314"/>
                  </a:lnTo>
                  <a:lnTo>
                    <a:pt x="932" y="318"/>
                  </a:lnTo>
                  <a:lnTo>
                    <a:pt x="929" y="321"/>
                  </a:lnTo>
                  <a:lnTo>
                    <a:pt x="926" y="323"/>
                  </a:lnTo>
                  <a:lnTo>
                    <a:pt x="922" y="323"/>
                  </a:lnTo>
                  <a:lnTo>
                    <a:pt x="921" y="321"/>
                  </a:lnTo>
                  <a:lnTo>
                    <a:pt x="917" y="318"/>
                  </a:lnTo>
                  <a:lnTo>
                    <a:pt x="916" y="312"/>
                  </a:lnTo>
                  <a:lnTo>
                    <a:pt x="916" y="307"/>
                  </a:lnTo>
                  <a:lnTo>
                    <a:pt x="914" y="277"/>
                  </a:lnTo>
                  <a:lnTo>
                    <a:pt x="907" y="250"/>
                  </a:lnTo>
                  <a:lnTo>
                    <a:pt x="892" y="230"/>
                  </a:lnTo>
                  <a:lnTo>
                    <a:pt x="870" y="215"/>
                  </a:lnTo>
                  <a:lnTo>
                    <a:pt x="844" y="207"/>
                  </a:lnTo>
                  <a:lnTo>
                    <a:pt x="812" y="205"/>
                  </a:lnTo>
                  <a:lnTo>
                    <a:pt x="775" y="212"/>
                  </a:lnTo>
                  <a:lnTo>
                    <a:pt x="735" y="225"/>
                  </a:lnTo>
                  <a:lnTo>
                    <a:pt x="691" y="244"/>
                  </a:lnTo>
                  <a:lnTo>
                    <a:pt x="645" y="270"/>
                  </a:lnTo>
                  <a:lnTo>
                    <a:pt x="594" y="302"/>
                  </a:lnTo>
                  <a:lnTo>
                    <a:pt x="542" y="341"/>
                  </a:lnTo>
                  <a:lnTo>
                    <a:pt x="491" y="386"/>
                  </a:lnTo>
                  <a:lnTo>
                    <a:pt x="437" y="437"/>
                  </a:lnTo>
                  <a:lnTo>
                    <a:pt x="387" y="491"/>
                  </a:lnTo>
                  <a:lnTo>
                    <a:pt x="342" y="544"/>
                  </a:lnTo>
                  <a:lnTo>
                    <a:pt x="303" y="595"/>
                  </a:lnTo>
                  <a:lnTo>
                    <a:pt x="271" y="645"/>
                  </a:lnTo>
                  <a:lnTo>
                    <a:pt x="245" y="692"/>
                  </a:lnTo>
                  <a:lnTo>
                    <a:pt x="225" y="736"/>
                  </a:lnTo>
                  <a:lnTo>
                    <a:pt x="213" y="776"/>
                  </a:lnTo>
                  <a:lnTo>
                    <a:pt x="206" y="813"/>
                  </a:lnTo>
                  <a:lnTo>
                    <a:pt x="208" y="845"/>
                  </a:lnTo>
                  <a:lnTo>
                    <a:pt x="215" y="874"/>
                  </a:lnTo>
                  <a:lnTo>
                    <a:pt x="230" y="894"/>
                  </a:lnTo>
                  <a:lnTo>
                    <a:pt x="251" y="909"/>
                  </a:lnTo>
                  <a:lnTo>
                    <a:pt x="276" y="918"/>
                  </a:lnTo>
                  <a:lnTo>
                    <a:pt x="308" y="918"/>
                  </a:lnTo>
                  <a:lnTo>
                    <a:pt x="313" y="919"/>
                  </a:lnTo>
                  <a:lnTo>
                    <a:pt x="318" y="921"/>
                  </a:lnTo>
                  <a:lnTo>
                    <a:pt x="320" y="923"/>
                  </a:lnTo>
                  <a:lnTo>
                    <a:pt x="322" y="926"/>
                  </a:lnTo>
                  <a:lnTo>
                    <a:pt x="322" y="929"/>
                  </a:lnTo>
                  <a:lnTo>
                    <a:pt x="322" y="931"/>
                  </a:lnTo>
                  <a:lnTo>
                    <a:pt x="318" y="934"/>
                  </a:lnTo>
                  <a:lnTo>
                    <a:pt x="315" y="936"/>
                  </a:lnTo>
                  <a:lnTo>
                    <a:pt x="310" y="938"/>
                  </a:lnTo>
                  <a:lnTo>
                    <a:pt x="273" y="940"/>
                  </a:lnTo>
                  <a:lnTo>
                    <a:pt x="241" y="934"/>
                  </a:lnTo>
                  <a:lnTo>
                    <a:pt x="211" y="924"/>
                  </a:lnTo>
                  <a:lnTo>
                    <a:pt x="183" y="906"/>
                  </a:lnTo>
                  <a:lnTo>
                    <a:pt x="154" y="881"/>
                  </a:lnTo>
                  <a:lnTo>
                    <a:pt x="111" y="832"/>
                  </a:lnTo>
                  <a:lnTo>
                    <a:pt x="74" y="778"/>
                  </a:lnTo>
                  <a:lnTo>
                    <a:pt x="46" y="723"/>
                  </a:lnTo>
                  <a:lnTo>
                    <a:pt x="24" y="666"/>
                  </a:lnTo>
                  <a:lnTo>
                    <a:pt x="9" y="605"/>
                  </a:lnTo>
                  <a:lnTo>
                    <a:pt x="2" y="544"/>
                  </a:lnTo>
                  <a:lnTo>
                    <a:pt x="0" y="484"/>
                  </a:lnTo>
                  <a:lnTo>
                    <a:pt x="7" y="423"/>
                  </a:lnTo>
                  <a:lnTo>
                    <a:pt x="22" y="363"/>
                  </a:lnTo>
                  <a:lnTo>
                    <a:pt x="42" y="304"/>
                  </a:lnTo>
                  <a:lnTo>
                    <a:pt x="71" y="249"/>
                  </a:lnTo>
                  <a:lnTo>
                    <a:pt x="106" y="196"/>
                  </a:lnTo>
                  <a:lnTo>
                    <a:pt x="149" y="148"/>
                  </a:lnTo>
                  <a:lnTo>
                    <a:pt x="198" y="106"/>
                  </a:lnTo>
                  <a:lnTo>
                    <a:pt x="250" y="70"/>
                  </a:lnTo>
                  <a:lnTo>
                    <a:pt x="305" y="42"/>
                  </a:lnTo>
                  <a:lnTo>
                    <a:pt x="363" y="20"/>
                  </a:lnTo>
                  <a:lnTo>
                    <a:pt x="422" y="6"/>
                  </a:lnTo>
                  <a:lnTo>
                    <a:pt x="4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9" name="Freeform 7"/>
            <p:cNvSpPr>
              <a:spLocks noEditPoints="1"/>
            </p:cNvSpPr>
            <p:nvPr/>
          </p:nvSpPr>
          <p:spPr bwMode="black">
            <a:xfrm>
              <a:off x="2930550" y="3694664"/>
              <a:ext cx="742950" cy="746125"/>
            </a:xfrm>
            <a:custGeom>
              <a:avLst/>
              <a:gdLst>
                <a:gd name="T0" fmla="*/ 501 w 936"/>
                <a:gd name="T1" fmla="*/ 502 h 939"/>
                <a:gd name="T2" fmla="*/ 501 w 936"/>
                <a:gd name="T3" fmla="*/ 502 h 939"/>
                <a:gd name="T4" fmla="*/ 697 w 936"/>
                <a:gd name="T5" fmla="*/ 5 h 939"/>
                <a:gd name="T6" fmla="*/ 755 w 936"/>
                <a:gd name="T7" fmla="*/ 33 h 939"/>
                <a:gd name="T8" fmla="*/ 827 w 936"/>
                <a:gd name="T9" fmla="*/ 107 h 939"/>
                <a:gd name="T10" fmla="*/ 892 w 936"/>
                <a:gd name="T11" fmla="*/ 216 h 939"/>
                <a:gd name="T12" fmla="*/ 927 w 936"/>
                <a:gd name="T13" fmla="*/ 334 h 939"/>
                <a:gd name="T14" fmla="*/ 936 w 936"/>
                <a:gd name="T15" fmla="*/ 455 h 939"/>
                <a:gd name="T16" fmla="*/ 916 w 936"/>
                <a:gd name="T17" fmla="*/ 576 h 939"/>
                <a:gd name="T18" fmla="*/ 866 w 936"/>
                <a:gd name="T19" fmla="*/ 691 h 939"/>
                <a:gd name="T20" fmla="*/ 789 w 936"/>
                <a:gd name="T21" fmla="*/ 791 h 939"/>
                <a:gd name="T22" fmla="*/ 688 w 936"/>
                <a:gd name="T23" fmla="*/ 870 h 939"/>
                <a:gd name="T24" fmla="*/ 574 w 936"/>
                <a:gd name="T25" fmla="*/ 919 h 939"/>
                <a:gd name="T26" fmla="*/ 454 w 936"/>
                <a:gd name="T27" fmla="*/ 939 h 939"/>
                <a:gd name="T28" fmla="*/ 333 w 936"/>
                <a:gd name="T29" fmla="*/ 933 h 939"/>
                <a:gd name="T30" fmla="*/ 216 w 936"/>
                <a:gd name="T31" fmla="*/ 896 h 939"/>
                <a:gd name="T32" fmla="*/ 108 w 936"/>
                <a:gd name="T33" fmla="*/ 830 h 939"/>
                <a:gd name="T34" fmla="*/ 34 w 936"/>
                <a:gd name="T35" fmla="*/ 758 h 939"/>
                <a:gd name="T36" fmla="*/ 6 w 936"/>
                <a:gd name="T37" fmla="*/ 699 h 939"/>
                <a:gd name="T38" fmla="*/ 2 w 936"/>
                <a:gd name="T39" fmla="*/ 630 h 939"/>
                <a:gd name="T40" fmla="*/ 6 w 936"/>
                <a:gd name="T41" fmla="*/ 622 h 939"/>
                <a:gd name="T42" fmla="*/ 11 w 936"/>
                <a:gd name="T43" fmla="*/ 618 h 939"/>
                <a:gd name="T44" fmla="*/ 17 w 936"/>
                <a:gd name="T45" fmla="*/ 620 h 939"/>
                <a:gd name="T46" fmla="*/ 21 w 936"/>
                <a:gd name="T47" fmla="*/ 627 h 939"/>
                <a:gd name="T48" fmla="*/ 22 w 936"/>
                <a:gd name="T49" fmla="*/ 662 h 939"/>
                <a:gd name="T50" fmla="*/ 44 w 936"/>
                <a:gd name="T51" fmla="*/ 711 h 939"/>
                <a:gd name="T52" fmla="*/ 93 w 936"/>
                <a:gd name="T53" fmla="*/ 733 h 939"/>
                <a:gd name="T54" fmla="*/ 161 w 936"/>
                <a:gd name="T55" fmla="*/ 727 h 939"/>
                <a:gd name="T56" fmla="*/ 246 w 936"/>
                <a:gd name="T57" fmla="*/ 696 h 939"/>
                <a:gd name="T58" fmla="*/ 344 w 936"/>
                <a:gd name="T59" fmla="*/ 637 h 939"/>
                <a:gd name="T60" fmla="*/ 447 w 936"/>
                <a:gd name="T61" fmla="*/ 553 h 939"/>
                <a:gd name="T62" fmla="*/ 551 w 936"/>
                <a:gd name="T63" fmla="*/ 448 h 939"/>
                <a:gd name="T64" fmla="*/ 635 w 936"/>
                <a:gd name="T65" fmla="*/ 344 h 939"/>
                <a:gd name="T66" fmla="*/ 693 w 936"/>
                <a:gd name="T67" fmla="*/ 247 h 939"/>
                <a:gd name="T68" fmla="*/ 725 w 936"/>
                <a:gd name="T69" fmla="*/ 163 h 939"/>
                <a:gd name="T70" fmla="*/ 730 w 936"/>
                <a:gd name="T71" fmla="*/ 94 h 939"/>
                <a:gd name="T72" fmla="*/ 707 w 936"/>
                <a:gd name="T73" fmla="*/ 45 h 939"/>
                <a:gd name="T74" fmla="*/ 660 w 936"/>
                <a:gd name="T75" fmla="*/ 21 h 939"/>
                <a:gd name="T76" fmla="*/ 623 w 936"/>
                <a:gd name="T77" fmla="*/ 20 h 939"/>
                <a:gd name="T78" fmla="*/ 616 w 936"/>
                <a:gd name="T79" fmla="*/ 16 h 939"/>
                <a:gd name="T80" fmla="*/ 615 w 936"/>
                <a:gd name="T81" fmla="*/ 11 h 939"/>
                <a:gd name="T82" fmla="*/ 618 w 936"/>
                <a:gd name="T83" fmla="*/ 5 h 939"/>
                <a:gd name="T84" fmla="*/ 628 w 936"/>
                <a:gd name="T85" fmla="*/ 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6" h="939">
                  <a:moveTo>
                    <a:pt x="501" y="502"/>
                  </a:moveTo>
                  <a:lnTo>
                    <a:pt x="501" y="502"/>
                  </a:lnTo>
                  <a:lnTo>
                    <a:pt x="501" y="502"/>
                  </a:lnTo>
                  <a:lnTo>
                    <a:pt x="501" y="502"/>
                  </a:lnTo>
                  <a:close/>
                  <a:moveTo>
                    <a:pt x="665" y="0"/>
                  </a:moveTo>
                  <a:lnTo>
                    <a:pt x="697" y="5"/>
                  </a:lnTo>
                  <a:lnTo>
                    <a:pt x="727" y="16"/>
                  </a:lnTo>
                  <a:lnTo>
                    <a:pt x="755" y="33"/>
                  </a:lnTo>
                  <a:lnTo>
                    <a:pt x="784" y="58"/>
                  </a:lnTo>
                  <a:lnTo>
                    <a:pt x="827" y="107"/>
                  </a:lnTo>
                  <a:lnTo>
                    <a:pt x="862" y="161"/>
                  </a:lnTo>
                  <a:lnTo>
                    <a:pt x="892" y="216"/>
                  </a:lnTo>
                  <a:lnTo>
                    <a:pt x="914" y="274"/>
                  </a:lnTo>
                  <a:lnTo>
                    <a:pt x="927" y="334"/>
                  </a:lnTo>
                  <a:lnTo>
                    <a:pt x="936" y="395"/>
                  </a:lnTo>
                  <a:lnTo>
                    <a:pt x="936" y="455"/>
                  </a:lnTo>
                  <a:lnTo>
                    <a:pt x="929" y="517"/>
                  </a:lnTo>
                  <a:lnTo>
                    <a:pt x="916" y="576"/>
                  </a:lnTo>
                  <a:lnTo>
                    <a:pt x="894" y="635"/>
                  </a:lnTo>
                  <a:lnTo>
                    <a:pt x="866" y="691"/>
                  </a:lnTo>
                  <a:lnTo>
                    <a:pt x="830" y="743"/>
                  </a:lnTo>
                  <a:lnTo>
                    <a:pt x="789" y="791"/>
                  </a:lnTo>
                  <a:lnTo>
                    <a:pt x="740" y="833"/>
                  </a:lnTo>
                  <a:lnTo>
                    <a:pt x="688" y="870"/>
                  </a:lnTo>
                  <a:lnTo>
                    <a:pt x="631" y="897"/>
                  </a:lnTo>
                  <a:lnTo>
                    <a:pt x="574" y="919"/>
                  </a:lnTo>
                  <a:lnTo>
                    <a:pt x="514" y="933"/>
                  </a:lnTo>
                  <a:lnTo>
                    <a:pt x="454" y="939"/>
                  </a:lnTo>
                  <a:lnTo>
                    <a:pt x="394" y="939"/>
                  </a:lnTo>
                  <a:lnTo>
                    <a:pt x="333" y="933"/>
                  </a:lnTo>
                  <a:lnTo>
                    <a:pt x="273" y="917"/>
                  </a:lnTo>
                  <a:lnTo>
                    <a:pt x="216" y="896"/>
                  </a:lnTo>
                  <a:lnTo>
                    <a:pt x="159" y="867"/>
                  </a:lnTo>
                  <a:lnTo>
                    <a:pt x="108" y="830"/>
                  </a:lnTo>
                  <a:lnTo>
                    <a:pt x="59" y="786"/>
                  </a:lnTo>
                  <a:lnTo>
                    <a:pt x="34" y="758"/>
                  </a:lnTo>
                  <a:lnTo>
                    <a:pt x="16" y="729"/>
                  </a:lnTo>
                  <a:lnTo>
                    <a:pt x="6" y="699"/>
                  </a:lnTo>
                  <a:lnTo>
                    <a:pt x="0" y="667"/>
                  </a:lnTo>
                  <a:lnTo>
                    <a:pt x="2" y="630"/>
                  </a:lnTo>
                  <a:lnTo>
                    <a:pt x="4" y="625"/>
                  </a:lnTo>
                  <a:lnTo>
                    <a:pt x="6" y="622"/>
                  </a:lnTo>
                  <a:lnTo>
                    <a:pt x="7" y="618"/>
                  </a:lnTo>
                  <a:lnTo>
                    <a:pt x="11" y="618"/>
                  </a:lnTo>
                  <a:lnTo>
                    <a:pt x="14" y="618"/>
                  </a:lnTo>
                  <a:lnTo>
                    <a:pt x="17" y="620"/>
                  </a:lnTo>
                  <a:lnTo>
                    <a:pt x="19" y="622"/>
                  </a:lnTo>
                  <a:lnTo>
                    <a:pt x="21" y="627"/>
                  </a:lnTo>
                  <a:lnTo>
                    <a:pt x="21" y="632"/>
                  </a:lnTo>
                  <a:lnTo>
                    <a:pt x="22" y="662"/>
                  </a:lnTo>
                  <a:lnTo>
                    <a:pt x="31" y="689"/>
                  </a:lnTo>
                  <a:lnTo>
                    <a:pt x="44" y="711"/>
                  </a:lnTo>
                  <a:lnTo>
                    <a:pt x="66" y="726"/>
                  </a:lnTo>
                  <a:lnTo>
                    <a:pt x="93" y="733"/>
                  </a:lnTo>
                  <a:lnTo>
                    <a:pt x="126" y="734"/>
                  </a:lnTo>
                  <a:lnTo>
                    <a:pt x="161" y="727"/>
                  </a:lnTo>
                  <a:lnTo>
                    <a:pt x="203" y="716"/>
                  </a:lnTo>
                  <a:lnTo>
                    <a:pt x="246" y="696"/>
                  </a:lnTo>
                  <a:lnTo>
                    <a:pt x="293" y="669"/>
                  </a:lnTo>
                  <a:lnTo>
                    <a:pt x="344" y="637"/>
                  </a:lnTo>
                  <a:lnTo>
                    <a:pt x="394" y="598"/>
                  </a:lnTo>
                  <a:lnTo>
                    <a:pt x="447" y="553"/>
                  </a:lnTo>
                  <a:lnTo>
                    <a:pt x="501" y="502"/>
                  </a:lnTo>
                  <a:lnTo>
                    <a:pt x="551" y="448"/>
                  </a:lnTo>
                  <a:lnTo>
                    <a:pt x="596" y="396"/>
                  </a:lnTo>
                  <a:lnTo>
                    <a:pt x="635" y="344"/>
                  </a:lnTo>
                  <a:lnTo>
                    <a:pt x="666" y="294"/>
                  </a:lnTo>
                  <a:lnTo>
                    <a:pt x="693" y="247"/>
                  </a:lnTo>
                  <a:lnTo>
                    <a:pt x="712" y="203"/>
                  </a:lnTo>
                  <a:lnTo>
                    <a:pt x="725" y="163"/>
                  </a:lnTo>
                  <a:lnTo>
                    <a:pt x="732" y="126"/>
                  </a:lnTo>
                  <a:lnTo>
                    <a:pt x="730" y="94"/>
                  </a:lnTo>
                  <a:lnTo>
                    <a:pt x="722" y="67"/>
                  </a:lnTo>
                  <a:lnTo>
                    <a:pt x="707" y="45"/>
                  </a:lnTo>
                  <a:lnTo>
                    <a:pt x="687" y="30"/>
                  </a:lnTo>
                  <a:lnTo>
                    <a:pt x="660" y="21"/>
                  </a:lnTo>
                  <a:lnTo>
                    <a:pt x="630" y="21"/>
                  </a:lnTo>
                  <a:lnTo>
                    <a:pt x="623" y="20"/>
                  </a:lnTo>
                  <a:lnTo>
                    <a:pt x="620" y="20"/>
                  </a:lnTo>
                  <a:lnTo>
                    <a:pt x="616" y="16"/>
                  </a:lnTo>
                  <a:lnTo>
                    <a:pt x="615" y="13"/>
                  </a:lnTo>
                  <a:lnTo>
                    <a:pt x="615" y="11"/>
                  </a:lnTo>
                  <a:lnTo>
                    <a:pt x="616" y="8"/>
                  </a:lnTo>
                  <a:lnTo>
                    <a:pt x="618" y="5"/>
                  </a:lnTo>
                  <a:lnTo>
                    <a:pt x="623" y="3"/>
                  </a:lnTo>
                  <a:lnTo>
                    <a:pt x="628" y="1"/>
                  </a:lnTo>
                  <a:lnTo>
                    <a:pt x="6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0" name="Freeform 8"/>
            <p:cNvSpPr>
              <a:spLocks noEditPoints="1"/>
            </p:cNvSpPr>
            <p:nvPr/>
          </p:nvSpPr>
          <p:spPr bwMode="black">
            <a:xfrm>
              <a:off x="4521225" y="3659739"/>
              <a:ext cx="669925" cy="739775"/>
            </a:xfrm>
            <a:custGeom>
              <a:avLst/>
              <a:gdLst>
                <a:gd name="T0" fmla="*/ 382 w 845"/>
                <a:gd name="T1" fmla="*/ 136 h 933"/>
                <a:gd name="T2" fmla="*/ 308 w 845"/>
                <a:gd name="T3" fmla="*/ 163 h 933"/>
                <a:gd name="T4" fmla="*/ 250 w 845"/>
                <a:gd name="T5" fmla="*/ 215 h 933"/>
                <a:gd name="T6" fmla="*/ 208 w 845"/>
                <a:gd name="T7" fmla="*/ 286 h 933"/>
                <a:gd name="T8" fmla="*/ 183 w 845"/>
                <a:gd name="T9" fmla="*/ 373 h 933"/>
                <a:gd name="T10" fmla="*/ 174 w 845"/>
                <a:gd name="T11" fmla="*/ 471 h 933"/>
                <a:gd name="T12" fmla="*/ 186 w 845"/>
                <a:gd name="T13" fmla="*/ 575 h 933"/>
                <a:gd name="T14" fmla="*/ 216 w 845"/>
                <a:gd name="T15" fmla="*/ 666 h 933"/>
                <a:gd name="T16" fmla="*/ 268 w 845"/>
                <a:gd name="T17" fmla="*/ 738 h 933"/>
                <a:gd name="T18" fmla="*/ 338 w 845"/>
                <a:gd name="T19" fmla="*/ 785 h 933"/>
                <a:gd name="T20" fmla="*/ 424 w 845"/>
                <a:gd name="T21" fmla="*/ 802 h 933"/>
                <a:gd name="T22" fmla="*/ 511 w 845"/>
                <a:gd name="T23" fmla="*/ 784 h 933"/>
                <a:gd name="T24" fmla="*/ 579 w 845"/>
                <a:gd name="T25" fmla="*/ 737 h 933"/>
                <a:gd name="T26" fmla="*/ 631 w 845"/>
                <a:gd name="T27" fmla="*/ 664 h 933"/>
                <a:gd name="T28" fmla="*/ 661 w 845"/>
                <a:gd name="T29" fmla="*/ 572 h 933"/>
                <a:gd name="T30" fmla="*/ 671 w 845"/>
                <a:gd name="T31" fmla="*/ 462 h 933"/>
                <a:gd name="T32" fmla="*/ 663 w 845"/>
                <a:gd name="T33" fmla="*/ 373 h 933"/>
                <a:gd name="T34" fmla="*/ 640 w 845"/>
                <a:gd name="T35" fmla="*/ 289 h 933"/>
                <a:gd name="T36" fmla="*/ 598 w 845"/>
                <a:gd name="T37" fmla="*/ 219 h 933"/>
                <a:gd name="T38" fmla="*/ 541 w 845"/>
                <a:gd name="T39" fmla="*/ 165 h 933"/>
                <a:gd name="T40" fmla="*/ 467 w 845"/>
                <a:gd name="T41" fmla="*/ 136 h 933"/>
                <a:gd name="T42" fmla="*/ 429 w 845"/>
                <a:gd name="T43" fmla="*/ 0 h 933"/>
                <a:gd name="T44" fmla="*/ 551 w 845"/>
                <a:gd name="T45" fmla="*/ 15 h 933"/>
                <a:gd name="T46" fmla="*/ 653 w 845"/>
                <a:gd name="T47" fmla="*/ 61 h 933"/>
                <a:gd name="T48" fmla="*/ 735 w 845"/>
                <a:gd name="T49" fmla="*/ 131 h 933"/>
                <a:gd name="T50" fmla="*/ 795 w 845"/>
                <a:gd name="T51" fmla="*/ 224 h 933"/>
                <a:gd name="T52" fmla="*/ 834 w 845"/>
                <a:gd name="T53" fmla="*/ 335 h 933"/>
                <a:gd name="T54" fmla="*/ 845 w 845"/>
                <a:gd name="T55" fmla="*/ 457 h 933"/>
                <a:gd name="T56" fmla="*/ 830 w 845"/>
                <a:gd name="T57" fmla="*/ 599 h 933"/>
                <a:gd name="T58" fmla="*/ 788 w 845"/>
                <a:gd name="T59" fmla="*/ 716 h 933"/>
                <a:gd name="T60" fmla="*/ 723 w 845"/>
                <a:gd name="T61" fmla="*/ 810 h 933"/>
                <a:gd name="T62" fmla="*/ 638 w 845"/>
                <a:gd name="T63" fmla="*/ 878 h 933"/>
                <a:gd name="T64" fmla="*/ 534 w 845"/>
                <a:gd name="T65" fmla="*/ 920 h 933"/>
                <a:gd name="T66" fmla="*/ 415 w 845"/>
                <a:gd name="T67" fmla="*/ 933 h 933"/>
                <a:gd name="T68" fmla="*/ 297 w 845"/>
                <a:gd name="T69" fmla="*/ 918 h 933"/>
                <a:gd name="T70" fmla="*/ 194 w 845"/>
                <a:gd name="T71" fmla="*/ 873 h 933"/>
                <a:gd name="T72" fmla="*/ 112 w 845"/>
                <a:gd name="T73" fmla="*/ 804 h 933"/>
                <a:gd name="T74" fmla="*/ 52 w 845"/>
                <a:gd name="T75" fmla="*/ 711 h 933"/>
                <a:gd name="T76" fmla="*/ 14 w 845"/>
                <a:gd name="T77" fmla="*/ 600 h 933"/>
                <a:gd name="T78" fmla="*/ 0 w 845"/>
                <a:gd name="T79" fmla="*/ 474 h 933"/>
                <a:gd name="T80" fmla="*/ 15 w 845"/>
                <a:gd name="T81" fmla="*/ 343 h 933"/>
                <a:gd name="T82" fmla="*/ 56 w 845"/>
                <a:gd name="T83" fmla="*/ 227 h 933"/>
                <a:gd name="T84" fmla="*/ 121 w 845"/>
                <a:gd name="T85" fmla="*/ 133 h 933"/>
                <a:gd name="T86" fmla="*/ 206 w 845"/>
                <a:gd name="T87" fmla="*/ 61 h 933"/>
                <a:gd name="T88" fmla="*/ 310 w 845"/>
                <a:gd name="T89" fmla="*/ 15 h 933"/>
                <a:gd name="T90" fmla="*/ 429 w 845"/>
                <a:gd name="T91"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5" h="933">
                  <a:moveTo>
                    <a:pt x="424" y="133"/>
                  </a:moveTo>
                  <a:lnTo>
                    <a:pt x="382" y="136"/>
                  </a:lnTo>
                  <a:lnTo>
                    <a:pt x="343" y="146"/>
                  </a:lnTo>
                  <a:lnTo>
                    <a:pt x="308" y="163"/>
                  </a:lnTo>
                  <a:lnTo>
                    <a:pt x="276" y="187"/>
                  </a:lnTo>
                  <a:lnTo>
                    <a:pt x="250" y="215"/>
                  </a:lnTo>
                  <a:lnTo>
                    <a:pt x="228" y="249"/>
                  </a:lnTo>
                  <a:lnTo>
                    <a:pt x="208" y="286"/>
                  </a:lnTo>
                  <a:lnTo>
                    <a:pt x="194" y="328"/>
                  </a:lnTo>
                  <a:lnTo>
                    <a:pt x="183" y="373"/>
                  </a:lnTo>
                  <a:lnTo>
                    <a:pt x="176" y="420"/>
                  </a:lnTo>
                  <a:lnTo>
                    <a:pt x="174" y="471"/>
                  </a:lnTo>
                  <a:lnTo>
                    <a:pt x="178" y="525"/>
                  </a:lnTo>
                  <a:lnTo>
                    <a:pt x="186" y="575"/>
                  </a:lnTo>
                  <a:lnTo>
                    <a:pt x="199" y="624"/>
                  </a:lnTo>
                  <a:lnTo>
                    <a:pt x="216" y="666"/>
                  </a:lnTo>
                  <a:lnTo>
                    <a:pt x="240" y="705"/>
                  </a:lnTo>
                  <a:lnTo>
                    <a:pt x="268" y="738"/>
                  </a:lnTo>
                  <a:lnTo>
                    <a:pt x="300" y="765"/>
                  </a:lnTo>
                  <a:lnTo>
                    <a:pt x="338" y="785"/>
                  </a:lnTo>
                  <a:lnTo>
                    <a:pt x="379" y="797"/>
                  </a:lnTo>
                  <a:lnTo>
                    <a:pt x="424" y="802"/>
                  </a:lnTo>
                  <a:lnTo>
                    <a:pt x="469" y="797"/>
                  </a:lnTo>
                  <a:lnTo>
                    <a:pt x="511" y="784"/>
                  </a:lnTo>
                  <a:lnTo>
                    <a:pt x="547" y="763"/>
                  </a:lnTo>
                  <a:lnTo>
                    <a:pt x="579" y="737"/>
                  </a:lnTo>
                  <a:lnTo>
                    <a:pt x="608" y="703"/>
                  </a:lnTo>
                  <a:lnTo>
                    <a:pt x="631" y="664"/>
                  </a:lnTo>
                  <a:lnTo>
                    <a:pt x="648" y="621"/>
                  </a:lnTo>
                  <a:lnTo>
                    <a:pt x="661" y="572"/>
                  </a:lnTo>
                  <a:lnTo>
                    <a:pt x="670" y="520"/>
                  </a:lnTo>
                  <a:lnTo>
                    <a:pt x="671" y="462"/>
                  </a:lnTo>
                  <a:lnTo>
                    <a:pt x="670" y="417"/>
                  </a:lnTo>
                  <a:lnTo>
                    <a:pt x="663" y="373"/>
                  </a:lnTo>
                  <a:lnTo>
                    <a:pt x="653" y="330"/>
                  </a:lnTo>
                  <a:lnTo>
                    <a:pt x="640" y="289"/>
                  </a:lnTo>
                  <a:lnTo>
                    <a:pt x="621" y="252"/>
                  </a:lnTo>
                  <a:lnTo>
                    <a:pt x="598" y="219"/>
                  </a:lnTo>
                  <a:lnTo>
                    <a:pt x="571" y="188"/>
                  </a:lnTo>
                  <a:lnTo>
                    <a:pt x="541" y="165"/>
                  </a:lnTo>
                  <a:lnTo>
                    <a:pt x="506" y="148"/>
                  </a:lnTo>
                  <a:lnTo>
                    <a:pt x="467" y="136"/>
                  </a:lnTo>
                  <a:lnTo>
                    <a:pt x="424" y="133"/>
                  </a:lnTo>
                  <a:close/>
                  <a:moveTo>
                    <a:pt x="429" y="0"/>
                  </a:moveTo>
                  <a:lnTo>
                    <a:pt x="492" y="4"/>
                  </a:lnTo>
                  <a:lnTo>
                    <a:pt x="551" y="15"/>
                  </a:lnTo>
                  <a:lnTo>
                    <a:pt x="604" y="35"/>
                  </a:lnTo>
                  <a:lnTo>
                    <a:pt x="653" y="61"/>
                  </a:lnTo>
                  <a:lnTo>
                    <a:pt x="696" y="94"/>
                  </a:lnTo>
                  <a:lnTo>
                    <a:pt x="735" y="131"/>
                  </a:lnTo>
                  <a:lnTo>
                    <a:pt x="768" y="175"/>
                  </a:lnTo>
                  <a:lnTo>
                    <a:pt x="795" y="224"/>
                  </a:lnTo>
                  <a:lnTo>
                    <a:pt x="817" y="278"/>
                  </a:lnTo>
                  <a:lnTo>
                    <a:pt x="834" y="335"/>
                  </a:lnTo>
                  <a:lnTo>
                    <a:pt x="842" y="395"/>
                  </a:lnTo>
                  <a:lnTo>
                    <a:pt x="845" y="457"/>
                  </a:lnTo>
                  <a:lnTo>
                    <a:pt x="842" y="531"/>
                  </a:lnTo>
                  <a:lnTo>
                    <a:pt x="830" y="599"/>
                  </a:lnTo>
                  <a:lnTo>
                    <a:pt x="814" y="661"/>
                  </a:lnTo>
                  <a:lnTo>
                    <a:pt x="788" y="716"/>
                  </a:lnTo>
                  <a:lnTo>
                    <a:pt x="758" y="767"/>
                  </a:lnTo>
                  <a:lnTo>
                    <a:pt x="723" y="810"/>
                  </a:lnTo>
                  <a:lnTo>
                    <a:pt x="683" y="847"/>
                  </a:lnTo>
                  <a:lnTo>
                    <a:pt x="638" y="878"/>
                  </a:lnTo>
                  <a:lnTo>
                    <a:pt x="588" y="903"/>
                  </a:lnTo>
                  <a:lnTo>
                    <a:pt x="534" y="920"/>
                  </a:lnTo>
                  <a:lnTo>
                    <a:pt x="476" y="930"/>
                  </a:lnTo>
                  <a:lnTo>
                    <a:pt x="415" y="933"/>
                  </a:lnTo>
                  <a:lnTo>
                    <a:pt x="355" y="930"/>
                  </a:lnTo>
                  <a:lnTo>
                    <a:pt x="297" y="918"/>
                  </a:lnTo>
                  <a:lnTo>
                    <a:pt x="243" y="900"/>
                  </a:lnTo>
                  <a:lnTo>
                    <a:pt x="194" y="873"/>
                  </a:lnTo>
                  <a:lnTo>
                    <a:pt x="151" y="841"/>
                  </a:lnTo>
                  <a:lnTo>
                    <a:pt x="112" y="804"/>
                  </a:lnTo>
                  <a:lnTo>
                    <a:pt x="79" y="760"/>
                  </a:lnTo>
                  <a:lnTo>
                    <a:pt x="52" y="711"/>
                  </a:lnTo>
                  <a:lnTo>
                    <a:pt x="30" y="657"/>
                  </a:lnTo>
                  <a:lnTo>
                    <a:pt x="14" y="600"/>
                  </a:lnTo>
                  <a:lnTo>
                    <a:pt x="4" y="538"/>
                  </a:lnTo>
                  <a:lnTo>
                    <a:pt x="0" y="474"/>
                  </a:lnTo>
                  <a:lnTo>
                    <a:pt x="5" y="407"/>
                  </a:lnTo>
                  <a:lnTo>
                    <a:pt x="15" y="343"/>
                  </a:lnTo>
                  <a:lnTo>
                    <a:pt x="32" y="283"/>
                  </a:lnTo>
                  <a:lnTo>
                    <a:pt x="56" y="227"/>
                  </a:lnTo>
                  <a:lnTo>
                    <a:pt x="86" y="177"/>
                  </a:lnTo>
                  <a:lnTo>
                    <a:pt x="121" y="133"/>
                  </a:lnTo>
                  <a:lnTo>
                    <a:pt x="161" y="94"/>
                  </a:lnTo>
                  <a:lnTo>
                    <a:pt x="206" y="61"/>
                  </a:lnTo>
                  <a:lnTo>
                    <a:pt x="255" y="35"/>
                  </a:lnTo>
                  <a:lnTo>
                    <a:pt x="310" y="15"/>
                  </a:lnTo>
                  <a:lnTo>
                    <a:pt x="367" y="4"/>
                  </a:lnTo>
                  <a:lnTo>
                    <a:pt x="4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1" name="Freeform 9"/>
            <p:cNvSpPr>
              <a:spLocks noEditPoints="1"/>
            </p:cNvSpPr>
            <p:nvPr/>
          </p:nvSpPr>
          <p:spPr bwMode="black">
            <a:xfrm>
              <a:off x="5291162" y="3666089"/>
              <a:ext cx="477838" cy="722313"/>
            </a:xfrm>
            <a:custGeom>
              <a:avLst/>
              <a:gdLst>
                <a:gd name="T0" fmla="*/ 258 w 602"/>
                <a:gd name="T1" fmla="*/ 127 h 911"/>
                <a:gd name="T2" fmla="*/ 216 w 602"/>
                <a:gd name="T3" fmla="*/ 129 h 911"/>
                <a:gd name="T4" fmla="*/ 184 w 602"/>
                <a:gd name="T5" fmla="*/ 132 h 911"/>
                <a:gd name="T6" fmla="*/ 162 w 602"/>
                <a:gd name="T7" fmla="*/ 136 h 911"/>
                <a:gd name="T8" fmla="*/ 162 w 602"/>
                <a:gd name="T9" fmla="*/ 438 h 911"/>
                <a:gd name="T10" fmla="*/ 186 w 602"/>
                <a:gd name="T11" fmla="*/ 443 h 911"/>
                <a:gd name="T12" fmla="*/ 212 w 602"/>
                <a:gd name="T13" fmla="*/ 447 h 911"/>
                <a:gd name="T14" fmla="*/ 242 w 602"/>
                <a:gd name="T15" fmla="*/ 447 h 911"/>
                <a:gd name="T16" fmla="*/ 286 w 602"/>
                <a:gd name="T17" fmla="*/ 443 h 911"/>
                <a:gd name="T18" fmla="*/ 324 w 602"/>
                <a:gd name="T19" fmla="*/ 435 h 911"/>
                <a:gd name="T20" fmla="*/ 360 w 602"/>
                <a:gd name="T21" fmla="*/ 422 h 911"/>
                <a:gd name="T22" fmla="*/ 386 w 602"/>
                <a:gd name="T23" fmla="*/ 403 h 911"/>
                <a:gd name="T24" fmla="*/ 410 w 602"/>
                <a:gd name="T25" fmla="*/ 380 h 911"/>
                <a:gd name="T26" fmla="*/ 427 w 602"/>
                <a:gd name="T27" fmla="*/ 351 h 911"/>
                <a:gd name="T28" fmla="*/ 437 w 602"/>
                <a:gd name="T29" fmla="*/ 317 h 911"/>
                <a:gd name="T30" fmla="*/ 440 w 602"/>
                <a:gd name="T31" fmla="*/ 280 h 911"/>
                <a:gd name="T32" fmla="*/ 437 w 602"/>
                <a:gd name="T33" fmla="*/ 245 h 911"/>
                <a:gd name="T34" fmla="*/ 427 w 602"/>
                <a:gd name="T35" fmla="*/ 215 h 911"/>
                <a:gd name="T36" fmla="*/ 411 w 602"/>
                <a:gd name="T37" fmla="*/ 188 h 911"/>
                <a:gd name="T38" fmla="*/ 391 w 602"/>
                <a:gd name="T39" fmla="*/ 166 h 911"/>
                <a:gd name="T40" fmla="*/ 365 w 602"/>
                <a:gd name="T41" fmla="*/ 149 h 911"/>
                <a:gd name="T42" fmla="*/ 333 w 602"/>
                <a:gd name="T43" fmla="*/ 137 h 911"/>
                <a:gd name="T44" fmla="*/ 298 w 602"/>
                <a:gd name="T45" fmla="*/ 131 h 911"/>
                <a:gd name="T46" fmla="*/ 258 w 602"/>
                <a:gd name="T47" fmla="*/ 127 h 911"/>
                <a:gd name="T48" fmla="*/ 251 w 602"/>
                <a:gd name="T49" fmla="*/ 0 h 911"/>
                <a:gd name="T50" fmla="*/ 308 w 602"/>
                <a:gd name="T51" fmla="*/ 3 h 911"/>
                <a:gd name="T52" fmla="*/ 360 w 602"/>
                <a:gd name="T53" fmla="*/ 8 h 911"/>
                <a:gd name="T54" fmla="*/ 406 w 602"/>
                <a:gd name="T55" fmla="*/ 20 h 911"/>
                <a:gd name="T56" fmla="*/ 447 w 602"/>
                <a:gd name="T57" fmla="*/ 33 h 911"/>
                <a:gd name="T58" fmla="*/ 483 w 602"/>
                <a:gd name="T59" fmla="*/ 52 h 911"/>
                <a:gd name="T60" fmla="*/ 515 w 602"/>
                <a:gd name="T61" fmla="*/ 74 h 911"/>
                <a:gd name="T62" fmla="*/ 544 w 602"/>
                <a:gd name="T63" fmla="*/ 104 h 911"/>
                <a:gd name="T64" fmla="*/ 569 w 602"/>
                <a:gd name="T65" fmla="*/ 139 h 911"/>
                <a:gd name="T66" fmla="*/ 587 w 602"/>
                <a:gd name="T67" fmla="*/ 179 h 911"/>
                <a:gd name="T68" fmla="*/ 599 w 602"/>
                <a:gd name="T69" fmla="*/ 225 h 911"/>
                <a:gd name="T70" fmla="*/ 602 w 602"/>
                <a:gd name="T71" fmla="*/ 274 h 911"/>
                <a:gd name="T72" fmla="*/ 599 w 602"/>
                <a:gd name="T73" fmla="*/ 322 h 911"/>
                <a:gd name="T74" fmla="*/ 590 w 602"/>
                <a:gd name="T75" fmla="*/ 368 h 911"/>
                <a:gd name="T76" fmla="*/ 575 w 602"/>
                <a:gd name="T77" fmla="*/ 410 h 911"/>
                <a:gd name="T78" fmla="*/ 554 w 602"/>
                <a:gd name="T79" fmla="*/ 445 h 911"/>
                <a:gd name="T80" fmla="*/ 527 w 602"/>
                <a:gd name="T81" fmla="*/ 477 h 911"/>
                <a:gd name="T82" fmla="*/ 490 w 602"/>
                <a:gd name="T83" fmla="*/ 507 h 911"/>
                <a:gd name="T84" fmla="*/ 448 w 602"/>
                <a:gd name="T85" fmla="*/ 532 h 911"/>
                <a:gd name="T86" fmla="*/ 403 w 602"/>
                <a:gd name="T87" fmla="*/ 551 h 911"/>
                <a:gd name="T88" fmla="*/ 353 w 602"/>
                <a:gd name="T89" fmla="*/ 564 h 911"/>
                <a:gd name="T90" fmla="*/ 299 w 602"/>
                <a:gd name="T91" fmla="*/ 573 h 911"/>
                <a:gd name="T92" fmla="*/ 242 w 602"/>
                <a:gd name="T93" fmla="*/ 575 h 911"/>
                <a:gd name="T94" fmla="*/ 199 w 602"/>
                <a:gd name="T95" fmla="*/ 575 h 911"/>
                <a:gd name="T96" fmla="*/ 162 w 602"/>
                <a:gd name="T97" fmla="*/ 568 h 911"/>
                <a:gd name="T98" fmla="*/ 162 w 602"/>
                <a:gd name="T99" fmla="*/ 911 h 911"/>
                <a:gd name="T100" fmla="*/ 0 w 602"/>
                <a:gd name="T101" fmla="*/ 911 h 911"/>
                <a:gd name="T102" fmla="*/ 0 w 602"/>
                <a:gd name="T103" fmla="*/ 20 h 911"/>
                <a:gd name="T104" fmla="*/ 38 w 602"/>
                <a:gd name="T105" fmla="*/ 13 h 911"/>
                <a:gd name="T106" fmla="*/ 82 w 602"/>
                <a:gd name="T107" fmla="*/ 8 h 911"/>
                <a:gd name="T108" fmla="*/ 132 w 602"/>
                <a:gd name="T109" fmla="*/ 5 h 911"/>
                <a:gd name="T110" fmla="*/ 187 w 602"/>
                <a:gd name="T111" fmla="*/ 1 h 911"/>
                <a:gd name="T112" fmla="*/ 251 w 602"/>
                <a:gd name="T113"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2" h="911">
                  <a:moveTo>
                    <a:pt x="258" y="127"/>
                  </a:moveTo>
                  <a:lnTo>
                    <a:pt x="216" y="129"/>
                  </a:lnTo>
                  <a:lnTo>
                    <a:pt x="184" y="132"/>
                  </a:lnTo>
                  <a:lnTo>
                    <a:pt x="162" y="136"/>
                  </a:lnTo>
                  <a:lnTo>
                    <a:pt x="162" y="438"/>
                  </a:lnTo>
                  <a:lnTo>
                    <a:pt x="186" y="443"/>
                  </a:lnTo>
                  <a:lnTo>
                    <a:pt x="212" y="447"/>
                  </a:lnTo>
                  <a:lnTo>
                    <a:pt x="242" y="447"/>
                  </a:lnTo>
                  <a:lnTo>
                    <a:pt x="286" y="443"/>
                  </a:lnTo>
                  <a:lnTo>
                    <a:pt x="324" y="435"/>
                  </a:lnTo>
                  <a:lnTo>
                    <a:pt x="360" y="422"/>
                  </a:lnTo>
                  <a:lnTo>
                    <a:pt x="386" y="403"/>
                  </a:lnTo>
                  <a:lnTo>
                    <a:pt x="410" y="380"/>
                  </a:lnTo>
                  <a:lnTo>
                    <a:pt x="427" y="351"/>
                  </a:lnTo>
                  <a:lnTo>
                    <a:pt x="437" y="317"/>
                  </a:lnTo>
                  <a:lnTo>
                    <a:pt x="440" y="280"/>
                  </a:lnTo>
                  <a:lnTo>
                    <a:pt x="437" y="245"/>
                  </a:lnTo>
                  <a:lnTo>
                    <a:pt x="427" y="215"/>
                  </a:lnTo>
                  <a:lnTo>
                    <a:pt x="411" y="188"/>
                  </a:lnTo>
                  <a:lnTo>
                    <a:pt x="391" y="166"/>
                  </a:lnTo>
                  <a:lnTo>
                    <a:pt x="365" y="149"/>
                  </a:lnTo>
                  <a:lnTo>
                    <a:pt x="333" y="137"/>
                  </a:lnTo>
                  <a:lnTo>
                    <a:pt x="298" y="131"/>
                  </a:lnTo>
                  <a:lnTo>
                    <a:pt x="258" y="127"/>
                  </a:lnTo>
                  <a:close/>
                  <a:moveTo>
                    <a:pt x="251" y="0"/>
                  </a:moveTo>
                  <a:lnTo>
                    <a:pt x="308" y="3"/>
                  </a:lnTo>
                  <a:lnTo>
                    <a:pt x="360" y="8"/>
                  </a:lnTo>
                  <a:lnTo>
                    <a:pt x="406" y="20"/>
                  </a:lnTo>
                  <a:lnTo>
                    <a:pt x="447" y="33"/>
                  </a:lnTo>
                  <a:lnTo>
                    <a:pt x="483" y="52"/>
                  </a:lnTo>
                  <a:lnTo>
                    <a:pt x="515" y="74"/>
                  </a:lnTo>
                  <a:lnTo>
                    <a:pt x="544" y="104"/>
                  </a:lnTo>
                  <a:lnTo>
                    <a:pt x="569" y="139"/>
                  </a:lnTo>
                  <a:lnTo>
                    <a:pt x="587" y="179"/>
                  </a:lnTo>
                  <a:lnTo>
                    <a:pt x="599" y="225"/>
                  </a:lnTo>
                  <a:lnTo>
                    <a:pt x="602" y="274"/>
                  </a:lnTo>
                  <a:lnTo>
                    <a:pt x="599" y="322"/>
                  </a:lnTo>
                  <a:lnTo>
                    <a:pt x="590" y="368"/>
                  </a:lnTo>
                  <a:lnTo>
                    <a:pt x="575" y="410"/>
                  </a:lnTo>
                  <a:lnTo>
                    <a:pt x="554" y="445"/>
                  </a:lnTo>
                  <a:lnTo>
                    <a:pt x="527" y="477"/>
                  </a:lnTo>
                  <a:lnTo>
                    <a:pt x="490" y="507"/>
                  </a:lnTo>
                  <a:lnTo>
                    <a:pt x="448" y="532"/>
                  </a:lnTo>
                  <a:lnTo>
                    <a:pt x="403" y="551"/>
                  </a:lnTo>
                  <a:lnTo>
                    <a:pt x="353" y="564"/>
                  </a:lnTo>
                  <a:lnTo>
                    <a:pt x="299" y="573"/>
                  </a:lnTo>
                  <a:lnTo>
                    <a:pt x="242" y="575"/>
                  </a:lnTo>
                  <a:lnTo>
                    <a:pt x="199" y="575"/>
                  </a:lnTo>
                  <a:lnTo>
                    <a:pt x="162" y="568"/>
                  </a:lnTo>
                  <a:lnTo>
                    <a:pt x="162" y="911"/>
                  </a:lnTo>
                  <a:lnTo>
                    <a:pt x="0" y="911"/>
                  </a:lnTo>
                  <a:lnTo>
                    <a:pt x="0" y="20"/>
                  </a:lnTo>
                  <a:lnTo>
                    <a:pt x="38" y="13"/>
                  </a:lnTo>
                  <a:lnTo>
                    <a:pt x="82" y="8"/>
                  </a:lnTo>
                  <a:lnTo>
                    <a:pt x="132" y="5"/>
                  </a:lnTo>
                  <a:lnTo>
                    <a:pt x="187" y="1"/>
                  </a:lnTo>
                  <a:lnTo>
                    <a:pt x="2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2" name="Freeform 10"/>
            <p:cNvSpPr>
              <a:spLocks noEditPoints="1"/>
            </p:cNvSpPr>
            <p:nvPr/>
          </p:nvSpPr>
          <p:spPr bwMode="black">
            <a:xfrm>
              <a:off x="5754712" y="3670851"/>
              <a:ext cx="627063" cy="717550"/>
            </a:xfrm>
            <a:custGeom>
              <a:avLst/>
              <a:gdLst>
                <a:gd name="T0" fmla="*/ 386 w 790"/>
                <a:gd name="T1" fmla="*/ 133 h 905"/>
                <a:gd name="T2" fmla="*/ 371 w 790"/>
                <a:gd name="T3" fmla="*/ 187 h 905"/>
                <a:gd name="T4" fmla="*/ 358 w 790"/>
                <a:gd name="T5" fmla="*/ 246 h 905"/>
                <a:gd name="T6" fmla="*/ 343 w 790"/>
                <a:gd name="T7" fmla="*/ 301 h 905"/>
                <a:gd name="T8" fmla="*/ 274 w 790"/>
                <a:gd name="T9" fmla="*/ 523 h 905"/>
                <a:gd name="T10" fmla="*/ 503 w 790"/>
                <a:gd name="T11" fmla="*/ 523 h 905"/>
                <a:gd name="T12" fmla="*/ 433 w 790"/>
                <a:gd name="T13" fmla="*/ 301 h 905"/>
                <a:gd name="T14" fmla="*/ 416 w 790"/>
                <a:gd name="T15" fmla="*/ 244 h 905"/>
                <a:gd name="T16" fmla="*/ 401 w 790"/>
                <a:gd name="T17" fmla="*/ 187 h 905"/>
                <a:gd name="T18" fmla="*/ 388 w 790"/>
                <a:gd name="T19" fmla="*/ 133 h 905"/>
                <a:gd name="T20" fmla="*/ 386 w 790"/>
                <a:gd name="T21" fmla="*/ 133 h 905"/>
                <a:gd name="T22" fmla="*/ 288 w 790"/>
                <a:gd name="T23" fmla="*/ 0 h 905"/>
                <a:gd name="T24" fmla="*/ 497 w 790"/>
                <a:gd name="T25" fmla="*/ 0 h 905"/>
                <a:gd name="T26" fmla="*/ 790 w 790"/>
                <a:gd name="T27" fmla="*/ 905 h 905"/>
                <a:gd name="T28" fmla="*/ 612 w 790"/>
                <a:gd name="T29" fmla="*/ 905 h 905"/>
                <a:gd name="T30" fmla="*/ 530 w 790"/>
                <a:gd name="T31" fmla="*/ 648 h 905"/>
                <a:gd name="T32" fmla="*/ 247 w 790"/>
                <a:gd name="T33" fmla="*/ 648 h 905"/>
                <a:gd name="T34" fmla="*/ 169 w 790"/>
                <a:gd name="T35" fmla="*/ 905 h 905"/>
                <a:gd name="T36" fmla="*/ 0 w 790"/>
                <a:gd name="T37" fmla="*/ 905 h 905"/>
                <a:gd name="T38" fmla="*/ 288 w 790"/>
                <a:gd name="T39"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0" h="905">
                  <a:moveTo>
                    <a:pt x="386" y="133"/>
                  </a:moveTo>
                  <a:lnTo>
                    <a:pt x="371" y="187"/>
                  </a:lnTo>
                  <a:lnTo>
                    <a:pt x="358" y="246"/>
                  </a:lnTo>
                  <a:lnTo>
                    <a:pt x="343" y="301"/>
                  </a:lnTo>
                  <a:lnTo>
                    <a:pt x="274" y="523"/>
                  </a:lnTo>
                  <a:lnTo>
                    <a:pt x="503" y="523"/>
                  </a:lnTo>
                  <a:lnTo>
                    <a:pt x="433" y="301"/>
                  </a:lnTo>
                  <a:lnTo>
                    <a:pt x="416" y="244"/>
                  </a:lnTo>
                  <a:lnTo>
                    <a:pt x="401" y="187"/>
                  </a:lnTo>
                  <a:lnTo>
                    <a:pt x="388" y="133"/>
                  </a:lnTo>
                  <a:lnTo>
                    <a:pt x="386" y="133"/>
                  </a:lnTo>
                  <a:close/>
                  <a:moveTo>
                    <a:pt x="288" y="0"/>
                  </a:moveTo>
                  <a:lnTo>
                    <a:pt x="497" y="0"/>
                  </a:lnTo>
                  <a:lnTo>
                    <a:pt x="790" y="905"/>
                  </a:lnTo>
                  <a:lnTo>
                    <a:pt x="612" y="905"/>
                  </a:lnTo>
                  <a:lnTo>
                    <a:pt x="530" y="648"/>
                  </a:lnTo>
                  <a:lnTo>
                    <a:pt x="247" y="648"/>
                  </a:lnTo>
                  <a:lnTo>
                    <a:pt x="169" y="905"/>
                  </a:lnTo>
                  <a:lnTo>
                    <a:pt x="0" y="905"/>
                  </a:lnTo>
                  <a:lnTo>
                    <a:pt x="28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3" name="Freeform 11"/>
            <p:cNvSpPr>
              <a:spLocks/>
            </p:cNvSpPr>
            <p:nvPr/>
          </p:nvSpPr>
          <p:spPr bwMode="black">
            <a:xfrm>
              <a:off x="6424637" y="3659739"/>
              <a:ext cx="463550" cy="739775"/>
            </a:xfrm>
            <a:custGeom>
              <a:avLst/>
              <a:gdLst>
                <a:gd name="T0" fmla="*/ 388 w 584"/>
                <a:gd name="T1" fmla="*/ 2 h 931"/>
                <a:gd name="T2" fmla="*/ 480 w 584"/>
                <a:gd name="T3" fmla="*/ 18 h 931"/>
                <a:gd name="T4" fmla="*/ 547 w 584"/>
                <a:gd name="T5" fmla="*/ 45 h 931"/>
                <a:gd name="T6" fmla="*/ 485 w 584"/>
                <a:gd name="T7" fmla="*/ 166 h 931"/>
                <a:gd name="T8" fmla="*/ 418 w 584"/>
                <a:gd name="T9" fmla="*/ 144 h 931"/>
                <a:gd name="T10" fmla="*/ 328 w 584"/>
                <a:gd name="T11" fmla="*/ 134 h 931"/>
                <a:gd name="T12" fmla="*/ 261 w 584"/>
                <a:gd name="T13" fmla="*/ 144 h 931"/>
                <a:gd name="T14" fmla="*/ 216 w 584"/>
                <a:gd name="T15" fmla="*/ 168 h 931"/>
                <a:gd name="T16" fmla="*/ 189 w 584"/>
                <a:gd name="T17" fmla="*/ 203 h 931"/>
                <a:gd name="T18" fmla="*/ 181 w 584"/>
                <a:gd name="T19" fmla="*/ 244 h 931"/>
                <a:gd name="T20" fmla="*/ 194 w 584"/>
                <a:gd name="T21" fmla="*/ 296 h 931"/>
                <a:gd name="T22" fmla="*/ 234 w 584"/>
                <a:gd name="T23" fmla="*/ 336 h 931"/>
                <a:gd name="T24" fmla="*/ 306 w 584"/>
                <a:gd name="T25" fmla="*/ 373 h 931"/>
                <a:gd name="T26" fmla="*/ 408 w 584"/>
                <a:gd name="T27" fmla="*/ 415 h 931"/>
                <a:gd name="T28" fmla="*/ 494 w 584"/>
                <a:gd name="T29" fmla="*/ 469 h 931"/>
                <a:gd name="T30" fmla="*/ 552 w 584"/>
                <a:gd name="T31" fmla="*/ 533 h 931"/>
                <a:gd name="T32" fmla="*/ 581 w 584"/>
                <a:gd name="T33" fmla="*/ 613 h 931"/>
                <a:gd name="T34" fmla="*/ 581 w 584"/>
                <a:gd name="T35" fmla="*/ 699 h 931"/>
                <a:gd name="T36" fmla="*/ 559 w 584"/>
                <a:gd name="T37" fmla="*/ 773 h 931"/>
                <a:gd name="T38" fmla="*/ 515 w 584"/>
                <a:gd name="T39" fmla="*/ 837 h 931"/>
                <a:gd name="T40" fmla="*/ 447 w 584"/>
                <a:gd name="T41" fmla="*/ 887 h 931"/>
                <a:gd name="T42" fmla="*/ 358 w 584"/>
                <a:gd name="T43" fmla="*/ 919 h 931"/>
                <a:gd name="T44" fmla="*/ 243 w 584"/>
                <a:gd name="T45" fmla="*/ 931 h 931"/>
                <a:gd name="T46" fmla="*/ 131 w 584"/>
                <a:gd name="T47" fmla="*/ 921 h 931"/>
                <a:gd name="T48" fmla="*/ 35 w 584"/>
                <a:gd name="T49" fmla="*/ 893 h 931"/>
                <a:gd name="T50" fmla="*/ 37 w 584"/>
                <a:gd name="T51" fmla="*/ 738 h 931"/>
                <a:gd name="T52" fmla="*/ 134 w 584"/>
                <a:gd name="T53" fmla="*/ 778 h 931"/>
                <a:gd name="T54" fmla="*/ 254 w 584"/>
                <a:gd name="T55" fmla="*/ 795 h 931"/>
                <a:gd name="T56" fmla="*/ 331 w 584"/>
                <a:gd name="T57" fmla="*/ 783 h 931"/>
                <a:gd name="T58" fmla="*/ 385 w 584"/>
                <a:gd name="T59" fmla="*/ 751 h 931"/>
                <a:gd name="T60" fmla="*/ 413 w 584"/>
                <a:gd name="T61" fmla="*/ 703 h 931"/>
                <a:gd name="T62" fmla="*/ 413 w 584"/>
                <a:gd name="T63" fmla="*/ 640 h 931"/>
                <a:gd name="T64" fmla="*/ 380 w 584"/>
                <a:gd name="T65" fmla="*/ 587 h 931"/>
                <a:gd name="T66" fmla="*/ 310 w 584"/>
                <a:gd name="T67" fmla="*/ 543 h 931"/>
                <a:gd name="T68" fmla="*/ 211 w 584"/>
                <a:gd name="T69" fmla="*/ 503 h 931"/>
                <a:gd name="T70" fmla="*/ 129 w 584"/>
                <a:gd name="T71" fmla="*/ 459 h 931"/>
                <a:gd name="T72" fmla="*/ 67 w 584"/>
                <a:gd name="T73" fmla="*/ 405 h 931"/>
                <a:gd name="T74" fmla="*/ 27 w 584"/>
                <a:gd name="T75" fmla="*/ 339 h 931"/>
                <a:gd name="T76" fmla="*/ 13 w 584"/>
                <a:gd name="T77" fmla="*/ 259 h 931"/>
                <a:gd name="T78" fmla="*/ 29 w 584"/>
                <a:gd name="T79" fmla="*/ 175 h 931"/>
                <a:gd name="T80" fmla="*/ 70 w 584"/>
                <a:gd name="T81" fmla="*/ 104 h 931"/>
                <a:gd name="T82" fmla="*/ 136 w 584"/>
                <a:gd name="T83" fmla="*/ 49 h 931"/>
                <a:gd name="T84" fmla="*/ 224 w 584"/>
                <a:gd name="T85" fmla="*/ 12 h 931"/>
                <a:gd name="T86" fmla="*/ 333 w 584"/>
                <a:gd name="T87" fmla="*/ 0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84" h="931">
                  <a:moveTo>
                    <a:pt x="333" y="0"/>
                  </a:moveTo>
                  <a:lnTo>
                    <a:pt x="388" y="2"/>
                  </a:lnTo>
                  <a:lnTo>
                    <a:pt x="437" y="8"/>
                  </a:lnTo>
                  <a:lnTo>
                    <a:pt x="480" y="18"/>
                  </a:lnTo>
                  <a:lnTo>
                    <a:pt x="517" y="30"/>
                  </a:lnTo>
                  <a:lnTo>
                    <a:pt x="547" y="45"/>
                  </a:lnTo>
                  <a:lnTo>
                    <a:pt x="509" y="178"/>
                  </a:lnTo>
                  <a:lnTo>
                    <a:pt x="485" y="166"/>
                  </a:lnTo>
                  <a:lnTo>
                    <a:pt x="455" y="155"/>
                  </a:lnTo>
                  <a:lnTo>
                    <a:pt x="418" y="144"/>
                  </a:lnTo>
                  <a:lnTo>
                    <a:pt x="377" y="138"/>
                  </a:lnTo>
                  <a:lnTo>
                    <a:pt x="328" y="134"/>
                  </a:lnTo>
                  <a:lnTo>
                    <a:pt x="293" y="138"/>
                  </a:lnTo>
                  <a:lnTo>
                    <a:pt x="261" y="144"/>
                  </a:lnTo>
                  <a:lnTo>
                    <a:pt x="236" y="155"/>
                  </a:lnTo>
                  <a:lnTo>
                    <a:pt x="216" y="168"/>
                  </a:lnTo>
                  <a:lnTo>
                    <a:pt x="201" y="185"/>
                  </a:lnTo>
                  <a:lnTo>
                    <a:pt x="189" y="203"/>
                  </a:lnTo>
                  <a:lnTo>
                    <a:pt x="182" y="223"/>
                  </a:lnTo>
                  <a:lnTo>
                    <a:pt x="181" y="244"/>
                  </a:lnTo>
                  <a:lnTo>
                    <a:pt x="184" y="271"/>
                  </a:lnTo>
                  <a:lnTo>
                    <a:pt x="194" y="296"/>
                  </a:lnTo>
                  <a:lnTo>
                    <a:pt x="211" y="316"/>
                  </a:lnTo>
                  <a:lnTo>
                    <a:pt x="234" y="336"/>
                  </a:lnTo>
                  <a:lnTo>
                    <a:pt x="266" y="355"/>
                  </a:lnTo>
                  <a:lnTo>
                    <a:pt x="306" y="373"/>
                  </a:lnTo>
                  <a:lnTo>
                    <a:pt x="353" y="392"/>
                  </a:lnTo>
                  <a:lnTo>
                    <a:pt x="408" y="415"/>
                  </a:lnTo>
                  <a:lnTo>
                    <a:pt x="455" y="440"/>
                  </a:lnTo>
                  <a:lnTo>
                    <a:pt x="494" y="469"/>
                  </a:lnTo>
                  <a:lnTo>
                    <a:pt x="527" y="499"/>
                  </a:lnTo>
                  <a:lnTo>
                    <a:pt x="552" y="533"/>
                  </a:lnTo>
                  <a:lnTo>
                    <a:pt x="569" y="571"/>
                  </a:lnTo>
                  <a:lnTo>
                    <a:pt x="581" y="613"/>
                  </a:lnTo>
                  <a:lnTo>
                    <a:pt x="584" y="661"/>
                  </a:lnTo>
                  <a:lnTo>
                    <a:pt x="581" y="699"/>
                  </a:lnTo>
                  <a:lnTo>
                    <a:pt x="572" y="736"/>
                  </a:lnTo>
                  <a:lnTo>
                    <a:pt x="559" y="773"/>
                  </a:lnTo>
                  <a:lnTo>
                    <a:pt x="539" y="807"/>
                  </a:lnTo>
                  <a:lnTo>
                    <a:pt x="515" y="837"/>
                  </a:lnTo>
                  <a:lnTo>
                    <a:pt x="484" y="864"/>
                  </a:lnTo>
                  <a:lnTo>
                    <a:pt x="447" y="887"/>
                  </a:lnTo>
                  <a:lnTo>
                    <a:pt x="405" y="906"/>
                  </a:lnTo>
                  <a:lnTo>
                    <a:pt x="358" y="919"/>
                  </a:lnTo>
                  <a:lnTo>
                    <a:pt x="303" y="930"/>
                  </a:lnTo>
                  <a:lnTo>
                    <a:pt x="243" y="931"/>
                  </a:lnTo>
                  <a:lnTo>
                    <a:pt x="186" y="930"/>
                  </a:lnTo>
                  <a:lnTo>
                    <a:pt x="131" y="921"/>
                  </a:lnTo>
                  <a:lnTo>
                    <a:pt x="79" y="908"/>
                  </a:lnTo>
                  <a:lnTo>
                    <a:pt x="35" y="893"/>
                  </a:lnTo>
                  <a:lnTo>
                    <a:pt x="0" y="874"/>
                  </a:lnTo>
                  <a:lnTo>
                    <a:pt x="37" y="738"/>
                  </a:lnTo>
                  <a:lnTo>
                    <a:pt x="80" y="760"/>
                  </a:lnTo>
                  <a:lnTo>
                    <a:pt x="134" y="778"/>
                  </a:lnTo>
                  <a:lnTo>
                    <a:pt x="193" y="790"/>
                  </a:lnTo>
                  <a:lnTo>
                    <a:pt x="254" y="795"/>
                  </a:lnTo>
                  <a:lnTo>
                    <a:pt x="296" y="792"/>
                  </a:lnTo>
                  <a:lnTo>
                    <a:pt x="331" y="783"/>
                  </a:lnTo>
                  <a:lnTo>
                    <a:pt x="362" y="770"/>
                  </a:lnTo>
                  <a:lnTo>
                    <a:pt x="385" y="751"/>
                  </a:lnTo>
                  <a:lnTo>
                    <a:pt x="403" y="729"/>
                  </a:lnTo>
                  <a:lnTo>
                    <a:pt x="413" y="703"/>
                  </a:lnTo>
                  <a:lnTo>
                    <a:pt x="417" y="672"/>
                  </a:lnTo>
                  <a:lnTo>
                    <a:pt x="413" y="640"/>
                  </a:lnTo>
                  <a:lnTo>
                    <a:pt x="402" y="612"/>
                  </a:lnTo>
                  <a:lnTo>
                    <a:pt x="380" y="587"/>
                  </a:lnTo>
                  <a:lnTo>
                    <a:pt x="350" y="565"/>
                  </a:lnTo>
                  <a:lnTo>
                    <a:pt x="310" y="543"/>
                  </a:lnTo>
                  <a:lnTo>
                    <a:pt x="258" y="523"/>
                  </a:lnTo>
                  <a:lnTo>
                    <a:pt x="211" y="503"/>
                  </a:lnTo>
                  <a:lnTo>
                    <a:pt x="167" y="482"/>
                  </a:lnTo>
                  <a:lnTo>
                    <a:pt x="129" y="459"/>
                  </a:lnTo>
                  <a:lnTo>
                    <a:pt x="95" y="434"/>
                  </a:lnTo>
                  <a:lnTo>
                    <a:pt x="67" y="405"/>
                  </a:lnTo>
                  <a:lnTo>
                    <a:pt x="44" y="373"/>
                  </a:lnTo>
                  <a:lnTo>
                    <a:pt x="27" y="339"/>
                  </a:lnTo>
                  <a:lnTo>
                    <a:pt x="17" y="301"/>
                  </a:lnTo>
                  <a:lnTo>
                    <a:pt x="13" y="259"/>
                  </a:lnTo>
                  <a:lnTo>
                    <a:pt x="17" y="215"/>
                  </a:lnTo>
                  <a:lnTo>
                    <a:pt x="29" y="175"/>
                  </a:lnTo>
                  <a:lnTo>
                    <a:pt x="45" y="138"/>
                  </a:lnTo>
                  <a:lnTo>
                    <a:pt x="70" y="104"/>
                  </a:lnTo>
                  <a:lnTo>
                    <a:pt x="100" y="74"/>
                  </a:lnTo>
                  <a:lnTo>
                    <a:pt x="136" y="49"/>
                  </a:lnTo>
                  <a:lnTo>
                    <a:pt x="177" y="27"/>
                  </a:lnTo>
                  <a:lnTo>
                    <a:pt x="224" y="12"/>
                  </a:lnTo>
                  <a:lnTo>
                    <a:pt x="276" y="3"/>
                  </a:lnTo>
                  <a:lnTo>
                    <a:pt x="33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4" name="Freeform 12"/>
            <p:cNvSpPr>
              <a:spLocks/>
            </p:cNvSpPr>
            <p:nvPr/>
          </p:nvSpPr>
          <p:spPr bwMode="black">
            <a:xfrm>
              <a:off x="3829075" y="3664501"/>
              <a:ext cx="609600" cy="731838"/>
            </a:xfrm>
            <a:custGeom>
              <a:avLst/>
              <a:gdLst>
                <a:gd name="T0" fmla="*/ 563 w 768"/>
                <a:gd name="T1" fmla="*/ 2 h 921"/>
                <a:gd name="T2" fmla="*/ 669 w 768"/>
                <a:gd name="T3" fmla="*/ 18 h 921"/>
                <a:gd name="T4" fmla="*/ 739 w 768"/>
                <a:gd name="T5" fmla="*/ 42 h 921"/>
                <a:gd name="T6" fmla="*/ 672 w 768"/>
                <a:gd name="T7" fmla="*/ 163 h 921"/>
                <a:gd name="T8" fmla="*/ 597 w 768"/>
                <a:gd name="T9" fmla="*/ 143 h 921"/>
                <a:gd name="T10" fmla="*/ 498 w 768"/>
                <a:gd name="T11" fmla="*/ 136 h 921"/>
                <a:gd name="T12" fmla="*/ 399 w 768"/>
                <a:gd name="T13" fmla="*/ 148 h 921"/>
                <a:gd name="T14" fmla="*/ 316 w 768"/>
                <a:gd name="T15" fmla="*/ 181 h 921"/>
                <a:gd name="T16" fmla="*/ 249 w 768"/>
                <a:gd name="T17" fmla="*/ 235 h 921"/>
                <a:gd name="T18" fmla="*/ 200 w 768"/>
                <a:gd name="T19" fmla="*/ 311 h 921"/>
                <a:gd name="T20" fmla="*/ 175 w 768"/>
                <a:gd name="T21" fmla="*/ 405 h 921"/>
                <a:gd name="T22" fmla="*/ 175 w 768"/>
                <a:gd name="T23" fmla="*/ 519 h 921"/>
                <a:gd name="T24" fmla="*/ 204 w 768"/>
                <a:gd name="T25" fmla="*/ 622 h 921"/>
                <a:gd name="T26" fmla="*/ 259 w 768"/>
                <a:gd name="T27" fmla="*/ 701 h 921"/>
                <a:gd name="T28" fmla="*/ 334 w 768"/>
                <a:gd name="T29" fmla="*/ 756 h 921"/>
                <a:gd name="T30" fmla="*/ 430 w 768"/>
                <a:gd name="T31" fmla="*/ 783 h 921"/>
                <a:gd name="T32" fmla="*/ 527 w 768"/>
                <a:gd name="T33" fmla="*/ 787 h 921"/>
                <a:gd name="T34" fmla="*/ 589 w 768"/>
                <a:gd name="T35" fmla="*/ 777 h 921"/>
                <a:gd name="T36" fmla="*/ 609 w 768"/>
                <a:gd name="T37" fmla="*/ 417 h 921"/>
                <a:gd name="T38" fmla="*/ 768 w 768"/>
                <a:gd name="T39" fmla="*/ 871 h 921"/>
                <a:gd name="T40" fmla="*/ 694 w 768"/>
                <a:gd name="T41" fmla="*/ 893 h 921"/>
                <a:gd name="T42" fmla="*/ 594 w 768"/>
                <a:gd name="T43" fmla="*/ 913 h 921"/>
                <a:gd name="T44" fmla="*/ 478 w 768"/>
                <a:gd name="T45" fmla="*/ 921 h 921"/>
                <a:gd name="T46" fmla="*/ 339 w 768"/>
                <a:gd name="T47" fmla="*/ 908 h 921"/>
                <a:gd name="T48" fmla="*/ 220 w 768"/>
                <a:gd name="T49" fmla="*/ 869 h 921"/>
                <a:gd name="T50" fmla="*/ 125 w 768"/>
                <a:gd name="T51" fmla="*/ 802 h 921"/>
                <a:gd name="T52" fmla="*/ 58 w 768"/>
                <a:gd name="T53" fmla="*/ 711 h 921"/>
                <a:gd name="T54" fmla="*/ 15 w 768"/>
                <a:gd name="T55" fmla="*/ 598 h 921"/>
                <a:gd name="T56" fmla="*/ 0 w 768"/>
                <a:gd name="T57" fmla="*/ 469 h 921"/>
                <a:gd name="T58" fmla="*/ 16 w 768"/>
                <a:gd name="T59" fmla="*/ 334 h 921"/>
                <a:gd name="T60" fmla="*/ 65 w 768"/>
                <a:gd name="T61" fmla="*/ 220 h 921"/>
                <a:gd name="T62" fmla="*/ 138 w 768"/>
                <a:gd name="T63" fmla="*/ 126 h 921"/>
                <a:gd name="T64" fmla="*/ 239 w 768"/>
                <a:gd name="T65" fmla="*/ 57 h 921"/>
                <a:gd name="T66" fmla="*/ 359 w 768"/>
                <a:gd name="T67" fmla="*/ 15 h 921"/>
                <a:gd name="T68" fmla="*/ 500 w 768"/>
                <a:gd name="T69"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8" h="921">
                  <a:moveTo>
                    <a:pt x="500" y="0"/>
                  </a:moveTo>
                  <a:lnTo>
                    <a:pt x="563" y="2"/>
                  </a:lnTo>
                  <a:lnTo>
                    <a:pt x="620" y="8"/>
                  </a:lnTo>
                  <a:lnTo>
                    <a:pt x="669" y="18"/>
                  </a:lnTo>
                  <a:lnTo>
                    <a:pt x="709" y="30"/>
                  </a:lnTo>
                  <a:lnTo>
                    <a:pt x="739" y="42"/>
                  </a:lnTo>
                  <a:lnTo>
                    <a:pt x="702" y="175"/>
                  </a:lnTo>
                  <a:lnTo>
                    <a:pt x="672" y="163"/>
                  </a:lnTo>
                  <a:lnTo>
                    <a:pt x="637" y="151"/>
                  </a:lnTo>
                  <a:lnTo>
                    <a:pt x="597" y="143"/>
                  </a:lnTo>
                  <a:lnTo>
                    <a:pt x="552" y="138"/>
                  </a:lnTo>
                  <a:lnTo>
                    <a:pt x="498" y="136"/>
                  </a:lnTo>
                  <a:lnTo>
                    <a:pt x="448" y="139"/>
                  </a:lnTo>
                  <a:lnTo>
                    <a:pt x="399" y="148"/>
                  </a:lnTo>
                  <a:lnTo>
                    <a:pt x="356" y="161"/>
                  </a:lnTo>
                  <a:lnTo>
                    <a:pt x="316" y="181"/>
                  </a:lnTo>
                  <a:lnTo>
                    <a:pt x="279" y="205"/>
                  </a:lnTo>
                  <a:lnTo>
                    <a:pt x="249" y="235"/>
                  </a:lnTo>
                  <a:lnTo>
                    <a:pt x="222" y="271"/>
                  </a:lnTo>
                  <a:lnTo>
                    <a:pt x="200" y="311"/>
                  </a:lnTo>
                  <a:lnTo>
                    <a:pt x="185" y="356"/>
                  </a:lnTo>
                  <a:lnTo>
                    <a:pt x="175" y="405"/>
                  </a:lnTo>
                  <a:lnTo>
                    <a:pt x="172" y="461"/>
                  </a:lnTo>
                  <a:lnTo>
                    <a:pt x="175" y="519"/>
                  </a:lnTo>
                  <a:lnTo>
                    <a:pt x="187" y="573"/>
                  </a:lnTo>
                  <a:lnTo>
                    <a:pt x="204" y="622"/>
                  </a:lnTo>
                  <a:lnTo>
                    <a:pt x="229" y="664"/>
                  </a:lnTo>
                  <a:lnTo>
                    <a:pt x="259" y="701"/>
                  </a:lnTo>
                  <a:lnTo>
                    <a:pt x="294" y="731"/>
                  </a:lnTo>
                  <a:lnTo>
                    <a:pt x="334" y="756"/>
                  </a:lnTo>
                  <a:lnTo>
                    <a:pt x="379" y="773"/>
                  </a:lnTo>
                  <a:lnTo>
                    <a:pt x="430" y="783"/>
                  </a:lnTo>
                  <a:lnTo>
                    <a:pt x="485" y="788"/>
                  </a:lnTo>
                  <a:lnTo>
                    <a:pt x="527" y="787"/>
                  </a:lnTo>
                  <a:lnTo>
                    <a:pt x="560" y="782"/>
                  </a:lnTo>
                  <a:lnTo>
                    <a:pt x="589" y="777"/>
                  </a:lnTo>
                  <a:lnTo>
                    <a:pt x="609" y="770"/>
                  </a:lnTo>
                  <a:lnTo>
                    <a:pt x="609" y="417"/>
                  </a:lnTo>
                  <a:lnTo>
                    <a:pt x="768" y="417"/>
                  </a:lnTo>
                  <a:lnTo>
                    <a:pt x="768" y="871"/>
                  </a:lnTo>
                  <a:lnTo>
                    <a:pt x="734" y="882"/>
                  </a:lnTo>
                  <a:lnTo>
                    <a:pt x="694" y="893"/>
                  </a:lnTo>
                  <a:lnTo>
                    <a:pt x="645" y="904"/>
                  </a:lnTo>
                  <a:lnTo>
                    <a:pt x="594" y="913"/>
                  </a:lnTo>
                  <a:lnTo>
                    <a:pt x="537" y="919"/>
                  </a:lnTo>
                  <a:lnTo>
                    <a:pt x="478" y="921"/>
                  </a:lnTo>
                  <a:lnTo>
                    <a:pt x="406" y="918"/>
                  </a:lnTo>
                  <a:lnTo>
                    <a:pt x="339" y="908"/>
                  </a:lnTo>
                  <a:lnTo>
                    <a:pt x="277" y="893"/>
                  </a:lnTo>
                  <a:lnTo>
                    <a:pt x="220" y="869"/>
                  </a:lnTo>
                  <a:lnTo>
                    <a:pt x="170" y="839"/>
                  </a:lnTo>
                  <a:lnTo>
                    <a:pt x="125" y="802"/>
                  </a:lnTo>
                  <a:lnTo>
                    <a:pt x="88" y="760"/>
                  </a:lnTo>
                  <a:lnTo>
                    <a:pt x="58" y="711"/>
                  </a:lnTo>
                  <a:lnTo>
                    <a:pt x="33" y="657"/>
                  </a:lnTo>
                  <a:lnTo>
                    <a:pt x="15" y="598"/>
                  </a:lnTo>
                  <a:lnTo>
                    <a:pt x="3" y="536"/>
                  </a:lnTo>
                  <a:lnTo>
                    <a:pt x="0" y="469"/>
                  </a:lnTo>
                  <a:lnTo>
                    <a:pt x="5" y="400"/>
                  </a:lnTo>
                  <a:lnTo>
                    <a:pt x="16" y="334"/>
                  </a:lnTo>
                  <a:lnTo>
                    <a:pt x="36" y="274"/>
                  </a:lnTo>
                  <a:lnTo>
                    <a:pt x="65" y="220"/>
                  </a:lnTo>
                  <a:lnTo>
                    <a:pt x="98" y="170"/>
                  </a:lnTo>
                  <a:lnTo>
                    <a:pt x="138" y="126"/>
                  </a:lnTo>
                  <a:lnTo>
                    <a:pt x="185" y="89"/>
                  </a:lnTo>
                  <a:lnTo>
                    <a:pt x="239" y="57"/>
                  </a:lnTo>
                  <a:lnTo>
                    <a:pt x="297" y="32"/>
                  </a:lnTo>
                  <a:lnTo>
                    <a:pt x="359" y="15"/>
                  </a:lnTo>
                  <a:lnTo>
                    <a:pt x="428" y="3"/>
                  </a:lnTo>
                  <a:lnTo>
                    <a:pt x="5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5" name="Freeform 13"/>
            <p:cNvSpPr>
              <a:spLocks noEditPoints="1"/>
            </p:cNvSpPr>
            <p:nvPr/>
          </p:nvSpPr>
          <p:spPr bwMode="black">
            <a:xfrm>
              <a:off x="6956450" y="3689901"/>
              <a:ext cx="115888" cy="114300"/>
            </a:xfrm>
            <a:custGeom>
              <a:avLst/>
              <a:gdLst>
                <a:gd name="T0" fmla="*/ 59 w 146"/>
                <a:gd name="T1" fmla="*/ 65 h 144"/>
                <a:gd name="T2" fmla="*/ 80 w 146"/>
                <a:gd name="T3" fmla="*/ 65 h 144"/>
                <a:gd name="T4" fmla="*/ 89 w 146"/>
                <a:gd name="T5" fmla="*/ 64 h 144"/>
                <a:gd name="T6" fmla="*/ 92 w 146"/>
                <a:gd name="T7" fmla="*/ 57 h 144"/>
                <a:gd name="T8" fmla="*/ 92 w 146"/>
                <a:gd name="T9" fmla="*/ 49 h 144"/>
                <a:gd name="T10" fmla="*/ 87 w 146"/>
                <a:gd name="T11" fmla="*/ 44 h 144"/>
                <a:gd name="T12" fmla="*/ 80 w 146"/>
                <a:gd name="T13" fmla="*/ 40 h 144"/>
                <a:gd name="T14" fmla="*/ 59 w 146"/>
                <a:gd name="T15" fmla="*/ 40 h 144"/>
                <a:gd name="T16" fmla="*/ 77 w 146"/>
                <a:gd name="T17" fmla="*/ 30 h 144"/>
                <a:gd name="T18" fmla="*/ 104 w 146"/>
                <a:gd name="T19" fmla="*/ 40 h 144"/>
                <a:gd name="T20" fmla="*/ 105 w 146"/>
                <a:gd name="T21" fmla="*/ 60 h 144"/>
                <a:gd name="T22" fmla="*/ 100 w 146"/>
                <a:gd name="T23" fmla="*/ 70 h 144"/>
                <a:gd name="T24" fmla="*/ 90 w 146"/>
                <a:gd name="T25" fmla="*/ 75 h 144"/>
                <a:gd name="T26" fmla="*/ 109 w 146"/>
                <a:gd name="T27" fmla="*/ 114 h 144"/>
                <a:gd name="T28" fmla="*/ 70 w 146"/>
                <a:gd name="T29" fmla="*/ 77 h 144"/>
                <a:gd name="T30" fmla="*/ 59 w 146"/>
                <a:gd name="T31" fmla="*/ 114 h 144"/>
                <a:gd name="T32" fmla="*/ 45 w 146"/>
                <a:gd name="T33" fmla="*/ 30 h 144"/>
                <a:gd name="T34" fmla="*/ 50 w 146"/>
                <a:gd name="T35" fmla="*/ 15 h 144"/>
                <a:gd name="T36" fmla="*/ 18 w 146"/>
                <a:gd name="T37" fmla="*/ 49 h 144"/>
                <a:gd name="T38" fmla="*/ 18 w 146"/>
                <a:gd name="T39" fmla="*/ 97 h 144"/>
                <a:gd name="T40" fmla="*/ 50 w 146"/>
                <a:gd name="T41" fmla="*/ 129 h 144"/>
                <a:gd name="T42" fmla="*/ 95 w 146"/>
                <a:gd name="T43" fmla="*/ 129 h 144"/>
                <a:gd name="T44" fmla="*/ 127 w 146"/>
                <a:gd name="T45" fmla="*/ 97 h 144"/>
                <a:gd name="T46" fmla="*/ 127 w 146"/>
                <a:gd name="T47" fmla="*/ 49 h 144"/>
                <a:gd name="T48" fmla="*/ 95 w 146"/>
                <a:gd name="T49" fmla="*/ 15 h 144"/>
                <a:gd name="T50" fmla="*/ 74 w 146"/>
                <a:gd name="T51" fmla="*/ 0 h 144"/>
                <a:gd name="T52" fmla="*/ 116 w 146"/>
                <a:gd name="T53" fmla="*/ 13 h 144"/>
                <a:gd name="T54" fmla="*/ 141 w 146"/>
                <a:gd name="T55" fmla="*/ 49 h 144"/>
                <a:gd name="T56" fmla="*/ 141 w 146"/>
                <a:gd name="T57" fmla="*/ 96 h 144"/>
                <a:gd name="T58" fmla="*/ 116 w 146"/>
                <a:gd name="T59" fmla="*/ 131 h 144"/>
                <a:gd name="T60" fmla="*/ 74 w 146"/>
                <a:gd name="T61" fmla="*/ 144 h 144"/>
                <a:gd name="T62" fmla="*/ 30 w 146"/>
                <a:gd name="T63" fmla="*/ 131 h 144"/>
                <a:gd name="T64" fmla="*/ 5 w 146"/>
                <a:gd name="T65" fmla="*/ 96 h 144"/>
                <a:gd name="T66" fmla="*/ 5 w 146"/>
                <a:gd name="T67" fmla="*/ 49 h 144"/>
                <a:gd name="T68" fmla="*/ 30 w 146"/>
                <a:gd name="T69" fmla="*/ 13 h 144"/>
                <a:gd name="T70" fmla="*/ 74 w 146"/>
                <a:gd name="T7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144">
                  <a:moveTo>
                    <a:pt x="59" y="40"/>
                  </a:moveTo>
                  <a:lnTo>
                    <a:pt x="59" y="65"/>
                  </a:lnTo>
                  <a:lnTo>
                    <a:pt x="75" y="65"/>
                  </a:lnTo>
                  <a:lnTo>
                    <a:pt x="80" y="65"/>
                  </a:lnTo>
                  <a:lnTo>
                    <a:pt x="85" y="65"/>
                  </a:lnTo>
                  <a:lnTo>
                    <a:pt x="89" y="64"/>
                  </a:lnTo>
                  <a:lnTo>
                    <a:pt x="90" y="62"/>
                  </a:lnTo>
                  <a:lnTo>
                    <a:pt x="92" y="57"/>
                  </a:lnTo>
                  <a:lnTo>
                    <a:pt x="92" y="54"/>
                  </a:lnTo>
                  <a:lnTo>
                    <a:pt x="92" y="49"/>
                  </a:lnTo>
                  <a:lnTo>
                    <a:pt x="90" y="45"/>
                  </a:lnTo>
                  <a:lnTo>
                    <a:pt x="87" y="44"/>
                  </a:lnTo>
                  <a:lnTo>
                    <a:pt x="84" y="42"/>
                  </a:lnTo>
                  <a:lnTo>
                    <a:pt x="80" y="40"/>
                  </a:lnTo>
                  <a:lnTo>
                    <a:pt x="75" y="40"/>
                  </a:lnTo>
                  <a:lnTo>
                    <a:pt x="59" y="40"/>
                  </a:lnTo>
                  <a:close/>
                  <a:moveTo>
                    <a:pt x="45" y="30"/>
                  </a:moveTo>
                  <a:lnTo>
                    <a:pt x="77" y="30"/>
                  </a:lnTo>
                  <a:lnTo>
                    <a:pt x="94" y="32"/>
                  </a:lnTo>
                  <a:lnTo>
                    <a:pt x="104" y="40"/>
                  </a:lnTo>
                  <a:lnTo>
                    <a:pt x="107" y="54"/>
                  </a:lnTo>
                  <a:lnTo>
                    <a:pt x="105" y="60"/>
                  </a:lnTo>
                  <a:lnTo>
                    <a:pt x="104" y="65"/>
                  </a:lnTo>
                  <a:lnTo>
                    <a:pt x="100" y="70"/>
                  </a:lnTo>
                  <a:lnTo>
                    <a:pt x="97" y="74"/>
                  </a:lnTo>
                  <a:lnTo>
                    <a:pt x="90" y="75"/>
                  </a:lnTo>
                  <a:lnTo>
                    <a:pt x="85" y="77"/>
                  </a:lnTo>
                  <a:lnTo>
                    <a:pt x="109" y="114"/>
                  </a:lnTo>
                  <a:lnTo>
                    <a:pt x="94" y="114"/>
                  </a:lnTo>
                  <a:lnTo>
                    <a:pt x="70" y="77"/>
                  </a:lnTo>
                  <a:lnTo>
                    <a:pt x="59" y="77"/>
                  </a:lnTo>
                  <a:lnTo>
                    <a:pt x="59" y="114"/>
                  </a:lnTo>
                  <a:lnTo>
                    <a:pt x="45" y="114"/>
                  </a:lnTo>
                  <a:lnTo>
                    <a:pt x="45" y="30"/>
                  </a:lnTo>
                  <a:close/>
                  <a:moveTo>
                    <a:pt x="74" y="10"/>
                  </a:moveTo>
                  <a:lnTo>
                    <a:pt x="50" y="15"/>
                  </a:lnTo>
                  <a:lnTo>
                    <a:pt x="32" y="28"/>
                  </a:lnTo>
                  <a:lnTo>
                    <a:pt x="18" y="49"/>
                  </a:lnTo>
                  <a:lnTo>
                    <a:pt x="15" y="72"/>
                  </a:lnTo>
                  <a:lnTo>
                    <a:pt x="18" y="97"/>
                  </a:lnTo>
                  <a:lnTo>
                    <a:pt x="32" y="116"/>
                  </a:lnTo>
                  <a:lnTo>
                    <a:pt x="50" y="129"/>
                  </a:lnTo>
                  <a:lnTo>
                    <a:pt x="74" y="134"/>
                  </a:lnTo>
                  <a:lnTo>
                    <a:pt x="95" y="129"/>
                  </a:lnTo>
                  <a:lnTo>
                    <a:pt x="114" y="116"/>
                  </a:lnTo>
                  <a:lnTo>
                    <a:pt x="127" y="97"/>
                  </a:lnTo>
                  <a:lnTo>
                    <a:pt x="131" y="72"/>
                  </a:lnTo>
                  <a:lnTo>
                    <a:pt x="127" y="49"/>
                  </a:lnTo>
                  <a:lnTo>
                    <a:pt x="114" y="28"/>
                  </a:lnTo>
                  <a:lnTo>
                    <a:pt x="95" y="15"/>
                  </a:lnTo>
                  <a:lnTo>
                    <a:pt x="74" y="10"/>
                  </a:lnTo>
                  <a:close/>
                  <a:moveTo>
                    <a:pt x="74" y="0"/>
                  </a:moveTo>
                  <a:lnTo>
                    <a:pt x="95" y="3"/>
                  </a:lnTo>
                  <a:lnTo>
                    <a:pt x="116" y="13"/>
                  </a:lnTo>
                  <a:lnTo>
                    <a:pt x="131" y="30"/>
                  </a:lnTo>
                  <a:lnTo>
                    <a:pt x="141" y="49"/>
                  </a:lnTo>
                  <a:lnTo>
                    <a:pt x="146" y="72"/>
                  </a:lnTo>
                  <a:lnTo>
                    <a:pt x="141" y="96"/>
                  </a:lnTo>
                  <a:lnTo>
                    <a:pt x="131" y="114"/>
                  </a:lnTo>
                  <a:lnTo>
                    <a:pt x="116" y="131"/>
                  </a:lnTo>
                  <a:lnTo>
                    <a:pt x="95" y="141"/>
                  </a:lnTo>
                  <a:lnTo>
                    <a:pt x="74" y="144"/>
                  </a:lnTo>
                  <a:lnTo>
                    <a:pt x="50" y="141"/>
                  </a:lnTo>
                  <a:lnTo>
                    <a:pt x="30" y="131"/>
                  </a:lnTo>
                  <a:lnTo>
                    <a:pt x="15" y="114"/>
                  </a:lnTo>
                  <a:lnTo>
                    <a:pt x="5" y="96"/>
                  </a:lnTo>
                  <a:lnTo>
                    <a:pt x="0" y="72"/>
                  </a:lnTo>
                  <a:lnTo>
                    <a:pt x="5" y="49"/>
                  </a:lnTo>
                  <a:lnTo>
                    <a:pt x="15" y="30"/>
                  </a:lnTo>
                  <a:lnTo>
                    <a:pt x="30" y="13"/>
                  </a:lnTo>
                  <a:lnTo>
                    <a:pt x="50" y="3"/>
                  </a:lnTo>
                  <a:lnTo>
                    <a:pt x="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grpSp>
      <p:grpSp>
        <p:nvGrpSpPr>
          <p:cNvPr id="16" name="Skupina 15"/>
          <p:cNvGrpSpPr/>
          <p:nvPr/>
        </p:nvGrpSpPr>
        <p:grpSpPr bwMode="gray">
          <a:xfrm>
            <a:off x="-2496" y="0"/>
            <a:ext cx="4572000" cy="151200"/>
            <a:chOff x="3203928" y="2491755"/>
            <a:chExt cx="2160000" cy="72000"/>
          </a:xfrm>
        </p:grpSpPr>
        <p:sp>
          <p:nvSpPr>
            <p:cNvPr id="17" name="Obdélník 16"/>
            <p:cNvSpPr/>
            <p:nvPr/>
          </p:nvSpPr>
          <p:spPr bwMode="gray">
            <a:xfrm>
              <a:off x="3923928" y="2491755"/>
              <a:ext cx="720000" cy="72000"/>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8" name="Obdélník 17"/>
            <p:cNvSpPr/>
            <p:nvPr/>
          </p:nvSpPr>
          <p:spPr bwMode="gray">
            <a:xfrm>
              <a:off x="3203928" y="2491755"/>
              <a:ext cx="720000" cy="7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9" name="Obdélník 18"/>
            <p:cNvSpPr/>
            <p:nvPr/>
          </p:nvSpPr>
          <p:spPr bwMode="gray">
            <a:xfrm>
              <a:off x="4643928" y="2491755"/>
              <a:ext cx="720000" cy="72000"/>
            </a:xfrm>
            <a:prstGeom prst="rect">
              <a:avLst/>
            </a:prstGeom>
            <a:solidFill>
              <a:srgbClr val="C8D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grpSp>
      <p:sp>
        <p:nvSpPr>
          <p:cNvPr id="5" name="Zástupný symbol pro text 4"/>
          <p:cNvSpPr>
            <a:spLocks noGrp="1"/>
          </p:cNvSpPr>
          <p:nvPr>
            <p:ph type="body" sz="quarter" idx="10" hasCustomPrompt="1"/>
          </p:nvPr>
        </p:nvSpPr>
        <p:spPr>
          <a:xfrm>
            <a:off x="611188" y="4102346"/>
            <a:ext cx="7921625" cy="1342877"/>
          </a:xfrm>
        </p:spPr>
        <p:txBody>
          <a:bodyPr anchor="b">
            <a:normAutofit/>
          </a:bodyPr>
          <a:lstStyle>
            <a:lvl1pPr marL="0" indent="0">
              <a:buNone/>
              <a:defRPr sz="1400">
                <a:solidFill>
                  <a:schemeClr val="tx2"/>
                </a:solidFill>
                <a:latin typeface="+mj-lt"/>
              </a:defRPr>
            </a:lvl1pPr>
          </a:lstStyle>
          <a:p>
            <a:pPr lvl="0"/>
            <a:r>
              <a:rPr lang="cs-CZ" dirty="0"/>
              <a:t>Lektor a jeho kontaktní informace</a:t>
            </a:r>
          </a:p>
        </p:txBody>
      </p:sp>
    </p:spTree>
    <p:extLst>
      <p:ext uri="{BB962C8B-B14F-4D97-AF65-F5344CB8AC3E}">
        <p14:creationId xmlns:p14="http://schemas.microsoft.com/office/powerpoint/2010/main" val="3118078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2řádkový + obsah">
    <p:spTree>
      <p:nvGrpSpPr>
        <p:cNvPr id="1" name=""/>
        <p:cNvGrpSpPr/>
        <p:nvPr/>
      </p:nvGrpSpPr>
      <p:grpSpPr>
        <a:xfrm>
          <a:off x="0" y="0"/>
          <a:ext cx="0" cy="0"/>
          <a:chOff x="0" y="0"/>
          <a:chExt cx="0" cy="0"/>
        </a:xfrm>
      </p:grpSpPr>
      <p:sp>
        <p:nvSpPr>
          <p:cNvPr id="2" name="Nadpis 1"/>
          <p:cNvSpPr>
            <a:spLocks noGrp="1"/>
          </p:cNvSpPr>
          <p:nvPr>
            <p:ph type="title" hasCustomPrompt="1"/>
          </p:nvPr>
        </p:nvSpPr>
        <p:spPr/>
        <p:txBody>
          <a:bodyPr>
            <a:normAutofit/>
          </a:bodyPr>
          <a:lstStyle>
            <a:lvl1pPr>
              <a:defRPr sz="3200" spc="-60" baseline="0"/>
            </a:lvl1pPr>
          </a:lstStyle>
          <a:p>
            <a:r>
              <a:rPr lang="cs-CZ" dirty="0"/>
              <a:t>Nadpis snímku</a:t>
            </a:r>
          </a:p>
        </p:txBody>
      </p:sp>
      <p:sp>
        <p:nvSpPr>
          <p:cNvPr id="3" name="Zástupný symbol pro obsah 2"/>
          <p:cNvSpPr>
            <a:spLocks noGrp="1"/>
          </p:cNvSpPr>
          <p:nvPr>
            <p:ph idx="1" hasCustomPrompt="1"/>
          </p:nvPr>
        </p:nvSpPr>
        <p:spPr>
          <a:xfrm>
            <a:off x="457200" y="1772816"/>
            <a:ext cx="8229600" cy="4464496"/>
          </a:xfrm>
        </p:spPr>
        <p:txBody>
          <a:bodyPr>
            <a:normAutofit/>
          </a:bodyPr>
          <a:lstStyle>
            <a:lvl1pPr>
              <a:defRPr sz="2600"/>
            </a:lvl1pPr>
            <a:lvl2pPr>
              <a:defRPr sz="2200"/>
            </a:lvl2pPr>
            <a:lvl3pPr>
              <a:defRPr sz="2000"/>
            </a:lvl3pPr>
            <a:lvl4pPr>
              <a:defRPr sz="1800"/>
            </a:lvl4pPr>
            <a:lvl5pPr>
              <a:defRPr sz="1800" i="1"/>
            </a:lvl5pPr>
          </a:lstStyle>
          <a:p>
            <a:pPr lvl="0"/>
            <a:r>
              <a:rPr lang="cs-CZ" dirty="0"/>
              <a:t>První úroveň</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8" name="Zástupný symbol pro datum 3"/>
          <p:cNvSpPr>
            <a:spLocks noGrp="1"/>
          </p:cNvSpPr>
          <p:nvPr>
            <p:ph type="dt" sz="half" idx="2"/>
          </p:nvPr>
        </p:nvSpPr>
        <p:spPr>
          <a:xfrm>
            <a:off x="1043608" y="6448251"/>
            <a:ext cx="936104"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19" name="Zástupný symbol pro zápatí 4"/>
          <p:cNvSpPr>
            <a:spLocks noGrp="1"/>
          </p:cNvSpPr>
          <p:nvPr>
            <p:ph type="ftr" sz="quarter" idx="3"/>
          </p:nvPr>
        </p:nvSpPr>
        <p:spPr>
          <a:xfrm>
            <a:off x="2123728" y="6448251"/>
            <a:ext cx="5040560"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20" name="Zástupný symbol pro číslo snímku 5"/>
          <p:cNvSpPr>
            <a:spLocks noGrp="1"/>
          </p:cNvSpPr>
          <p:nvPr>
            <p:ph type="sldNum" sz="quarter" idx="4"/>
          </p:nvPr>
        </p:nvSpPr>
        <p:spPr>
          <a:xfrm>
            <a:off x="467544" y="6448251"/>
            <a:ext cx="432048" cy="365125"/>
          </a:xfrm>
          <a:prstGeom prst="rect">
            <a:avLst/>
          </a:prstGeom>
        </p:spPr>
        <p:txBody>
          <a:bodyPr lIns="0" tIns="0" rIns="0" bIns="0"/>
          <a:lstStyle>
            <a:lvl1pPr algn="l">
              <a:defRPr sz="1600" b="1">
                <a:solidFill>
                  <a:schemeClr val="tx2"/>
                </a:solidFill>
              </a:defRPr>
            </a:lvl1pPr>
          </a:lstStyle>
          <a:p>
            <a:fld id="{31EF1479-3489-4788-BFA4-763D4DDB960F}" type="slidenum">
              <a:rPr lang="cs-CZ" smtClean="0"/>
              <a:pPr/>
              <a:t>‹#›</a:t>
            </a:fld>
            <a:endParaRPr lang="cs-CZ" dirty="0"/>
          </a:p>
        </p:txBody>
      </p:sp>
    </p:spTree>
    <p:extLst>
      <p:ext uri="{BB962C8B-B14F-4D97-AF65-F5344CB8AC3E}">
        <p14:creationId xmlns:p14="http://schemas.microsoft.com/office/powerpoint/2010/main" val="1176740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dpis 1řádkový + obsah">
    <p:spTree>
      <p:nvGrpSpPr>
        <p:cNvPr id="1" name=""/>
        <p:cNvGrpSpPr/>
        <p:nvPr/>
      </p:nvGrpSpPr>
      <p:grpSpPr>
        <a:xfrm>
          <a:off x="0" y="0"/>
          <a:ext cx="0" cy="0"/>
          <a:chOff x="0" y="0"/>
          <a:chExt cx="0" cy="0"/>
        </a:xfrm>
      </p:grpSpPr>
      <p:sp>
        <p:nvSpPr>
          <p:cNvPr id="2" name="Nadpis 1"/>
          <p:cNvSpPr>
            <a:spLocks noGrp="1"/>
          </p:cNvSpPr>
          <p:nvPr>
            <p:ph type="title" hasCustomPrompt="1"/>
          </p:nvPr>
        </p:nvSpPr>
        <p:spPr>
          <a:xfrm>
            <a:off x="457200" y="413792"/>
            <a:ext cx="8229600" cy="782960"/>
          </a:xfrm>
        </p:spPr>
        <p:txBody>
          <a:bodyPr>
            <a:normAutofit/>
          </a:bodyPr>
          <a:lstStyle>
            <a:lvl1pPr>
              <a:defRPr sz="3200" spc="-60" baseline="0"/>
            </a:lvl1pPr>
          </a:lstStyle>
          <a:p>
            <a:r>
              <a:rPr lang="cs-CZ" dirty="0"/>
              <a:t>Nadpis snímku</a:t>
            </a:r>
          </a:p>
        </p:txBody>
      </p:sp>
      <p:sp>
        <p:nvSpPr>
          <p:cNvPr id="3" name="Zástupný symbol pro obsah 2"/>
          <p:cNvSpPr>
            <a:spLocks noGrp="1"/>
          </p:cNvSpPr>
          <p:nvPr>
            <p:ph idx="1" hasCustomPrompt="1"/>
          </p:nvPr>
        </p:nvSpPr>
        <p:spPr>
          <a:xfrm>
            <a:off x="457200" y="1412776"/>
            <a:ext cx="8229600" cy="4824536"/>
          </a:xfrm>
        </p:spPr>
        <p:txBody>
          <a:bodyPr>
            <a:normAutofit/>
          </a:bodyPr>
          <a:lstStyle>
            <a:lvl1pPr>
              <a:defRPr sz="2600"/>
            </a:lvl1pPr>
            <a:lvl2pPr>
              <a:defRPr sz="2200"/>
            </a:lvl2pPr>
            <a:lvl3pPr>
              <a:defRPr sz="2000"/>
            </a:lvl3pPr>
            <a:lvl4pPr>
              <a:defRPr sz="1800"/>
            </a:lvl4pPr>
            <a:lvl5pPr>
              <a:defRPr sz="1800" i="1"/>
            </a:lvl5pPr>
          </a:lstStyle>
          <a:p>
            <a:pPr lvl="0"/>
            <a:r>
              <a:rPr lang="cs-CZ" dirty="0"/>
              <a:t>První úroveň</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8" name="Zástupný symbol pro datum 3"/>
          <p:cNvSpPr>
            <a:spLocks noGrp="1"/>
          </p:cNvSpPr>
          <p:nvPr>
            <p:ph type="dt" sz="half" idx="2"/>
          </p:nvPr>
        </p:nvSpPr>
        <p:spPr>
          <a:xfrm>
            <a:off x="1043608" y="6448251"/>
            <a:ext cx="936104"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19" name="Zástupný symbol pro zápatí 4"/>
          <p:cNvSpPr>
            <a:spLocks noGrp="1"/>
          </p:cNvSpPr>
          <p:nvPr>
            <p:ph type="ftr" sz="quarter" idx="3"/>
          </p:nvPr>
        </p:nvSpPr>
        <p:spPr>
          <a:xfrm>
            <a:off x="2123728" y="6448251"/>
            <a:ext cx="5040560"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20" name="Zástupný symbol pro číslo snímku 5"/>
          <p:cNvSpPr>
            <a:spLocks noGrp="1"/>
          </p:cNvSpPr>
          <p:nvPr>
            <p:ph type="sldNum" sz="quarter" idx="4"/>
          </p:nvPr>
        </p:nvSpPr>
        <p:spPr>
          <a:xfrm>
            <a:off x="467544" y="6448251"/>
            <a:ext cx="432048" cy="365125"/>
          </a:xfrm>
          <a:prstGeom prst="rect">
            <a:avLst/>
          </a:prstGeom>
        </p:spPr>
        <p:txBody>
          <a:bodyPr lIns="0" tIns="0" rIns="0" bIns="0"/>
          <a:lstStyle>
            <a:lvl1pPr algn="l">
              <a:defRPr sz="1600" b="1">
                <a:solidFill>
                  <a:schemeClr val="tx2"/>
                </a:solidFill>
              </a:defRPr>
            </a:lvl1pPr>
          </a:lstStyle>
          <a:p>
            <a:fld id="{31EF1479-3489-4788-BFA4-763D4DDB960F}" type="slidenum">
              <a:rPr lang="cs-CZ" smtClean="0"/>
              <a:pPr/>
              <a:t>‹#›</a:t>
            </a:fld>
            <a:endParaRPr lang="cs-CZ" dirty="0"/>
          </a:p>
        </p:txBody>
      </p:sp>
    </p:spTree>
    <p:extLst>
      <p:ext uri="{BB962C8B-B14F-4D97-AF65-F5344CB8AC3E}">
        <p14:creationId xmlns:p14="http://schemas.microsoft.com/office/powerpoint/2010/main" val="2168245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Nadpis 1řádkový + obsah">
    <p:spTree>
      <p:nvGrpSpPr>
        <p:cNvPr id="1" name=""/>
        <p:cNvGrpSpPr/>
        <p:nvPr/>
      </p:nvGrpSpPr>
      <p:grpSpPr>
        <a:xfrm>
          <a:off x="0" y="0"/>
          <a:ext cx="0" cy="0"/>
          <a:chOff x="0" y="0"/>
          <a:chExt cx="0" cy="0"/>
        </a:xfrm>
      </p:grpSpPr>
      <p:sp>
        <p:nvSpPr>
          <p:cNvPr id="2" name="Nadpis 1"/>
          <p:cNvSpPr>
            <a:spLocks noGrp="1"/>
          </p:cNvSpPr>
          <p:nvPr>
            <p:ph type="title" hasCustomPrompt="1"/>
          </p:nvPr>
        </p:nvSpPr>
        <p:spPr>
          <a:xfrm>
            <a:off x="457200" y="188640"/>
            <a:ext cx="8229600" cy="782960"/>
          </a:xfrm>
        </p:spPr>
        <p:txBody>
          <a:bodyPr>
            <a:normAutofit/>
          </a:bodyPr>
          <a:lstStyle>
            <a:lvl1pPr>
              <a:defRPr sz="2200" spc="-60" baseline="0"/>
            </a:lvl1pPr>
          </a:lstStyle>
          <a:p>
            <a:r>
              <a:rPr lang="cs-CZ" dirty="0"/>
              <a:t>Nadpis snímku</a:t>
            </a:r>
            <a:br>
              <a:rPr lang="cs-CZ" dirty="0"/>
            </a:br>
            <a:r>
              <a:rPr lang="cs-CZ" dirty="0"/>
              <a:t>na dva řádky</a:t>
            </a:r>
          </a:p>
        </p:txBody>
      </p:sp>
      <p:sp>
        <p:nvSpPr>
          <p:cNvPr id="3" name="Zástupný symbol pro obsah 2"/>
          <p:cNvSpPr>
            <a:spLocks noGrp="1"/>
          </p:cNvSpPr>
          <p:nvPr>
            <p:ph idx="1" hasCustomPrompt="1"/>
          </p:nvPr>
        </p:nvSpPr>
        <p:spPr>
          <a:xfrm>
            <a:off x="457200" y="1196752"/>
            <a:ext cx="8229600" cy="5040560"/>
          </a:xfrm>
        </p:spPr>
        <p:txBody>
          <a:bodyPr>
            <a:normAutofit/>
          </a:bodyPr>
          <a:lstStyle>
            <a:lvl1pPr>
              <a:defRPr sz="2000"/>
            </a:lvl1pPr>
            <a:lvl2pPr>
              <a:defRPr sz="1800"/>
            </a:lvl2pPr>
            <a:lvl3pPr>
              <a:defRPr sz="1600"/>
            </a:lvl3pPr>
            <a:lvl4pPr>
              <a:defRPr sz="1400"/>
            </a:lvl4pPr>
            <a:lvl5pPr>
              <a:defRPr sz="1400" i="1"/>
            </a:lvl5pPr>
          </a:lstStyle>
          <a:p>
            <a:pPr lvl="0"/>
            <a:r>
              <a:rPr lang="cs-CZ" dirty="0"/>
              <a:t>První úroveň</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8" name="Zástupný symbol pro datum 3"/>
          <p:cNvSpPr>
            <a:spLocks noGrp="1"/>
          </p:cNvSpPr>
          <p:nvPr>
            <p:ph type="dt" sz="half" idx="2"/>
          </p:nvPr>
        </p:nvSpPr>
        <p:spPr>
          <a:xfrm>
            <a:off x="1043608" y="6448251"/>
            <a:ext cx="936104"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19" name="Zástupný symbol pro zápatí 4"/>
          <p:cNvSpPr>
            <a:spLocks noGrp="1"/>
          </p:cNvSpPr>
          <p:nvPr>
            <p:ph type="ftr" sz="quarter" idx="3"/>
          </p:nvPr>
        </p:nvSpPr>
        <p:spPr>
          <a:xfrm>
            <a:off x="2123728" y="6448251"/>
            <a:ext cx="5040560"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20" name="Zástupný symbol pro číslo snímku 5"/>
          <p:cNvSpPr>
            <a:spLocks noGrp="1"/>
          </p:cNvSpPr>
          <p:nvPr>
            <p:ph type="sldNum" sz="quarter" idx="4"/>
          </p:nvPr>
        </p:nvSpPr>
        <p:spPr>
          <a:xfrm>
            <a:off x="467544" y="6448251"/>
            <a:ext cx="432048" cy="365125"/>
          </a:xfrm>
          <a:prstGeom prst="rect">
            <a:avLst/>
          </a:prstGeom>
        </p:spPr>
        <p:txBody>
          <a:bodyPr lIns="0" tIns="0" rIns="0" bIns="0"/>
          <a:lstStyle>
            <a:lvl1pPr algn="l">
              <a:defRPr sz="1600" b="1">
                <a:solidFill>
                  <a:schemeClr val="tx2"/>
                </a:solidFill>
              </a:defRPr>
            </a:lvl1pPr>
          </a:lstStyle>
          <a:p>
            <a:fld id="{31EF1479-3489-4788-BFA4-763D4DDB960F}" type="slidenum">
              <a:rPr lang="cs-CZ" smtClean="0"/>
              <a:pPr/>
              <a:t>‹#›</a:t>
            </a:fld>
            <a:endParaRPr lang="cs-CZ" dirty="0"/>
          </a:p>
        </p:txBody>
      </p:sp>
    </p:spTree>
    <p:extLst>
      <p:ext uri="{BB962C8B-B14F-4D97-AF65-F5344CB8AC3E}">
        <p14:creationId xmlns:p14="http://schemas.microsoft.com/office/powerpoint/2010/main" val="161047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Nadpis 1řádkový + obsah">
    <p:spTree>
      <p:nvGrpSpPr>
        <p:cNvPr id="1" name=""/>
        <p:cNvGrpSpPr/>
        <p:nvPr/>
      </p:nvGrpSpPr>
      <p:grpSpPr>
        <a:xfrm>
          <a:off x="0" y="0"/>
          <a:ext cx="0" cy="0"/>
          <a:chOff x="0" y="0"/>
          <a:chExt cx="0" cy="0"/>
        </a:xfrm>
      </p:grpSpPr>
      <p:sp>
        <p:nvSpPr>
          <p:cNvPr id="2" name="Nadpis 1"/>
          <p:cNvSpPr>
            <a:spLocks noGrp="1"/>
          </p:cNvSpPr>
          <p:nvPr>
            <p:ph type="title" hasCustomPrompt="1"/>
          </p:nvPr>
        </p:nvSpPr>
        <p:spPr>
          <a:xfrm>
            <a:off x="107504" y="116632"/>
            <a:ext cx="8928992" cy="782960"/>
          </a:xfrm>
        </p:spPr>
        <p:txBody>
          <a:bodyPr>
            <a:normAutofit/>
          </a:bodyPr>
          <a:lstStyle>
            <a:lvl1pPr>
              <a:defRPr sz="2000" spc="-60" baseline="0"/>
            </a:lvl1pPr>
          </a:lstStyle>
          <a:p>
            <a:r>
              <a:rPr lang="cs-CZ" dirty="0"/>
              <a:t>Nadpis snímku pro umístění zdrojového kódu</a:t>
            </a:r>
            <a:br>
              <a:rPr lang="cs-CZ" dirty="0"/>
            </a:br>
            <a:r>
              <a:rPr lang="cs-CZ" dirty="0"/>
              <a:t>na dva řádky</a:t>
            </a:r>
          </a:p>
        </p:txBody>
      </p:sp>
      <p:sp>
        <p:nvSpPr>
          <p:cNvPr id="3" name="Zástupný symbol pro obsah 2"/>
          <p:cNvSpPr>
            <a:spLocks noGrp="1"/>
          </p:cNvSpPr>
          <p:nvPr>
            <p:ph idx="1" hasCustomPrompt="1"/>
          </p:nvPr>
        </p:nvSpPr>
        <p:spPr>
          <a:xfrm>
            <a:off x="107504" y="1052736"/>
            <a:ext cx="8928992" cy="5688632"/>
          </a:xfrm>
        </p:spPr>
        <p:txBody>
          <a:bodyPr>
            <a:normAutofit/>
          </a:bodyPr>
          <a:lstStyle>
            <a:lvl1pPr marL="0" indent="0">
              <a:buNone/>
              <a:defRPr sz="1800">
                <a:latin typeface="Courier New" panose="02070309020205020404" pitchFamily="49" charset="0"/>
                <a:cs typeface="Courier New" panose="02070309020205020404" pitchFamily="49" charset="0"/>
              </a:defRPr>
            </a:lvl1pPr>
            <a:lvl2pPr marL="457200" indent="0">
              <a:buNone/>
              <a:defRPr sz="1600">
                <a:latin typeface="Courier New" panose="02070309020205020404" pitchFamily="49" charset="0"/>
                <a:cs typeface="Courier New" panose="02070309020205020404" pitchFamily="49" charset="0"/>
              </a:defRPr>
            </a:lvl2pPr>
            <a:lvl3pPr marL="914400" indent="0">
              <a:buNone/>
              <a:defRPr sz="1400">
                <a:latin typeface="Courier New" panose="02070309020205020404" pitchFamily="49" charset="0"/>
                <a:cs typeface="Courier New" panose="02070309020205020404" pitchFamily="49" charset="0"/>
              </a:defRPr>
            </a:lvl3pPr>
            <a:lvl4pPr marL="1371600" indent="0">
              <a:buNone/>
              <a:defRPr sz="1200">
                <a:latin typeface="Courier New" panose="02070309020205020404" pitchFamily="49" charset="0"/>
                <a:cs typeface="Courier New" panose="02070309020205020404" pitchFamily="49" charset="0"/>
              </a:defRPr>
            </a:lvl4pPr>
            <a:lvl5pPr marL="1828800" indent="0">
              <a:buNone/>
              <a:defRPr sz="1200" i="1">
                <a:latin typeface="Courier New" panose="02070309020205020404" pitchFamily="49" charset="0"/>
                <a:cs typeface="Courier New" panose="02070309020205020404" pitchFamily="49" charset="0"/>
              </a:defRPr>
            </a:lvl5pPr>
          </a:lstStyle>
          <a:p>
            <a:pPr lvl="0"/>
            <a:r>
              <a:rPr lang="cs-CZ" dirty="0"/>
              <a:t>První úroveň</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325696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Předělový snímek">
    <p:spTree>
      <p:nvGrpSpPr>
        <p:cNvPr id="1" name=""/>
        <p:cNvGrpSpPr/>
        <p:nvPr/>
      </p:nvGrpSpPr>
      <p:grpSpPr>
        <a:xfrm>
          <a:off x="0" y="0"/>
          <a:ext cx="0" cy="0"/>
          <a:chOff x="0" y="0"/>
          <a:chExt cx="0" cy="0"/>
        </a:xfrm>
      </p:grpSpPr>
      <p:sp>
        <p:nvSpPr>
          <p:cNvPr id="2" name="Nadpis 1"/>
          <p:cNvSpPr>
            <a:spLocks noGrp="1"/>
          </p:cNvSpPr>
          <p:nvPr>
            <p:ph type="ctrTitle" hasCustomPrompt="1"/>
          </p:nvPr>
        </p:nvSpPr>
        <p:spPr>
          <a:xfrm>
            <a:off x="611188" y="2130425"/>
            <a:ext cx="7921252" cy="1470025"/>
          </a:xfrm>
        </p:spPr>
        <p:txBody>
          <a:bodyPr>
            <a:normAutofit/>
          </a:bodyPr>
          <a:lstStyle>
            <a:lvl1pPr>
              <a:defRPr sz="4400"/>
            </a:lvl1pPr>
          </a:lstStyle>
          <a:p>
            <a:r>
              <a:rPr lang="cs-CZ" dirty="0"/>
              <a:t>Název sekce prezentace</a:t>
            </a:r>
          </a:p>
        </p:txBody>
      </p:sp>
      <p:sp>
        <p:nvSpPr>
          <p:cNvPr id="3" name="Podnadpis 2"/>
          <p:cNvSpPr>
            <a:spLocks noGrp="1"/>
          </p:cNvSpPr>
          <p:nvPr>
            <p:ph type="subTitle" idx="1"/>
          </p:nvPr>
        </p:nvSpPr>
        <p:spPr>
          <a:xfrm>
            <a:off x="611188" y="4052664"/>
            <a:ext cx="7921252" cy="1968624"/>
          </a:xfrm>
        </p:spPr>
        <p:txBody>
          <a:bodyPr anchor="b" anchorCtr="0">
            <a:normAutofit/>
          </a:bodyPr>
          <a:lstStyle>
            <a:lvl1pPr marL="0" indent="0" algn="l">
              <a:buNone/>
              <a:defRPr sz="2400" spc="-60" baseline="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lze upravit styl předlohy.</a:t>
            </a:r>
            <a:endParaRPr lang="cs-CZ" dirty="0"/>
          </a:p>
        </p:txBody>
      </p:sp>
      <p:grpSp>
        <p:nvGrpSpPr>
          <p:cNvPr id="16" name="Skupina 15"/>
          <p:cNvGrpSpPr/>
          <p:nvPr/>
        </p:nvGrpSpPr>
        <p:grpSpPr bwMode="gray">
          <a:xfrm>
            <a:off x="-2496" y="0"/>
            <a:ext cx="4572000" cy="151200"/>
            <a:chOff x="3203928" y="2491755"/>
            <a:chExt cx="2160000" cy="72000"/>
          </a:xfrm>
        </p:grpSpPr>
        <p:sp>
          <p:nvSpPr>
            <p:cNvPr id="17" name="Obdélník 16"/>
            <p:cNvSpPr/>
            <p:nvPr/>
          </p:nvSpPr>
          <p:spPr bwMode="gray">
            <a:xfrm>
              <a:off x="3923928" y="2491755"/>
              <a:ext cx="720000" cy="72000"/>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8" name="Obdélník 17"/>
            <p:cNvSpPr/>
            <p:nvPr/>
          </p:nvSpPr>
          <p:spPr bwMode="gray">
            <a:xfrm>
              <a:off x="3203928" y="2491755"/>
              <a:ext cx="720000" cy="72000"/>
            </a:xfrm>
            <a:prstGeom prst="rect">
              <a:avLst/>
            </a:prstGeom>
            <a:solidFill>
              <a:srgbClr val="033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9" name="Obdélník 18"/>
            <p:cNvSpPr/>
            <p:nvPr/>
          </p:nvSpPr>
          <p:spPr bwMode="gray">
            <a:xfrm>
              <a:off x="4643928" y="2491755"/>
              <a:ext cx="720000" cy="72000"/>
            </a:xfrm>
            <a:prstGeom prst="rect">
              <a:avLst/>
            </a:prstGeom>
            <a:solidFill>
              <a:srgbClr val="C8D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grpSp>
      <p:grpSp>
        <p:nvGrpSpPr>
          <p:cNvPr id="33" name="Skupina 32"/>
          <p:cNvGrpSpPr>
            <a:grpSpLocks noChangeAspect="1"/>
          </p:cNvGrpSpPr>
          <p:nvPr/>
        </p:nvGrpSpPr>
        <p:grpSpPr bwMode="black">
          <a:xfrm>
            <a:off x="7604339" y="6417360"/>
            <a:ext cx="1360149" cy="252000"/>
            <a:chOff x="2695600" y="3623226"/>
            <a:chExt cx="4376738" cy="817563"/>
          </a:xfrm>
          <a:solidFill>
            <a:srgbClr val="03326C"/>
          </a:solidFill>
        </p:grpSpPr>
        <p:sp>
          <p:nvSpPr>
            <p:cNvPr id="34" name="Freeform 6"/>
            <p:cNvSpPr>
              <a:spLocks/>
            </p:cNvSpPr>
            <p:nvPr/>
          </p:nvSpPr>
          <p:spPr bwMode="black">
            <a:xfrm>
              <a:off x="2695600" y="3623226"/>
              <a:ext cx="744538" cy="746125"/>
            </a:xfrm>
            <a:custGeom>
              <a:avLst/>
              <a:gdLst>
                <a:gd name="T0" fmla="*/ 544 w 937"/>
                <a:gd name="T1" fmla="*/ 0 h 940"/>
                <a:gd name="T2" fmla="*/ 665 w 937"/>
                <a:gd name="T3" fmla="*/ 22 h 940"/>
                <a:gd name="T4" fmla="*/ 777 w 937"/>
                <a:gd name="T5" fmla="*/ 74 h 940"/>
                <a:gd name="T6" fmla="*/ 879 w 937"/>
                <a:gd name="T7" fmla="*/ 153 h 940"/>
                <a:gd name="T8" fmla="*/ 921 w 937"/>
                <a:gd name="T9" fmla="*/ 210 h 940"/>
                <a:gd name="T10" fmla="*/ 937 w 937"/>
                <a:gd name="T11" fmla="*/ 272 h 940"/>
                <a:gd name="T12" fmla="*/ 934 w 937"/>
                <a:gd name="T13" fmla="*/ 314 h 940"/>
                <a:gd name="T14" fmla="*/ 929 w 937"/>
                <a:gd name="T15" fmla="*/ 321 h 940"/>
                <a:gd name="T16" fmla="*/ 922 w 937"/>
                <a:gd name="T17" fmla="*/ 323 h 940"/>
                <a:gd name="T18" fmla="*/ 917 w 937"/>
                <a:gd name="T19" fmla="*/ 318 h 940"/>
                <a:gd name="T20" fmla="*/ 916 w 937"/>
                <a:gd name="T21" fmla="*/ 307 h 940"/>
                <a:gd name="T22" fmla="*/ 907 w 937"/>
                <a:gd name="T23" fmla="*/ 250 h 940"/>
                <a:gd name="T24" fmla="*/ 870 w 937"/>
                <a:gd name="T25" fmla="*/ 215 h 940"/>
                <a:gd name="T26" fmla="*/ 812 w 937"/>
                <a:gd name="T27" fmla="*/ 205 h 940"/>
                <a:gd name="T28" fmla="*/ 735 w 937"/>
                <a:gd name="T29" fmla="*/ 225 h 940"/>
                <a:gd name="T30" fmla="*/ 645 w 937"/>
                <a:gd name="T31" fmla="*/ 270 h 940"/>
                <a:gd name="T32" fmla="*/ 542 w 937"/>
                <a:gd name="T33" fmla="*/ 341 h 940"/>
                <a:gd name="T34" fmla="*/ 437 w 937"/>
                <a:gd name="T35" fmla="*/ 437 h 940"/>
                <a:gd name="T36" fmla="*/ 342 w 937"/>
                <a:gd name="T37" fmla="*/ 544 h 940"/>
                <a:gd name="T38" fmla="*/ 271 w 937"/>
                <a:gd name="T39" fmla="*/ 645 h 940"/>
                <a:gd name="T40" fmla="*/ 225 w 937"/>
                <a:gd name="T41" fmla="*/ 736 h 940"/>
                <a:gd name="T42" fmla="*/ 206 w 937"/>
                <a:gd name="T43" fmla="*/ 813 h 940"/>
                <a:gd name="T44" fmla="*/ 215 w 937"/>
                <a:gd name="T45" fmla="*/ 874 h 940"/>
                <a:gd name="T46" fmla="*/ 251 w 937"/>
                <a:gd name="T47" fmla="*/ 909 h 940"/>
                <a:gd name="T48" fmla="*/ 308 w 937"/>
                <a:gd name="T49" fmla="*/ 918 h 940"/>
                <a:gd name="T50" fmla="*/ 318 w 937"/>
                <a:gd name="T51" fmla="*/ 921 h 940"/>
                <a:gd name="T52" fmla="*/ 322 w 937"/>
                <a:gd name="T53" fmla="*/ 926 h 940"/>
                <a:gd name="T54" fmla="*/ 322 w 937"/>
                <a:gd name="T55" fmla="*/ 931 h 940"/>
                <a:gd name="T56" fmla="*/ 315 w 937"/>
                <a:gd name="T57" fmla="*/ 936 h 940"/>
                <a:gd name="T58" fmla="*/ 273 w 937"/>
                <a:gd name="T59" fmla="*/ 940 h 940"/>
                <a:gd name="T60" fmla="*/ 211 w 937"/>
                <a:gd name="T61" fmla="*/ 924 h 940"/>
                <a:gd name="T62" fmla="*/ 154 w 937"/>
                <a:gd name="T63" fmla="*/ 881 h 940"/>
                <a:gd name="T64" fmla="*/ 74 w 937"/>
                <a:gd name="T65" fmla="*/ 778 h 940"/>
                <a:gd name="T66" fmla="*/ 24 w 937"/>
                <a:gd name="T67" fmla="*/ 666 h 940"/>
                <a:gd name="T68" fmla="*/ 2 w 937"/>
                <a:gd name="T69" fmla="*/ 544 h 940"/>
                <a:gd name="T70" fmla="*/ 7 w 937"/>
                <a:gd name="T71" fmla="*/ 423 h 940"/>
                <a:gd name="T72" fmla="*/ 42 w 937"/>
                <a:gd name="T73" fmla="*/ 304 h 940"/>
                <a:gd name="T74" fmla="*/ 106 w 937"/>
                <a:gd name="T75" fmla="*/ 196 h 940"/>
                <a:gd name="T76" fmla="*/ 198 w 937"/>
                <a:gd name="T77" fmla="*/ 106 h 940"/>
                <a:gd name="T78" fmla="*/ 305 w 937"/>
                <a:gd name="T79" fmla="*/ 42 h 940"/>
                <a:gd name="T80" fmla="*/ 422 w 937"/>
                <a:gd name="T81" fmla="*/ 6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7" h="940">
                  <a:moveTo>
                    <a:pt x="482" y="0"/>
                  </a:moveTo>
                  <a:lnTo>
                    <a:pt x="544" y="0"/>
                  </a:lnTo>
                  <a:lnTo>
                    <a:pt x="604" y="6"/>
                  </a:lnTo>
                  <a:lnTo>
                    <a:pt x="665" y="22"/>
                  </a:lnTo>
                  <a:lnTo>
                    <a:pt x="721" y="43"/>
                  </a:lnTo>
                  <a:lnTo>
                    <a:pt x="777" y="74"/>
                  </a:lnTo>
                  <a:lnTo>
                    <a:pt x="830" y="109"/>
                  </a:lnTo>
                  <a:lnTo>
                    <a:pt x="879" y="153"/>
                  </a:lnTo>
                  <a:lnTo>
                    <a:pt x="904" y="181"/>
                  </a:lnTo>
                  <a:lnTo>
                    <a:pt x="921" y="210"/>
                  </a:lnTo>
                  <a:lnTo>
                    <a:pt x="932" y="240"/>
                  </a:lnTo>
                  <a:lnTo>
                    <a:pt x="937" y="272"/>
                  </a:lnTo>
                  <a:lnTo>
                    <a:pt x="936" y="309"/>
                  </a:lnTo>
                  <a:lnTo>
                    <a:pt x="934" y="314"/>
                  </a:lnTo>
                  <a:lnTo>
                    <a:pt x="932" y="318"/>
                  </a:lnTo>
                  <a:lnTo>
                    <a:pt x="929" y="321"/>
                  </a:lnTo>
                  <a:lnTo>
                    <a:pt x="926" y="323"/>
                  </a:lnTo>
                  <a:lnTo>
                    <a:pt x="922" y="323"/>
                  </a:lnTo>
                  <a:lnTo>
                    <a:pt x="921" y="321"/>
                  </a:lnTo>
                  <a:lnTo>
                    <a:pt x="917" y="318"/>
                  </a:lnTo>
                  <a:lnTo>
                    <a:pt x="916" y="312"/>
                  </a:lnTo>
                  <a:lnTo>
                    <a:pt x="916" y="307"/>
                  </a:lnTo>
                  <a:lnTo>
                    <a:pt x="914" y="277"/>
                  </a:lnTo>
                  <a:lnTo>
                    <a:pt x="907" y="250"/>
                  </a:lnTo>
                  <a:lnTo>
                    <a:pt x="892" y="230"/>
                  </a:lnTo>
                  <a:lnTo>
                    <a:pt x="870" y="215"/>
                  </a:lnTo>
                  <a:lnTo>
                    <a:pt x="844" y="207"/>
                  </a:lnTo>
                  <a:lnTo>
                    <a:pt x="812" y="205"/>
                  </a:lnTo>
                  <a:lnTo>
                    <a:pt x="775" y="212"/>
                  </a:lnTo>
                  <a:lnTo>
                    <a:pt x="735" y="225"/>
                  </a:lnTo>
                  <a:lnTo>
                    <a:pt x="691" y="244"/>
                  </a:lnTo>
                  <a:lnTo>
                    <a:pt x="645" y="270"/>
                  </a:lnTo>
                  <a:lnTo>
                    <a:pt x="594" y="302"/>
                  </a:lnTo>
                  <a:lnTo>
                    <a:pt x="542" y="341"/>
                  </a:lnTo>
                  <a:lnTo>
                    <a:pt x="491" y="386"/>
                  </a:lnTo>
                  <a:lnTo>
                    <a:pt x="437" y="437"/>
                  </a:lnTo>
                  <a:lnTo>
                    <a:pt x="387" y="491"/>
                  </a:lnTo>
                  <a:lnTo>
                    <a:pt x="342" y="544"/>
                  </a:lnTo>
                  <a:lnTo>
                    <a:pt x="303" y="595"/>
                  </a:lnTo>
                  <a:lnTo>
                    <a:pt x="271" y="645"/>
                  </a:lnTo>
                  <a:lnTo>
                    <a:pt x="245" y="692"/>
                  </a:lnTo>
                  <a:lnTo>
                    <a:pt x="225" y="736"/>
                  </a:lnTo>
                  <a:lnTo>
                    <a:pt x="213" y="776"/>
                  </a:lnTo>
                  <a:lnTo>
                    <a:pt x="206" y="813"/>
                  </a:lnTo>
                  <a:lnTo>
                    <a:pt x="208" y="845"/>
                  </a:lnTo>
                  <a:lnTo>
                    <a:pt x="215" y="874"/>
                  </a:lnTo>
                  <a:lnTo>
                    <a:pt x="230" y="894"/>
                  </a:lnTo>
                  <a:lnTo>
                    <a:pt x="251" y="909"/>
                  </a:lnTo>
                  <a:lnTo>
                    <a:pt x="276" y="918"/>
                  </a:lnTo>
                  <a:lnTo>
                    <a:pt x="308" y="918"/>
                  </a:lnTo>
                  <a:lnTo>
                    <a:pt x="313" y="919"/>
                  </a:lnTo>
                  <a:lnTo>
                    <a:pt x="318" y="921"/>
                  </a:lnTo>
                  <a:lnTo>
                    <a:pt x="320" y="923"/>
                  </a:lnTo>
                  <a:lnTo>
                    <a:pt x="322" y="926"/>
                  </a:lnTo>
                  <a:lnTo>
                    <a:pt x="322" y="929"/>
                  </a:lnTo>
                  <a:lnTo>
                    <a:pt x="322" y="931"/>
                  </a:lnTo>
                  <a:lnTo>
                    <a:pt x="318" y="934"/>
                  </a:lnTo>
                  <a:lnTo>
                    <a:pt x="315" y="936"/>
                  </a:lnTo>
                  <a:lnTo>
                    <a:pt x="310" y="938"/>
                  </a:lnTo>
                  <a:lnTo>
                    <a:pt x="273" y="940"/>
                  </a:lnTo>
                  <a:lnTo>
                    <a:pt x="241" y="934"/>
                  </a:lnTo>
                  <a:lnTo>
                    <a:pt x="211" y="924"/>
                  </a:lnTo>
                  <a:lnTo>
                    <a:pt x="183" y="906"/>
                  </a:lnTo>
                  <a:lnTo>
                    <a:pt x="154" y="881"/>
                  </a:lnTo>
                  <a:lnTo>
                    <a:pt x="111" y="832"/>
                  </a:lnTo>
                  <a:lnTo>
                    <a:pt x="74" y="778"/>
                  </a:lnTo>
                  <a:lnTo>
                    <a:pt x="46" y="723"/>
                  </a:lnTo>
                  <a:lnTo>
                    <a:pt x="24" y="666"/>
                  </a:lnTo>
                  <a:lnTo>
                    <a:pt x="9" y="605"/>
                  </a:lnTo>
                  <a:lnTo>
                    <a:pt x="2" y="544"/>
                  </a:lnTo>
                  <a:lnTo>
                    <a:pt x="0" y="484"/>
                  </a:lnTo>
                  <a:lnTo>
                    <a:pt x="7" y="423"/>
                  </a:lnTo>
                  <a:lnTo>
                    <a:pt x="22" y="363"/>
                  </a:lnTo>
                  <a:lnTo>
                    <a:pt x="42" y="304"/>
                  </a:lnTo>
                  <a:lnTo>
                    <a:pt x="71" y="249"/>
                  </a:lnTo>
                  <a:lnTo>
                    <a:pt x="106" y="196"/>
                  </a:lnTo>
                  <a:lnTo>
                    <a:pt x="149" y="148"/>
                  </a:lnTo>
                  <a:lnTo>
                    <a:pt x="198" y="106"/>
                  </a:lnTo>
                  <a:lnTo>
                    <a:pt x="250" y="70"/>
                  </a:lnTo>
                  <a:lnTo>
                    <a:pt x="305" y="42"/>
                  </a:lnTo>
                  <a:lnTo>
                    <a:pt x="363" y="20"/>
                  </a:lnTo>
                  <a:lnTo>
                    <a:pt x="422" y="6"/>
                  </a:lnTo>
                  <a:lnTo>
                    <a:pt x="4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35" name="Freeform 7"/>
            <p:cNvSpPr>
              <a:spLocks noEditPoints="1"/>
            </p:cNvSpPr>
            <p:nvPr/>
          </p:nvSpPr>
          <p:spPr bwMode="black">
            <a:xfrm>
              <a:off x="2930550" y="3694664"/>
              <a:ext cx="742950" cy="746125"/>
            </a:xfrm>
            <a:custGeom>
              <a:avLst/>
              <a:gdLst>
                <a:gd name="T0" fmla="*/ 501 w 936"/>
                <a:gd name="T1" fmla="*/ 502 h 939"/>
                <a:gd name="T2" fmla="*/ 501 w 936"/>
                <a:gd name="T3" fmla="*/ 502 h 939"/>
                <a:gd name="T4" fmla="*/ 697 w 936"/>
                <a:gd name="T5" fmla="*/ 5 h 939"/>
                <a:gd name="T6" fmla="*/ 755 w 936"/>
                <a:gd name="T7" fmla="*/ 33 h 939"/>
                <a:gd name="T8" fmla="*/ 827 w 936"/>
                <a:gd name="T9" fmla="*/ 107 h 939"/>
                <a:gd name="T10" fmla="*/ 892 w 936"/>
                <a:gd name="T11" fmla="*/ 216 h 939"/>
                <a:gd name="T12" fmla="*/ 927 w 936"/>
                <a:gd name="T13" fmla="*/ 334 h 939"/>
                <a:gd name="T14" fmla="*/ 936 w 936"/>
                <a:gd name="T15" fmla="*/ 455 h 939"/>
                <a:gd name="T16" fmla="*/ 916 w 936"/>
                <a:gd name="T17" fmla="*/ 576 h 939"/>
                <a:gd name="T18" fmla="*/ 866 w 936"/>
                <a:gd name="T19" fmla="*/ 691 h 939"/>
                <a:gd name="T20" fmla="*/ 789 w 936"/>
                <a:gd name="T21" fmla="*/ 791 h 939"/>
                <a:gd name="T22" fmla="*/ 688 w 936"/>
                <a:gd name="T23" fmla="*/ 870 h 939"/>
                <a:gd name="T24" fmla="*/ 574 w 936"/>
                <a:gd name="T25" fmla="*/ 919 h 939"/>
                <a:gd name="T26" fmla="*/ 454 w 936"/>
                <a:gd name="T27" fmla="*/ 939 h 939"/>
                <a:gd name="T28" fmla="*/ 333 w 936"/>
                <a:gd name="T29" fmla="*/ 933 h 939"/>
                <a:gd name="T30" fmla="*/ 216 w 936"/>
                <a:gd name="T31" fmla="*/ 896 h 939"/>
                <a:gd name="T32" fmla="*/ 108 w 936"/>
                <a:gd name="T33" fmla="*/ 830 h 939"/>
                <a:gd name="T34" fmla="*/ 34 w 936"/>
                <a:gd name="T35" fmla="*/ 758 h 939"/>
                <a:gd name="T36" fmla="*/ 6 w 936"/>
                <a:gd name="T37" fmla="*/ 699 h 939"/>
                <a:gd name="T38" fmla="*/ 2 w 936"/>
                <a:gd name="T39" fmla="*/ 630 h 939"/>
                <a:gd name="T40" fmla="*/ 6 w 936"/>
                <a:gd name="T41" fmla="*/ 622 h 939"/>
                <a:gd name="T42" fmla="*/ 11 w 936"/>
                <a:gd name="T43" fmla="*/ 618 h 939"/>
                <a:gd name="T44" fmla="*/ 17 w 936"/>
                <a:gd name="T45" fmla="*/ 620 h 939"/>
                <a:gd name="T46" fmla="*/ 21 w 936"/>
                <a:gd name="T47" fmla="*/ 627 h 939"/>
                <a:gd name="T48" fmla="*/ 22 w 936"/>
                <a:gd name="T49" fmla="*/ 662 h 939"/>
                <a:gd name="T50" fmla="*/ 44 w 936"/>
                <a:gd name="T51" fmla="*/ 711 h 939"/>
                <a:gd name="T52" fmla="*/ 93 w 936"/>
                <a:gd name="T53" fmla="*/ 733 h 939"/>
                <a:gd name="T54" fmla="*/ 161 w 936"/>
                <a:gd name="T55" fmla="*/ 727 h 939"/>
                <a:gd name="T56" fmla="*/ 246 w 936"/>
                <a:gd name="T57" fmla="*/ 696 h 939"/>
                <a:gd name="T58" fmla="*/ 344 w 936"/>
                <a:gd name="T59" fmla="*/ 637 h 939"/>
                <a:gd name="T60" fmla="*/ 447 w 936"/>
                <a:gd name="T61" fmla="*/ 553 h 939"/>
                <a:gd name="T62" fmla="*/ 551 w 936"/>
                <a:gd name="T63" fmla="*/ 448 h 939"/>
                <a:gd name="T64" fmla="*/ 635 w 936"/>
                <a:gd name="T65" fmla="*/ 344 h 939"/>
                <a:gd name="T66" fmla="*/ 693 w 936"/>
                <a:gd name="T67" fmla="*/ 247 h 939"/>
                <a:gd name="T68" fmla="*/ 725 w 936"/>
                <a:gd name="T69" fmla="*/ 163 h 939"/>
                <a:gd name="T70" fmla="*/ 730 w 936"/>
                <a:gd name="T71" fmla="*/ 94 h 939"/>
                <a:gd name="T72" fmla="*/ 707 w 936"/>
                <a:gd name="T73" fmla="*/ 45 h 939"/>
                <a:gd name="T74" fmla="*/ 660 w 936"/>
                <a:gd name="T75" fmla="*/ 21 h 939"/>
                <a:gd name="T76" fmla="*/ 623 w 936"/>
                <a:gd name="T77" fmla="*/ 20 h 939"/>
                <a:gd name="T78" fmla="*/ 616 w 936"/>
                <a:gd name="T79" fmla="*/ 16 h 939"/>
                <a:gd name="T80" fmla="*/ 615 w 936"/>
                <a:gd name="T81" fmla="*/ 11 h 939"/>
                <a:gd name="T82" fmla="*/ 618 w 936"/>
                <a:gd name="T83" fmla="*/ 5 h 939"/>
                <a:gd name="T84" fmla="*/ 628 w 936"/>
                <a:gd name="T85" fmla="*/ 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6" h="939">
                  <a:moveTo>
                    <a:pt x="501" y="502"/>
                  </a:moveTo>
                  <a:lnTo>
                    <a:pt x="501" y="502"/>
                  </a:lnTo>
                  <a:lnTo>
                    <a:pt x="501" y="502"/>
                  </a:lnTo>
                  <a:lnTo>
                    <a:pt x="501" y="502"/>
                  </a:lnTo>
                  <a:close/>
                  <a:moveTo>
                    <a:pt x="665" y="0"/>
                  </a:moveTo>
                  <a:lnTo>
                    <a:pt x="697" y="5"/>
                  </a:lnTo>
                  <a:lnTo>
                    <a:pt x="727" y="16"/>
                  </a:lnTo>
                  <a:lnTo>
                    <a:pt x="755" y="33"/>
                  </a:lnTo>
                  <a:lnTo>
                    <a:pt x="784" y="58"/>
                  </a:lnTo>
                  <a:lnTo>
                    <a:pt x="827" y="107"/>
                  </a:lnTo>
                  <a:lnTo>
                    <a:pt x="862" y="161"/>
                  </a:lnTo>
                  <a:lnTo>
                    <a:pt x="892" y="216"/>
                  </a:lnTo>
                  <a:lnTo>
                    <a:pt x="914" y="274"/>
                  </a:lnTo>
                  <a:lnTo>
                    <a:pt x="927" y="334"/>
                  </a:lnTo>
                  <a:lnTo>
                    <a:pt x="936" y="395"/>
                  </a:lnTo>
                  <a:lnTo>
                    <a:pt x="936" y="455"/>
                  </a:lnTo>
                  <a:lnTo>
                    <a:pt x="929" y="517"/>
                  </a:lnTo>
                  <a:lnTo>
                    <a:pt x="916" y="576"/>
                  </a:lnTo>
                  <a:lnTo>
                    <a:pt x="894" y="635"/>
                  </a:lnTo>
                  <a:lnTo>
                    <a:pt x="866" y="691"/>
                  </a:lnTo>
                  <a:lnTo>
                    <a:pt x="830" y="743"/>
                  </a:lnTo>
                  <a:lnTo>
                    <a:pt x="789" y="791"/>
                  </a:lnTo>
                  <a:lnTo>
                    <a:pt x="740" y="833"/>
                  </a:lnTo>
                  <a:lnTo>
                    <a:pt x="688" y="870"/>
                  </a:lnTo>
                  <a:lnTo>
                    <a:pt x="631" y="897"/>
                  </a:lnTo>
                  <a:lnTo>
                    <a:pt x="574" y="919"/>
                  </a:lnTo>
                  <a:lnTo>
                    <a:pt x="514" y="933"/>
                  </a:lnTo>
                  <a:lnTo>
                    <a:pt x="454" y="939"/>
                  </a:lnTo>
                  <a:lnTo>
                    <a:pt x="394" y="939"/>
                  </a:lnTo>
                  <a:lnTo>
                    <a:pt x="333" y="933"/>
                  </a:lnTo>
                  <a:lnTo>
                    <a:pt x="273" y="917"/>
                  </a:lnTo>
                  <a:lnTo>
                    <a:pt x="216" y="896"/>
                  </a:lnTo>
                  <a:lnTo>
                    <a:pt x="159" y="867"/>
                  </a:lnTo>
                  <a:lnTo>
                    <a:pt x="108" y="830"/>
                  </a:lnTo>
                  <a:lnTo>
                    <a:pt x="59" y="786"/>
                  </a:lnTo>
                  <a:lnTo>
                    <a:pt x="34" y="758"/>
                  </a:lnTo>
                  <a:lnTo>
                    <a:pt x="16" y="729"/>
                  </a:lnTo>
                  <a:lnTo>
                    <a:pt x="6" y="699"/>
                  </a:lnTo>
                  <a:lnTo>
                    <a:pt x="0" y="667"/>
                  </a:lnTo>
                  <a:lnTo>
                    <a:pt x="2" y="630"/>
                  </a:lnTo>
                  <a:lnTo>
                    <a:pt x="4" y="625"/>
                  </a:lnTo>
                  <a:lnTo>
                    <a:pt x="6" y="622"/>
                  </a:lnTo>
                  <a:lnTo>
                    <a:pt x="7" y="618"/>
                  </a:lnTo>
                  <a:lnTo>
                    <a:pt x="11" y="618"/>
                  </a:lnTo>
                  <a:lnTo>
                    <a:pt x="14" y="618"/>
                  </a:lnTo>
                  <a:lnTo>
                    <a:pt x="17" y="620"/>
                  </a:lnTo>
                  <a:lnTo>
                    <a:pt x="19" y="622"/>
                  </a:lnTo>
                  <a:lnTo>
                    <a:pt x="21" y="627"/>
                  </a:lnTo>
                  <a:lnTo>
                    <a:pt x="21" y="632"/>
                  </a:lnTo>
                  <a:lnTo>
                    <a:pt x="22" y="662"/>
                  </a:lnTo>
                  <a:lnTo>
                    <a:pt x="31" y="689"/>
                  </a:lnTo>
                  <a:lnTo>
                    <a:pt x="44" y="711"/>
                  </a:lnTo>
                  <a:lnTo>
                    <a:pt x="66" y="726"/>
                  </a:lnTo>
                  <a:lnTo>
                    <a:pt x="93" y="733"/>
                  </a:lnTo>
                  <a:lnTo>
                    <a:pt x="126" y="734"/>
                  </a:lnTo>
                  <a:lnTo>
                    <a:pt x="161" y="727"/>
                  </a:lnTo>
                  <a:lnTo>
                    <a:pt x="203" y="716"/>
                  </a:lnTo>
                  <a:lnTo>
                    <a:pt x="246" y="696"/>
                  </a:lnTo>
                  <a:lnTo>
                    <a:pt x="293" y="669"/>
                  </a:lnTo>
                  <a:lnTo>
                    <a:pt x="344" y="637"/>
                  </a:lnTo>
                  <a:lnTo>
                    <a:pt x="394" y="598"/>
                  </a:lnTo>
                  <a:lnTo>
                    <a:pt x="447" y="553"/>
                  </a:lnTo>
                  <a:lnTo>
                    <a:pt x="501" y="502"/>
                  </a:lnTo>
                  <a:lnTo>
                    <a:pt x="551" y="448"/>
                  </a:lnTo>
                  <a:lnTo>
                    <a:pt x="596" y="396"/>
                  </a:lnTo>
                  <a:lnTo>
                    <a:pt x="635" y="344"/>
                  </a:lnTo>
                  <a:lnTo>
                    <a:pt x="666" y="294"/>
                  </a:lnTo>
                  <a:lnTo>
                    <a:pt x="693" y="247"/>
                  </a:lnTo>
                  <a:lnTo>
                    <a:pt x="712" y="203"/>
                  </a:lnTo>
                  <a:lnTo>
                    <a:pt x="725" y="163"/>
                  </a:lnTo>
                  <a:lnTo>
                    <a:pt x="732" y="126"/>
                  </a:lnTo>
                  <a:lnTo>
                    <a:pt x="730" y="94"/>
                  </a:lnTo>
                  <a:lnTo>
                    <a:pt x="722" y="67"/>
                  </a:lnTo>
                  <a:lnTo>
                    <a:pt x="707" y="45"/>
                  </a:lnTo>
                  <a:lnTo>
                    <a:pt x="687" y="30"/>
                  </a:lnTo>
                  <a:lnTo>
                    <a:pt x="660" y="21"/>
                  </a:lnTo>
                  <a:lnTo>
                    <a:pt x="630" y="21"/>
                  </a:lnTo>
                  <a:lnTo>
                    <a:pt x="623" y="20"/>
                  </a:lnTo>
                  <a:lnTo>
                    <a:pt x="620" y="20"/>
                  </a:lnTo>
                  <a:lnTo>
                    <a:pt x="616" y="16"/>
                  </a:lnTo>
                  <a:lnTo>
                    <a:pt x="615" y="13"/>
                  </a:lnTo>
                  <a:lnTo>
                    <a:pt x="615" y="11"/>
                  </a:lnTo>
                  <a:lnTo>
                    <a:pt x="616" y="8"/>
                  </a:lnTo>
                  <a:lnTo>
                    <a:pt x="618" y="5"/>
                  </a:lnTo>
                  <a:lnTo>
                    <a:pt x="623" y="3"/>
                  </a:lnTo>
                  <a:lnTo>
                    <a:pt x="628" y="1"/>
                  </a:lnTo>
                  <a:lnTo>
                    <a:pt x="6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36" name="Freeform 8"/>
            <p:cNvSpPr>
              <a:spLocks noEditPoints="1"/>
            </p:cNvSpPr>
            <p:nvPr/>
          </p:nvSpPr>
          <p:spPr bwMode="black">
            <a:xfrm>
              <a:off x="4521225" y="3659739"/>
              <a:ext cx="669925" cy="739775"/>
            </a:xfrm>
            <a:custGeom>
              <a:avLst/>
              <a:gdLst>
                <a:gd name="T0" fmla="*/ 382 w 845"/>
                <a:gd name="T1" fmla="*/ 136 h 933"/>
                <a:gd name="T2" fmla="*/ 308 w 845"/>
                <a:gd name="T3" fmla="*/ 163 h 933"/>
                <a:gd name="T4" fmla="*/ 250 w 845"/>
                <a:gd name="T5" fmla="*/ 215 h 933"/>
                <a:gd name="T6" fmla="*/ 208 w 845"/>
                <a:gd name="T7" fmla="*/ 286 h 933"/>
                <a:gd name="T8" fmla="*/ 183 w 845"/>
                <a:gd name="T9" fmla="*/ 373 h 933"/>
                <a:gd name="T10" fmla="*/ 174 w 845"/>
                <a:gd name="T11" fmla="*/ 471 h 933"/>
                <a:gd name="T12" fmla="*/ 186 w 845"/>
                <a:gd name="T13" fmla="*/ 575 h 933"/>
                <a:gd name="T14" fmla="*/ 216 w 845"/>
                <a:gd name="T15" fmla="*/ 666 h 933"/>
                <a:gd name="T16" fmla="*/ 268 w 845"/>
                <a:gd name="T17" fmla="*/ 738 h 933"/>
                <a:gd name="T18" fmla="*/ 338 w 845"/>
                <a:gd name="T19" fmla="*/ 785 h 933"/>
                <a:gd name="T20" fmla="*/ 424 w 845"/>
                <a:gd name="T21" fmla="*/ 802 h 933"/>
                <a:gd name="T22" fmla="*/ 511 w 845"/>
                <a:gd name="T23" fmla="*/ 784 h 933"/>
                <a:gd name="T24" fmla="*/ 579 w 845"/>
                <a:gd name="T25" fmla="*/ 737 h 933"/>
                <a:gd name="T26" fmla="*/ 631 w 845"/>
                <a:gd name="T27" fmla="*/ 664 h 933"/>
                <a:gd name="T28" fmla="*/ 661 w 845"/>
                <a:gd name="T29" fmla="*/ 572 h 933"/>
                <a:gd name="T30" fmla="*/ 671 w 845"/>
                <a:gd name="T31" fmla="*/ 462 h 933"/>
                <a:gd name="T32" fmla="*/ 663 w 845"/>
                <a:gd name="T33" fmla="*/ 373 h 933"/>
                <a:gd name="T34" fmla="*/ 640 w 845"/>
                <a:gd name="T35" fmla="*/ 289 h 933"/>
                <a:gd name="T36" fmla="*/ 598 w 845"/>
                <a:gd name="T37" fmla="*/ 219 h 933"/>
                <a:gd name="T38" fmla="*/ 541 w 845"/>
                <a:gd name="T39" fmla="*/ 165 h 933"/>
                <a:gd name="T40" fmla="*/ 467 w 845"/>
                <a:gd name="T41" fmla="*/ 136 h 933"/>
                <a:gd name="T42" fmla="*/ 429 w 845"/>
                <a:gd name="T43" fmla="*/ 0 h 933"/>
                <a:gd name="T44" fmla="*/ 551 w 845"/>
                <a:gd name="T45" fmla="*/ 15 h 933"/>
                <a:gd name="T46" fmla="*/ 653 w 845"/>
                <a:gd name="T47" fmla="*/ 61 h 933"/>
                <a:gd name="T48" fmla="*/ 735 w 845"/>
                <a:gd name="T49" fmla="*/ 131 h 933"/>
                <a:gd name="T50" fmla="*/ 795 w 845"/>
                <a:gd name="T51" fmla="*/ 224 h 933"/>
                <a:gd name="T52" fmla="*/ 834 w 845"/>
                <a:gd name="T53" fmla="*/ 335 h 933"/>
                <a:gd name="T54" fmla="*/ 845 w 845"/>
                <a:gd name="T55" fmla="*/ 457 h 933"/>
                <a:gd name="T56" fmla="*/ 830 w 845"/>
                <a:gd name="T57" fmla="*/ 599 h 933"/>
                <a:gd name="T58" fmla="*/ 788 w 845"/>
                <a:gd name="T59" fmla="*/ 716 h 933"/>
                <a:gd name="T60" fmla="*/ 723 w 845"/>
                <a:gd name="T61" fmla="*/ 810 h 933"/>
                <a:gd name="T62" fmla="*/ 638 w 845"/>
                <a:gd name="T63" fmla="*/ 878 h 933"/>
                <a:gd name="T64" fmla="*/ 534 w 845"/>
                <a:gd name="T65" fmla="*/ 920 h 933"/>
                <a:gd name="T66" fmla="*/ 415 w 845"/>
                <a:gd name="T67" fmla="*/ 933 h 933"/>
                <a:gd name="T68" fmla="*/ 297 w 845"/>
                <a:gd name="T69" fmla="*/ 918 h 933"/>
                <a:gd name="T70" fmla="*/ 194 w 845"/>
                <a:gd name="T71" fmla="*/ 873 h 933"/>
                <a:gd name="T72" fmla="*/ 112 w 845"/>
                <a:gd name="T73" fmla="*/ 804 h 933"/>
                <a:gd name="T74" fmla="*/ 52 w 845"/>
                <a:gd name="T75" fmla="*/ 711 h 933"/>
                <a:gd name="T76" fmla="*/ 14 w 845"/>
                <a:gd name="T77" fmla="*/ 600 h 933"/>
                <a:gd name="T78" fmla="*/ 0 w 845"/>
                <a:gd name="T79" fmla="*/ 474 h 933"/>
                <a:gd name="T80" fmla="*/ 15 w 845"/>
                <a:gd name="T81" fmla="*/ 343 h 933"/>
                <a:gd name="T82" fmla="*/ 56 w 845"/>
                <a:gd name="T83" fmla="*/ 227 h 933"/>
                <a:gd name="T84" fmla="*/ 121 w 845"/>
                <a:gd name="T85" fmla="*/ 133 h 933"/>
                <a:gd name="T86" fmla="*/ 206 w 845"/>
                <a:gd name="T87" fmla="*/ 61 h 933"/>
                <a:gd name="T88" fmla="*/ 310 w 845"/>
                <a:gd name="T89" fmla="*/ 15 h 933"/>
                <a:gd name="T90" fmla="*/ 429 w 845"/>
                <a:gd name="T91"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5" h="933">
                  <a:moveTo>
                    <a:pt x="424" y="133"/>
                  </a:moveTo>
                  <a:lnTo>
                    <a:pt x="382" y="136"/>
                  </a:lnTo>
                  <a:lnTo>
                    <a:pt x="343" y="146"/>
                  </a:lnTo>
                  <a:lnTo>
                    <a:pt x="308" y="163"/>
                  </a:lnTo>
                  <a:lnTo>
                    <a:pt x="276" y="187"/>
                  </a:lnTo>
                  <a:lnTo>
                    <a:pt x="250" y="215"/>
                  </a:lnTo>
                  <a:lnTo>
                    <a:pt x="228" y="249"/>
                  </a:lnTo>
                  <a:lnTo>
                    <a:pt x="208" y="286"/>
                  </a:lnTo>
                  <a:lnTo>
                    <a:pt x="194" y="328"/>
                  </a:lnTo>
                  <a:lnTo>
                    <a:pt x="183" y="373"/>
                  </a:lnTo>
                  <a:lnTo>
                    <a:pt x="176" y="420"/>
                  </a:lnTo>
                  <a:lnTo>
                    <a:pt x="174" y="471"/>
                  </a:lnTo>
                  <a:lnTo>
                    <a:pt x="178" y="525"/>
                  </a:lnTo>
                  <a:lnTo>
                    <a:pt x="186" y="575"/>
                  </a:lnTo>
                  <a:lnTo>
                    <a:pt x="199" y="624"/>
                  </a:lnTo>
                  <a:lnTo>
                    <a:pt x="216" y="666"/>
                  </a:lnTo>
                  <a:lnTo>
                    <a:pt x="240" y="705"/>
                  </a:lnTo>
                  <a:lnTo>
                    <a:pt x="268" y="738"/>
                  </a:lnTo>
                  <a:lnTo>
                    <a:pt x="300" y="765"/>
                  </a:lnTo>
                  <a:lnTo>
                    <a:pt x="338" y="785"/>
                  </a:lnTo>
                  <a:lnTo>
                    <a:pt x="379" y="797"/>
                  </a:lnTo>
                  <a:lnTo>
                    <a:pt x="424" y="802"/>
                  </a:lnTo>
                  <a:lnTo>
                    <a:pt x="469" y="797"/>
                  </a:lnTo>
                  <a:lnTo>
                    <a:pt x="511" y="784"/>
                  </a:lnTo>
                  <a:lnTo>
                    <a:pt x="547" y="763"/>
                  </a:lnTo>
                  <a:lnTo>
                    <a:pt x="579" y="737"/>
                  </a:lnTo>
                  <a:lnTo>
                    <a:pt x="608" y="703"/>
                  </a:lnTo>
                  <a:lnTo>
                    <a:pt x="631" y="664"/>
                  </a:lnTo>
                  <a:lnTo>
                    <a:pt x="648" y="621"/>
                  </a:lnTo>
                  <a:lnTo>
                    <a:pt x="661" y="572"/>
                  </a:lnTo>
                  <a:lnTo>
                    <a:pt x="670" y="520"/>
                  </a:lnTo>
                  <a:lnTo>
                    <a:pt x="671" y="462"/>
                  </a:lnTo>
                  <a:lnTo>
                    <a:pt x="670" y="417"/>
                  </a:lnTo>
                  <a:lnTo>
                    <a:pt x="663" y="373"/>
                  </a:lnTo>
                  <a:lnTo>
                    <a:pt x="653" y="330"/>
                  </a:lnTo>
                  <a:lnTo>
                    <a:pt x="640" y="289"/>
                  </a:lnTo>
                  <a:lnTo>
                    <a:pt x="621" y="252"/>
                  </a:lnTo>
                  <a:lnTo>
                    <a:pt x="598" y="219"/>
                  </a:lnTo>
                  <a:lnTo>
                    <a:pt x="571" y="188"/>
                  </a:lnTo>
                  <a:lnTo>
                    <a:pt x="541" y="165"/>
                  </a:lnTo>
                  <a:lnTo>
                    <a:pt x="506" y="148"/>
                  </a:lnTo>
                  <a:lnTo>
                    <a:pt x="467" y="136"/>
                  </a:lnTo>
                  <a:lnTo>
                    <a:pt x="424" y="133"/>
                  </a:lnTo>
                  <a:close/>
                  <a:moveTo>
                    <a:pt x="429" y="0"/>
                  </a:moveTo>
                  <a:lnTo>
                    <a:pt x="492" y="4"/>
                  </a:lnTo>
                  <a:lnTo>
                    <a:pt x="551" y="15"/>
                  </a:lnTo>
                  <a:lnTo>
                    <a:pt x="604" y="35"/>
                  </a:lnTo>
                  <a:lnTo>
                    <a:pt x="653" y="61"/>
                  </a:lnTo>
                  <a:lnTo>
                    <a:pt x="696" y="94"/>
                  </a:lnTo>
                  <a:lnTo>
                    <a:pt x="735" y="131"/>
                  </a:lnTo>
                  <a:lnTo>
                    <a:pt x="768" y="175"/>
                  </a:lnTo>
                  <a:lnTo>
                    <a:pt x="795" y="224"/>
                  </a:lnTo>
                  <a:lnTo>
                    <a:pt x="817" y="278"/>
                  </a:lnTo>
                  <a:lnTo>
                    <a:pt x="834" y="335"/>
                  </a:lnTo>
                  <a:lnTo>
                    <a:pt x="842" y="395"/>
                  </a:lnTo>
                  <a:lnTo>
                    <a:pt x="845" y="457"/>
                  </a:lnTo>
                  <a:lnTo>
                    <a:pt x="842" y="531"/>
                  </a:lnTo>
                  <a:lnTo>
                    <a:pt x="830" y="599"/>
                  </a:lnTo>
                  <a:lnTo>
                    <a:pt x="814" y="661"/>
                  </a:lnTo>
                  <a:lnTo>
                    <a:pt x="788" y="716"/>
                  </a:lnTo>
                  <a:lnTo>
                    <a:pt x="758" y="767"/>
                  </a:lnTo>
                  <a:lnTo>
                    <a:pt x="723" y="810"/>
                  </a:lnTo>
                  <a:lnTo>
                    <a:pt x="683" y="847"/>
                  </a:lnTo>
                  <a:lnTo>
                    <a:pt x="638" y="878"/>
                  </a:lnTo>
                  <a:lnTo>
                    <a:pt x="588" y="903"/>
                  </a:lnTo>
                  <a:lnTo>
                    <a:pt x="534" y="920"/>
                  </a:lnTo>
                  <a:lnTo>
                    <a:pt x="476" y="930"/>
                  </a:lnTo>
                  <a:lnTo>
                    <a:pt x="415" y="933"/>
                  </a:lnTo>
                  <a:lnTo>
                    <a:pt x="355" y="930"/>
                  </a:lnTo>
                  <a:lnTo>
                    <a:pt x="297" y="918"/>
                  </a:lnTo>
                  <a:lnTo>
                    <a:pt x="243" y="900"/>
                  </a:lnTo>
                  <a:lnTo>
                    <a:pt x="194" y="873"/>
                  </a:lnTo>
                  <a:lnTo>
                    <a:pt x="151" y="841"/>
                  </a:lnTo>
                  <a:lnTo>
                    <a:pt x="112" y="804"/>
                  </a:lnTo>
                  <a:lnTo>
                    <a:pt x="79" y="760"/>
                  </a:lnTo>
                  <a:lnTo>
                    <a:pt x="52" y="711"/>
                  </a:lnTo>
                  <a:lnTo>
                    <a:pt x="30" y="657"/>
                  </a:lnTo>
                  <a:lnTo>
                    <a:pt x="14" y="600"/>
                  </a:lnTo>
                  <a:lnTo>
                    <a:pt x="4" y="538"/>
                  </a:lnTo>
                  <a:lnTo>
                    <a:pt x="0" y="474"/>
                  </a:lnTo>
                  <a:lnTo>
                    <a:pt x="5" y="407"/>
                  </a:lnTo>
                  <a:lnTo>
                    <a:pt x="15" y="343"/>
                  </a:lnTo>
                  <a:lnTo>
                    <a:pt x="32" y="283"/>
                  </a:lnTo>
                  <a:lnTo>
                    <a:pt x="56" y="227"/>
                  </a:lnTo>
                  <a:lnTo>
                    <a:pt x="86" y="177"/>
                  </a:lnTo>
                  <a:lnTo>
                    <a:pt x="121" y="133"/>
                  </a:lnTo>
                  <a:lnTo>
                    <a:pt x="161" y="94"/>
                  </a:lnTo>
                  <a:lnTo>
                    <a:pt x="206" y="61"/>
                  </a:lnTo>
                  <a:lnTo>
                    <a:pt x="255" y="35"/>
                  </a:lnTo>
                  <a:lnTo>
                    <a:pt x="310" y="15"/>
                  </a:lnTo>
                  <a:lnTo>
                    <a:pt x="367" y="4"/>
                  </a:lnTo>
                  <a:lnTo>
                    <a:pt x="4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37" name="Freeform 9"/>
            <p:cNvSpPr>
              <a:spLocks noEditPoints="1"/>
            </p:cNvSpPr>
            <p:nvPr/>
          </p:nvSpPr>
          <p:spPr bwMode="black">
            <a:xfrm>
              <a:off x="5291162" y="3666089"/>
              <a:ext cx="477838" cy="722313"/>
            </a:xfrm>
            <a:custGeom>
              <a:avLst/>
              <a:gdLst>
                <a:gd name="T0" fmla="*/ 258 w 602"/>
                <a:gd name="T1" fmla="*/ 127 h 911"/>
                <a:gd name="T2" fmla="*/ 216 w 602"/>
                <a:gd name="T3" fmla="*/ 129 h 911"/>
                <a:gd name="T4" fmla="*/ 184 w 602"/>
                <a:gd name="T5" fmla="*/ 132 h 911"/>
                <a:gd name="T6" fmla="*/ 162 w 602"/>
                <a:gd name="T7" fmla="*/ 136 h 911"/>
                <a:gd name="T8" fmla="*/ 162 w 602"/>
                <a:gd name="T9" fmla="*/ 438 h 911"/>
                <a:gd name="T10" fmla="*/ 186 w 602"/>
                <a:gd name="T11" fmla="*/ 443 h 911"/>
                <a:gd name="T12" fmla="*/ 212 w 602"/>
                <a:gd name="T13" fmla="*/ 447 h 911"/>
                <a:gd name="T14" fmla="*/ 242 w 602"/>
                <a:gd name="T15" fmla="*/ 447 h 911"/>
                <a:gd name="T16" fmla="*/ 286 w 602"/>
                <a:gd name="T17" fmla="*/ 443 h 911"/>
                <a:gd name="T18" fmla="*/ 324 w 602"/>
                <a:gd name="T19" fmla="*/ 435 h 911"/>
                <a:gd name="T20" fmla="*/ 360 w 602"/>
                <a:gd name="T21" fmla="*/ 422 h 911"/>
                <a:gd name="T22" fmla="*/ 386 w 602"/>
                <a:gd name="T23" fmla="*/ 403 h 911"/>
                <a:gd name="T24" fmla="*/ 410 w 602"/>
                <a:gd name="T25" fmla="*/ 380 h 911"/>
                <a:gd name="T26" fmla="*/ 427 w 602"/>
                <a:gd name="T27" fmla="*/ 351 h 911"/>
                <a:gd name="T28" fmla="*/ 437 w 602"/>
                <a:gd name="T29" fmla="*/ 317 h 911"/>
                <a:gd name="T30" fmla="*/ 440 w 602"/>
                <a:gd name="T31" fmla="*/ 280 h 911"/>
                <a:gd name="T32" fmla="*/ 437 w 602"/>
                <a:gd name="T33" fmla="*/ 245 h 911"/>
                <a:gd name="T34" fmla="*/ 427 w 602"/>
                <a:gd name="T35" fmla="*/ 215 h 911"/>
                <a:gd name="T36" fmla="*/ 411 w 602"/>
                <a:gd name="T37" fmla="*/ 188 h 911"/>
                <a:gd name="T38" fmla="*/ 391 w 602"/>
                <a:gd name="T39" fmla="*/ 166 h 911"/>
                <a:gd name="T40" fmla="*/ 365 w 602"/>
                <a:gd name="T41" fmla="*/ 149 h 911"/>
                <a:gd name="T42" fmla="*/ 333 w 602"/>
                <a:gd name="T43" fmla="*/ 137 h 911"/>
                <a:gd name="T44" fmla="*/ 298 w 602"/>
                <a:gd name="T45" fmla="*/ 131 h 911"/>
                <a:gd name="T46" fmla="*/ 258 w 602"/>
                <a:gd name="T47" fmla="*/ 127 h 911"/>
                <a:gd name="T48" fmla="*/ 251 w 602"/>
                <a:gd name="T49" fmla="*/ 0 h 911"/>
                <a:gd name="T50" fmla="*/ 308 w 602"/>
                <a:gd name="T51" fmla="*/ 3 h 911"/>
                <a:gd name="T52" fmla="*/ 360 w 602"/>
                <a:gd name="T53" fmla="*/ 8 h 911"/>
                <a:gd name="T54" fmla="*/ 406 w 602"/>
                <a:gd name="T55" fmla="*/ 20 h 911"/>
                <a:gd name="T56" fmla="*/ 447 w 602"/>
                <a:gd name="T57" fmla="*/ 33 h 911"/>
                <a:gd name="T58" fmla="*/ 483 w 602"/>
                <a:gd name="T59" fmla="*/ 52 h 911"/>
                <a:gd name="T60" fmla="*/ 515 w 602"/>
                <a:gd name="T61" fmla="*/ 74 h 911"/>
                <a:gd name="T62" fmla="*/ 544 w 602"/>
                <a:gd name="T63" fmla="*/ 104 h 911"/>
                <a:gd name="T64" fmla="*/ 569 w 602"/>
                <a:gd name="T65" fmla="*/ 139 h 911"/>
                <a:gd name="T66" fmla="*/ 587 w 602"/>
                <a:gd name="T67" fmla="*/ 179 h 911"/>
                <a:gd name="T68" fmla="*/ 599 w 602"/>
                <a:gd name="T69" fmla="*/ 225 h 911"/>
                <a:gd name="T70" fmla="*/ 602 w 602"/>
                <a:gd name="T71" fmla="*/ 274 h 911"/>
                <a:gd name="T72" fmla="*/ 599 w 602"/>
                <a:gd name="T73" fmla="*/ 322 h 911"/>
                <a:gd name="T74" fmla="*/ 590 w 602"/>
                <a:gd name="T75" fmla="*/ 368 h 911"/>
                <a:gd name="T76" fmla="*/ 575 w 602"/>
                <a:gd name="T77" fmla="*/ 410 h 911"/>
                <a:gd name="T78" fmla="*/ 554 w 602"/>
                <a:gd name="T79" fmla="*/ 445 h 911"/>
                <a:gd name="T80" fmla="*/ 527 w 602"/>
                <a:gd name="T81" fmla="*/ 477 h 911"/>
                <a:gd name="T82" fmla="*/ 490 w 602"/>
                <a:gd name="T83" fmla="*/ 507 h 911"/>
                <a:gd name="T84" fmla="*/ 448 w 602"/>
                <a:gd name="T85" fmla="*/ 532 h 911"/>
                <a:gd name="T86" fmla="*/ 403 w 602"/>
                <a:gd name="T87" fmla="*/ 551 h 911"/>
                <a:gd name="T88" fmla="*/ 353 w 602"/>
                <a:gd name="T89" fmla="*/ 564 h 911"/>
                <a:gd name="T90" fmla="*/ 299 w 602"/>
                <a:gd name="T91" fmla="*/ 573 h 911"/>
                <a:gd name="T92" fmla="*/ 242 w 602"/>
                <a:gd name="T93" fmla="*/ 575 h 911"/>
                <a:gd name="T94" fmla="*/ 199 w 602"/>
                <a:gd name="T95" fmla="*/ 575 h 911"/>
                <a:gd name="T96" fmla="*/ 162 w 602"/>
                <a:gd name="T97" fmla="*/ 568 h 911"/>
                <a:gd name="T98" fmla="*/ 162 w 602"/>
                <a:gd name="T99" fmla="*/ 911 h 911"/>
                <a:gd name="T100" fmla="*/ 0 w 602"/>
                <a:gd name="T101" fmla="*/ 911 h 911"/>
                <a:gd name="T102" fmla="*/ 0 w 602"/>
                <a:gd name="T103" fmla="*/ 20 h 911"/>
                <a:gd name="T104" fmla="*/ 38 w 602"/>
                <a:gd name="T105" fmla="*/ 13 h 911"/>
                <a:gd name="T106" fmla="*/ 82 w 602"/>
                <a:gd name="T107" fmla="*/ 8 h 911"/>
                <a:gd name="T108" fmla="*/ 132 w 602"/>
                <a:gd name="T109" fmla="*/ 5 h 911"/>
                <a:gd name="T110" fmla="*/ 187 w 602"/>
                <a:gd name="T111" fmla="*/ 1 h 911"/>
                <a:gd name="T112" fmla="*/ 251 w 602"/>
                <a:gd name="T113"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2" h="911">
                  <a:moveTo>
                    <a:pt x="258" y="127"/>
                  </a:moveTo>
                  <a:lnTo>
                    <a:pt x="216" y="129"/>
                  </a:lnTo>
                  <a:lnTo>
                    <a:pt x="184" y="132"/>
                  </a:lnTo>
                  <a:lnTo>
                    <a:pt x="162" y="136"/>
                  </a:lnTo>
                  <a:lnTo>
                    <a:pt x="162" y="438"/>
                  </a:lnTo>
                  <a:lnTo>
                    <a:pt x="186" y="443"/>
                  </a:lnTo>
                  <a:lnTo>
                    <a:pt x="212" y="447"/>
                  </a:lnTo>
                  <a:lnTo>
                    <a:pt x="242" y="447"/>
                  </a:lnTo>
                  <a:lnTo>
                    <a:pt x="286" y="443"/>
                  </a:lnTo>
                  <a:lnTo>
                    <a:pt x="324" y="435"/>
                  </a:lnTo>
                  <a:lnTo>
                    <a:pt x="360" y="422"/>
                  </a:lnTo>
                  <a:lnTo>
                    <a:pt x="386" y="403"/>
                  </a:lnTo>
                  <a:lnTo>
                    <a:pt x="410" y="380"/>
                  </a:lnTo>
                  <a:lnTo>
                    <a:pt x="427" y="351"/>
                  </a:lnTo>
                  <a:lnTo>
                    <a:pt x="437" y="317"/>
                  </a:lnTo>
                  <a:lnTo>
                    <a:pt x="440" y="280"/>
                  </a:lnTo>
                  <a:lnTo>
                    <a:pt x="437" y="245"/>
                  </a:lnTo>
                  <a:lnTo>
                    <a:pt x="427" y="215"/>
                  </a:lnTo>
                  <a:lnTo>
                    <a:pt x="411" y="188"/>
                  </a:lnTo>
                  <a:lnTo>
                    <a:pt x="391" y="166"/>
                  </a:lnTo>
                  <a:lnTo>
                    <a:pt x="365" y="149"/>
                  </a:lnTo>
                  <a:lnTo>
                    <a:pt x="333" y="137"/>
                  </a:lnTo>
                  <a:lnTo>
                    <a:pt x="298" y="131"/>
                  </a:lnTo>
                  <a:lnTo>
                    <a:pt x="258" y="127"/>
                  </a:lnTo>
                  <a:close/>
                  <a:moveTo>
                    <a:pt x="251" y="0"/>
                  </a:moveTo>
                  <a:lnTo>
                    <a:pt x="308" y="3"/>
                  </a:lnTo>
                  <a:lnTo>
                    <a:pt x="360" y="8"/>
                  </a:lnTo>
                  <a:lnTo>
                    <a:pt x="406" y="20"/>
                  </a:lnTo>
                  <a:lnTo>
                    <a:pt x="447" y="33"/>
                  </a:lnTo>
                  <a:lnTo>
                    <a:pt x="483" y="52"/>
                  </a:lnTo>
                  <a:lnTo>
                    <a:pt x="515" y="74"/>
                  </a:lnTo>
                  <a:lnTo>
                    <a:pt x="544" y="104"/>
                  </a:lnTo>
                  <a:lnTo>
                    <a:pt x="569" y="139"/>
                  </a:lnTo>
                  <a:lnTo>
                    <a:pt x="587" y="179"/>
                  </a:lnTo>
                  <a:lnTo>
                    <a:pt x="599" y="225"/>
                  </a:lnTo>
                  <a:lnTo>
                    <a:pt x="602" y="274"/>
                  </a:lnTo>
                  <a:lnTo>
                    <a:pt x="599" y="322"/>
                  </a:lnTo>
                  <a:lnTo>
                    <a:pt x="590" y="368"/>
                  </a:lnTo>
                  <a:lnTo>
                    <a:pt x="575" y="410"/>
                  </a:lnTo>
                  <a:lnTo>
                    <a:pt x="554" y="445"/>
                  </a:lnTo>
                  <a:lnTo>
                    <a:pt x="527" y="477"/>
                  </a:lnTo>
                  <a:lnTo>
                    <a:pt x="490" y="507"/>
                  </a:lnTo>
                  <a:lnTo>
                    <a:pt x="448" y="532"/>
                  </a:lnTo>
                  <a:lnTo>
                    <a:pt x="403" y="551"/>
                  </a:lnTo>
                  <a:lnTo>
                    <a:pt x="353" y="564"/>
                  </a:lnTo>
                  <a:lnTo>
                    <a:pt x="299" y="573"/>
                  </a:lnTo>
                  <a:lnTo>
                    <a:pt x="242" y="575"/>
                  </a:lnTo>
                  <a:lnTo>
                    <a:pt x="199" y="575"/>
                  </a:lnTo>
                  <a:lnTo>
                    <a:pt x="162" y="568"/>
                  </a:lnTo>
                  <a:lnTo>
                    <a:pt x="162" y="911"/>
                  </a:lnTo>
                  <a:lnTo>
                    <a:pt x="0" y="911"/>
                  </a:lnTo>
                  <a:lnTo>
                    <a:pt x="0" y="20"/>
                  </a:lnTo>
                  <a:lnTo>
                    <a:pt x="38" y="13"/>
                  </a:lnTo>
                  <a:lnTo>
                    <a:pt x="82" y="8"/>
                  </a:lnTo>
                  <a:lnTo>
                    <a:pt x="132" y="5"/>
                  </a:lnTo>
                  <a:lnTo>
                    <a:pt x="187" y="1"/>
                  </a:lnTo>
                  <a:lnTo>
                    <a:pt x="2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38" name="Freeform 10"/>
            <p:cNvSpPr>
              <a:spLocks noEditPoints="1"/>
            </p:cNvSpPr>
            <p:nvPr/>
          </p:nvSpPr>
          <p:spPr bwMode="black">
            <a:xfrm>
              <a:off x="5754712" y="3670851"/>
              <a:ext cx="627063" cy="717550"/>
            </a:xfrm>
            <a:custGeom>
              <a:avLst/>
              <a:gdLst>
                <a:gd name="T0" fmla="*/ 386 w 790"/>
                <a:gd name="T1" fmla="*/ 133 h 905"/>
                <a:gd name="T2" fmla="*/ 371 w 790"/>
                <a:gd name="T3" fmla="*/ 187 h 905"/>
                <a:gd name="T4" fmla="*/ 358 w 790"/>
                <a:gd name="T5" fmla="*/ 246 h 905"/>
                <a:gd name="T6" fmla="*/ 343 w 790"/>
                <a:gd name="T7" fmla="*/ 301 h 905"/>
                <a:gd name="T8" fmla="*/ 274 w 790"/>
                <a:gd name="T9" fmla="*/ 523 h 905"/>
                <a:gd name="T10" fmla="*/ 503 w 790"/>
                <a:gd name="T11" fmla="*/ 523 h 905"/>
                <a:gd name="T12" fmla="*/ 433 w 790"/>
                <a:gd name="T13" fmla="*/ 301 h 905"/>
                <a:gd name="T14" fmla="*/ 416 w 790"/>
                <a:gd name="T15" fmla="*/ 244 h 905"/>
                <a:gd name="T16" fmla="*/ 401 w 790"/>
                <a:gd name="T17" fmla="*/ 187 h 905"/>
                <a:gd name="T18" fmla="*/ 388 w 790"/>
                <a:gd name="T19" fmla="*/ 133 h 905"/>
                <a:gd name="T20" fmla="*/ 386 w 790"/>
                <a:gd name="T21" fmla="*/ 133 h 905"/>
                <a:gd name="T22" fmla="*/ 288 w 790"/>
                <a:gd name="T23" fmla="*/ 0 h 905"/>
                <a:gd name="T24" fmla="*/ 497 w 790"/>
                <a:gd name="T25" fmla="*/ 0 h 905"/>
                <a:gd name="T26" fmla="*/ 790 w 790"/>
                <a:gd name="T27" fmla="*/ 905 h 905"/>
                <a:gd name="T28" fmla="*/ 612 w 790"/>
                <a:gd name="T29" fmla="*/ 905 h 905"/>
                <a:gd name="T30" fmla="*/ 530 w 790"/>
                <a:gd name="T31" fmla="*/ 648 h 905"/>
                <a:gd name="T32" fmla="*/ 247 w 790"/>
                <a:gd name="T33" fmla="*/ 648 h 905"/>
                <a:gd name="T34" fmla="*/ 169 w 790"/>
                <a:gd name="T35" fmla="*/ 905 h 905"/>
                <a:gd name="T36" fmla="*/ 0 w 790"/>
                <a:gd name="T37" fmla="*/ 905 h 905"/>
                <a:gd name="T38" fmla="*/ 288 w 790"/>
                <a:gd name="T39"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0" h="905">
                  <a:moveTo>
                    <a:pt x="386" y="133"/>
                  </a:moveTo>
                  <a:lnTo>
                    <a:pt x="371" y="187"/>
                  </a:lnTo>
                  <a:lnTo>
                    <a:pt x="358" y="246"/>
                  </a:lnTo>
                  <a:lnTo>
                    <a:pt x="343" y="301"/>
                  </a:lnTo>
                  <a:lnTo>
                    <a:pt x="274" y="523"/>
                  </a:lnTo>
                  <a:lnTo>
                    <a:pt x="503" y="523"/>
                  </a:lnTo>
                  <a:lnTo>
                    <a:pt x="433" y="301"/>
                  </a:lnTo>
                  <a:lnTo>
                    <a:pt x="416" y="244"/>
                  </a:lnTo>
                  <a:lnTo>
                    <a:pt x="401" y="187"/>
                  </a:lnTo>
                  <a:lnTo>
                    <a:pt x="388" y="133"/>
                  </a:lnTo>
                  <a:lnTo>
                    <a:pt x="386" y="133"/>
                  </a:lnTo>
                  <a:close/>
                  <a:moveTo>
                    <a:pt x="288" y="0"/>
                  </a:moveTo>
                  <a:lnTo>
                    <a:pt x="497" y="0"/>
                  </a:lnTo>
                  <a:lnTo>
                    <a:pt x="790" y="905"/>
                  </a:lnTo>
                  <a:lnTo>
                    <a:pt x="612" y="905"/>
                  </a:lnTo>
                  <a:lnTo>
                    <a:pt x="530" y="648"/>
                  </a:lnTo>
                  <a:lnTo>
                    <a:pt x="247" y="648"/>
                  </a:lnTo>
                  <a:lnTo>
                    <a:pt x="169" y="905"/>
                  </a:lnTo>
                  <a:lnTo>
                    <a:pt x="0" y="905"/>
                  </a:lnTo>
                  <a:lnTo>
                    <a:pt x="28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39" name="Freeform 11"/>
            <p:cNvSpPr>
              <a:spLocks/>
            </p:cNvSpPr>
            <p:nvPr/>
          </p:nvSpPr>
          <p:spPr bwMode="black">
            <a:xfrm>
              <a:off x="6424637" y="3659739"/>
              <a:ext cx="463550" cy="739775"/>
            </a:xfrm>
            <a:custGeom>
              <a:avLst/>
              <a:gdLst>
                <a:gd name="T0" fmla="*/ 388 w 584"/>
                <a:gd name="T1" fmla="*/ 2 h 931"/>
                <a:gd name="T2" fmla="*/ 480 w 584"/>
                <a:gd name="T3" fmla="*/ 18 h 931"/>
                <a:gd name="T4" fmla="*/ 547 w 584"/>
                <a:gd name="T5" fmla="*/ 45 h 931"/>
                <a:gd name="T6" fmla="*/ 485 w 584"/>
                <a:gd name="T7" fmla="*/ 166 h 931"/>
                <a:gd name="T8" fmla="*/ 418 w 584"/>
                <a:gd name="T9" fmla="*/ 144 h 931"/>
                <a:gd name="T10" fmla="*/ 328 w 584"/>
                <a:gd name="T11" fmla="*/ 134 h 931"/>
                <a:gd name="T12" fmla="*/ 261 w 584"/>
                <a:gd name="T13" fmla="*/ 144 h 931"/>
                <a:gd name="T14" fmla="*/ 216 w 584"/>
                <a:gd name="T15" fmla="*/ 168 h 931"/>
                <a:gd name="T16" fmla="*/ 189 w 584"/>
                <a:gd name="T17" fmla="*/ 203 h 931"/>
                <a:gd name="T18" fmla="*/ 181 w 584"/>
                <a:gd name="T19" fmla="*/ 244 h 931"/>
                <a:gd name="T20" fmla="*/ 194 w 584"/>
                <a:gd name="T21" fmla="*/ 296 h 931"/>
                <a:gd name="T22" fmla="*/ 234 w 584"/>
                <a:gd name="T23" fmla="*/ 336 h 931"/>
                <a:gd name="T24" fmla="*/ 306 w 584"/>
                <a:gd name="T25" fmla="*/ 373 h 931"/>
                <a:gd name="T26" fmla="*/ 408 w 584"/>
                <a:gd name="T27" fmla="*/ 415 h 931"/>
                <a:gd name="T28" fmla="*/ 494 w 584"/>
                <a:gd name="T29" fmla="*/ 469 h 931"/>
                <a:gd name="T30" fmla="*/ 552 w 584"/>
                <a:gd name="T31" fmla="*/ 533 h 931"/>
                <a:gd name="T32" fmla="*/ 581 w 584"/>
                <a:gd name="T33" fmla="*/ 613 h 931"/>
                <a:gd name="T34" fmla="*/ 581 w 584"/>
                <a:gd name="T35" fmla="*/ 699 h 931"/>
                <a:gd name="T36" fmla="*/ 559 w 584"/>
                <a:gd name="T37" fmla="*/ 773 h 931"/>
                <a:gd name="T38" fmla="*/ 515 w 584"/>
                <a:gd name="T39" fmla="*/ 837 h 931"/>
                <a:gd name="T40" fmla="*/ 447 w 584"/>
                <a:gd name="T41" fmla="*/ 887 h 931"/>
                <a:gd name="T42" fmla="*/ 358 w 584"/>
                <a:gd name="T43" fmla="*/ 919 h 931"/>
                <a:gd name="T44" fmla="*/ 243 w 584"/>
                <a:gd name="T45" fmla="*/ 931 h 931"/>
                <a:gd name="T46" fmla="*/ 131 w 584"/>
                <a:gd name="T47" fmla="*/ 921 h 931"/>
                <a:gd name="T48" fmla="*/ 35 w 584"/>
                <a:gd name="T49" fmla="*/ 893 h 931"/>
                <a:gd name="T50" fmla="*/ 37 w 584"/>
                <a:gd name="T51" fmla="*/ 738 h 931"/>
                <a:gd name="T52" fmla="*/ 134 w 584"/>
                <a:gd name="T53" fmla="*/ 778 h 931"/>
                <a:gd name="T54" fmla="*/ 254 w 584"/>
                <a:gd name="T55" fmla="*/ 795 h 931"/>
                <a:gd name="T56" fmla="*/ 331 w 584"/>
                <a:gd name="T57" fmla="*/ 783 h 931"/>
                <a:gd name="T58" fmla="*/ 385 w 584"/>
                <a:gd name="T59" fmla="*/ 751 h 931"/>
                <a:gd name="T60" fmla="*/ 413 w 584"/>
                <a:gd name="T61" fmla="*/ 703 h 931"/>
                <a:gd name="T62" fmla="*/ 413 w 584"/>
                <a:gd name="T63" fmla="*/ 640 h 931"/>
                <a:gd name="T64" fmla="*/ 380 w 584"/>
                <a:gd name="T65" fmla="*/ 587 h 931"/>
                <a:gd name="T66" fmla="*/ 310 w 584"/>
                <a:gd name="T67" fmla="*/ 543 h 931"/>
                <a:gd name="T68" fmla="*/ 211 w 584"/>
                <a:gd name="T69" fmla="*/ 503 h 931"/>
                <a:gd name="T70" fmla="*/ 129 w 584"/>
                <a:gd name="T71" fmla="*/ 459 h 931"/>
                <a:gd name="T72" fmla="*/ 67 w 584"/>
                <a:gd name="T73" fmla="*/ 405 h 931"/>
                <a:gd name="T74" fmla="*/ 27 w 584"/>
                <a:gd name="T75" fmla="*/ 339 h 931"/>
                <a:gd name="T76" fmla="*/ 13 w 584"/>
                <a:gd name="T77" fmla="*/ 259 h 931"/>
                <a:gd name="T78" fmla="*/ 29 w 584"/>
                <a:gd name="T79" fmla="*/ 175 h 931"/>
                <a:gd name="T80" fmla="*/ 70 w 584"/>
                <a:gd name="T81" fmla="*/ 104 h 931"/>
                <a:gd name="T82" fmla="*/ 136 w 584"/>
                <a:gd name="T83" fmla="*/ 49 h 931"/>
                <a:gd name="T84" fmla="*/ 224 w 584"/>
                <a:gd name="T85" fmla="*/ 12 h 931"/>
                <a:gd name="T86" fmla="*/ 333 w 584"/>
                <a:gd name="T87" fmla="*/ 0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84" h="931">
                  <a:moveTo>
                    <a:pt x="333" y="0"/>
                  </a:moveTo>
                  <a:lnTo>
                    <a:pt x="388" y="2"/>
                  </a:lnTo>
                  <a:lnTo>
                    <a:pt x="437" y="8"/>
                  </a:lnTo>
                  <a:lnTo>
                    <a:pt x="480" y="18"/>
                  </a:lnTo>
                  <a:lnTo>
                    <a:pt x="517" y="30"/>
                  </a:lnTo>
                  <a:lnTo>
                    <a:pt x="547" y="45"/>
                  </a:lnTo>
                  <a:lnTo>
                    <a:pt x="509" y="178"/>
                  </a:lnTo>
                  <a:lnTo>
                    <a:pt x="485" y="166"/>
                  </a:lnTo>
                  <a:lnTo>
                    <a:pt x="455" y="155"/>
                  </a:lnTo>
                  <a:lnTo>
                    <a:pt x="418" y="144"/>
                  </a:lnTo>
                  <a:lnTo>
                    <a:pt x="377" y="138"/>
                  </a:lnTo>
                  <a:lnTo>
                    <a:pt x="328" y="134"/>
                  </a:lnTo>
                  <a:lnTo>
                    <a:pt x="293" y="138"/>
                  </a:lnTo>
                  <a:lnTo>
                    <a:pt x="261" y="144"/>
                  </a:lnTo>
                  <a:lnTo>
                    <a:pt x="236" y="155"/>
                  </a:lnTo>
                  <a:lnTo>
                    <a:pt x="216" y="168"/>
                  </a:lnTo>
                  <a:lnTo>
                    <a:pt x="201" y="185"/>
                  </a:lnTo>
                  <a:lnTo>
                    <a:pt x="189" y="203"/>
                  </a:lnTo>
                  <a:lnTo>
                    <a:pt x="182" y="223"/>
                  </a:lnTo>
                  <a:lnTo>
                    <a:pt x="181" y="244"/>
                  </a:lnTo>
                  <a:lnTo>
                    <a:pt x="184" y="271"/>
                  </a:lnTo>
                  <a:lnTo>
                    <a:pt x="194" y="296"/>
                  </a:lnTo>
                  <a:lnTo>
                    <a:pt x="211" y="316"/>
                  </a:lnTo>
                  <a:lnTo>
                    <a:pt x="234" y="336"/>
                  </a:lnTo>
                  <a:lnTo>
                    <a:pt x="266" y="355"/>
                  </a:lnTo>
                  <a:lnTo>
                    <a:pt x="306" y="373"/>
                  </a:lnTo>
                  <a:lnTo>
                    <a:pt x="353" y="392"/>
                  </a:lnTo>
                  <a:lnTo>
                    <a:pt x="408" y="415"/>
                  </a:lnTo>
                  <a:lnTo>
                    <a:pt x="455" y="440"/>
                  </a:lnTo>
                  <a:lnTo>
                    <a:pt x="494" y="469"/>
                  </a:lnTo>
                  <a:lnTo>
                    <a:pt x="527" y="499"/>
                  </a:lnTo>
                  <a:lnTo>
                    <a:pt x="552" y="533"/>
                  </a:lnTo>
                  <a:lnTo>
                    <a:pt x="569" y="571"/>
                  </a:lnTo>
                  <a:lnTo>
                    <a:pt x="581" y="613"/>
                  </a:lnTo>
                  <a:lnTo>
                    <a:pt x="584" y="661"/>
                  </a:lnTo>
                  <a:lnTo>
                    <a:pt x="581" y="699"/>
                  </a:lnTo>
                  <a:lnTo>
                    <a:pt x="572" y="736"/>
                  </a:lnTo>
                  <a:lnTo>
                    <a:pt x="559" y="773"/>
                  </a:lnTo>
                  <a:lnTo>
                    <a:pt x="539" y="807"/>
                  </a:lnTo>
                  <a:lnTo>
                    <a:pt x="515" y="837"/>
                  </a:lnTo>
                  <a:lnTo>
                    <a:pt x="484" y="864"/>
                  </a:lnTo>
                  <a:lnTo>
                    <a:pt x="447" y="887"/>
                  </a:lnTo>
                  <a:lnTo>
                    <a:pt x="405" y="906"/>
                  </a:lnTo>
                  <a:lnTo>
                    <a:pt x="358" y="919"/>
                  </a:lnTo>
                  <a:lnTo>
                    <a:pt x="303" y="930"/>
                  </a:lnTo>
                  <a:lnTo>
                    <a:pt x="243" y="931"/>
                  </a:lnTo>
                  <a:lnTo>
                    <a:pt x="186" y="930"/>
                  </a:lnTo>
                  <a:lnTo>
                    <a:pt x="131" y="921"/>
                  </a:lnTo>
                  <a:lnTo>
                    <a:pt x="79" y="908"/>
                  </a:lnTo>
                  <a:lnTo>
                    <a:pt x="35" y="893"/>
                  </a:lnTo>
                  <a:lnTo>
                    <a:pt x="0" y="874"/>
                  </a:lnTo>
                  <a:lnTo>
                    <a:pt x="37" y="738"/>
                  </a:lnTo>
                  <a:lnTo>
                    <a:pt x="80" y="760"/>
                  </a:lnTo>
                  <a:lnTo>
                    <a:pt x="134" y="778"/>
                  </a:lnTo>
                  <a:lnTo>
                    <a:pt x="193" y="790"/>
                  </a:lnTo>
                  <a:lnTo>
                    <a:pt x="254" y="795"/>
                  </a:lnTo>
                  <a:lnTo>
                    <a:pt x="296" y="792"/>
                  </a:lnTo>
                  <a:lnTo>
                    <a:pt x="331" y="783"/>
                  </a:lnTo>
                  <a:lnTo>
                    <a:pt x="362" y="770"/>
                  </a:lnTo>
                  <a:lnTo>
                    <a:pt x="385" y="751"/>
                  </a:lnTo>
                  <a:lnTo>
                    <a:pt x="403" y="729"/>
                  </a:lnTo>
                  <a:lnTo>
                    <a:pt x="413" y="703"/>
                  </a:lnTo>
                  <a:lnTo>
                    <a:pt x="417" y="672"/>
                  </a:lnTo>
                  <a:lnTo>
                    <a:pt x="413" y="640"/>
                  </a:lnTo>
                  <a:lnTo>
                    <a:pt x="402" y="612"/>
                  </a:lnTo>
                  <a:lnTo>
                    <a:pt x="380" y="587"/>
                  </a:lnTo>
                  <a:lnTo>
                    <a:pt x="350" y="565"/>
                  </a:lnTo>
                  <a:lnTo>
                    <a:pt x="310" y="543"/>
                  </a:lnTo>
                  <a:lnTo>
                    <a:pt x="258" y="523"/>
                  </a:lnTo>
                  <a:lnTo>
                    <a:pt x="211" y="503"/>
                  </a:lnTo>
                  <a:lnTo>
                    <a:pt x="167" y="482"/>
                  </a:lnTo>
                  <a:lnTo>
                    <a:pt x="129" y="459"/>
                  </a:lnTo>
                  <a:lnTo>
                    <a:pt x="95" y="434"/>
                  </a:lnTo>
                  <a:lnTo>
                    <a:pt x="67" y="405"/>
                  </a:lnTo>
                  <a:lnTo>
                    <a:pt x="44" y="373"/>
                  </a:lnTo>
                  <a:lnTo>
                    <a:pt x="27" y="339"/>
                  </a:lnTo>
                  <a:lnTo>
                    <a:pt x="17" y="301"/>
                  </a:lnTo>
                  <a:lnTo>
                    <a:pt x="13" y="259"/>
                  </a:lnTo>
                  <a:lnTo>
                    <a:pt x="17" y="215"/>
                  </a:lnTo>
                  <a:lnTo>
                    <a:pt x="29" y="175"/>
                  </a:lnTo>
                  <a:lnTo>
                    <a:pt x="45" y="138"/>
                  </a:lnTo>
                  <a:lnTo>
                    <a:pt x="70" y="104"/>
                  </a:lnTo>
                  <a:lnTo>
                    <a:pt x="100" y="74"/>
                  </a:lnTo>
                  <a:lnTo>
                    <a:pt x="136" y="49"/>
                  </a:lnTo>
                  <a:lnTo>
                    <a:pt x="177" y="27"/>
                  </a:lnTo>
                  <a:lnTo>
                    <a:pt x="224" y="12"/>
                  </a:lnTo>
                  <a:lnTo>
                    <a:pt x="276" y="3"/>
                  </a:lnTo>
                  <a:lnTo>
                    <a:pt x="33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40" name="Freeform 12"/>
            <p:cNvSpPr>
              <a:spLocks/>
            </p:cNvSpPr>
            <p:nvPr/>
          </p:nvSpPr>
          <p:spPr bwMode="black">
            <a:xfrm>
              <a:off x="3829075" y="3664501"/>
              <a:ext cx="609600" cy="731838"/>
            </a:xfrm>
            <a:custGeom>
              <a:avLst/>
              <a:gdLst>
                <a:gd name="T0" fmla="*/ 563 w 768"/>
                <a:gd name="T1" fmla="*/ 2 h 921"/>
                <a:gd name="T2" fmla="*/ 669 w 768"/>
                <a:gd name="T3" fmla="*/ 18 h 921"/>
                <a:gd name="T4" fmla="*/ 739 w 768"/>
                <a:gd name="T5" fmla="*/ 42 h 921"/>
                <a:gd name="T6" fmla="*/ 672 w 768"/>
                <a:gd name="T7" fmla="*/ 163 h 921"/>
                <a:gd name="T8" fmla="*/ 597 w 768"/>
                <a:gd name="T9" fmla="*/ 143 h 921"/>
                <a:gd name="T10" fmla="*/ 498 w 768"/>
                <a:gd name="T11" fmla="*/ 136 h 921"/>
                <a:gd name="T12" fmla="*/ 399 w 768"/>
                <a:gd name="T13" fmla="*/ 148 h 921"/>
                <a:gd name="T14" fmla="*/ 316 w 768"/>
                <a:gd name="T15" fmla="*/ 181 h 921"/>
                <a:gd name="T16" fmla="*/ 249 w 768"/>
                <a:gd name="T17" fmla="*/ 235 h 921"/>
                <a:gd name="T18" fmla="*/ 200 w 768"/>
                <a:gd name="T19" fmla="*/ 311 h 921"/>
                <a:gd name="T20" fmla="*/ 175 w 768"/>
                <a:gd name="T21" fmla="*/ 405 h 921"/>
                <a:gd name="T22" fmla="*/ 175 w 768"/>
                <a:gd name="T23" fmla="*/ 519 h 921"/>
                <a:gd name="T24" fmla="*/ 204 w 768"/>
                <a:gd name="T25" fmla="*/ 622 h 921"/>
                <a:gd name="T26" fmla="*/ 259 w 768"/>
                <a:gd name="T27" fmla="*/ 701 h 921"/>
                <a:gd name="T28" fmla="*/ 334 w 768"/>
                <a:gd name="T29" fmla="*/ 756 h 921"/>
                <a:gd name="T30" fmla="*/ 430 w 768"/>
                <a:gd name="T31" fmla="*/ 783 h 921"/>
                <a:gd name="T32" fmla="*/ 527 w 768"/>
                <a:gd name="T33" fmla="*/ 787 h 921"/>
                <a:gd name="T34" fmla="*/ 589 w 768"/>
                <a:gd name="T35" fmla="*/ 777 h 921"/>
                <a:gd name="T36" fmla="*/ 609 w 768"/>
                <a:gd name="T37" fmla="*/ 417 h 921"/>
                <a:gd name="T38" fmla="*/ 768 w 768"/>
                <a:gd name="T39" fmla="*/ 871 h 921"/>
                <a:gd name="T40" fmla="*/ 694 w 768"/>
                <a:gd name="T41" fmla="*/ 893 h 921"/>
                <a:gd name="T42" fmla="*/ 594 w 768"/>
                <a:gd name="T43" fmla="*/ 913 h 921"/>
                <a:gd name="T44" fmla="*/ 478 w 768"/>
                <a:gd name="T45" fmla="*/ 921 h 921"/>
                <a:gd name="T46" fmla="*/ 339 w 768"/>
                <a:gd name="T47" fmla="*/ 908 h 921"/>
                <a:gd name="T48" fmla="*/ 220 w 768"/>
                <a:gd name="T49" fmla="*/ 869 h 921"/>
                <a:gd name="T50" fmla="*/ 125 w 768"/>
                <a:gd name="T51" fmla="*/ 802 h 921"/>
                <a:gd name="T52" fmla="*/ 58 w 768"/>
                <a:gd name="T53" fmla="*/ 711 h 921"/>
                <a:gd name="T54" fmla="*/ 15 w 768"/>
                <a:gd name="T55" fmla="*/ 598 h 921"/>
                <a:gd name="T56" fmla="*/ 0 w 768"/>
                <a:gd name="T57" fmla="*/ 469 h 921"/>
                <a:gd name="T58" fmla="*/ 16 w 768"/>
                <a:gd name="T59" fmla="*/ 334 h 921"/>
                <a:gd name="T60" fmla="*/ 65 w 768"/>
                <a:gd name="T61" fmla="*/ 220 h 921"/>
                <a:gd name="T62" fmla="*/ 138 w 768"/>
                <a:gd name="T63" fmla="*/ 126 h 921"/>
                <a:gd name="T64" fmla="*/ 239 w 768"/>
                <a:gd name="T65" fmla="*/ 57 h 921"/>
                <a:gd name="T66" fmla="*/ 359 w 768"/>
                <a:gd name="T67" fmla="*/ 15 h 921"/>
                <a:gd name="T68" fmla="*/ 500 w 768"/>
                <a:gd name="T69"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8" h="921">
                  <a:moveTo>
                    <a:pt x="500" y="0"/>
                  </a:moveTo>
                  <a:lnTo>
                    <a:pt x="563" y="2"/>
                  </a:lnTo>
                  <a:lnTo>
                    <a:pt x="620" y="8"/>
                  </a:lnTo>
                  <a:lnTo>
                    <a:pt x="669" y="18"/>
                  </a:lnTo>
                  <a:lnTo>
                    <a:pt x="709" y="30"/>
                  </a:lnTo>
                  <a:lnTo>
                    <a:pt x="739" y="42"/>
                  </a:lnTo>
                  <a:lnTo>
                    <a:pt x="702" y="175"/>
                  </a:lnTo>
                  <a:lnTo>
                    <a:pt x="672" y="163"/>
                  </a:lnTo>
                  <a:lnTo>
                    <a:pt x="637" y="151"/>
                  </a:lnTo>
                  <a:lnTo>
                    <a:pt x="597" y="143"/>
                  </a:lnTo>
                  <a:lnTo>
                    <a:pt x="552" y="138"/>
                  </a:lnTo>
                  <a:lnTo>
                    <a:pt x="498" y="136"/>
                  </a:lnTo>
                  <a:lnTo>
                    <a:pt x="448" y="139"/>
                  </a:lnTo>
                  <a:lnTo>
                    <a:pt x="399" y="148"/>
                  </a:lnTo>
                  <a:lnTo>
                    <a:pt x="356" y="161"/>
                  </a:lnTo>
                  <a:lnTo>
                    <a:pt x="316" y="181"/>
                  </a:lnTo>
                  <a:lnTo>
                    <a:pt x="279" y="205"/>
                  </a:lnTo>
                  <a:lnTo>
                    <a:pt x="249" y="235"/>
                  </a:lnTo>
                  <a:lnTo>
                    <a:pt x="222" y="271"/>
                  </a:lnTo>
                  <a:lnTo>
                    <a:pt x="200" y="311"/>
                  </a:lnTo>
                  <a:lnTo>
                    <a:pt x="185" y="356"/>
                  </a:lnTo>
                  <a:lnTo>
                    <a:pt x="175" y="405"/>
                  </a:lnTo>
                  <a:lnTo>
                    <a:pt x="172" y="461"/>
                  </a:lnTo>
                  <a:lnTo>
                    <a:pt x="175" y="519"/>
                  </a:lnTo>
                  <a:lnTo>
                    <a:pt x="187" y="573"/>
                  </a:lnTo>
                  <a:lnTo>
                    <a:pt x="204" y="622"/>
                  </a:lnTo>
                  <a:lnTo>
                    <a:pt x="229" y="664"/>
                  </a:lnTo>
                  <a:lnTo>
                    <a:pt x="259" y="701"/>
                  </a:lnTo>
                  <a:lnTo>
                    <a:pt x="294" y="731"/>
                  </a:lnTo>
                  <a:lnTo>
                    <a:pt x="334" y="756"/>
                  </a:lnTo>
                  <a:lnTo>
                    <a:pt x="379" y="773"/>
                  </a:lnTo>
                  <a:lnTo>
                    <a:pt x="430" y="783"/>
                  </a:lnTo>
                  <a:lnTo>
                    <a:pt x="485" y="788"/>
                  </a:lnTo>
                  <a:lnTo>
                    <a:pt x="527" y="787"/>
                  </a:lnTo>
                  <a:lnTo>
                    <a:pt x="560" y="782"/>
                  </a:lnTo>
                  <a:lnTo>
                    <a:pt x="589" y="777"/>
                  </a:lnTo>
                  <a:lnTo>
                    <a:pt x="609" y="770"/>
                  </a:lnTo>
                  <a:lnTo>
                    <a:pt x="609" y="417"/>
                  </a:lnTo>
                  <a:lnTo>
                    <a:pt x="768" y="417"/>
                  </a:lnTo>
                  <a:lnTo>
                    <a:pt x="768" y="871"/>
                  </a:lnTo>
                  <a:lnTo>
                    <a:pt x="734" y="882"/>
                  </a:lnTo>
                  <a:lnTo>
                    <a:pt x="694" y="893"/>
                  </a:lnTo>
                  <a:lnTo>
                    <a:pt x="645" y="904"/>
                  </a:lnTo>
                  <a:lnTo>
                    <a:pt x="594" y="913"/>
                  </a:lnTo>
                  <a:lnTo>
                    <a:pt x="537" y="919"/>
                  </a:lnTo>
                  <a:lnTo>
                    <a:pt x="478" y="921"/>
                  </a:lnTo>
                  <a:lnTo>
                    <a:pt x="406" y="918"/>
                  </a:lnTo>
                  <a:lnTo>
                    <a:pt x="339" y="908"/>
                  </a:lnTo>
                  <a:lnTo>
                    <a:pt x="277" y="893"/>
                  </a:lnTo>
                  <a:lnTo>
                    <a:pt x="220" y="869"/>
                  </a:lnTo>
                  <a:lnTo>
                    <a:pt x="170" y="839"/>
                  </a:lnTo>
                  <a:lnTo>
                    <a:pt x="125" y="802"/>
                  </a:lnTo>
                  <a:lnTo>
                    <a:pt x="88" y="760"/>
                  </a:lnTo>
                  <a:lnTo>
                    <a:pt x="58" y="711"/>
                  </a:lnTo>
                  <a:lnTo>
                    <a:pt x="33" y="657"/>
                  </a:lnTo>
                  <a:lnTo>
                    <a:pt x="15" y="598"/>
                  </a:lnTo>
                  <a:lnTo>
                    <a:pt x="3" y="536"/>
                  </a:lnTo>
                  <a:lnTo>
                    <a:pt x="0" y="469"/>
                  </a:lnTo>
                  <a:lnTo>
                    <a:pt x="5" y="400"/>
                  </a:lnTo>
                  <a:lnTo>
                    <a:pt x="16" y="334"/>
                  </a:lnTo>
                  <a:lnTo>
                    <a:pt x="36" y="274"/>
                  </a:lnTo>
                  <a:lnTo>
                    <a:pt x="65" y="220"/>
                  </a:lnTo>
                  <a:lnTo>
                    <a:pt x="98" y="170"/>
                  </a:lnTo>
                  <a:lnTo>
                    <a:pt x="138" y="126"/>
                  </a:lnTo>
                  <a:lnTo>
                    <a:pt x="185" y="89"/>
                  </a:lnTo>
                  <a:lnTo>
                    <a:pt x="239" y="57"/>
                  </a:lnTo>
                  <a:lnTo>
                    <a:pt x="297" y="32"/>
                  </a:lnTo>
                  <a:lnTo>
                    <a:pt x="359" y="15"/>
                  </a:lnTo>
                  <a:lnTo>
                    <a:pt x="428" y="3"/>
                  </a:lnTo>
                  <a:lnTo>
                    <a:pt x="5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41" name="Freeform 13"/>
            <p:cNvSpPr>
              <a:spLocks noEditPoints="1"/>
            </p:cNvSpPr>
            <p:nvPr/>
          </p:nvSpPr>
          <p:spPr bwMode="black">
            <a:xfrm>
              <a:off x="6956450" y="3689901"/>
              <a:ext cx="115888" cy="114300"/>
            </a:xfrm>
            <a:custGeom>
              <a:avLst/>
              <a:gdLst>
                <a:gd name="T0" fmla="*/ 59 w 146"/>
                <a:gd name="T1" fmla="*/ 65 h 144"/>
                <a:gd name="T2" fmla="*/ 80 w 146"/>
                <a:gd name="T3" fmla="*/ 65 h 144"/>
                <a:gd name="T4" fmla="*/ 89 w 146"/>
                <a:gd name="T5" fmla="*/ 64 h 144"/>
                <a:gd name="T6" fmla="*/ 92 w 146"/>
                <a:gd name="T7" fmla="*/ 57 h 144"/>
                <a:gd name="T8" fmla="*/ 92 w 146"/>
                <a:gd name="T9" fmla="*/ 49 h 144"/>
                <a:gd name="T10" fmla="*/ 87 w 146"/>
                <a:gd name="T11" fmla="*/ 44 h 144"/>
                <a:gd name="T12" fmla="*/ 80 w 146"/>
                <a:gd name="T13" fmla="*/ 40 h 144"/>
                <a:gd name="T14" fmla="*/ 59 w 146"/>
                <a:gd name="T15" fmla="*/ 40 h 144"/>
                <a:gd name="T16" fmla="*/ 77 w 146"/>
                <a:gd name="T17" fmla="*/ 30 h 144"/>
                <a:gd name="T18" fmla="*/ 104 w 146"/>
                <a:gd name="T19" fmla="*/ 40 h 144"/>
                <a:gd name="T20" fmla="*/ 105 w 146"/>
                <a:gd name="T21" fmla="*/ 60 h 144"/>
                <a:gd name="T22" fmla="*/ 100 w 146"/>
                <a:gd name="T23" fmla="*/ 70 h 144"/>
                <a:gd name="T24" fmla="*/ 90 w 146"/>
                <a:gd name="T25" fmla="*/ 75 h 144"/>
                <a:gd name="T26" fmla="*/ 109 w 146"/>
                <a:gd name="T27" fmla="*/ 114 h 144"/>
                <a:gd name="T28" fmla="*/ 70 w 146"/>
                <a:gd name="T29" fmla="*/ 77 h 144"/>
                <a:gd name="T30" fmla="*/ 59 w 146"/>
                <a:gd name="T31" fmla="*/ 114 h 144"/>
                <a:gd name="T32" fmla="*/ 45 w 146"/>
                <a:gd name="T33" fmla="*/ 30 h 144"/>
                <a:gd name="T34" fmla="*/ 50 w 146"/>
                <a:gd name="T35" fmla="*/ 15 h 144"/>
                <a:gd name="T36" fmla="*/ 18 w 146"/>
                <a:gd name="T37" fmla="*/ 49 h 144"/>
                <a:gd name="T38" fmla="*/ 18 w 146"/>
                <a:gd name="T39" fmla="*/ 97 h 144"/>
                <a:gd name="T40" fmla="*/ 50 w 146"/>
                <a:gd name="T41" fmla="*/ 129 h 144"/>
                <a:gd name="T42" fmla="*/ 95 w 146"/>
                <a:gd name="T43" fmla="*/ 129 h 144"/>
                <a:gd name="T44" fmla="*/ 127 w 146"/>
                <a:gd name="T45" fmla="*/ 97 h 144"/>
                <a:gd name="T46" fmla="*/ 127 w 146"/>
                <a:gd name="T47" fmla="*/ 49 h 144"/>
                <a:gd name="T48" fmla="*/ 95 w 146"/>
                <a:gd name="T49" fmla="*/ 15 h 144"/>
                <a:gd name="T50" fmla="*/ 74 w 146"/>
                <a:gd name="T51" fmla="*/ 0 h 144"/>
                <a:gd name="T52" fmla="*/ 116 w 146"/>
                <a:gd name="T53" fmla="*/ 13 h 144"/>
                <a:gd name="T54" fmla="*/ 141 w 146"/>
                <a:gd name="T55" fmla="*/ 49 h 144"/>
                <a:gd name="T56" fmla="*/ 141 w 146"/>
                <a:gd name="T57" fmla="*/ 96 h 144"/>
                <a:gd name="T58" fmla="*/ 116 w 146"/>
                <a:gd name="T59" fmla="*/ 131 h 144"/>
                <a:gd name="T60" fmla="*/ 74 w 146"/>
                <a:gd name="T61" fmla="*/ 144 h 144"/>
                <a:gd name="T62" fmla="*/ 30 w 146"/>
                <a:gd name="T63" fmla="*/ 131 h 144"/>
                <a:gd name="T64" fmla="*/ 5 w 146"/>
                <a:gd name="T65" fmla="*/ 96 h 144"/>
                <a:gd name="T66" fmla="*/ 5 w 146"/>
                <a:gd name="T67" fmla="*/ 49 h 144"/>
                <a:gd name="T68" fmla="*/ 30 w 146"/>
                <a:gd name="T69" fmla="*/ 13 h 144"/>
                <a:gd name="T70" fmla="*/ 74 w 146"/>
                <a:gd name="T7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144">
                  <a:moveTo>
                    <a:pt x="59" y="40"/>
                  </a:moveTo>
                  <a:lnTo>
                    <a:pt x="59" y="65"/>
                  </a:lnTo>
                  <a:lnTo>
                    <a:pt x="75" y="65"/>
                  </a:lnTo>
                  <a:lnTo>
                    <a:pt x="80" y="65"/>
                  </a:lnTo>
                  <a:lnTo>
                    <a:pt x="85" y="65"/>
                  </a:lnTo>
                  <a:lnTo>
                    <a:pt x="89" y="64"/>
                  </a:lnTo>
                  <a:lnTo>
                    <a:pt x="90" y="62"/>
                  </a:lnTo>
                  <a:lnTo>
                    <a:pt x="92" y="57"/>
                  </a:lnTo>
                  <a:lnTo>
                    <a:pt x="92" y="54"/>
                  </a:lnTo>
                  <a:lnTo>
                    <a:pt x="92" y="49"/>
                  </a:lnTo>
                  <a:lnTo>
                    <a:pt x="90" y="45"/>
                  </a:lnTo>
                  <a:lnTo>
                    <a:pt x="87" y="44"/>
                  </a:lnTo>
                  <a:lnTo>
                    <a:pt x="84" y="42"/>
                  </a:lnTo>
                  <a:lnTo>
                    <a:pt x="80" y="40"/>
                  </a:lnTo>
                  <a:lnTo>
                    <a:pt x="75" y="40"/>
                  </a:lnTo>
                  <a:lnTo>
                    <a:pt x="59" y="40"/>
                  </a:lnTo>
                  <a:close/>
                  <a:moveTo>
                    <a:pt x="45" y="30"/>
                  </a:moveTo>
                  <a:lnTo>
                    <a:pt x="77" y="30"/>
                  </a:lnTo>
                  <a:lnTo>
                    <a:pt x="94" y="32"/>
                  </a:lnTo>
                  <a:lnTo>
                    <a:pt x="104" y="40"/>
                  </a:lnTo>
                  <a:lnTo>
                    <a:pt x="107" y="54"/>
                  </a:lnTo>
                  <a:lnTo>
                    <a:pt x="105" y="60"/>
                  </a:lnTo>
                  <a:lnTo>
                    <a:pt x="104" y="65"/>
                  </a:lnTo>
                  <a:lnTo>
                    <a:pt x="100" y="70"/>
                  </a:lnTo>
                  <a:lnTo>
                    <a:pt x="97" y="74"/>
                  </a:lnTo>
                  <a:lnTo>
                    <a:pt x="90" y="75"/>
                  </a:lnTo>
                  <a:lnTo>
                    <a:pt x="85" y="77"/>
                  </a:lnTo>
                  <a:lnTo>
                    <a:pt x="109" y="114"/>
                  </a:lnTo>
                  <a:lnTo>
                    <a:pt x="94" y="114"/>
                  </a:lnTo>
                  <a:lnTo>
                    <a:pt x="70" y="77"/>
                  </a:lnTo>
                  <a:lnTo>
                    <a:pt x="59" y="77"/>
                  </a:lnTo>
                  <a:lnTo>
                    <a:pt x="59" y="114"/>
                  </a:lnTo>
                  <a:lnTo>
                    <a:pt x="45" y="114"/>
                  </a:lnTo>
                  <a:lnTo>
                    <a:pt x="45" y="30"/>
                  </a:lnTo>
                  <a:close/>
                  <a:moveTo>
                    <a:pt x="74" y="10"/>
                  </a:moveTo>
                  <a:lnTo>
                    <a:pt x="50" y="15"/>
                  </a:lnTo>
                  <a:lnTo>
                    <a:pt x="32" y="28"/>
                  </a:lnTo>
                  <a:lnTo>
                    <a:pt x="18" y="49"/>
                  </a:lnTo>
                  <a:lnTo>
                    <a:pt x="15" y="72"/>
                  </a:lnTo>
                  <a:lnTo>
                    <a:pt x="18" y="97"/>
                  </a:lnTo>
                  <a:lnTo>
                    <a:pt x="32" y="116"/>
                  </a:lnTo>
                  <a:lnTo>
                    <a:pt x="50" y="129"/>
                  </a:lnTo>
                  <a:lnTo>
                    <a:pt x="74" y="134"/>
                  </a:lnTo>
                  <a:lnTo>
                    <a:pt x="95" y="129"/>
                  </a:lnTo>
                  <a:lnTo>
                    <a:pt x="114" y="116"/>
                  </a:lnTo>
                  <a:lnTo>
                    <a:pt x="127" y="97"/>
                  </a:lnTo>
                  <a:lnTo>
                    <a:pt x="131" y="72"/>
                  </a:lnTo>
                  <a:lnTo>
                    <a:pt x="127" y="49"/>
                  </a:lnTo>
                  <a:lnTo>
                    <a:pt x="114" y="28"/>
                  </a:lnTo>
                  <a:lnTo>
                    <a:pt x="95" y="15"/>
                  </a:lnTo>
                  <a:lnTo>
                    <a:pt x="74" y="10"/>
                  </a:lnTo>
                  <a:close/>
                  <a:moveTo>
                    <a:pt x="74" y="0"/>
                  </a:moveTo>
                  <a:lnTo>
                    <a:pt x="95" y="3"/>
                  </a:lnTo>
                  <a:lnTo>
                    <a:pt x="116" y="13"/>
                  </a:lnTo>
                  <a:lnTo>
                    <a:pt x="131" y="30"/>
                  </a:lnTo>
                  <a:lnTo>
                    <a:pt x="141" y="49"/>
                  </a:lnTo>
                  <a:lnTo>
                    <a:pt x="146" y="72"/>
                  </a:lnTo>
                  <a:lnTo>
                    <a:pt x="141" y="96"/>
                  </a:lnTo>
                  <a:lnTo>
                    <a:pt x="131" y="114"/>
                  </a:lnTo>
                  <a:lnTo>
                    <a:pt x="116" y="131"/>
                  </a:lnTo>
                  <a:lnTo>
                    <a:pt x="95" y="141"/>
                  </a:lnTo>
                  <a:lnTo>
                    <a:pt x="74" y="144"/>
                  </a:lnTo>
                  <a:lnTo>
                    <a:pt x="50" y="141"/>
                  </a:lnTo>
                  <a:lnTo>
                    <a:pt x="30" y="131"/>
                  </a:lnTo>
                  <a:lnTo>
                    <a:pt x="15" y="114"/>
                  </a:lnTo>
                  <a:lnTo>
                    <a:pt x="5" y="96"/>
                  </a:lnTo>
                  <a:lnTo>
                    <a:pt x="0" y="72"/>
                  </a:lnTo>
                  <a:lnTo>
                    <a:pt x="5" y="49"/>
                  </a:lnTo>
                  <a:lnTo>
                    <a:pt x="15" y="30"/>
                  </a:lnTo>
                  <a:lnTo>
                    <a:pt x="30" y="13"/>
                  </a:lnTo>
                  <a:lnTo>
                    <a:pt x="50" y="3"/>
                  </a:lnTo>
                  <a:lnTo>
                    <a:pt x="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grpSp>
    </p:spTree>
    <p:extLst>
      <p:ext uri="{BB962C8B-B14F-4D97-AF65-F5344CB8AC3E}">
        <p14:creationId xmlns:p14="http://schemas.microsoft.com/office/powerpoint/2010/main" val="6969998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413792"/>
            <a:ext cx="8229600" cy="1143000"/>
          </a:xfrm>
          <a:prstGeom prst="rect">
            <a:avLst/>
          </a:prstGeom>
        </p:spPr>
        <p:txBody>
          <a:bodyPr vert="horz" lIns="0" tIns="0" rIns="0" bIns="0" rtlCol="0" anchor="ctr">
            <a:normAutofit/>
          </a:bodyPr>
          <a:lstStyle/>
          <a:p>
            <a:r>
              <a:rPr lang="cs-CZ" dirty="0"/>
              <a:t>Nadpis snímku</a:t>
            </a:r>
          </a:p>
        </p:txBody>
      </p:sp>
      <p:sp>
        <p:nvSpPr>
          <p:cNvPr id="3" name="Zástupný symbol pro text 2"/>
          <p:cNvSpPr>
            <a:spLocks noGrp="1"/>
          </p:cNvSpPr>
          <p:nvPr>
            <p:ph type="body" idx="1"/>
          </p:nvPr>
        </p:nvSpPr>
        <p:spPr>
          <a:xfrm>
            <a:off x="457200" y="1772816"/>
            <a:ext cx="8229600" cy="4536504"/>
          </a:xfrm>
          <a:prstGeom prst="rect">
            <a:avLst/>
          </a:prstGeom>
        </p:spPr>
        <p:txBody>
          <a:bodyPr vert="horz" lIns="0" tIns="0" rIns="0" bIns="0" rtlCol="0">
            <a:normAutofit/>
          </a:bodyPr>
          <a:lstStyle/>
          <a:p>
            <a:pPr lvl="0"/>
            <a:r>
              <a:rPr lang="cs-CZ" dirty="0"/>
              <a:t>První úroveň</a:t>
            </a:r>
          </a:p>
          <a:p>
            <a:pPr lvl="1"/>
            <a:r>
              <a:rPr lang="cs-CZ" dirty="0"/>
              <a:t>Druhá úroveň</a:t>
            </a:r>
          </a:p>
          <a:p>
            <a:pPr lvl="2"/>
            <a:r>
              <a:rPr lang="cs-CZ" dirty="0"/>
              <a:t>Třetí úroveň</a:t>
            </a:r>
          </a:p>
          <a:p>
            <a:pPr lvl="3"/>
            <a:r>
              <a:rPr lang="cs-CZ" dirty="0"/>
              <a:t>Čtvrtá úroveň</a:t>
            </a:r>
          </a:p>
          <a:p>
            <a:pPr lvl="4"/>
            <a:r>
              <a:rPr lang="cs-CZ" dirty="0"/>
              <a:t>Pátá úroveň</a:t>
            </a:r>
          </a:p>
        </p:txBody>
      </p:sp>
      <p:grpSp>
        <p:nvGrpSpPr>
          <p:cNvPr id="15" name="Skupina 14"/>
          <p:cNvGrpSpPr>
            <a:grpSpLocks noChangeAspect="1"/>
          </p:cNvGrpSpPr>
          <p:nvPr userDrawn="1"/>
        </p:nvGrpSpPr>
        <p:grpSpPr bwMode="black">
          <a:xfrm>
            <a:off x="7380312" y="6417360"/>
            <a:ext cx="1360149" cy="252000"/>
            <a:chOff x="2695600" y="3623226"/>
            <a:chExt cx="4376738" cy="817563"/>
          </a:xfrm>
          <a:solidFill>
            <a:schemeClr val="tx2"/>
          </a:solidFill>
        </p:grpSpPr>
        <p:sp>
          <p:nvSpPr>
            <p:cNvPr id="16" name="Freeform 6"/>
            <p:cNvSpPr>
              <a:spLocks/>
            </p:cNvSpPr>
            <p:nvPr/>
          </p:nvSpPr>
          <p:spPr bwMode="black">
            <a:xfrm>
              <a:off x="2695600" y="3623226"/>
              <a:ext cx="744538" cy="746125"/>
            </a:xfrm>
            <a:custGeom>
              <a:avLst/>
              <a:gdLst>
                <a:gd name="T0" fmla="*/ 544 w 937"/>
                <a:gd name="T1" fmla="*/ 0 h 940"/>
                <a:gd name="T2" fmla="*/ 665 w 937"/>
                <a:gd name="T3" fmla="*/ 22 h 940"/>
                <a:gd name="T4" fmla="*/ 777 w 937"/>
                <a:gd name="T5" fmla="*/ 74 h 940"/>
                <a:gd name="T6" fmla="*/ 879 w 937"/>
                <a:gd name="T7" fmla="*/ 153 h 940"/>
                <a:gd name="T8" fmla="*/ 921 w 937"/>
                <a:gd name="T9" fmla="*/ 210 h 940"/>
                <a:gd name="T10" fmla="*/ 937 w 937"/>
                <a:gd name="T11" fmla="*/ 272 h 940"/>
                <a:gd name="T12" fmla="*/ 934 w 937"/>
                <a:gd name="T13" fmla="*/ 314 h 940"/>
                <a:gd name="T14" fmla="*/ 929 w 937"/>
                <a:gd name="T15" fmla="*/ 321 h 940"/>
                <a:gd name="T16" fmla="*/ 922 w 937"/>
                <a:gd name="T17" fmla="*/ 323 h 940"/>
                <a:gd name="T18" fmla="*/ 917 w 937"/>
                <a:gd name="T19" fmla="*/ 318 h 940"/>
                <a:gd name="T20" fmla="*/ 916 w 937"/>
                <a:gd name="T21" fmla="*/ 307 h 940"/>
                <a:gd name="T22" fmla="*/ 907 w 937"/>
                <a:gd name="T23" fmla="*/ 250 h 940"/>
                <a:gd name="T24" fmla="*/ 870 w 937"/>
                <a:gd name="T25" fmla="*/ 215 h 940"/>
                <a:gd name="T26" fmla="*/ 812 w 937"/>
                <a:gd name="T27" fmla="*/ 205 h 940"/>
                <a:gd name="T28" fmla="*/ 735 w 937"/>
                <a:gd name="T29" fmla="*/ 225 h 940"/>
                <a:gd name="T30" fmla="*/ 645 w 937"/>
                <a:gd name="T31" fmla="*/ 270 h 940"/>
                <a:gd name="T32" fmla="*/ 542 w 937"/>
                <a:gd name="T33" fmla="*/ 341 h 940"/>
                <a:gd name="T34" fmla="*/ 437 w 937"/>
                <a:gd name="T35" fmla="*/ 437 h 940"/>
                <a:gd name="T36" fmla="*/ 342 w 937"/>
                <a:gd name="T37" fmla="*/ 544 h 940"/>
                <a:gd name="T38" fmla="*/ 271 w 937"/>
                <a:gd name="T39" fmla="*/ 645 h 940"/>
                <a:gd name="T40" fmla="*/ 225 w 937"/>
                <a:gd name="T41" fmla="*/ 736 h 940"/>
                <a:gd name="T42" fmla="*/ 206 w 937"/>
                <a:gd name="T43" fmla="*/ 813 h 940"/>
                <a:gd name="T44" fmla="*/ 215 w 937"/>
                <a:gd name="T45" fmla="*/ 874 h 940"/>
                <a:gd name="T46" fmla="*/ 251 w 937"/>
                <a:gd name="T47" fmla="*/ 909 h 940"/>
                <a:gd name="T48" fmla="*/ 308 w 937"/>
                <a:gd name="T49" fmla="*/ 918 h 940"/>
                <a:gd name="T50" fmla="*/ 318 w 937"/>
                <a:gd name="T51" fmla="*/ 921 h 940"/>
                <a:gd name="T52" fmla="*/ 322 w 937"/>
                <a:gd name="T53" fmla="*/ 926 h 940"/>
                <a:gd name="T54" fmla="*/ 322 w 937"/>
                <a:gd name="T55" fmla="*/ 931 h 940"/>
                <a:gd name="T56" fmla="*/ 315 w 937"/>
                <a:gd name="T57" fmla="*/ 936 h 940"/>
                <a:gd name="T58" fmla="*/ 273 w 937"/>
                <a:gd name="T59" fmla="*/ 940 h 940"/>
                <a:gd name="T60" fmla="*/ 211 w 937"/>
                <a:gd name="T61" fmla="*/ 924 h 940"/>
                <a:gd name="T62" fmla="*/ 154 w 937"/>
                <a:gd name="T63" fmla="*/ 881 h 940"/>
                <a:gd name="T64" fmla="*/ 74 w 937"/>
                <a:gd name="T65" fmla="*/ 778 h 940"/>
                <a:gd name="T66" fmla="*/ 24 w 937"/>
                <a:gd name="T67" fmla="*/ 666 h 940"/>
                <a:gd name="T68" fmla="*/ 2 w 937"/>
                <a:gd name="T69" fmla="*/ 544 h 940"/>
                <a:gd name="T70" fmla="*/ 7 w 937"/>
                <a:gd name="T71" fmla="*/ 423 h 940"/>
                <a:gd name="T72" fmla="*/ 42 w 937"/>
                <a:gd name="T73" fmla="*/ 304 h 940"/>
                <a:gd name="T74" fmla="*/ 106 w 937"/>
                <a:gd name="T75" fmla="*/ 196 h 940"/>
                <a:gd name="T76" fmla="*/ 198 w 937"/>
                <a:gd name="T77" fmla="*/ 106 h 940"/>
                <a:gd name="T78" fmla="*/ 305 w 937"/>
                <a:gd name="T79" fmla="*/ 42 h 940"/>
                <a:gd name="T80" fmla="*/ 422 w 937"/>
                <a:gd name="T81" fmla="*/ 6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7" h="940">
                  <a:moveTo>
                    <a:pt x="482" y="0"/>
                  </a:moveTo>
                  <a:lnTo>
                    <a:pt x="544" y="0"/>
                  </a:lnTo>
                  <a:lnTo>
                    <a:pt x="604" y="6"/>
                  </a:lnTo>
                  <a:lnTo>
                    <a:pt x="665" y="22"/>
                  </a:lnTo>
                  <a:lnTo>
                    <a:pt x="721" y="43"/>
                  </a:lnTo>
                  <a:lnTo>
                    <a:pt x="777" y="74"/>
                  </a:lnTo>
                  <a:lnTo>
                    <a:pt x="830" y="109"/>
                  </a:lnTo>
                  <a:lnTo>
                    <a:pt x="879" y="153"/>
                  </a:lnTo>
                  <a:lnTo>
                    <a:pt x="904" y="181"/>
                  </a:lnTo>
                  <a:lnTo>
                    <a:pt x="921" y="210"/>
                  </a:lnTo>
                  <a:lnTo>
                    <a:pt x="932" y="240"/>
                  </a:lnTo>
                  <a:lnTo>
                    <a:pt x="937" y="272"/>
                  </a:lnTo>
                  <a:lnTo>
                    <a:pt x="936" y="309"/>
                  </a:lnTo>
                  <a:lnTo>
                    <a:pt x="934" y="314"/>
                  </a:lnTo>
                  <a:lnTo>
                    <a:pt x="932" y="318"/>
                  </a:lnTo>
                  <a:lnTo>
                    <a:pt x="929" y="321"/>
                  </a:lnTo>
                  <a:lnTo>
                    <a:pt x="926" y="323"/>
                  </a:lnTo>
                  <a:lnTo>
                    <a:pt x="922" y="323"/>
                  </a:lnTo>
                  <a:lnTo>
                    <a:pt x="921" y="321"/>
                  </a:lnTo>
                  <a:lnTo>
                    <a:pt x="917" y="318"/>
                  </a:lnTo>
                  <a:lnTo>
                    <a:pt x="916" y="312"/>
                  </a:lnTo>
                  <a:lnTo>
                    <a:pt x="916" y="307"/>
                  </a:lnTo>
                  <a:lnTo>
                    <a:pt x="914" y="277"/>
                  </a:lnTo>
                  <a:lnTo>
                    <a:pt x="907" y="250"/>
                  </a:lnTo>
                  <a:lnTo>
                    <a:pt x="892" y="230"/>
                  </a:lnTo>
                  <a:lnTo>
                    <a:pt x="870" y="215"/>
                  </a:lnTo>
                  <a:lnTo>
                    <a:pt x="844" y="207"/>
                  </a:lnTo>
                  <a:lnTo>
                    <a:pt x="812" y="205"/>
                  </a:lnTo>
                  <a:lnTo>
                    <a:pt x="775" y="212"/>
                  </a:lnTo>
                  <a:lnTo>
                    <a:pt x="735" y="225"/>
                  </a:lnTo>
                  <a:lnTo>
                    <a:pt x="691" y="244"/>
                  </a:lnTo>
                  <a:lnTo>
                    <a:pt x="645" y="270"/>
                  </a:lnTo>
                  <a:lnTo>
                    <a:pt x="594" y="302"/>
                  </a:lnTo>
                  <a:lnTo>
                    <a:pt x="542" y="341"/>
                  </a:lnTo>
                  <a:lnTo>
                    <a:pt x="491" y="386"/>
                  </a:lnTo>
                  <a:lnTo>
                    <a:pt x="437" y="437"/>
                  </a:lnTo>
                  <a:lnTo>
                    <a:pt x="387" y="491"/>
                  </a:lnTo>
                  <a:lnTo>
                    <a:pt x="342" y="544"/>
                  </a:lnTo>
                  <a:lnTo>
                    <a:pt x="303" y="595"/>
                  </a:lnTo>
                  <a:lnTo>
                    <a:pt x="271" y="645"/>
                  </a:lnTo>
                  <a:lnTo>
                    <a:pt x="245" y="692"/>
                  </a:lnTo>
                  <a:lnTo>
                    <a:pt x="225" y="736"/>
                  </a:lnTo>
                  <a:lnTo>
                    <a:pt x="213" y="776"/>
                  </a:lnTo>
                  <a:lnTo>
                    <a:pt x="206" y="813"/>
                  </a:lnTo>
                  <a:lnTo>
                    <a:pt x="208" y="845"/>
                  </a:lnTo>
                  <a:lnTo>
                    <a:pt x="215" y="874"/>
                  </a:lnTo>
                  <a:lnTo>
                    <a:pt x="230" y="894"/>
                  </a:lnTo>
                  <a:lnTo>
                    <a:pt x="251" y="909"/>
                  </a:lnTo>
                  <a:lnTo>
                    <a:pt x="276" y="918"/>
                  </a:lnTo>
                  <a:lnTo>
                    <a:pt x="308" y="918"/>
                  </a:lnTo>
                  <a:lnTo>
                    <a:pt x="313" y="919"/>
                  </a:lnTo>
                  <a:lnTo>
                    <a:pt x="318" y="921"/>
                  </a:lnTo>
                  <a:lnTo>
                    <a:pt x="320" y="923"/>
                  </a:lnTo>
                  <a:lnTo>
                    <a:pt x="322" y="926"/>
                  </a:lnTo>
                  <a:lnTo>
                    <a:pt x="322" y="929"/>
                  </a:lnTo>
                  <a:lnTo>
                    <a:pt x="322" y="931"/>
                  </a:lnTo>
                  <a:lnTo>
                    <a:pt x="318" y="934"/>
                  </a:lnTo>
                  <a:lnTo>
                    <a:pt x="315" y="936"/>
                  </a:lnTo>
                  <a:lnTo>
                    <a:pt x="310" y="938"/>
                  </a:lnTo>
                  <a:lnTo>
                    <a:pt x="273" y="940"/>
                  </a:lnTo>
                  <a:lnTo>
                    <a:pt x="241" y="934"/>
                  </a:lnTo>
                  <a:lnTo>
                    <a:pt x="211" y="924"/>
                  </a:lnTo>
                  <a:lnTo>
                    <a:pt x="183" y="906"/>
                  </a:lnTo>
                  <a:lnTo>
                    <a:pt x="154" y="881"/>
                  </a:lnTo>
                  <a:lnTo>
                    <a:pt x="111" y="832"/>
                  </a:lnTo>
                  <a:lnTo>
                    <a:pt x="74" y="778"/>
                  </a:lnTo>
                  <a:lnTo>
                    <a:pt x="46" y="723"/>
                  </a:lnTo>
                  <a:lnTo>
                    <a:pt x="24" y="666"/>
                  </a:lnTo>
                  <a:lnTo>
                    <a:pt x="9" y="605"/>
                  </a:lnTo>
                  <a:lnTo>
                    <a:pt x="2" y="544"/>
                  </a:lnTo>
                  <a:lnTo>
                    <a:pt x="0" y="484"/>
                  </a:lnTo>
                  <a:lnTo>
                    <a:pt x="7" y="423"/>
                  </a:lnTo>
                  <a:lnTo>
                    <a:pt x="22" y="363"/>
                  </a:lnTo>
                  <a:lnTo>
                    <a:pt x="42" y="304"/>
                  </a:lnTo>
                  <a:lnTo>
                    <a:pt x="71" y="249"/>
                  </a:lnTo>
                  <a:lnTo>
                    <a:pt x="106" y="196"/>
                  </a:lnTo>
                  <a:lnTo>
                    <a:pt x="149" y="148"/>
                  </a:lnTo>
                  <a:lnTo>
                    <a:pt x="198" y="106"/>
                  </a:lnTo>
                  <a:lnTo>
                    <a:pt x="250" y="70"/>
                  </a:lnTo>
                  <a:lnTo>
                    <a:pt x="305" y="42"/>
                  </a:lnTo>
                  <a:lnTo>
                    <a:pt x="363" y="20"/>
                  </a:lnTo>
                  <a:lnTo>
                    <a:pt x="422" y="6"/>
                  </a:lnTo>
                  <a:lnTo>
                    <a:pt x="4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7" name="Freeform 7"/>
            <p:cNvSpPr>
              <a:spLocks noEditPoints="1"/>
            </p:cNvSpPr>
            <p:nvPr/>
          </p:nvSpPr>
          <p:spPr bwMode="black">
            <a:xfrm>
              <a:off x="2930550" y="3694664"/>
              <a:ext cx="742950" cy="746125"/>
            </a:xfrm>
            <a:custGeom>
              <a:avLst/>
              <a:gdLst>
                <a:gd name="T0" fmla="*/ 501 w 936"/>
                <a:gd name="T1" fmla="*/ 502 h 939"/>
                <a:gd name="T2" fmla="*/ 501 w 936"/>
                <a:gd name="T3" fmla="*/ 502 h 939"/>
                <a:gd name="T4" fmla="*/ 697 w 936"/>
                <a:gd name="T5" fmla="*/ 5 h 939"/>
                <a:gd name="T6" fmla="*/ 755 w 936"/>
                <a:gd name="T7" fmla="*/ 33 h 939"/>
                <a:gd name="T8" fmla="*/ 827 w 936"/>
                <a:gd name="T9" fmla="*/ 107 h 939"/>
                <a:gd name="T10" fmla="*/ 892 w 936"/>
                <a:gd name="T11" fmla="*/ 216 h 939"/>
                <a:gd name="T12" fmla="*/ 927 w 936"/>
                <a:gd name="T13" fmla="*/ 334 h 939"/>
                <a:gd name="T14" fmla="*/ 936 w 936"/>
                <a:gd name="T15" fmla="*/ 455 h 939"/>
                <a:gd name="T16" fmla="*/ 916 w 936"/>
                <a:gd name="T17" fmla="*/ 576 h 939"/>
                <a:gd name="T18" fmla="*/ 866 w 936"/>
                <a:gd name="T19" fmla="*/ 691 h 939"/>
                <a:gd name="T20" fmla="*/ 789 w 936"/>
                <a:gd name="T21" fmla="*/ 791 h 939"/>
                <a:gd name="T22" fmla="*/ 688 w 936"/>
                <a:gd name="T23" fmla="*/ 870 h 939"/>
                <a:gd name="T24" fmla="*/ 574 w 936"/>
                <a:gd name="T25" fmla="*/ 919 h 939"/>
                <a:gd name="T26" fmla="*/ 454 w 936"/>
                <a:gd name="T27" fmla="*/ 939 h 939"/>
                <a:gd name="T28" fmla="*/ 333 w 936"/>
                <a:gd name="T29" fmla="*/ 933 h 939"/>
                <a:gd name="T30" fmla="*/ 216 w 936"/>
                <a:gd name="T31" fmla="*/ 896 h 939"/>
                <a:gd name="T32" fmla="*/ 108 w 936"/>
                <a:gd name="T33" fmla="*/ 830 h 939"/>
                <a:gd name="T34" fmla="*/ 34 w 936"/>
                <a:gd name="T35" fmla="*/ 758 h 939"/>
                <a:gd name="T36" fmla="*/ 6 w 936"/>
                <a:gd name="T37" fmla="*/ 699 h 939"/>
                <a:gd name="T38" fmla="*/ 2 w 936"/>
                <a:gd name="T39" fmla="*/ 630 h 939"/>
                <a:gd name="T40" fmla="*/ 6 w 936"/>
                <a:gd name="T41" fmla="*/ 622 h 939"/>
                <a:gd name="T42" fmla="*/ 11 w 936"/>
                <a:gd name="T43" fmla="*/ 618 h 939"/>
                <a:gd name="T44" fmla="*/ 17 w 936"/>
                <a:gd name="T45" fmla="*/ 620 h 939"/>
                <a:gd name="T46" fmla="*/ 21 w 936"/>
                <a:gd name="T47" fmla="*/ 627 h 939"/>
                <a:gd name="T48" fmla="*/ 22 w 936"/>
                <a:gd name="T49" fmla="*/ 662 h 939"/>
                <a:gd name="T50" fmla="*/ 44 w 936"/>
                <a:gd name="T51" fmla="*/ 711 h 939"/>
                <a:gd name="T52" fmla="*/ 93 w 936"/>
                <a:gd name="T53" fmla="*/ 733 h 939"/>
                <a:gd name="T54" fmla="*/ 161 w 936"/>
                <a:gd name="T55" fmla="*/ 727 h 939"/>
                <a:gd name="T56" fmla="*/ 246 w 936"/>
                <a:gd name="T57" fmla="*/ 696 h 939"/>
                <a:gd name="T58" fmla="*/ 344 w 936"/>
                <a:gd name="T59" fmla="*/ 637 h 939"/>
                <a:gd name="T60" fmla="*/ 447 w 936"/>
                <a:gd name="T61" fmla="*/ 553 h 939"/>
                <a:gd name="T62" fmla="*/ 551 w 936"/>
                <a:gd name="T63" fmla="*/ 448 h 939"/>
                <a:gd name="T64" fmla="*/ 635 w 936"/>
                <a:gd name="T65" fmla="*/ 344 h 939"/>
                <a:gd name="T66" fmla="*/ 693 w 936"/>
                <a:gd name="T67" fmla="*/ 247 h 939"/>
                <a:gd name="T68" fmla="*/ 725 w 936"/>
                <a:gd name="T69" fmla="*/ 163 h 939"/>
                <a:gd name="T70" fmla="*/ 730 w 936"/>
                <a:gd name="T71" fmla="*/ 94 h 939"/>
                <a:gd name="T72" fmla="*/ 707 w 936"/>
                <a:gd name="T73" fmla="*/ 45 h 939"/>
                <a:gd name="T74" fmla="*/ 660 w 936"/>
                <a:gd name="T75" fmla="*/ 21 h 939"/>
                <a:gd name="T76" fmla="*/ 623 w 936"/>
                <a:gd name="T77" fmla="*/ 20 h 939"/>
                <a:gd name="T78" fmla="*/ 616 w 936"/>
                <a:gd name="T79" fmla="*/ 16 h 939"/>
                <a:gd name="T80" fmla="*/ 615 w 936"/>
                <a:gd name="T81" fmla="*/ 11 h 939"/>
                <a:gd name="T82" fmla="*/ 618 w 936"/>
                <a:gd name="T83" fmla="*/ 5 h 939"/>
                <a:gd name="T84" fmla="*/ 628 w 936"/>
                <a:gd name="T85" fmla="*/ 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6" h="939">
                  <a:moveTo>
                    <a:pt x="501" y="502"/>
                  </a:moveTo>
                  <a:lnTo>
                    <a:pt x="501" y="502"/>
                  </a:lnTo>
                  <a:lnTo>
                    <a:pt x="501" y="502"/>
                  </a:lnTo>
                  <a:lnTo>
                    <a:pt x="501" y="502"/>
                  </a:lnTo>
                  <a:close/>
                  <a:moveTo>
                    <a:pt x="665" y="0"/>
                  </a:moveTo>
                  <a:lnTo>
                    <a:pt x="697" y="5"/>
                  </a:lnTo>
                  <a:lnTo>
                    <a:pt x="727" y="16"/>
                  </a:lnTo>
                  <a:lnTo>
                    <a:pt x="755" y="33"/>
                  </a:lnTo>
                  <a:lnTo>
                    <a:pt x="784" y="58"/>
                  </a:lnTo>
                  <a:lnTo>
                    <a:pt x="827" y="107"/>
                  </a:lnTo>
                  <a:lnTo>
                    <a:pt x="862" y="161"/>
                  </a:lnTo>
                  <a:lnTo>
                    <a:pt x="892" y="216"/>
                  </a:lnTo>
                  <a:lnTo>
                    <a:pt x="914" y="274"/>
                  </a:lnTo>
                  <a:lnTo>
                    <a:pt x="927" y="334"/>
                  </a:lnTo>
                  <a:lnTo>
                    <a:pt x="936" y="395"/>
                  </a:lnTo>
                  <a:lnTo>
                    <a:pt x="936" y="455"/>
                  </a:lnTo>
                  <a:lnTo>
                    <a:pt x="929" y="517"/>
                  </a:lnTo>
                  <a:lnTo>
                    <a:pt x="916" y="576"/>
                  </a:lnTo>
                  <a:lnTo>
                    <a:pt x="894" y="635"/>
                  </a:lnTo>
                  <a:lnTo>
                    <a:pt x="866" y="691"/>
                  </a:lnTo>
                  <a:lnTo>
                    <a:pt x="830" y="743"/>
                  </a:lnTo>
                  <a:lnTo>
                    <a:pt x="789" y="791"/>
                  </a:lnTo>
                  <a:lnTo>
                    <a:pt x="740" y="833"/>
                  </a:lnTo>
                  <a:lnTo>
                    <a:pt x="688" y="870"/>
                  </a:lnTo>
                  <a:lnTo>
                    <a:pt x="631" y="897"/>
                  </a:lnTo>
                  <a:lnTo>
                    <a:pt x="574" y="919"/>
                  </a:lnTo>
                  <a:lnTo>
                    <a:pt x="514" y="933"/>
                  </a:lnTo>
                  <a:lnTo>
                    <a:pt x="454" y="939"/>
                  </a:lnTo>
                  <a:lnTo>
                    <a:pt x="394" y="939"/>
                  </a:lnTo>
                  <a:lnTo>
                    <a:pt x="333" y="933"/>
                  </a:lnTo>
                  <a:lnTo>
                    <a:pt x="273" y="917"/>
                  </a:lnTo>
                  <a:lnTo>
                    <a:pt x="216" y="896"/>
                  </a:lnTo>
                  <a:lnTo>
                    <a:pt x="159" y="867"/>
                  </a:lnTo>
                  <a:lnTo>
                    <a:pt x="108" y="830"/>
                  </a:lnTo>
                  <a:lnTo>
                    <a:pt x="59" y="786"/>
                  </a:lnTo>
                  <a:lnTo>
                    <a:pt x="34" y="758"/>
                  </a:lnTo>
                  <a:lnTo>
                    <a:pt x="16" y="729"/>
                  </a:lnTo>
                  <a:lnTo>
                    <a:pt x="6" y="699"/>
                  </a:lnTo>
                  <a:lnTo>
                    <a:pt x="0" y="667"/>
                  </a:lnTo>
                  <a:lnTo>
                    <a:pt x="2" y="630"/>
                  </a:lnTo>
                  <a:lnTo>
                    <a:pt x="4" y="625"/>
                  </a:lnTo>
                  <a:lnTo>
                    <a:pt x="6" y="622"/>
                  </a:lnTo>
                  <a:lnTo>
                    <a:pt x="7" y="618"/>
                  </a:lnTo>
                  <a:lnTo>
                    <a:pt x="11" y="618"/>
                  </a:lnTo>
                  <a:lnTo>
                    <a:pt x="14" y="618"/>
                  </a:lnTo>
                  <a:lnTo>
                    <a:pt x="17" y="620"/>
                  </a:lnTo>
                  <a:lnTo>
                    <a:pt x="19" y="622"/>
                  </a:lnTo>
                  <a:lnTo>
                    <a:pt x="21" y="627"/>
                  </a:lnTo>
                  <a:lnTo>
                    <a:pt x="21" y="632"/>
                  </a:lnTo>
                  <a:lnTo>
                    <a:pt x="22" y="662"/>
                  </a:lnTo>
                  <a:lnTo>
                    <a:pt x="31" y="689"/>
                  </a:lnTo>
                  <a:lnTo>
                    <a:pt x="44" y="711"/>
                  </a:lnTo>
                  <a:lnTo>
                    <a:pt x="66" y="726"/>
                  </a:lnTo>
                  <a:lnTo>
                    <a:pt x="93" y="733"/>
                  </a:lnTo>
                  <a:lnTo>
                    <a:pt x="126" y="734"/>
                  </a:lnTo>
                  <a:lnTo>
                    <a:pt x="161" y="727"/>
                  </a:lnTo>
                  <a:lnTo>
                    <a:pt x="203" y="716"/>
                  </a:lnTo>
                  <a:lnTo>
                    <a:pt x="246" y="696"/>
                  </a:lnTo>
                  <a:lnTo>
                    <a:pt x="293" y="669"/>
                  </a:lnTo>
                  <a:lnTo>
                    <a:pt x="344" y="637"/>
                  </a:lnTo>
                  <a:lnTo>
                    <a:pt x="394" y="598"/>
                  </a:lnTo>
                  <a:lnTo>
                    <a:pt x="447" y="553"/>
                  </a:lnTo>
                  <a:lnTo>
                    <a:pt x="501" y="502"/>
                  </a:lnTo>
                  <a:lnTo>
                    <a:pt x="551" y="448"/>
                  </a:lnTo>
                  <a:lnTo>
                    <a:pt x="596" y="396"/>
                  </a:lnTo>
                  <a:lnTo>
                    <a:pt x="635" y="344"/>
                  </a:lnTo>
                  <a:lnTo>
                    <a:pt x="666" y="294"/>
                  </a:lnTo>
                  <a:lnTo>
                    <a:pt x="693" y="247"/>
                  </a:lnTo>
                  <a:lnTo>
                    <a:pt x="712" y="203"/>
                  </a:lnTo>
                  <a:lnTo>
                    <a:pt x="725" y="163"/>
                  </a:lnTo>
                  <a:lnTo>
                    <a:pt x="732" y="126"/>
                  </a:lnTo>
                  <a:lnTo>
                    <a:pt x="730" y="94"/>
                  </a:lnTo>
                  <a:lnTo>
                    <a:pt x="722" y="67"/>
                  </a:lnTo>
                  <a:lnTo>
                    <a:pt x="707" y="45"/>
                  </a:lnTo>
                  <a:lnTo>
                    <a:pt x="687" y="30"/>
                  </a:lnTo>
                  <a:lnTo>
                    <a:pt x="660" y="21"/>
                  </a:lnTo>
                  <a:lnTo>
                    <a:pt x="630" y="21"/>
                  </a:lnTo>
                  <a:lnTo>
                    <a:pt x="623" y="20"/>
                  </a:lnTo>
                  <a:lnTo>
                    <a:pt x="620" y="20"/>
                  </a:lnTo>
                  <a:lnTo>
                    <a:pt x="616" y="16"/>
                  </a:lnTo>
                  <a:lnTo>
                    <a:pt x="615" y="13"/>
                  </a:lnTo>
                  <a:lnTo>
                    <a:pt x="615" y="11"/>
                  </a:lnTo>
                  <a:lnTo>
                    <a:pt x="616" y="8"/>
                  </a:lnTo>
                  <a:lnTo>
                    <a:pt x="618" y="5"/>
                  </a:lnTo>
                  <a:lnTo>
                    <a:pt x="623" y="3"/>
                  </a:lnTo>
                  <a:lnTo>
                    <a:pt x="628" y="1"/>
                  </a:lnTo>
                  <a:lnTo>
                    <a:pt x="6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8" name="Freeform 8"/>
            <p:cNvSpPr>
              <a:spLocks noEditPoints="1"/>
            </p:cNvSpPr>
            <p:nvPr/>
          </p:nvSpPr>
          <p:spPr bwMode="black">
            <a:xfrm>
              <a:off x="4521225" y="3659739"/>
              <a:ext cx="669925" cy="739775"/>
            </a:xfrm>
            <a:custGeom>
              <a:avLst/>
              <a:gdLst>
                <a:gd name="T0" fmla="*/ 382 w 845"/>
                <a:gd name="T1" fmla="*/ 136 h 933"/>
                <a:gd name="T2" fmla="*/ 308 w 845"/>
                <a:gd name="T3" fmla="*/ 163 h 933"/>
                <a:gd name="T4" fmla="*/ 250 w 845"/>
                <a:gd name="T5" fmla="*/ 215 h 933"/>
                <a:gd name="T6" fmla="*/ 208 w 845"/>
                <a:gd name="T7" fmla="*/ 286 h 933"/>
                <a:gd name="T8" fmla="*/ 183 w 845"/>
                <a:gd name="T9" fmla="*/ 373 h 933"/>
                <a:gd name="T10" fmla="*/ 174 w 845"/>
                <a:gd name="T11" fmla="*/ 471 h 933"/>
                <a:gd name="T12" fmla="*/ 186 w 845"/>
                <a:gd name="T13" fmla="*/ 575 h 933"/>
                <a:gd name="T14" fmla="*/ 216 w 845"/>
                <a:gd name="T15" fmla="*/ 666 h 933"/>
                <a:gd name="T16" fmla="*/ 268 w 845"/>
                <a:gd name="T17" fmla="*/ 738 h 933"/>
                <a:gd name="T18" fmla="*/ 338 w 845"/>
                <a:gd name="T19" fmla="*/ 785 h 933"/>
                <a:gd name="T20" fmla="*/ 424 w 845"/>
                <a:gd name="T21" fmla="*/ 802 h 933"/>
                <a:gd name="T22" fmla="*/ 511 w 845"/>
                <a:gd name="T23" fmla="*/ 784 h 933"/>
                <a:gd name="T24" fmla="*/ 579 w 845"/>
                <a:gd name="T25" fmla="*/ 737 h 933"/>
                <a:gd name="T26" fmla="*/ 631 w 845"/>
                <a:gd name="T27" fmla="*/ 664 h 933"/>
                <a:gd name="T28" fmla="*/ 661 w 845"/>
                <a:gd name="T29" fmla="*/ 572 h 933"/>
                <a:gd name="T30" fmla="*/ 671 w 845"/>
                <a:gd name="T31" fmla="*/ 462 h 933"/>
                <a:gd name="T32" fmla="*/ 663 w 845"/>
                <a:gd name="T33" fmla="*/ 373 h 933"/>
                <a:gd name="T34" fmla="*/ 640 w 845"/>
                <a:gd name="T35" fmla="*/ 289 h 933"/>
                <a:gd name="T36" fmla="*/ 598 w 845"/>
                <a:gd name="T37" fmla="*/ 219 h 933"/>
                <a:gd name="T38" fmla="*/ 541 w 845"/>
                <a:gd name="T39" fmla="*/ 165 h 933"/>
                <a:gd name="T40" fmla="*/ 467 w 845"/>
                <a:gd name="T41" fmla="*/ 136 h 933"/>
                <a:gd name="T42" fmla="*/ 429 w 845"/>
                <a:gd name="T43" fmla="*/ 0 h 933"/>
                <a:gd name="T44" fmla="*/ 551 w 845"/>
                <a:gd name="T45" fmla="*/ 15 h 933"/>
                <a:gd name="T46" fmla="*/ 653 w 845"/>
                <a:gd name="T47" fmla="*/ 61 h 933"/>
                <a:gd name="T48" fmla="*/ 735 w 845"/>
                <a:gd name="T49" fmla="*/ 131 h 933"/>
                <a:gd name="T50" fmla="*/ 795 w 845"/>
                <a:gd name="T51" fmla="*/ 224 h 933"/>
                <a:gd name="T52" fmla="*/ 834 w 845"/>
                <a:gd name="T53" fmla="*/ 335 h 933"/>
                <a:gd name="T54" fmla="*/ 845 w 845"/>
                <a:gd name="T55" fmla="*/ 457 h 933"/>
                <a:gd name="T56" fmla="*/ 830 w 845"/>
                <a:gd name="T57" fmla="*/ 599 h 933"/>
                <a:gd name="T58" fmla="*/ 788 w 845"/>
                <a:gd name="T59" fmla="*/ 716 h 933"/>
                <a:gd name="T60" fmla="*/ 723 w 845"/>
                <a:gd name="T61" fmla="*/ 810 h 933"/>
                <a:gd name="T62" fmla="*/ 638 w 845"/>
                <a:gd name="T63" fmla="*/ 878 h 933"/>
                <a:gd name="T64" fmla="*/ 534 w 845"/>
                <a:gd name="T65" fmla="*/ 920 h 933"/>
                <a:gd name="T66" fmla="*/ 415 w 845"/>
                <a:gd name="T67" fmla="*/ 933 h 933"/>
                <a:gd name="T68" fmla="*/ 297 w 845"/>
                <a:gd name="T69" fmla="*/ 918 h 933"/>
                <a:gd name="T70" fmla="*/ 194 w 845"/>
                <a:gd name="T71" fmla="*/ 873 h 933"/>
                <a:gd name="T72" fmla="*/ 112 w 845"/>
                <a:gd name="T73" fmla="*/ 804 h 933"/>
                <a:gd name="T74" fmla="*/ 52 w 845"/>
                <a:gd name="T75" fmla="*/ 711 h 933"/>
                <a:gd name="T76" fmla="*/ 14 w 845"/>
                <a:gd name="T77" fmla="*/ 600 h 933"/>
                <a:gd name="T78" fmla="*/ 0 w 845"/>
                <a:gd name="T79" fmla="*/ 474 h 933"/>
                <a:gd name="T80" fmla="*/ 15 w 845"/>
                <a:gd name="T81" fmla="*/ 343 h 933"/>
                <a:gd name="T82" fmla="*/ 56 w 845"/>
                <a:gd name="T83" fmla="*/ 227 h 933"/>
                <a:gd name="T84" fmla="*/ 121 w 845"/>
                <a:gd name="T85" fmla="*/ 133 h 933"/>
                <a:gd name="T86" fmla="*/ 206 w 845"/>
                <a:gd name="T87" fmla="*/ 61 h 933"/>
                <a:gd name="T88" fmla="*/ 310 w 845"/>
                <a:gd name="T89" fmla="*/ 15 h 933"/>
                <a:gd name="T90" fmla="*/ 429 w 845"/>
                <a:gd name="T91"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5" h="933">
                  <a:moveTo>
                    <a:pt x="424" y="133"/>
                  </a:moveTo>
                  <a:lnTo>
                    <a:pt x="382" y="136"/>
                  </a:lnTo>
                  <a:lnTo>
                    <a:pt x="343" y="146"/>
                  </a:lnTo>
                  <a:lnTo>
                    <a:pt x="308" y="163"/>
                  </a:lnTo>
                  <a:lnTo>
                    <a:pt x="276" y="187"/>
                  </a:lnTo>
                  <a:lnTo>
                    <a:pt x="250" y="215"/>
                  </a:lnTo>
                  <a:lnTo>
                    <a:pt x="228" y="249"/>
                  </a:lnTo>
                  <a:lnTo>
                    <a:pt x="208" y="286"/>
                  </a:lnTo>
                  <a:lnTo>
                    <a:pt x="194" y="328"/>
                  </a:lnTo>
                  <a:lnTo>
                    <a:pt x="183" y="373"/>
                  </a:lnTo>
                  <a:lnTo>
                    <a:pt x="176" y="420"/>
                  </a:lnTo>
                  <a:lnTo>
                    <a:pt x="174" y="471"/>
                  </a:lnTo>
                  <a:lnTo>
                    <a:pt x="178" y="525"/>
                  </a:lnTo>
                  <a:lnTo>
                    <a:pt x="186" y="575"/>
                  </a:lnTo>
                  <a:lnTo>
                    <a:pt x="199" y="624"/>
                  </a:lnTo>
                  <a:lnTo>
                    <a:pt x="216" y="666"/>
                  </a:lnTo>
                  <a:lnTo>
                    <a:pt x="240" y="705"/>
                  </a:lnTo>
                  <a:lnTo>
                    <a:pt x="268" y="738"/>
                  </a:lnTo>
                  <a:lnTo>
                    <a:pt x="300" y="765"/>
                  </a:lnTo>
                  <a:lnTo>
                    <a:pt x="338" y="785"/>
                  </a:lnTo>
                  <a:lnTo>
                    <a:pt x="379" y="797"/>
                  </a:lnTo>
                  <a:lnTo>
                    <a:pt x="424" y="802"/>
                  </a:lnTo>
                  <a:lnTo>
                    <a:pt x="469" y="797"/>
                  </a:lnTo>
                  <a:lnTo>
                    <a:pt x="511" y="784"/>
                  </a:lnTo>
                  <a:lnTo>
                    <a:pt x="547" y="763"/>
                  </a:lnTo>
                  <a:lnTo>
                    <a:pt x="579" y="737"/>
                  </a:lnTo>
                  <a:lnTo>
                    <a:pt x="608" y="703"/>
                  </a:lnTo>
                  <a:lnTo>
                    <a:pt x="631" y="664"/>
                  </a:lnTo>
                  <a:lnTo>
                    <a:pt x="648" y="621"/>
                  </a:lnTo>
                  <a:lnTo>
                    <a:pt x="661" y="572"/>
                  </a:lnTo>
                  <a:lnTo>
                    <a:pt x="670" y="520"/>
                  </a:lnTo>
                  <a:lnTo>
                    <a:pt x="671" y="462"/>
                  </a:lnTo>
                  <a:lnTo>
                    <a:pt x="670" y="417"/>
                  </a:lnTo>
                  <a:lnTo>
                    <a:pt x="663" y="373"/>
                  </a:lnTo>
                  <a:lnTo>
                    <a:pt x="653" y="330"/>
                  </a:lnTo>
                  <a:lnTo>
                    <a:pt x="640" y="289"/>
                  </a:lnTo>
                  <a:lnTo>
                    <a:pt x="621" y="252"/>
                  </a:lnTo>
                  <a:lnTo>
                    <a:pt x="598" y="219"/>
                  </a:lnTo>
                  <a:lnTo>
                    <a:pt x="571" y="188"/>
                  </a:lnTo>
                  <a:lnTo>
                    <a:pt x="541" y="165"/>
                  </a:lnTo>
                  <a:lnTo>
                    <a:pt x="506" y="148"/>
                  </a:lnTo>
                  <a:lnTo>
                    <a:pt x="467" y="136"/>
                  </a:lnTo>
                  <a:lnTo>
                    <a:pt x="424" y="133"/>
                  </a:lnTo>
                  <a:close/>
                  <a:moveTo>
                    <a:pt x="429" y="0"/>
                  </a:moveTo>
                  <a:lnTo>
                    <a:pt x="492" y="4"/>
                  </a:lnTo>
                  <a:lnTo>
                    <a:pt x="551" y="15"/>
                  </a:lnTo>
                  <a:lnTo>
                    <a:pt x="604" y="35"/>
                  </a:lnTo>
                  <a:lnTo>
                    <a:pt x="653" y="61"/>
                  </a:lnTo>
                  <a:lnTo>
                    <a:pt x="696" y="94"/>
                  </a:lnTo>
                  <a:lnTo>
                    <a:pt x="735" y="131"/>
                  </a:lnTo>
                  <a:lnTo>
                    <a:pt x="768" y="175"/>
                  </a:lnTo>
                  <a:lnTo>
                    <a:pt x="795" y="224"/>
                  </a:lnTo>
                  <a:lnTo>
                    <a:pt x="817" y="278"/>
                  </a:lnTo>
                  <a:lnTo>
                    <a:pt x="834" y="335"/>
                  </a:lnTo>
                  <a:lnTo>
                    <a:pt x="842" y="395"/>
                  </a:lnTo>
                  <a:lnTo>
                    <a:pt x="845" y="457"/>
                  </a:lnTo>
                  <a:lnTo>
                    <a:pt x="842" y="531"/>
                  </a:lnTo>
                  <a:lnTo>
                    <a:pt x="830" y="599"/>
                  </a:lnTo>
                  <a:lnTo>
                    <a:pt x="814" y="661"/>
                  </a:lnTo>
                  <a:lnTo>
                    <a:pt x="788" y="716"/>
                  </a:lnTo>
                  <a:lnTo>
                    <a:pt x="758" y="767"/>
                  </a:lnTo>
                  <a:lnTo>
                    <a:pt x="723" y="810"/>
                  </a:lnTo>
                  <a:lnTo>
                    <a:pt x="683" y="847"/>
                  </a:lnTo>
                  <a:lnTo>
                    <a:pt x="638" y="878"/>
                  </a:lnTo>
                  <a:lnTo>
                    <a:pt x="588" y="903"/>
                  </a:lnTo>
                  <a:lnTo>
                    <a:pt x="534" y="920"/>
                  </a:lnTo>
                  <a:lnTo>
                    <a:pt x="476" y="930"/>
                  </a:lnTo>
                  <a:lnTo>
                    <a:pt x="415" y="933"/>
                  </a:lnTo>
                  <a:lnTo>
                    <a:pt x="355" y="930"/>
                  </a:lnTo>
                  <a:lnTo>
                    <a:pt x="297" y="918"/>
                  </a:lnTo>
                  <a:lnTo>
                    <a:pt x="243" y="900"/>
                  </a:lnTo>
                  <a:lnTo>
                    <a:pt x="194" y="873"/>
                  </a:lnTo>
                  <a:lnTo>
                    <a:pt x="151" y="841"/>
                  </a:lnTo>
                  <a:lnTo>
                    <a:pt x="112" y="804"/>
                  </a:lnTo>
                  <a:lnTo>
                    <a:pt x="79" y="760"/>
                  </a:lnTo>
                  <a:lnTo>
                    <a:pt x="52" y="711"/>
                  </a:lnTo>
                  <a:lnTo>
                    <a:pt x="30" y="657"/>
                  </a:lnTo>
                  <a:lnTo>
                    <a:pt x="14" y="600"/>
                  </a:lnTo>
                  <a:lnTo>
                    <a:pt x="4" y="538"/>
                  </a:lnTo>
                  <a:lnTo>
                    <a:pt x="0" y="474"/>
                  </a:lnTo>
                  <a:lnTo>
                    <a:pt x="5" y="407"/>
                  </a:lnTo>
                  <a:lnTo>
                    <a:pt x="15" y="343"/>
                  </a:lnTo>
                  <a:lnTo>
                    <a:pt x="32" y="283"/>
                  </a:lnTo>
                  <a:lnTo>
                    <a:pt x="56" y="227"/>
                  </a:lnTo>
                  <a:lnTo>
                    <a:pt x="86" y="177"/>
                  </a:lnTo>
                  <a:lnTo>
                    <a:pt x="121" y="133"/>
                  </a:lnTo>
                  <a:lnTo>
                    <a:pt x="161" y="94"/>
                  </a:lnTo>
                  <a:lnTo>
                    <a:pt x="206" y="61"/>
                  </a:lnTo>
                  <a:lnTo>
                    <a:pt x="255" y="35"/>
                  </a:lnTo>
                  <a:lnTo>
                    <a:pt x="310" y="15"/>
                  </a:lnTo>
                  <a:lnTo>
                    <a:pt x="367" y="4"/>
                  </a:lnTo>
                  <a:lnTo>
                    <a:pt x="4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19" name="Freeform 9"/>
            <p:cNvSpPr>
              <a:spLocks noEditPoints="1"/>
            </p:cNvSpPr>
            <p:nvPr/>
          </p:nvSpPr>
          <p:spPr bwMode="black">
            <a:xfrm>
              <a:off x="5291162" y="3666089"/>
              <a:ext cx="477838" cy="722313"/>
            </a:xfrm>
            <a:custGeom>
              <a:avLst/>
              <a:gdLst>
                <a:gd name="T0" fmla="*/ 258 w 602"/>
                <a:gd name="T1" fmla="*/ 127 h 911"/>
                <a:gd name="T2" fmla="*/ 216 w 602"/>
                <a:gd name="T3" fmla="*/ 129 h 911"/>
                <a:gd name="T4" fmla="*/ 184 w 602"/>
                <a:gd name="T5" fmla="*/ 132 h 911"/>
                <a:gd name="T6" fmla="*/ 162 w 602"/>
                <a:gd name="T7" fmla="*/ 136 h 911"/>
                <a:gd name="T8" fmla="*/ 162 w 602"/>
                <a:gd name="T9" fmla="*/ 438 h 911"/>
                <a:gd name="T10" fmla="*/ 186 w 602"/>
                <a:gd name="T11" fmla="*/ 443 h 911"/>
                <a:gd name="T12" fmla="*/ 212 w 602"/>
                <a:gd name="T13" fmla="*/ 447 h 911"/>
                <a:gd name="T14" fmla="*/ 242 w 602"/>
                <a:gd name="T15" fmla="*/ 447 h 911"/>
                <a:gd name="T16" fmla="*/ 286 w 602"/>
                <a:gd name="T17" fmla="*/ 443 h 911"/>
                <a:gd name="T18" fmla="*/ 324 w 602"/>
                <a:gd name="T19" fmla="*/ 435 h 911"/>
                <a:gd name="T20" fmla="*/ 360 w 602"/>
                <a:gd name="T21" fmla="*/ 422 h 911"/>
                <a:gd name="T22" fmla="*/ 386 w 602"/>
                <a:gd name="T23" fmla="*/ 403 h 911"/>
                <a:gd name="T24" fmla="*/ 410 w 602"/>
                <a:gd name="T25" fmla="*/ 380 h 911"/>
                <a:gd name="T26" fmla="*/ 427 w 602"/>
                <a:gd name="T27" fmla="*/ 351 h 911"/>
                <a:gd name="T28" fmla="*/ 437 w 602"/>
                <a:gd name="T29" fmla="*/ 317 h 911"/>
                <a:gd name="T30" fmla="*/ 440 w 602"/>
                <a:gd name="T31" fmla="*/ 280 h 911"/>
                <a:gd name="T32" fmla="*/ 437 w 602"/>
                <a:gd name="T33" fmla="*/ 245 h 911"/>
                <a:gd name="T34" fmla="*/ 427 w 602"/>
                <a:gd name="T35" fmla="*/ 215 h 911"/>
                <a:gd name="T36" fmla="*/ 411 w 602"/>
                <a:gd name="T37" fmla="*/ 188 h 911"/>
                <a:gd name="T38" fmla="*/ 391 w 602"/>
                <a:gd name="T39" fmla="*/ 166 h 911"/>
                <a:gd name="T40" fmla="*/ 365 w 602"/>
                <a:gd name="T41" fmla="*/ 149 h 911"/>
                <a:gd name="T42" fmla="*/ 333 w 602"/>
                <a:gd name="T43" fmla="*/ 137 h 911"/>
                <a:gd name="T44" fmla="*/ 298 w 602"/>
                <a:gd name="T45" fmla="*/ 131 h 911"/>
                <a:gd name="T46" fmla="*/ 258 w 602"/>
                <a:gd name="T47" fmla="*/ 127 h 911"/>
                <a:gd name="T48" fmla="*/ 251 w 602"/>
                <a:gd name="T49" fmla="*/ 0 h 911"/>
                <a:gd name="T50" fmla="*/ 308 w 602"/>
                <a:gd name="T51" fmla="*/ 3 h 911"/>
                <a:gd name="T52" fmla="*/ 360 w 602"/>
                <a:gd name="T53" fmla="*/ 8 h 911"/>
                <a:gd name="T54" fmla="*/ 406 w 602"/>
                <a:gd name="T55" fmla="*/ 20 h 911"/>
                <a:gd name="T56" fmla="*/ 447 w 602"/>
                <a:gd name="T57" fmla="*/ 33 h 911"/>
                <a:gd name="T58" fmla="*/ 483 w 602"/>
                <a:gd name="T59" fmla="*/ 52 h 911"/>
                <a:gd name="T60" fmla="*/ 515 w 602"/>
                <a:gd name="T61" fmla="*/ 74 h 911"/>
                <a:gd name="T62" fmla="*/ 544 w 602"/>
                <a:gd name="T63" fmla="*/ 104 h 911"/>
                <a:gd name="T64" fmla="*/ 569 w 602"/>
                <a:gd name="T65" fmla="*/ 139 h 911"/>
                <a:gd name="T66" fmla="*/ 587 w 602"/>
                <a:gd name="T67" fmla="*/ 179 h 911"/>
                <a:gd name="T68" fmla="*/ 599 w 602"/>
                <a:gd name="T69" fmla="*/ 225 h 911"/>
                <a:gd name="T70" fmla="*/ 602 w 602"/>
                <a:gd name="T71" fmla="*/ 274 h 911"/>
                <a:gd name="T72" fmla="*/ 599 w 602"/>
                <a:gd name="T73" fmla="*/ 322 h 911"/>
                <a:gd name="T74" fmla="*/ 590 w 602"/>
                <a:gd name="T75" fmla="*/ 368 h 911"/>
                <a:gd name="T76" fmla="*/ 575 w 602"/>
                <a:gd name="T77" fmla="*/ 410 h 911"/>
                <a:gd name="T78" fmla="*/ 554 w 602"/>
                <a:gd name="T79" fmla="*/ 445 h 911"/>
                <a:gd name="T80" fmla="*/ 527 w 602"/>
                <a:gd name="T81" fmla="*/ 477 h 911"/>
                <a:gd name="T82" fmla="*/ 490 w 602"/>
                <a:gd name="T83" fmla="*/ 507 h 911"/>
                <a:gd name="T84" fmla="*/ 448 w 602"/>
                <a:gd name="T85" fmla="*/ 532 h 911"/>
                <a:gd name="T86" fmla="*/ 403 w 602"/>
                <a:gd name="T87" fmla="*/ 551 h 911"/>
                <a:gd name="T88" fmla="*/ 353 w 602"/>
                <a:gd name="T89" fmla="*/ 564 h 911"/>
                <a:gd name="T90" fmla="*/ 299 w 602"/>
                <a:gd name="T91" fmla="*/ 573 h 911"/>
                <a:gd name="T92" fmla="*/ 242 w 602"/>
                <a:gd name="T93" fmla="*/ 575 h 911"/>
                <a:gd name="T94" fmla="*/ 199 w 602"/>
                <a:gd name="T95" fmla="*/ 575 h 911"/>
                <a:gd name="T96" fmla="*/ 162 w 602"/>
                <a:gd name="T97" fmla="*/ 568 h 911"/>
                <a:gd name="T98" fmla="*/ 162 w 602"/>
                <a:gd name="T99" fmla="*/ 911 h 911"/>
                <a:gd name="T100" fmla="*/ 0 w 602"/>
                <a:gd name="T101" fmla="*/ 911 h 911"/>
                <a:gd name="T102" fmla="*/ 0 w 602"/>
                <a:gd name="T103" fmla="*/ 20 h 911"/>
                <a:gd name="T104" fmla="*/ 38 w 602"/>
                <a:gd name="T105" fmla="*/ 13 h 911"/>
                <a:gd name="T106" fmla="*/ 82 w 602"/>
                <a:gd name="T107" fmla="*/ 8 h 911"/>
                <a:gd name="T108" fmla="*/ 132 w 602"/>
                <a:gd name="T109" fmla="*/ 5 h 911"/>
                <a:gd name="T110" fmla="*/ 187 w 602"/>
                <a:gd name="T111" fmla="*/ 1 h 911"/>
                <a:gd name="T112" fmla="*/ 251 w 602"/>
                <a:gd name="T113"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2" h="911">
                  <a:moveTo>
                    <a:pt x="258" y="127"/>
                  </a:moveTo>
                  <a:lnTo>
                    <a:pt x="216" y="129"/>
                  </a:lnTo>
                  <a:lnTo>
                    <a:pt x="184" y="132"/>
                  </a:lnTo>
                  <a:lnTo>
                    <a:pt x="162" y="136"/>
                  </a:lnTo>
                  <a:lnTo>
                    <a:pt x="162" y="438"/>
                  </a:lnTo>
                  <a:lnTo>
                    <a:pt x="186" y="443"/>
                  </a:lnTo>
                  <a:lnTo>
                    <a:pt x="212" y="447"/>
                  </a:lnTo>
                  <a:lnTo>
                    <a:pt x="242" y="447"/>
                  </a:lnTo>
                  <a:lnTo>
                    <a:pt x="286" y="443"/>
                  </a:lnTo>
                  <a:lnTo>
                    <a:pt x="324" y="435"/>
                  </a:lnTo>
                  <a:lnTo>
                    <a:pt x="360" y="422"/>
                  </a:lnTo>
                  <a:lnTo>
                    <a:pt x="386" y="403"/>
                  </a:lnTo>
                  <a:lnTo>
                    <a:pt x="410" y="380"/>
                  </a:lnTo>
                  <a:lnTo>
                    <a:pt x="427" y="351"/>
                  </a:lnTo>
                  <a:lnTo>
                    <a:pt x="437" y="317"/>
                  </a:lnTo>
                  <a:lnTo>
                    <a:pt x="440" y="280"/>
                  </a:lnTo>
                  <a:lnTo>
                    <a:pt x="437" y="245"/>
                  </a:lnTo>
                  <a:lnTo>
                    <a:pt x="427" y="215"/>
                  </a:lnTo>
                  <a:lnTo>
                    <a:pt x="411" y="188"/>
                  </a:lnTo>
                  <a:lnTo>
                    <a:pt x="391" y="166"/>
                  </a:lnTo>
                  <a:lnTo>
                    <a:pt x="365" y="149"/>
                  </a:lnTo>
                  <a:lnTo>
                    <a:pt x="333" y="137"/>
                  </a:lnTo>
                  <a:lnTo>
                    <a:pt x="298" y="131"/>
                  </a:lnTo>
                  <a:lnTo>
                    <a:pt x="258" y="127"/>
                  </a:lnTo>
                  <a:close/>
                  <a:moveTo>
                    <a:pt x="251" y="0"/>
                  </a:moveTo>
                  <a:lnTo>
                    <a:pt x="308" y="3"/>
                  </a:lnTo>
                  <a:lnTo>
                    <a:pt x="360" y="8"/>
                  </a:lnTo>
                  <a:lnTo>
                    <a:pt x="406" y="20"/>
                  </a:lnTo>
                  <a:lnTo>
                    <a:pt x="447" y="33"/>
                  </a:lnTo>
                  <a:lnTo>
                    <a:pt x="483" y="52"/>
                  </a:lnTo>
                  <a:lnTo>
                    <a:pt x="515" y="74"/>
                  </a:lnTo>
                  <a:lnTo>
                    <a:pt x="544" y="104"/>
                  </a:lnTo>
                  <a:lnTo>
                    <a:pt x="569" y="139"/>
                  </a:lnTo>
                  <a:lnTo>
                    <a:pt x="587" y="179"/>
                  </a:lnTo>
                  <a:lnTo>
                    <a:pt x="599" y="225"/>
                  </a:lnTo>
                  <a:lnTo>
                    <a:pt x="602" y="274"/>
                  </a:lnTo>
                  <a:lnTo>
                    <a:pt x="599" y="322"/>
                  </a:lnTo>
                  <a:lnTo>
                    <a:pt x="590" y="368"/>
                  </a:lnTo>
                  <a:lnTo>
                    <a:pt x="575" y="410"/>
                  </a:lnTo>
                  <a:lnTo>
                    <a:pt x="554" y="445"/>
                  </a:lnTo>
                  <a:lnTo>
                    <a:pt x="527" y="477"/>
                  </a:lnTo>
                  <a:lnTo>
                    <a:pt x="490" y="507"/>
                  </a:lnTo>
                  <a:lnTo>
                    <a:pt x="448" y="532"/>
                  </a:lnTo>
                  <a:lnTo>
                    <a:pt x="403" y="551"/>
                  </a:lnTo>
                  <a:lnTo>
                    <a:pt x="353" y="564"/>
                  </a:lnTo>
                  <a:lnTo>
                    <a:pt x="299" y="573"/>
                  </a:lnTo>
                  <a:lnTo>
                    <a:pt x="242" y="575"/>
                  </a:lnTo>
                  <a:lnTo>
                    <a:pt x="199" y="575"/>
                  </a:lnTo>
                  <a:lnTo>
                    <a:pt x="162" y="568"/>
                  </a:lnTo>
                  <a:lnTo>
                    <a:pt x="162" y="911"/>
                  </a:lnTo>
                  <a:lnTo>
                    <a:pt x="0" y="911"/>
                  </a:lnTo>
                  <a:lnTo>
                    <a:pt x="0" y="20"/>
                  </a:lnTo>
                  <a:lnTo>
                    <a:pt x="38" y="13"/>
                  </a:lnTo>
                  <a:lnTo>
                    <a:pt x="82" y="8"/>
                  </a:lnTo>
                  <a:lnTo>
                    <a:pt x="132" y="5"/>
                  </a:lnTo>
                  <a:lnTo>
                    <a:pt x="187" y="1"/>
                  </a:lnTo>
                  <a:lnTo>
                    <a:pt x="2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20" name="Freeform 10"/>
            <p:cNvSpPr>
              <a:spLocks noEditPoints="1"/>
            </p:cNvSpPr>
            <p:nvPr/>
          </p:nvSpPr>
          <p:spPr bwMode="black">
            <a:xfrm>
              <a:off x="5754712" y="3670851"/>
              <a:ext cx="627063" cy="717550"/>
            </a:xfrm>
            <a:custGeom>
              <a:avLst/>
              <a:gdLst>
                <a:gd name="T0" fmla="*/ 386 w 790"/>
                <a:gd name="T1" fmla="*/ 133 h 905"/>
                <a:gd name="T2" fmla="*/ 371 w 790"/>
                <a:gd name="T3" fmla="*/ 187 h 905"/>
                <a:gd name="T4" fmla="*/ 358 w 790"/>
                <a:gd name="T5" fmla="*/ 246 h 905"/>
                <a:gd name="T6" fmla="*/ 343 w 790"/>
                <a:gd name="T7" fmla="*/ 301 h 905"/>
                <a:gd name="T8" fmla="*/ 274 w 790"/>
                <a:gd name="T9" fmla="*/ 523 h 905"/>
                <a:gd name="T10" fmla="*/ 503 w 790"/>
                <a:gd name="T11" fmla="*/ 523 h 905"/>
                <a:gd name="T12" fmla="*/ 433 w 790"/>
                <a:gd name="T13" fmla="*/ 301 h 905"/>
                <a:gd name="T14" fmla="*/ 416 w 790"/>
                <a:gd name="T15" fmla="*/ 244 h 905"/>
                <a:gd name="T16" fmla="*/ 401 w 790"/>
                <a:gd name="T17" fmla="*/ 187 h 905"/>
                <a:gd name="T18" fmla="*/ 388 w 790"/>
                <a:gd name="T19" fmla="*/ 133 h 905"/>
                <a:gd name="T20" fmla="*/ 386 w 790"/>
                <a:gd name="T21" fmla="*/ 133 h 905"/>
                <a:gd name="T22" fmla="*/ 288 w 790"/>
                <a:gd name="T23" fmla="*/ 0 h 905"/>
                <a:gd name="T24" fmla="*/ 497 w 790"/>
                <a:gd name="T25" fmla="*/ 0 h 905"/>
                <a:gd name="T26" fmla="*/ 790 w 790"/>
                <a:gd name="T27" fmla="*/ 905 h 905"/>
                <a:gd name="T28" fmla="*/ 612 w 790"/>
                <a:gd name="T29" fmla="*/ 905 h 905"/>
                <a:gd name="T30" fmla="*/ 530 w 790"/>
                <a:gd name="T31" fmla="*/ 648 h 905"/>
                <a:gd name="T32" fmla="*/ 247 w 790"/>
                <a:gd name="T33" fmla="*/ 648 h 905"/>
                <a:gd name="T34" fmla="*/ 169 w 790"/>
                <a:gd name="T35" fmla="*/ 905 h 905"/>
                <a:gd name="T36" fmla="*/ 0 w 790"/>
                <a:gd name="T37" fmla="*/ 905 h 905"/>
                <a:gd name="T38" fmla="*/ 288 w 790"/>
                <a:gd name="T39"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0" h="905">
                  <a:moveTo>
                    <a:pt x="386" y="133"/>
                  </a:moveTo>
                  <a:lnTo>
                    <a:pt x="371" y="187"/>
                  </a:lnTo>
                  <a:lnTo>
                    <a:pt x="358" y="246"/>
                  </a:lnTo>
                  <a:lnTo>
                    <a:pt x="343" y="301"/>
                  </a:lnTo>
                  <a:lnTo>
                    <a:pt x="274" y="523"/>
                  </a:lnTo>
                  <a:lnTo>
                    <a:pt x="503" y="523"/>
                  </a:lnTo>
                  <a:lnTo>
                    <a:pt x="433" y="301"/>
                  </a:lnTo>
                  <a:lnTo>
                    <a:pt x="416" y="244"/>
                  </a:lnTo>
                  <a:lnTo>
                    <a:pt x="401" y="187"/>
                  </a:lnTo>
                  <a:lnTo>
                    <a:pt x="388" y="133"/>
                  </a:lnTo>
                  <a:lnTo>
                    <a:pt x="386" y="133"/>
                  </a:lnTo>
                  <a:close/>
                  <a:moveTo>
                    <a:pt x="288" y="0"/>
                  </a:moveTo>
                  <a:lnTo>
                    <a:pt x="497" y="0"/>
                  </a:lnTo>
                  <a:lnTo>
                    <a:pt x="790" y="905"/>
                  </a:lnTo>
                  <a:lnTo>
                    <a:pt x="612" y="905"/>
                  </a:lnTo>
                  <a:lnTo>
                    <a:pt x="530" y="648"/>
                  </a:lnTo>
                  <a:lnTo>
                    <a:pt x="247" y="648"/>
                  </a:lnTo>
                  <a:lnTo>
                    <a:pt x="169" y="905"/>
                  </a:lnTo>
                  <a:lnTo>
                    <a:pt x="0" y="905"/>
                  </a:lnTo>
                  <a:lnTo>
                    <a:pt x="28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21" name="Freeform 11"/>
            <p:cNvSpPr>
              <a:spLocks/>
            </p:cNvSpPr>
            <p:nvPr/>
          </p:nvSpPr>
          <p:spPr bwMode="black">
            <a:xfrm>
              <a:off x="6424637" y="3659739"/>
              <a:ext cx="463550" cy="739775"/>
            </a:xfrm>
            <a:custGeom>
              <a:avLst/>
              <a:gdLst>
                <a:gd name="T0" fmla="*/ 388 w 584"/>
                <a:gd name="T1" fmla="*/ 2 h 931"/>
                <a:gd name="T2" fmla="*/ 480 w 584"/>
                <a:gd name="T3" fmla="*/ 18 h 931"/>
                <a:gd name="T4" fmla="*/ 547 w 584"/>
                <a:gd name="T5" fmla="*/ 45 h 931"/>
                <a:gd name="T6" fmla="*/ 485 w 584"/>
                <a:gd name="T7" fmla="*/ 166 h 931"/>
                <a:gd name="T8" fmla="*/ 418 w 584"/>
                <a:gd name="T9" fmla="*/ 144 h 931"/>
                <a:gd name="T10" fmla="*/ 328 w 584"/>
                <a:gd name="T11" fmla="*/ 134 h 931"/>
                <a:gd name="T12" fmla="*/ 261 w 584"/>
                <a:gd name="T13" fmla="*/ 144 h 931"/>
                <a:gd name="T14" fmla="*/ 216 w 584"/>
                <a:gd name="T15" fmla="*/ 168 h 931"/>
                <a:gd name="T16" fmla="*/ 189 w 584"/>
                <a:gd name="T17" fmla="*/ 203 h 931"/>
                <a:gd name="T18" fmla="*/ 181 w 584"/>
                <a:gd name="T19" fmla="*/ 244 h 931"/>
                <a:gd name="T20" fmla="*/ 194 w 584"/>
                <a:gd name="T21" fmla="*/ 296 h 931"/>
                <a:gd name="T22" fmla="*/ 234 w 584"/>
                <a:gd name="T23" fmla="*/ 336 h 931"/>
                <a:gd name="T24" fmla="*/ 306 w 584"/>
                <a:gd name="T25" fmla="*/ 373 h 931"/>
                <a:gd name="T26" fmla="*/ 408 w 584"/>
                <a:gd name="T27" fmla="*/ 415 h 931"/>
                <a:gd name="T28" fmla="*/ 494 w 584"/>
                <a:gd name="T29" fmla="*/ 469 h 931"/>
                <a:gd name="T30" fmla="*/ 552 w 584"/>
                <a:gd name="T31" fmla="*/ 533 h 931"/>
                <a:gd name="T32" fmla="*/ 581 w 584"/>
                <a:gd name="T33" fmla="*/ 613 h 931"/>
                <a:gd name="T34" fmla="*/ 581 w 584"/>
                <a:gd name="T35" fmla="*/ 699 h 931"/>
                <a:gd name="T36" fmla="*/ 559 w 584"/>
                <a:gd name="T37" fmla="*/ 773 h 931"/>
                <a:gd name="T38" fmla="*/ 515 w 584"/>
                <a:gd name="T39" fmla="*/ 837 h 931"/>
                <a:gd name="T40" fmla="*/ 447 w 584"/>
                <a:gd name="T41" fmla="*/ 887 h 931"/>
                <a:gd name="T42" fmla="*/ 358 w 584"/>
                <a:gd name="T43" fmla="*/ 919 h 931"/>
                <a:gd name="T44" fmla="*/ 243 w 584"/>
                <a:gd name="T45" fmla="*/ 931 h 931"/>
                <a:gd name="T46" fmla="*/ 131 w 584"/>
                <a:gd name="T47" fmla="*/ 921 h 931"/>
                <a:gd name="T48" fmla="*/ 35 w 584"/>
                <a:gd name="T49" fmla="*/ 893 h 931"/>
                <a:gd name="T50" fmla="*/ 37 w 584"/>
                <a:gd name="T51" fmla="*/ 738 h 931"/>
                <a:gd name="T52" fmla="*/ 134 w 584"/>
                <a:gd name="T53" fmla="*/ 778 h 931"/>
                <a:gd name="T54" fmla="*/ 254 w 584"/>
                <a:gd name="T55" fmla="*/ 795 h 931"/>
                <a:gd name="T56" fmla="*/ 331 w 584"/>
                <a:gd name="T57" fmla="*/ 783 h 931"/>
                <a:gd name="T58" fmla="*/ 385 w 584"/>
                <a:gd name="T59" fmla="*/ 751 h 931"/>
                <a:gd name="T60" fmla="*/ 413 w 584"/>
                <a:gd name="T61" fmla="*/ 703 h 931"/>
                <a:gd name="T62" fmla="*/ 413 w 584"/>
                <a:gd name="T63" fmla="*/ 640 h 931"/>
                <a:gd name="T64" fmla="*/ 380 w 584"/>
                <a:gd name="T65" fmla="*/ 587 h 931"/>
                <a:gd name="T66" fmla="*/ 310 w 584"/>
                <a:gd name="T67" fmla="*/ 543 h 931"/>
                <a:gd name="T68" fmla="*/ 211 w 584"/>
                <a:gd name="T69" fmla="*/ 503 h 931"/>
                <a:gd name="T70" fmla="*/ 129 w 584"/>
                <a:gd name="T71" fmla="*/ 459 h 931"/>
                <a:gd name="T72" fmla="*/ 67 w 584"/>
                <a:gd name="T73" fmla="*/ 405 h 931"/>
                <a:gd name="T74" fmla="*/ 27 w 584"/>
                <a:gd name="T75" fmla="*/ 339 h 931"/>
                <a:gd name="T76" fmla="*/ 13 w 584"/>
                <a:gd name="T77" fmla="*/ 259 h 931"/>
                <a:gd name="T78" fmla="*/ 29 w 584"/>
                <a:gd name="T79" fmla="*/ 175 h 931"/>
                <a:gd name="T80" fmla="*/ 70 w 584"/>
                <a:gd name="T81" fmla="*/ 104 h 931"/>
                <a:gd name="T82" fmla="*/ 136 w 584"/>
                <a:gd name="T83" fmla="*/ 49 h 931"/>
                <a:gd name="T84" fmla="*/ 224 w 584"/>
                <a:gd name="T85" fmla="*/ 12 h 931"/>
                <a:gd name="T86" fmla="*/ 333 w 584"/>
                <a:gd name="T87" fmla="*/ 0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84" h="931">
                  <a:moveTo>
                    <a:pt x="333" y="0"/>
                  </a:moveTo>
                  <a:lnTo>
                    <a:pt x="388" y="2"/>
                  </a:lnTo>
                  <a:lnTo>
                    <a:pt x="437" y="8"/>
                  </a:lnTo>
                  <a:lnTo>
                    <a:pt x="480" y="18"/>
                  </a:lnTo>
                  <a:lnTo>
                    <a:pt x="517" y="30"/>
                  </a:lnTo>
                  <a:lnTo>
                    <a:pt x="547" y="45"/>
                  </a:lnTo>
                  <a:lnTo>
                    <a:pt x="509" y="178"/>
                  </a:lnTo>
                  <a:lnTo>
                    <a:pt x="485" y="166"/>
                  </a:lnTo>
                  <a:lnTo>
                    <a:pt x="455" y="155"/>
                  </a:lnTo>
                  <a:lnTo>
                    <a:pt x="418" y="144"/>
                  </a:lnTo>
                  <a:lnTo>
                    <a:pt x="377" y="138"/>
                  </a:lnTo>
                  <a:lnTo>
                    <a:pt x="328" y="134"/>
                  </a:lnTo>
                  <a:lnTo>
                    <a:pt x="293" y="138"/>
                  </a:lnTo>
                  <a:lnTo>
                    <a:pt x="261" y="144"/>
                  </a:lnTo>
                  <a:lnTo>
                    <a:pt x="236" y="155"/>
                  </a:lnTo>
                  <a:lnTo>
                    <a:pt x="216" y="168"/>
                  </a:lnTo>
                  <a:lnTo>
                    <a:pt x="201" y="185"/>
                  </a:lnTo>
                  <a:lnTo>
                    <a:pt x="189" y="203"/>
                  </a:lnTo>
                  <a:lnTo>
                    <a:pt x="182" y="223"/>
                  </a:lnTo>
                  <a:lnTo>
                    <a:pt x="181" y="244"/>
                  </a:lnTo>
                  <a:lnTo>
                    <a:pt x="184" y="271"/>
                  </a:lnTo>
                  <a:lnTo>
                    <a:pt x="194" y="296"/>
                  </a:lnTo>
                  <a:lnTo>
                    <a:pt x="211" y="316"/>
                  </a:lnTo>
                  <a:lnTo>
                    <a:pt x="234" y="336"/>
                  </a:lnTo>
                  <a:lnTo>
                    <a:pt x="266" y="355"/>
                  </a:lnTo>
                  <a:lnTo>
                    <a:pt x="306" y="373"/>
                  </a:lnTo>
                  <a:lnTo>
                    <a:pt x="353" y="392"/>
                  </a:lnTo>
                  <a:lnTo>
                    <a:pt x="408" y="415"/>
                  </a:lnTo>
                  <a:lnTo>
                    <a:pt x="455" y="440"/>
                  </a:lnTo>
                  <a:lnTo>
                    <a:pt x="494" y="469"/>
                  </a:lnTo>
                  <a:lnTo>
                    <a:pt x="527" y="499"/>
                  </a:lnTo>
                  <a:lnTo>
                    <a:pt x="552" y="533"/>
                  </a:lnTo>
                  <a:lnTo>
                    <a:pt x="569" y="571"/>
                  </a:lnTo>
                  <a:lnTo>
                    <a:pt x="581" y="613"/>
                  </a:lnTo>
                  <a:lnTo>
                    <a:pt x="584" y="661"/>
                  </a:lnTo>
                  <a:lnTo>
                    <a:pt x="581" y="699"/>
                  </a:lnTo>
                  <a:lnTo>
                    <a:pt x="572" y="736"/>
                  </a:lnTo>
                  <a:lnTo>
                    <a:pt x="559" y="773"/>
                  </a:lnTo>
                  <a:lnTo>
                    <a:pt x="539" y="807"/>
                  </a:lnTo>
                  <a:lnTo>
                    <a:pt x="515" y="837"/>
                  </a:lnTo>
                  <a:lnTo>
                    <a:pt x="484" y="864"/>
                  </a:lnTo>
                  <a:lnTo>
                    <a:pt x="447" y="887"/>
                  </a:lnTo>
                  <a:lnTo>
                    <a:pt x="405" y="906"/>
                  </a:lnTo>
                  <a:lnTo>
                    <a:pt x="358" y="919"/>
                  </a:lnTo>
                  <a:lnTo>
                    <a:pt x="303" y="930"/>
                  </a:lnTo>
                  <a:lnTo>
                    <a:pt x="243" y="931"/>
                  </a:lnTo>
                  <a:lnTo>
                    <a:pt x="186" y="930"/>
                  </a:lnTo>
                  <a:lnTo>
                    <a:pt x="131" y="921"/>
                  </a:lnTo>
                  <a:lnTo>
                    <a:pt x="79" y="908"/>
                  </a:lnTo>
                  <a:lnTo>
                    <a:pt x="35" y="893"/>
                  </a:lnTo>
                  <a:lnTo>
                    <a:pt x="0" y="874"/>
                  </a:lnTo>
                  <a:lnTo>
                    <a:pt x="37" y="738"/>
                  </a:lnTo>
                  <a:lnTo>
                    <a:pt x="80" y="760"/>
                  </a:lnTo>
                  <a:lnTo>
                    <a:pt x="134" y="778"/>
                  </a:lnTo>
                  <a:lnTo>
                    <a:pt x="193" y="790"/>
                  </a:lnTo>
                  <a:lnTo>
                    <a:pt x="254" y="795"/>
                  </a:lnTo>
                  <a:lnTo>
                    <a:pt x="296" y="792"/>
                  </a:lnTo>
                  <a:lnTo>
                    <a:pt x="331" y="783"/>
                  </a:lnTo>
                  <a:lnTo>
                    <a:pt x="362" y="770"/>
                  </a:lnTo>
                  <a:lnTo>
                    <a:pt x="385" y="751"/>
                  </a:lnTo>
                  <a:lnTo>
                    <a:pt x="403" y="729"/>
                  </a:lnTo>
                  <a:lnTo>
                    <a:pt x="413" y="703"/>
                  </a:lnTo>
                  <a:lnTo>
                    <a:pt x="417" y="672"/>
                  </a:lnTo>
                  <a:lnTo>
                    <a:pt x="413" y="640"/>
                  </a:lnTo>
                  <a:lnTo>
                    <a:pt x="402" y="612"/>
                  </a:lnTo>
                  <a:lnTo>
                    <a:pt x="380" y="587"/>
                  </a:lnTo>
                  <a:lnTo>
                    <a:pt x="350" y="565"/>
                  </a:lnTo>
                  <a:lnTo>
                    <a:pt x="310" y="543"/>
                  </a:lnTo>
                  <a:lnTo>
                    <a:pt x="258" y="523"/>
                  </a:lnTo>
                  <a:lnTo>
                    <a:pt x="211" y="503"/>
                  </a:lnTo>
                  <a:lnTo>
                    <a:pt x="167" y="482"/>
                  </a:lnTo>
                  <a:lnTo>
                    <a:pt x="129" y="459"/>
                  </a:lnTo>
                  <a:lnTo>
                    <a:pt x="95" y="434"/>
                  </a:lnTo>
                  <a:lnTo>
                    <a:pt x="67" y="405"/>
                  </a:lnTo>
                  <a:lnTo>
                    <a:pt x="44" y="373"/>
                  </a:lnTo>
                  <a:lnTo>
                    <a:pt x="27" y="339"/>
                  </a:lnTo>
                  <a:lnTo>
                    <a:pt x="17" y="301"/>
                  </a:lnTo>
                  <a:lnTo>
                    <a:pt x="13" y="259"/>
                  </a:lnTo>
                  <a:lnTo>
                    <a:pt x="17" y="215"/>
                  </a:lnTo>
                  <a:lnTo>
                    <a:pt x="29" y="175"/>
                  </a:lnTo>
                  <a:lnTo>
                    <a:pt x="45" y="138"/>
                  </a:lnTo>
                  <a:lnTo>
                    <a:pt x="70" y="104"/>
                  </a:lnTo>
                  <a:lnTo>
                    <a:pt x="100" y="74"/>
                  </a:lnTo>
                  <a:lnTo>
                    <a:pt x="136" y="49"/>
                  </a:lnTo>
                  <a:lnTo>
                    <a:pt x="177" y="27"/>
                  </a:lnTo>
                  <a:lnTo>
                    <a:pt x="224" y="12"/>
                  </a:lnTo>
                  <a:lnTo>
                    <a:pt x="276" y="3"/>
                  </a:lnTo>
                  <a:lnTo>
                    <a:pt x="33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22" name="Freeform 12"/>
            <p:cNvSpPr>
              <a:spLocks/>
            </p:cNvSpPr>
            <p:nvPr/>
          </p:nvSpPr>
          <p:spPr bwMode="black">
            <a:xfrm>
              <a:off x="3829075" y="3664501"/>
              <a:ext cx="609600" cy="731838"/>
            </a:xfrm>
            <a:custGeom>
              <a:avLst/>
              <a:gdLst>
                <a:gd name="T0" fmla="*/ 563 w 768"/>
                <a:gd name="T1" fmla="*/ 2 h 921"/>
                <a:gd name="T2" fmla="*/ 669 w 768"/>
                <a:gd name="T3" fmla="*/ 18 h 921"/>
                <a:gd name="T4" fmla="*/ 739 w 768"/>
                <a:gd name="T5" fmla="*/ 42 h 921"/>
                <a:gd name="T6" fmla="*/ 672 w 768"/>
                <a:gd name="T7" fmla="*/ 163 h 921"/>
                <a:gd name="T8" fmla="*/ 597 w 768"/>
                <a:gd name="T9" fmla="*/ 143 h 921"/>
                <a:gd name="T10" fmla="*/ 498 w 768"/>
                <a:gd name="T11" fmla="*/ 136 h 921"/>
                <a:gd name="T12" fmla="*/ 399 w 768"/>
                <a:gd name="T13" fmla="*/ 148 h 921"/>
                <a:gd name="T14" fmla="*/ 316 w 768"/>
                <a:gd name="T15" fmla="*/ 181 h 921"/>
                <a:gd name="T16" fmla="*/ 249 w 768"/>
                <a:gd name="T17" fmla="*/ 235 h 921"/>
                <a:gd name="T18" fmla="*/ 200 w 768"/>
                <a:gd name="T19" fmla="*/ 311 h 921"/>
                <a:gd name="T20" fmla="*/ 175 w 768"/>
                <a:gd name="T21" fmla="*/ 405 h 921"/>
                <a:gd name="T22" fmla="*/ 175 w 768"/>
                <a:gd name="T23" fmla="*/ 519 h 921"/>
                <a:gd name="T24" fmla="*/ 204 w 768"/>
                <a:gd name="T25" fmla="*/ 622 h 921"/>
                <a:gd name="T26" fmla="*/ 259 w 768"/>
                <a:gd name="T27" fmla="*/ 701 h 921"/>
                <a:gd name="T28" fmla="*/ 334 w 768"/>
                <a:gd name="T29" fmla="*/ 756 h 921"/>
                <a:gd name="T30" fmla="*/ 430 w 768"/>
                <a:gd name="T31" fmla="*/ 783 h 921"/>
                <a:gd name="T32" fmla="*/ 527 w 768"/>
                <a:gd name="T33" fmla="*/ 787 h 921"/>
                <a:gd name="T34" fmla="*/ 589 w 768"/>
                <a:gd name="T35" fmla="*/ 777 h 921"/>
                <a:gd name="T36" fmla="*/ 609 w 768"/>
                <a:gd name="T37" fmla="*/ 417 h 921"/>
                <a:gd name="T38" fmla="*/ 768 w 768"/>
                <a:gd name="T39" fmla="*/ 871 h 921"/>
                <a:gd name="T40" fmla="*/ 694 w 768"/>
                <a:gd name="T41" fmla="*/ 893 h 921"/>
                <a:gd name="T42" fmla="*/ 594 w 768"/>
                <a:gd name="T43" fmla="*/ 913 h 921"/>
                <a:gd name="T44" fmla="*/ 478 w 768"/>
                <a:gd name="T45" fmla="*/ 921 h 921"/>
                <a:gd name="T46" fmla="*/ 339 w 768"/>
                <a:gd name="T47" fmla="*/ 908 h 921"/>
                <a:gd name="T48" fmla="*/ 220 w 768"/>
                <a:gd name="T49" fmla="*/ 869 h 921"/>
                <a:gd name="T50" fmla="*/ 125 w 768"/>
                <a:gd name="T51" fmla="*/ 802 h 921"/>
                <a:gd name="T52" fmla="*/ 58 w 768"/>
                <a:gd name="T53" fmla="*/ 711 h 921"/>
                <a:gd name="T54" fmla="*/ 15 w 768"/>
                <a:gd name="T55" fmla="*/ 598 h 921"/>
                <a:gd name="T56" fmla="*/ 0 w 768"/>
                <a:gd name="T57" fmla="*/ 469 h 921"/>
                <a:gd name="T58" fmla="*/ 16 w 768"/>
                <a:gd name="T59" fmla="*/ 334 h 921"/>
                <a:gd name="T60" fmla="*/ 65 w 768"/>
                <a:gd name="T61" fmla="*/ 220 h 921"/>
                <a:gd name="T62" fmla="*/ 138 w 768"/>
                <a:gd name="T63" fmla="*/ 126 h 921"/>
                <a:gd name="T64" fmla="*/ 239 w 768"/>
                <a:gd name="T65" fmla="*/ 57 h 921"/>
                <a:gd name="T66" fmla="*/ 359 w 768"/>
                <a:gd name="T67" fmla="*/ 15 h 921"/>
                <a:gd name="T68" fmla="*/ 500 w 768"/>
                <a:gd name="T69"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8" h="921">
                  <a:moveTo>
                    <a:pt x="500" y="0"/>
                  </a:moveTo>
                  <a:lnTo>
                    <a:pt x="563" y="2"/>
                  </a:lnTo>
                  <a:lnTo>
                    <a:pt x="620" y="8"/>
                  </a:lnTo>
                  <a:lnTo>
                    <a:pt x="669" y="18"/>
                  </a:lnTo>
                  <a:lnTo>
                    <a:pt x="709" y="30"/>
                  </a:lnTo>
                  <a:lnTo>
                    <a:pt x="739" y="42"/>
                  </a:lnTo>
                  <a:lnTo>
                    <a:pt x="702" y="175"/>
                  </a:lnTo>
                  <a:lnTo>
                    <a:pt x="672" y="163"/>
                  </a:lnTo>
                  <a:lnTo>
                    <a:pt x="637" y="151"/>
                  </a:lnTo>
                  <a:lnTo>
                    <a:pt x="597" y="143"/>
                  </a:lnTo>
                  <a:lnTo>
                    <a:pt x="552" y="138"/>
                  </a:lnTo>
                  <a:lnTo>
                    <a:pt x="498" y="136"/>
                  </a:lnTo>
                  <a:lnTo>
                    <a:pt x="448" y="139"/>
                  </a:lnTo>
                  <a:lnTo>
                    <a:pt x="399" y="148"/>
                  </a:lnTo>
                  <a:lnTo>
                    <a:pt x="356" y="161"/>
                  </a:lnTo>
                  <a:lnTo>
                    <a:pt x="316" y="181"/>
                  </a:lnTo>
                  <a:lnTo>
                    <a:pt x="279" y="205"/>
                  </a:lnTo>
                  <a:lnTo>
                    <a:pt x="249" y="235"/>
                  </a:lnTo>
                  <a:lnTo>
                    <a:pt x="222" y="271"/>
                  </a:lnTo>
                  <a:lnTo>
                    <a:pt x="200" y="311"/>
                  </a:lnTo>
                  <a:lnTo>
                    <a:pt x="185" y="356"/>
                  </a:lnTo>
                  <a:lnTo>
                    <a:pt x="175" y="405"/>
                  </a:lnTo>
                  <a:lnTo>
                    <a:pt x="172" y="461"/>
                  </a:lnTo>
                  <a:lnTo>
                    <a:pt x="175" y="519"/>
                  </a:lnTo>
                  <a:lnTo>
                    <a:pt x="187" y="573"/>
                  </a:lnTo>
                  <a:lnTo>
                    <a:pt x="204" y="622"/>
                  </a:lnTo>
                  <a:lnTo>
                    <a:pt x="229" y="664"/>
                  </a:lnTo>
                  <a:lnTo>
                    <a:pt x="259" y="701"/>
                  </a:lnTo>
                  <a:lnTo>
                    <a:pt x="294" y="731"/>
                  </a:lnTo>
                  <a:lnTo>
                    <a:pt x="334" y="756"/>
                  </a:lnTo>
                  <a:lnTo>
                    <a:pt x="379" y="773"/>
                  </a:lnTo>
                  <a:lnTo>
                    <a:pt x="430" y="783"/>
                  </a:lnTo>
                  <a:lnTo>
                    <a:pt x="485" y="788"/>
                  </a:lnTo>
                  <a:lnTo>
                    <a:pt x="527" y="787"/>
                  </a:lnTo>
                  <a:lnTo>
                    <a:pt x="560" y="782"/>
                  </a:lnTo>
                  <a:lnTo>
                    <a:pt x="589" y="777"/>
                  </a:lnTo>
                  <a:lnTo>
                    <a:pt x="609" y="770"/>
                  </a:lnTo>
                  <a:lnTo>
                    <a:pt x="609" y="417"/>
                  </a:lnTo>
                  <a:lnTo>
                    <a:pt x="768" y="417"/>
                  </a:lnTo>
                  <a:lnTo>
                    <a:pt x="768" y="871"/>
                  </a:lnTo>
                  <a:lnTo>
                    <a:pt x="734" y="882"/>
                  </a:lnTo>
                  <a:lnTo>
                    <a:pt x="694" y="893"/>
                  </a:lnTo>
                  <a:lnTo>
                    <a:pt x="645" y="904"/>
                  </a:lnTo>
                  <a:lnTo>
                    <a:pt x="594" y="913"/>
                  </a:lnTo>
                  <a:lnTo>
                    <a:pt x="537" y="919"/>
                  </a:lnTo>
                  <a:lnTo>
                    <a:pt x="478" y="921"/>
                  </a:lnTo>
                  <a:lnTo>
                    <a:pt x="406" y="918"/>
                  </a:lnTo>
                  <a:lnTo>
                    <a:pt x="339" y="908"/>
                  </a:lnTo>
                  <a:lnTo>
                    <a:pt x="277" y="893"/>
                  </a:lnTo>
                  <a:lnTo>
                    <a:pt x="220" y="869"/>
                  </a:lnTo>
                  <a:lnTo>
                    <a:pt x="170" y="839"/>
                  </a:lnTo>
                  <a:lnTo>
                    <a:pt x="125" y="802"/>
                  </a:lnTo>
                  <a:lnTo>
                    <a:pt x="88" y="760"/>
                  </a:lnTo>
                  <a:lnTo>
                    <a:pt x="58" y="711"/>
                  </a:lnTo>
                  <a:lnTo>
                    <a:pt x="33" y="657"/>
                  </a:lnTo>
                  <a:lnTo>
                    <a:pt x="15" y="598"/>
                  </a:lnTo>
                  <a:lnTo>
                    <a:pt x="3" y="536"/>
                  </a:lnTo>
                  <a:lnTo>
                    <a:pt x="0" y="469"/>
                  </a:lnTo>
                  <a:lnTo>
                    <a:pt x="5" y="400"/>
                  </a:lnTo>
                  <a:lnTo>
                    <a:pt x="16" y="334"/>
                  </a:lnTo>
                  <a:lnTo>
                    <a:pt x="36" y="274"/>
                  </a:lnTo>
                  <a:lnTo>
                    <a:pt x="65" y="220"/>
                  </a:lnTo>
                  <a:lnTo>
                    <a:pt x="98" y="170"/>
                  </a:lnTo>
                  <a:lnTo>
                    <a:pt x="138" y="126"/>
                  </a:lnTo>
                  <a:lnTo>
                    <a:pt x="185" y="89"/>
                  </a:lnTo>
                  <a:lnTo>
                    <a:pt x="239" y="57"/>
                  </a:lnTo>
                  <a:lnTo>
                    <a:pt x="297" y="32"/>
                  </a:lnTo>
                  <a:lnTo>
                    <a:pt x="359" y="15"/>
                  </a:lnTo>
                  <a:lnTo>
                    <a:pt x="428" y="3"/>
                  </a:lnTo>
                  <a:lnTo>
                    <a:pt x="5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sp>
          <p:nvSpPr>
            <p:cNvPr id="23" name="Freeform 13"/>
            <p:cNvSpPr>
              <a:spLocks noEditPoints="1"/>
            </p:cNvSpPr>
            <p:nvPr/>
          </p:nvSpPr>
          <p:spPr bwMode="black">
            <a:xfrm>
              <a:off x="6956450" y="3689901"/>
              <a:ext cx="115888" cy="114300"/>
            </a:xfrm>
            <a:custGeom>
              <a:avLst/>
              <a:gdLst>
                <a:gd name="T0" fmla="*/ 59 w 146"/>
                <a:gd name="T1" fmla="*/ 65 h 144"/>
                <a:gd name="T2" fmla="*/ 80 w 146"/>
                <a:gd name="T3" fmla="*/ 65 h 144"/>
                <a:gd name="T4" fmla="*/ 89 w 146"/>
                <a:gd name="T5" fmla="*/ 64 h 144"/>
                <a:gd name="T6" fmla="*/ 92 w 146"/>
                <a:gd name="T7" fmla="*/ 57 h 144"/>
                <a:gd name="T8" fmla="*/ 92 w 146"/>
                <a:gd name="T9" fmla="*/ 49 h 144"/>
                <a:gd name="T10" fmla="*/ 87 w 146"/>
                <a:gd name="T11" fmla="*/ 44 h 144"/>
                <a:gd name="T12" fmla="*/ 80 w 146"/>
                <a:gd name="T13" fmla="*/ 40 h 144"/>
                <a:gd name="T14" fmla="*/ 59 w 146"/>
                <a:gd name="T15" fmla="*/ 40 h 144"/>
                <a:gd name="T16" fmla="*/ 77 w 146"/>
                <a:gd name="T17" fmla="*/ 30 h 144"/>
                <a:gd name="T18" fmla="*/ 104 w 146"/>
                <a:gd name="T19" fmla="*/ 40 h 144"/>
                <a:gd name="T20" fmla="*/ 105 w 146"/>
                <a:gd name="T21" fmla="*/ 60 h 144"/>
                <a:gd name="T22" fmla="*/ 100 w 146"/>
                <a:gd name="T23" fmla="*/ 70 h 144"/>
                <a:gd name="T24" fmla="*/ 90 w 146"/>
                <a:gd name="T25" fmla="*/ 75 h 144"/>
                <a:gd name="T26" fmla="*/ 109 w 146"/>
                <a:gd name="T27" fmla="*/ 114 h 144"/>
                <a:gd name="T28" fmla="*/ 70 w 146"/>
                <a:gd name="T29" fmla="*/ 77 h 144"/>
                <a:gd name="T30" fmla="*/ 59 w 146"/>
                <a:gd name="T31" fmla="*/ 114 h 144"/>
                <a:gd name="T32" fmla="*/ 45 w 146"/>
                <a:gd name="T33" fmla="*/ 30 h 144"/>
                <a:gd name="T34" fmla="*/ 50 w 146"/>
                <a:gd name="T35" fmla="*/ 15 h 144"/>
                <a:gd name="T36" fmla="*/ 18 w 146"/>
                <a:gd name="T37" fmla="*/ 49 h 144"/>
                <a:gd name="T38" fmla="*/ 18 w 146"/>
                <a:gd name="T39" fmla="*/ 97 h 144"/>
                <a:gd name="T40" fmla="*/ 50 w 146"/>
                <a:gd name="T41" fmla="*/ 129 h 144"/>
                <a:gd name="T42" fmla="*/ 95 w 146"/>
                <a:gd name="T43" fmla="*/ 129 h 144"/>
                <a:gd name="T44" fmla="*/ 127 w 146"/>
                <a:gd name="T45" fmla="*/ 97 h 144"/>
                <a:gd name="T46" fmla="*/ 127 w 146"/>
                <a:gd name="T47" fmla="*/ 49 h 144"/>
                <a:gd name="T48" fmla="*/ 95 w 146"/>
                <a:gd name="T49" fmla="*/ 15 h 144"/>
                <a:gd name="T50" fmla="*/ 74 w 146"/>
                <a:gd name="T51" fmla="*/ 0 h 144"/>
                <a:gd name="T52" fmla="*/ 116 w 146"/>
                <a:gd name="T53" fmla="*/ 13 h 144"/>
                <a:gd name="T54" fmla="*/ 141 w 146"/>
                <a:gd name="T55" fmla="*/ 49 h 144"/>
                <a:gd name="T56" fmla="*/ 141 w 146"/>
                <a:gd name="T57" fmla="*/ 96 h 144"/>
                <a:gd name="T58" fmla="*/ 116 w 146"/>
                <a:gd name="T59" fmla="*/ 131 h 144"/>
                <a:gd name="T60" fmla="*/ 74 w 146"/>
                <a:gd name="T61" fmla="*/ 144 h 144"/>
                <a:gd name="T62" fmla="*/ 30 w 146"/>
                <a:gd name="T63" fmla="*/ 131 h 144"/>
                <a:gd name="T64" fmla="*/ 5 w 146"/>
                <a:gd name="T65" fmla="*/ 96 h 144"/>
                <a:gd name="T66" fmla="*/ 5 w 146"/>
                <a:gd name="T67" fmla="*/ 49 h 144"/>
                <a:gd name="T68" fmla="*/ 30 w 146"/>
                <a:gd name="T69" fmla="*/ 13 h 144"/>
                <a:gd name="T70" fmla="*/ 74 w 146"/>
                <a:gd name="T7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144">
                  <a:moveTo>
                    <a:pt x="59" y="40"/>
                  </a:moveTo>
                  <a:lnTo>
                    <a:pt x="59" y="65"/>
                  </a:lnTo>
                  <a:lnTo>
                    <a:pt x="75" y="65"/>
                  </a:lnTo>
                  <a:lnTo>
                    <a:pt x="80" y="65"/>
                  </a:lnTo>
                  <a:lnTo>
                    <a:pt x="85" y="65"/>
                  </a:lnTo>
                  <a:lnTo>
                    <a:pt x="89" y="64"/>
                  </a:lnTo>
                  <a:lnTo>
                    <a:pt x="90" y="62"/>
                  </a:lnTo>
                  <a:lnTo>
                    <a:pt x="92" y="57"/>
                  </a:lnTo>
                  <a:lnTo>
                    <a:pt x="92" y="54"/>
                  </a:lnTo>
                  <a:lnTo>
                    <a:pt x="92" y="49"/>
                  </a:lnTo>
                  <a:lnTo>
                    <a:pt x="90" y="45"/>
                  </a:lnTo>
                  <a:lnTo>
                    <a:pt x="87" y="44"/>
                  </a:lnTo>
                  <a:lnTo>
                    <a:pt x="84" y="42"/>
                  </a:lnTo>
                  <a:lnTo>
                    <a:pt x="80" y="40"/>
                  </a:lnTo>
                  <a:lnTo>
                    <a:pt x="75" y="40"/>
                  </a:lnTo>
                  <a:lnTo>
                    <a:pt x="59" y="40"/>
                  </a:lnTo>
                  <a:close/>
                  <a:moveTo>
                    <a:pt x="45" y="30"/>
                  </a:moveTo>
                  <a:lnTo>
                    <a:pt x="77" y="30"/>
                  </a:lnTo>
                  <a:lnTo>
                    <a:pt x="94" y="32"/>
                  </a:lnTo>
                  <a:lnTo>
                    <a:pt x="104" y="40"/>
                  </a:lnTo>
                  <a:lnTo>
                    <a:pt x="107" y="54"/>
                  </a:lnTo>
                  <a:lnTo>
                    <a:pt x="105" y="60"/>
                  </a:lnTo>
                  <a:lnTo>
                    <a:pt x="104" y="65"/>
                  </a:lnTo>
                  <a:lnTo>
                    <a:pt x="100" y="70"/>
                  </a:lnTo>
                  <a:lnTo>
                    <a:pt x="97" y="74"/>
                  </a:lnTo>
                  <a:lnTo>
                    <a:pt x="90" y="75"/>
                  </a:lnTo>
                  <a:lnTo>
                    <a:pt x="85" y="77"/>
                  </a:lnTo>
                  <a:lnTo>
                    <a:pt x="109" y="114"/>
                  </a:lnTo>
                  <a:lnTo>
                    <a:pt x="94" y="114"/>
                  </a:lnTo>
                  <a:lnTo>
                    <a:pt x="70" y="77"/>
                  </a:lnTo>
                  <a:lnTo>
                    <a:pt x="59" y="77"/>
                  </a:lnTo>
                  <a:lnTo>
                    <a:pt x="59" y="114"/>
                  </a:lnTo>
                  <a:lnTo>
                    <a:pt x="45" y="114"/>
                  </a:lnTo>
                  <a:lnTo>
                    <a:pt x="45" y="30"/>
                  </a:lnTo>
                  <a:close/>
                  <a:moveTo>
                    <a:pt x="74" y="10"/>
                  </a:moveTo>
                  <a:lnTo>
                    <a:pt x="50" y="15"/>
                  </a:lnTo>
                  <a:lnTo>
                    <a:pt x="32" y="28"/>
                  </a:lnTo>
                  <a:lnTo>
                    <a:pt x="18" y="49"/>
                  </a:lnTo>
                  <a:lnTo>
                    <a:pt x="15" y="72"/>
                  </a:lnTo>
                  <a:lnTo>
                    <a:pt x="18" y="97"/>
                  </a:lnTo>
                  <a:lnTo>
                    <a:pt x="32" y="116"/>
                  </a:lnTo>
                  <a:lnTo>
                    <a:pt x="50" y="129"/>
                  </a:lnTo>
                  <a:lnTo>
                    <a:pt x="74" y="134"/>
                  </a:lnTo>
                  <a:lnTo>
                    <a:pt x="95" y="129"/>
                  </a:lnTo>
                  <a:lnTo>
                    <a:pt x="114" y="116"/>
                  </a:lnTo>
                  <a:lnTo>
                    <a:pt x="127" y="97"/>
                  </a:lnTo>
                  <a:lnTo>
                    <a:pt x="131" y="72"/>
                  </a:lnTo>
                  <a:lnTo>
                    <a:pt x="127" y="49"/>
                  </a:lnTo>
                  <a:lnTo>
                    <a:pt x="114" y="28"/>
                  </a:lnTo>
                  <a:lnTo>
                    <a:pt x="95" y="15"/>
                  </a:lnTo>
                  <a:lnTo>
                    <a:pt x="74" y="10"/>
                  </a:lnTo>
                  <a:close/>
                  <a:moveTo>
                    <a:pt x="74" y="0"/>
                  </a:moveTo>
                  <a:lnTo>
                    <a:pt x="95" y="3"/>
                  </a:lnTo>
                  <a:lnTo>
                    <a:pt x="116" y="13"/>
                  </a:lnTo>
                  <a:lnTo>
                    <a:pt x="131" y="30"/>
                  </a:lnTo>
                  <a:lnTo>
                    <a:pt x="141" y="49"/>
                  </a:lnTo>
                  <a:lnTo>
                    <a:pt x="146" y="72"/>
                  </a:lnTo>
                  <a:lnTo>
                    <a:pt x="141" y="96"/>
                  </a:lnTo>
                  <a:lnTo>
                    <a:pt x="131" y="114"/>
                  </a:lnTo>
                  <a:lnTo>
                    <a:pt x="116" y="131"/>
                  </a:lnTo>
                  <a:lnTo>
                    <a:pt x="95" y="141"/>
                  </a:lnTo>
                  <a:lnTo>
                    <a:pt x="74" y="144"/>
                  </a:lnTo>
                  <a:lnTo>
                    <a:pt x="50" y="141"/>
                  </a:lnTo>
                  <a:lnTo>
                    <a:pt x="30" y="131"/>
                  </a:lnTo>
                  <a:lnTo>
                    <a:pt x="15" y="114"/>
                  </a:lnTo>
                  <a:lnTo>
                    <a:pt x="5" y="96"/>
                  </a:lnTo>
                  <a:lnTo>
                    <a:pt x="0" y="72"/>
                  </a:lnTo>
                  <a:lnTo>
                    <a:pt x="5" y="49"/>
                  </a:lnTo>
                  <a:lnTo>
                    <a:pt x="15" y="30"/>
                  </a:lnTo>
                  <a:lnTo>
                    <a:pt x="30" y="13"/>
                  </a:lnTo>
                  <a:lnTo>
                    <a:pt x="50" y="3"/>
                  </a:lnTo>
                  <a:lnTo>
                    <a:pt x="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cs-CZ"/>
            </a:p>
          </p:txBody>
        </p:sp>
      </p:grpSp>
      <p:sp>
        <p:nvSpPr>
          <p:cNvPr id="27" name="Zástupný symbol pro datum 3"/>
          <p:cNvSpPr>
            <a:spLocks noGrp="1"/>
          </p:cNvSpPr>
          <p:nvPr>
            <p:ph type="dt" sz="half" idx="2"/>
          </p:nvPr>
        </p:nvSpPr>
        <p:spPr>
          <a:xfrm>
            <a:off x="1043608" y="6448251"/>
            <a:ext cx="936104"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28" name="Zástupný symbol pro zápatí 4"/>
          <p:cNvSpPr>
            <a:spLocks noGrp="1"/>
          </p:cNvSpPr>
          <p:nvPr>
            <p:ph type="ftr" sz="quarter" idx="3"/>
          </p:nvPr>
        </p:nvSpPr>
        <p:spPr>
          <a:xfrm>
            <a:off x="2123728" y="6448251"/>
            <a:ext cx="5040560" cy="365125"/>
          </a:xfrm>
          <a:prstGeom prst="rect">
            <a:avLst/>
          </a:prstGeom>
        </p:spPr>
        <p:txBody>
          <a:bodyPr lIns="0" tIns="0" rIns="0" bIns="0"/>
          <a:lstStyle>
            <a:lvl1pPr algn="l">
              <a:defRPr sz="1600">
                <a:solidFill>
                  <a:schemeClr val="tx1">
                    <a:lumMod val="50000"/>
                    <a:lumOff val="50000"/>
                  </a:schemeClr>
                </a:solidFill>
              </a:defRPr>
            </a:lvl1pPr>
          </a:lstStyle>
          <a:p>
            <a:endParaRPr lang="cs-CZ" dirty="0"/>
          </a:p>
        </p:txBody>
      </p:sp>
      <p:sp>
        <p:nvSpPr>
          <p:cNvPr id="29" name="Zástupný symbol pro číslo snímku 5"/>
          <p:cNvSpPr>
            <a:spLocks noGrp="1"/>
          </p:cNvSpPr>
          <p:nvPr>
            <p:ph type="sldNum" sz="quarter" idx="4"/>
          </p:nvPr>
        </p:nvSpPr>
        <p:spPr>
          <a:xfrm>
            <a:off x="467544" y="6448251"/>
            <a:ext cx="432048" cy="365125"/>
          </a:xfrm>
          <a:prstGeom prst="rect">
            <a:avLst/>
          </a:prstGeom>
        </p:spPr>
        <p:txBody>
          <a:bodyPr lIns="0" tIns="0" rIns="0" bIns="0"/>
          <a:lstStyle>
            <a:lvl1pPr algn="l">
              <a:defRPr sz="1600" b="1">
                <a:solidFill>
                  <a:schemeClr val="tx2"/>
                </a:solidFill>
              </a:defRPr>
            </a:lvl1pPr>
          </a:lstStyle>
          <a:p>
            <a:fld id="{31EF1479-3489-4788-BFA4-763D4DDB960F}" type="slidenum">
              <a:rPr lang="cs-CZ" smtClean="0"/>
              <a:pPr/>
              <a:t>‹#›</a:t>
            </a:fld>
            <a:endParaRPr lang="cs-CZ" dirty="0"/>
          </a:p>
        </p:txBody>
      </p:sp>
      <p:grpSp>
        <p:nvGrpSpPr>
          <p:cNvPr id="24" name="Skupina 23"/>
          <p:cNvGrpSpPr/>
          <p:nvPr userDrawn="1"/>
        </p:nvGrpSpPr>
        <p:grpSpPr bwMode="gray">
          <a:xfrm flipH="1">
            <a:off x="4572000" y="0"/>
            <a:ext cx="4572000" cy="151200"/>
            <a:chOff x="3203928" y="2491755"/>
            <a:chExt cx="2160000" cy="72000"/>
          </a:xfrm>
        </p:grpSpPr>
        <p:sp>
          <p:nvSpPr>
            <p:cNvPr id="25" name="Obdélník 24"/>
            <p:cNvSpPr/>
            <p:nvPr/>
          </p:nvSpPr>
          <p:spPr bwMode="gray">
            <a:xfrm>
              <a:off x="3923928" y="2491755"/>
              <a:ext cx="720000" cy="72000"/>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6" name="Obdélník 25"/>
            <p:cNvSpPr/>
            <p:nvPr/>
          </p:nvSpPr>
          <p:spPr bwMode="gray">
            <a:xfrm>
              <a:off x="3203928" y="2491755"/>
              <a:ext cx="720000" cy="7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0" name="Obdélník 29"/>
            <p:cNvSpPr/>
            <p:nvPr/>
          </p:nvSpPr>
          <p:spPr bwMode="gray">
            <a:xfrm>
              <a:off x="4643928" y="2491755"/>
              <a:ext cx="720000" cy="72000"/>
            </a:xfrm>
            <a:prstGeom prst="rect">
              <a:avLst/>
            </a:prstGeom>
            <a:solidFill>
              <a:srgbClr val="C8D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grpSp>
    </p:spTree>
    <p:extLst>
      <p:ext uri="{BB962C8B-B14F-4D97-AF65-F5344CB8AC3E}">
        <p14:creationId xmlns:p14="http://schemas.microsoft.com/office/powerpoint/2010/main" val="493704639"/>
      </p:ext>
    </p:extLst>
  </p:cSld>
  <p:clrMap bg1="lt1" tx1="dk1" bg2="lt2" tx2="dk2" accent1="accent1" accent2="accent2" accent3="accent3" accent4="accent4" accent5="accent5" accent6="accent6" hlink="hlink" folHlink="folHlink"/>
  <p:sldLayoutIdLst>
    <p:sldLayoutId id="2147483722" r:id="rId1"/>
    <p:sldLayoutId id="2147483694" r:id="rId2"/>
    <p:sldLayoutId id="2147483728" r:id="rId3"/>
    <p:sldLayoutId id="2147483730" r:id="rId4"/>
    <p:sldLayoutId id="2147483729" r:id="rId5"/>
    <p:sldLayoutId id="2147483727" r:id="rId6"/>
  </p:sldLayoutIdLst>
  <p:hf sldNum="0" hdr="0" ftr="0" dt="0"/>
  <p:txStyles>
    <p:titleStyle>
      <a:lvl1pPr algn="l" defTabSz="914400" rtl="0" eaLnBrk="1" latinLnBrk="0" hangingPunct="1">
        <a:spcBef>
          <a:spcPct val="0"/>
        </a:spcBef>
        <a:buNone/>
        <a:defRPr sz="3200" b="1" kern="1200" spc="-6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Font typeface="Wingdings" pitchFamily="2" charset="2"/>
        <a:buChar char="§"/>
        <a:defRPr sz="2600"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Font typeface="Arial"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90000"/>
        <a:buFont typeface="Wingdings" pitchFamily="2" charset="2"/>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90000"/>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90000"/>
        <a:buFont typeface="Wingdings" pitchFamily="2" charset="2"/>
        <a:buChar char="§"/>
        <a:defRPr sz="1800" i="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3.x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8.bin"/><Relationship Id="rId1" Type="http://schemas.openxmlformats.org/officeDocument/2006/relationships/slideLayout" Target="../slideLayouts/slideLayout4.xml"/><Relationship Id="rId5" Type="http://schemas.openxmlformats.org/officeDocument/2006/relationships/image" Target="../media/image19.wmf"/><Relationship Id="rId4" Type="http://schemas.openxmlformats.org/officeDocument/2006/relationships/oleObject" Target="../embeddings/oleObject9.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1.wmf"/></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1.bin"/><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2.bin"/><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3.bin"/><Relationship Id="rId1" Type="http://schemas.openxmlformats.org/officeDocument/2006/relationships/slideLayout" Target="../slideLayouts/slideLayout4.xml"/><Relationship Id="rId5" Type="http://schemas.openxmlformats.org/officeDocument/2006/relationships/image" Target="../media/image36.wmf"/><Relationship Id="rId4" Type="http://schemas.openxmlformats.org/officeDocument/2006/relationships/oleObject" Target="../embeddings/oleObject14.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p:cNvSpPr>
            <a:spLocks noGrp="1"/>
          </p:cNvSpPr>
          <p:nvPr>
            <p:ph type="ctrTitle"/>
          </p:nvPr>
        </p:nvSpPr>
        <p:spPr/>
        <p:txBody>
          <a:bodyPr/>
          <a:lstStyle/>
          <a:p>
            <a:r>
              <a:rPr lang="en-US" dirty="0"/>
              <a:t>Kerberos</a:t>
            </a:r>
            <a:endParaRPr lang="cs-CZ" dirty="0"/>
          </a:p>
        </p:txBody>
      </p:sp>
      <p:sp>
        <p:nvSpPr>
          <p:cNvPr id="7" name="Podnadpis 6"/>
          <p:cNvSpPr>
            <a:spLocks noGrp="1"/>
          </p:cNvSpPr>
          <p:nvPr>
            <p:ph type="subTitle" idx="1"/>
          </p:nvPr>
        </p:nvSpPr>
        <p:spPr/>
        <p:txBody>
          <a:bodyPr/>
          <a:lstStyle/>
          <a:p>
            <a:r>
              <a:rPr lang="cs-CZ" dirty="0"/>
              <a:t>GOPAS: info@gopas.cz </a:t>
            </a:r>
            <a:r>
              <a:rPr lang="en-US" dirty="0"/>
              <a:t>|</a:t>
            </a:r>
            <a:r>
              <a:rPr lang="cs-CZ" dirty="0"/>
              <a:t> www.gopas.cz</a:t>
            </a:r>
            <a:r>
              <a:rPr lang="en-US" dirty="0"/>
              <a:t> |</a:t>
            </a:r>
            <a:r>
              <a:rPr lang="cs-CZ" dirty="0"/>
              <a:t> www.facebook.com/P.S.GOPAS</a:t>
            </a:r>
          </a:p>
        </p:txBody>
      </p:sp>
      <p:sp>
        <p:nvSpPr>
          <p:cNvPr id="8" name="Zástupný symbol pro text 7"/>
          <p:cNvSpPr>
            <a:spLocks noGrp="1"/>
          </p:cNvSpPr>
          <p:nvPr>
            <p:ph type="body" sz="quarter" idx="10"/>
          </p:nvPr>
        </p:nvSpPr>
        <p:spPr/>
        <p:txBody>
          <a:bodyPr/>
          <a:lstStyle/>
          <a:p>
            <a:r>
              <a:rPr lang="en-US" dirty="0"/>
              <a:t>Ing. </a:t>
            </a:r>
            <a:r>
              <a:rPr lang="cs-CZ" dirty="0"/>
              <a:t>Ondřej Ševeček </a:t>
            </a:r>
            <a:r>
              <a:rPr lang="en-US" dirty="0"/>
              <a:t>| GOPAS </a:t>
            </a:r>
            <a:r>
              <a:rPr lang="en-US" dirty="0" err="1"/>
              <a:t>a.s.</a:t>
            </a:r>
            <a:r>
              <a:rPr lang="en-US" dirty="0"/>
              <a:t> |</a:t>
            </a:r>
          </a:p>
          <a:p>
            <a:r>
              <a:rPr lang="en-US" dirty="0"/>
              <a:t>MCSM: Directory2012 | MCM: Directory2008 | MVP: Enterprise Security | </a:t>
            </a:r>
            <a:r>
              <a:rPr lang="cs-CZ" dirty="0"/>
              <a:t>CEH:</a:t>
            </a:r>
            <a:r>
              <a:rPr lang="en-US" dirty="0"/>
              <a:t> Certified Ethical Hacker |</a:t>
            </a:r>
            <a:r>
              <a:rPr lang="cs-CZ" dirty="0"/>
              <a:t> CHFI: </a:t>
            </a:r>
            <a:r>
              <a:rPr lang="en-US" dirty="0"/>
              <a:t>Computer Hacking Forensic Investigator</a:t>
            </a:r>
            <a:r>
              <a:rPr lang="cs-CZ" dirty="0"/>
              <a:t> </a:t>
            </a:r>
            <a:r>
              <a:rPr lang="en-US" dirty="0"/>
              <a:t>|</a:t>
            </a:r>
            <a:r>
              <a:rPr lang="cs-CZ" dirty="0"/>
              <a:t> CISA </a:t>
            </a:r>
            <a:r>
              <a:rPr lang="en-US" dirty="0"/>
              <a:t>| CISM | CISSP |</a:t>
            </a:r>
          </a:p>
          <a:p>
            <a:r>
              <a:rPr lang="en-US" dirty="0"/>
              <a:t>ondrej@sevecek.com | www.sevecek.com |</a:t>
            </a:r>
            <a:endParaRPr lang="cs-CZ" dirty="0"/>
          </a:p>
        </p:txBody>
      </p:sp>
    </p:spTree>
    <p:extLst>
      <p:ext uri="{BB962C8B-B14F-4D97-AF65-F5344CB8AC3E}">
        <p14:creationId xmlns:p14="http://schemas.microsoft.com/office/powerpoint/2010/main" val="802814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F033E-46B7-2F4C-CA62-DA3D9B654AF6}"/>
              </a:ext>
            </a:extLst>
          </p:cNvPr>
          <p:cNvSpPr>
            <a:spLocks noGrp="1"/>
          </p:cNvSpPr>
          <p:nvPr>
            <p:ph type="title"/>
          </p:nvPr>
        </p:nvSpPr>
        <p:spPr/>
        <p:txBody>
          <a:bodyPr/>
          <a:lstStyle/>
          <a:p>
            <a:r>
              <a:rPr lang="en-US" dirty="0"/>
              <a:t>Kerberos overview</a:t>
            </a:r>
          </a:p>
        </p:txBody>
      </p:sp>
      <p:sp>
        <p:nvSpPr>
          <p:cNvPr id="4" name="Content Placeholder 3">
            <a:extLst>
              <a:ext uri="{FF2B5EF4-FFF2-40B4-BE49-F238E27FC236}">
                <a16:creationId xmlns:a16="http://schemas.microsoft.com/office/drawing/2014/main" id="{EEE25838-9EB6-7223-A7F4-3DCAB7E423ED}"/>
              </a:ext>
            </a:extLst>
          </p:cNvPr>
          <p:cNvSpPr>
            <a:spLocks noGrp="1"/>
          </p:cNvSpPr>
          <p:nvPr>
            <p:ph idx="1"/>
          </p:nvPr>
        </p:nvSpPr>
        <p:spPr/>
        <p:txBody>
          <a:bodyPr>
            <a:normAutofit fontScale="92500" lnSpcReduction="10000"/>
          </a:bodyPr>
          <a:lstStyle/>
          <a:p>
            <a:r>
              <a:rPr lang="en-US" dirty="0"/>
              <a:t>standards based</a:t>
            </a:r>
          </a:p>
          <a:p>
            <a:pPr lvl="1"/>
            <a:r>
              <a:rPr lang="en-US" dirty="0"/>
              <a:t>developed by academic cryptologists</a:t>
            </a:r>
          </a:p>
          <a:p>
            <a:r>
              <a:rPr lang="en-US" dirty="0"/>
              <a:t>mutual authentication</a:t>
            </a:r>
          </a:p>
          <a:p>
            <a:pPr lvl="1"/>
            <a:r>
              <a:rPr lang="en-US" dirty="0"/>
              <a:t>user/client, DC/KDC, server/service</a:t>
            </a:r>
          </a:p>
          <a:p>
            <a:r>
              <a:rPr lang="en-US" dirty="0"/>
              <a:t>negotiable cryptography</a:t>
            </a:r>
          </a:p>
          <a:p>
            <a:pPr lvl="1"/>
            <a:r>
              <a:rPr lang="en-US" dirty="0"/>
              <a:t>DES, RC4, AES-SHA1, AES-SHA256</a:t>
            </a:r>
          </a:p>
          <a:p>
            <a:r>
              <a:rPr lang="en-US" dirty="0"/>
              <a:t>bases for web SSO such as ADFS, WS-Fed, SAML-P, OAuth/</a:t>
            </a:r>
            <a:r>
              <a:rPr lang="en-US" dirty="0" err="1"/>
              <a:t>OpenId</a:t>
            </a:r>
            <a:endParaRPr lang="en-US" dirty="0"/>
          </a:p>
          <a:p>
            <a:r>
              <a:rPr lang="en-US" dirty="0"/>
              <a:t>cryptographic side-channel protection</a:t>
            </a:r>
          </a:p>
          <a:p>
            <a:pPr lvl="1"/>
            <a:r>
              <a:rPr lang="en-US" dirty="0"/>
              <a:t>anti-reply with timestamps (+/- 5 minutes)</a:t>
            </a:r>
          </a:p>
          <a:p>
            <a:pPr lvl="1"/>
            <a:r>
              <a:rPr lang="en-US" dirty="0"/>
              <a:t>re-keying</a:t>
            </a:r>
          </a:p>
          <a:p>
            <a:pPr lvl="1"/>
            <a:r>
              <a:rPr lang="en-US" dirty="0"/>
              <a:t>limited primary credential exposure (+ticket renewal)</a:t>
            </a:r>
          </a:p>
          <a:p>
            <a:pPr lvl="1"/>
            <a:r>
              <a:rPr lang="en-US" dirty="0"/>
              <a:t>DoS vs. pre-authentication</a:t>
            </a:r>
          </a:p>
        </p:txBody>
      </p:sp>
    </p:spTree>
    <p:extLst>
      <p:ext uri="{BB962C8B-B14F-4D97-AF65-F5344CB8AC3E}">
        <p14:creationId xmlns:p14="http://schemas.microsoft.com/office/powerpoint/2010/main" val="3823179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82960"/>
          </a:xfrm>
        </p:spPr>
        <p:txBody>
          <a:bodyPr>
            <a:normAutofit/>
          </a:bodyPr>
          <a:lstStyle/>
          <a:p>
            <a:r>
              <a:rPr lang="en-US" dirty="0">
                <a:solidFill>
                  <a:schemeClr val="accent2"/>
                </a:solidFill>
              </a:rPr>
              <a:t>Compare: </a:t>
            </a:r>
            <a:r>
              <a:rPr lang="en-US" dirty="0">
                <a:solidFill>
                  <a:schemeClr val="accent1"/>
                </a:solidFill>
              </a:rPr>
              <a:t>pass-through in-band</a:t>
            </a:r>
            <a:r>
              <a:rPr lang="en-US" dirty="0"/>
              <a:t> NTLM</a:t>
            </a:r>
          </a:p>
        </p:txBody>
      </p:sp>
      <p:sp>
        <p:nvSpPr>
          <p:cNvPr id="4" name="Rectangle 3"/>
          <p:cNvSpPr/>
          <p:nvPr/>
        </p:nvSpPr>
        <p:spPr>
          <a:xfrm>
            <a:off x="89959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45455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sp>
        <p:nvSpPr>
          <p:cNvPr id="6" name="Rectangle 5"/>
          <p:cNvSpPr/>
          <p:nvPr/>
        </p:nvSpPr>
        <p:spPr>
          <a:xfrm>
            <a:off x="6454552" y="4930824"/>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7" name="Rectangle 6"/>
          <p:cNvSpPr/>
          <p:nvPr/>
        </p:nvSpPr>
        <p:spPr>
          <a:xfrm>
            <a:off x="5168752" y="5476056"/>
            <a:ext cx="1442120"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Active Directory</a:t>
            </a:r>
          </a:p>
        </p:txBody>
      </p:sp>
      <p:sp>
        <p:nvSpPr>
          <p:cNvPr id="3" name="Left-Right Arrow 2"/>
          <p:cNvSpPr/>
          <p:nvPr/>
        </p:nvSpPr>
        <p:spPr>
          <a:xfrm>
            <a:off x="2134072" y="1705980"/>
            <a:ext cx="4176464"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Left-Right Arrow 24"/>
          <p:cNvSpPr/>
          <p:nvPr/>
        </p:nvSpPr>
        <p:spPr>
          <a:xfrm rot="16200000">
            <a:off x="6040531" y="3392295"/>
            <a:ext cx="1918506"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6" name="Rectangle 25"/>
          <p:cNvSpPr/>
          <p:nvPr/>
        </p:nvSpPr>
        <p:spPr>
          <a:xfrm>
            <a:off x="3440560" y="2094880"/>
            <a:ext cx="1946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in-band</a:t>
            </a:r>
          </a:p>
        </p:txBody>
      </p:sp>
      <p:sp>
        <p:nvSpPr>
          <p:cNvPr id="27" name="Rectangle 26"/>
          <p:cNvSpPr/>
          <p:nvPr/>
        </p:nvSpPr>
        <p:spPr>
          <a:xfrm>
            <a:off x="3440560"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SMB</a:t>
            </a:r>
          </a:p>
        </p:txBody>
      </p:sp>
      <p:sp>
        <p:nvSpPr>
          <p:cNvPr id="28" name="Rectangle 27"/>
          <p:cNvSpPr/>
          <p:nvPr/>
        </p:nvSpPr>
        <p:spPr>
          <a:xfrm>
            <a:off x="4089612"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SQL</a:t>
            </a:r>
          </a:p>
        </p:txBody>
      </p:sp>
      <p:sp>
        <p:nvSpPr>
          <p:cNvPr id="29" name="Rectangle 28"/>
          <p:cNvSpPr/>
          <p:nvPr/>
        </p:nvSpPr>
        <p:spPr>
          <a:xfrm>
            <a:off x="4737684"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LDAP</a:t>
            </a:r>
          </a:p>
        </p:txBody>
      </p:sp>
      <p:sp>
        <p:nvSpPr>
          <p:cNvPr id="30" name="Rectangle 29"/>
          <p:cNvSpPr/>
          <p:nvPr/>
        </p:nvSpPr>
        <p:spPr>
          <a:xfrm>
            <a:off x="3700328" y="2739404"/>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HTTP</a:t>
            </a:r>
          </a:p>
        </p:txBody>
      </p:sp>
      <p:sp>
        <p:nvSpPr>
          <p:cNvPr id="31" name="Rectangle 30"/>
          <p:cNvSpPr/>
          <p:nvPr/>
        </p:nvSpPr>
        <p:spPr>
          <a:xfrm>
            <a:off x="6999784" y="3480320"/>
            <a:ext cx="1584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secure channel</a:t>
            </a:r>
          </a:p>
        </p:txBody>
      </p:sp>
      <p:sp>
        <p:nvSpPr>
          <p:cNvPr id="32" name="Rectangle 31"/>
          <p:cNvSpPr/>
          <p:nvPr/>
        </p:nvSpPr>
        <p:spPr>
          <a:xfrm>
            <a:off x="6999784" y="3843572"/>
            <a:ext cx="792088"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SMB</a:t>
            </a:r>
          </a:p>
        </p:txBody>
      </p:sp>
      <p:sp>
        <p:nvSpPr>
          <p:cNvPr id="33" name="Rectangle 32"/>
          <p:cNvSpPr/>
          <p:nvPr/>
        </p:nvSpPr>
        <p:spPr>
          <a:xfrm>
            <a:off x="7791872" y="3843572"/>
            <a:ext cx="792088"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DCOM</a:t>
            </a:r>
          </a:p>
        </p:txBody>
      </p:sp>
      <p:sp>
        <p:nvSpPr>
          <p:cNvPr id="34" name="Rectangle 33"/>
          <p:cNvSpPr/>
          <p:nvPr/>
        </p:nvSpPr>
        <p:spPr>
          <a:xfrm>
            <a:off x="6207696" y="3372508"/>
            <a:ext cx="913556" cy="362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encrypted</a:t>
            </a:r>
          </a:p>
        </p:txBody>
      </p:sp>
      <p:sp>
        <p:nvSpPr>
          <p:cNvPr id="18" name="Rectangle 17">
            <a:extLst>
              <a:ext uri="{FF2B5EF4-FFF2-40B4-BE49-F238E27FC236}">
                <a16:creationId xmlns:a16="http://schemas.microsoft.com/office/drawing/2014/main" id="{872BC5F4-8DE5-4B0E-9B4D-C6290F0A7A45}"/>
              </a:ext>
            </a:extLst>
          </p:cNvPr>
          <p:cNvSpPr/>
          <p:nvPr/>
        </p:nvSpPr>
        <p:spPr>
          <a:xfrm>
            <a:off x="5784041" y="3710880"/>
            <a:ext cx="913556" cy="362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server$</a:t>
            </a:r>
          </a:p>
        </p:txBody>
      </p:sp>
    </p:spTree>
    <p:extLst>
      <p:ext uri="{BB962C8B-B14F-4D97-AF65-F5344CB8AC3E}">
        <p14:creationId xmlns:p14="http://schemas.microsoft.com/office/powerpoint/2010/main" val="2944161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82960"/>
          </a:xfrm>
        </p:spPr>
        <p:txBody>
          <a:bodyPr>
            <a:normAutofit/>
          </a:bodyPr>
          <a:lstStyle/>
          <a:p>
            <a:r>
              <a:rPr lang="en-US" dirty="0">
                <a:solidFill>
                  <a:schemeClr val="accent2"/>
                </a:solidFill>
              </a:rPr>
              <a:t>Compare: </a:t>
            </a:r>
            <a:r>
              <a:rPr lang="en-US" dirty="0">
                <a:solidFill>
                  <a:schemeClr val="accent1"/>
                </a:solidFill>
              </a:rPr>
              <a:t>pass-through in-band</a:t>
            </a:r>
            <a:r>
              <a:rPr lang="en-US" dirty="0"/>
              <a:t> NTLM</a:t>
            </a:r>
          </a:p>
        </p:txBody>
      </p:sp>
      <p:sp>
        <p:nvSpPr>
          <p:cNvPr id="4" name="Rectangle 3"/>
          <p:cNvSpPr/>
          <p:nvPr/>
        </p:nvSpPr>
        <p:spPr>
          <a:xfrm>
            <a:off x="89959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45455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sp>
        <p:nvSpPr>
          <p:cNvPr id="6" name="Rectangle 5"/>
          <p:cNvSpPr/>
          <p:nvPr/>
        </p:nvSpPr>
        <p:spPr>
          <a:xfrm>
            <a:off x="6454552" y="4930824"/>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7" name="Rectangle 6"/>
          <p:cNvSpPr/>
          <p:nvPr/>
        </p:nvSpPr>
        <p:spPr>
          <a:xfrm>
            <a:off x="5168752" y="5476056"/>
            <a:ext cx="1442120"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Active Directory</a:t>
            </a:r>
          </a:p>
        </p:txBody>
      </p:sp>
      <p:sp>
        <p:nvSpPr>
          <p:cNvPr id="3" name="Left-Right Arrow 2"/>
          <p:cNvSpPr/>
          <p:nvPr/>
        </p:nvSpPr>
        <p:spPr>
          <a:xfrm>
            <a:off x="2134072" y="1705980"/>
            <a:ext cx="4176464"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Left-Right Arrow 24"/>
          <p:cNvSpPr/>
          <p:nvPr/>
        </p:nvSpPr>
        <p:spPr>
          <a:xfrm rot="16200000">
            <a:off x="6040531" y="3392295"/>
            <a:ext cx="1918506"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6" name="Rectangle 25"/>
          <p:cNvSpPr/>
          <p:nvPr/>
        </p:nvSpPr>
        <p:spPr>
          <a:xfrm>
            <a:off x="3440560" y="2094880"/>
            <a:ext cx="1946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in-band</a:t>
            </a:r>
          </a:p>
        </p:txBody>
      </p:sp>
      <p:sp>
        <p:nvSpPr>
          <p:cNvPr id="27" name="Rectangle 26"/>
          <p:cNvSpPr/>
          <p:nvPr/>
        </p:nvSpPr>
        <p:spPr>
          <a:xfrm>
            <a:off x="3440560"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SMB</a:t>
            </a:r>
          </a:p>
        </p:txBody>
      </p:sp>
      <p:sp>
        <p:nvSpPr>
          <p:cNvPr id="28" name="Rectangle 27"/>
          <p:cNvSpPr/>
          <p:nvPr/>
        </p:nvSpPr>
        <p:spPr>
          <a:xfrm>
            <a:off x="4089612"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SQL</a:t>
            </a:r>
          </a:p>
        </p:txBody>
      </p:sp>
      <p:sp>
        <p:nvSpPr>
          <p:cNvPr id="29" name="Rectangle 28"/>
          <p:cNvSpPr/>
          <p:nvPr/>
        </p:nvSpPr>
        <p:spPr>
          <a:xfrm>
            <a:off x="4737684"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LDAP</a:t>
            </a:r>
          </a:p>
        </p:txBody>
      </p:sp>
      <p:sp>
        <p:nvSpPr>
          <p:cNvPr id="30" name="Rectangle 29"/>
          <p:cNvSpPr/>
          <p:nvPr/>
        </p:nvSpPr>
        <p:spPr>
          <a:xfrm>
            <a:off x="3700328" y="2739404"/>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HTTP</a:t>
            </a:r>
          </a:p>
        </p:txBody>
      </p:sp>
      <p:sp>
        <p:nvSpPr>
          <p:cNvPr id="31" name="Rectangle 30"/>
          <p:cNvSpPr/>
          <p:nvPr/>
        </p:nvSpPr>
        <p:spPr>
          <a:xfrm>
            <a:off x="6999784" y="3480320"/>
            <a:ext cx="1584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secure channel</a:t>
            </a:r>
          </a:p>
        </p:txBody>
      </p:sp>
      <p:sp>
        <p:nvSpPr>
          <p:cNvPr id="32" name="Rectangle 31"/>
          <p:cNvSpPr/>
          <p:nvPr/>
        </p:nvSpPr>
        <p:spPr>
          <a:xfrm>
            <a:off x="6999784" y="3843572"/>
            <a:ext cx="792088"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SMB</a:t>
            </a:r>
          </a:p>
        </p:txBody>
      </p:sp>
      <p:sp>
        <p:nvSpPr>
          <p:cNvPr id="33" name="Rectangle 32"/>
          <p:cNvSpPr/>
          <p:nvPr/>
        </p:nvSpPr>
        <p:spPr>
          <a:xfrm>
            <a:off x="7791872" y="3843572"/>
            <a:ext cx="792088"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DCOM</a:t>
            </a:r>
          </a:p>
        </p:txBody>
      </p:sp>
      <p:sp>
        <p:nvSpPr>
          <p:cNvPr id="34" name="Rectangle 33"/>
          <p:cNvSpPr/>
          <p:nvPr/>
        </p:nvSpPr>
        <p:spPr>
          <a:xfrm>
            <a:off x="6207696" y="3372508"/>
            <a:ext cx="913556" cy="362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encrypted</a:t>
            </a:r>
          </a:p>
        </p:txBody>
      </p:sp>
      <p:sp>
        <p:nvSpPr>
          <p:cNvPr id="18" name="Rectangle 17">
            <a:extLst>
              <a:ext uri="{FF2B5EF4-FFF2-40B4-BE49-F238E27FC236}">
                <a16:creationId xmlns:a16="http://schemas.microsoft.com/office/drawing/2014/main" id="{872BC5F4-8DE5-4B0E-9B4D-C6290F0A7A45}"/>
              </a:ext>
            </a:extLst>
          </p:cNvPr>
          <p:cNvSpPr/>
          <p:nvPr/>
        </p:nvSpPr>
        <p:spPr>
          <a:xfrm>
            <a:off x="5784041" y="3710880"/>
            <a:ext cx="913556" cy="362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server$</a:t>
            </a:r>
          </a:p>
        </p:txBody>
      </p:sp>
      <p:sp>
        <p:nvSpPr>
          <p:cNvPr id="8" name="Rectangle 7">
            <a:extLst>
              <a:ext uri="{FF2B5EF4-FFF2-40B4-BE49-F238E27FC236}">
                <a16:creationId xmlns:a16="http://schemas.microsoft.com/office/drawing/2014/main" id="{3375682E-1668-E040-E076-AE7BE390A999}"/>
              </a:ext>
            </a:extLst>
          </p:cNvPr>
          <p:cNvSpPr/>
          <p:nvPr/>
        </p:nvSpPr>
        <p:spPr>
          <a:xfrm>
            <a:off x="5590456" y="930854"/>
            <a:ext cx="1234480" cy="91350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offline cracking  NTLM authenticator</a:t>
            </a:r>
          </a:p>
        </p:txBody>
      </p:sp>
    </p:spTree>
    <p:extLst>
      <p:ext uri="{BB962C8B-B14F-4D97-AF65-F5344CB8AC3E}">
        <p14:creationId xmlns:p14="http://schemas.microsoft.com/office/powerpoint/2010/main" val="184618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A0EA8F-40AB-E730-03B6-B45BD8970715}"/>
              </a:ext>
            </a:extLst>
          </p:cNvPr>
          <p:cNvSpPr/>
          <p:nvPr/>
        </p:nvSpPr>
        <p:spPr>
          <a:xfrm>
            <a:off x="2282568" y="3843572"/>
            <a:ext cx="792088" cy="63539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generate tickets</a:t>
            </a:r>
          </a:p>
        </p:txBody>
      </p:sp>
      <p:sp>
        <p:nvSpPr>
          <p:cNvPr id="2" name="Title 1"/>
          <p:cNvSpPr>
            <a:spLocks noGrp="1"/>
          </p:cNvSpPr>
          <p:nvPr>
            <p:ph type="title"/>
          </p:nvPr>
        </p:nvSpPr>
        <p:spPr>
          <a:xfrm>
            <a:off x="457200" y="116632"/>
            <a:ext cx="8229600" cy="782960"/>
          </a:xfrm>
        </p:spPr>
        <p:txBody>
          <a:bodyPr>
            <a:normAutofit/>
          </a:bodyPr>
          <a:lstStyle/>
          <a:p>
            <a:r>
              <a:rPr lang="en-US" dirty="0">
                <a:solidFill>
                  <a:schemeClr val="accent2"/>
                </a:solidFill>
              </a:rPr>
              <a:t>Compare: </a:t>
            </a:r>
            <a:r>
              <a:rPr lang="en-US" dirty="0">
                <a:solidFill>
                  <a:schemeClr val="accent1"/>
                </a:solidFill>
              </a:rPr>
              <a:t>out-of-band</a:t>
            </a:r>
            <a:r>
              <a:rPr lang="en-US" dirty="0"/>
              <a:t> Kerberos</a:t>
            </a:r>
          </a:p>
        </p:txBody>
      </p:sp>
      <p:sp>
        <p:nvSpPr>
          <p:cNvPr id="4" name="Rectangle 3"/>
          <p:cNvSpPr/>
          <p:nvPr/>
        </p:nvSpPr>
        <p:spPr>
          <a:xfrm>
            <a:off x="89959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45455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sp>
        <p:nvSpPr>
          <p:cNvPr id="6" name="Rectangle 5"/>
          <p:cNvSpPr/>
          <p:nvPr/>
        </p:nvSpPr>
        <p:spPr>
          <a:xfrm>
            <a:off x="889248" y="4930824"/>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7" name="Rectangle 6"/>
          <p:cNvSpPr/>
          <p:nvPr/>
        </p:nvSpPr>
        <p:spPr>
          <a:xfrm>
            <a:off x="1763688" y="5823220"/>
            <a:ext cx="1442120"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Active Directory</a:t>
            </a:r>
          </a:p>
        </p:txBody>
      </p:sp>
      <p:sp>
        <p:nvSpPr>
          <p:cNvPr id="3" name="Left-Right Arrow 2"/>
          <p:cNvSpPr/>
          <p:nvPr/>
        </p:nvSpPr>
        <p:spPr>
          <a:xfrm>
            <a:off x="2134072" y="1705980"/>
            <a:ext cx="4176464"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Left-Right Arrow 24"/>
          <p:cNvSpPr/>
          <p:nvPr/>
        </p:nvSpPr>
        <p:spPr>
          <a:xfrm rot="16200000">
            <a:off x="516403" y="3392295"/>
            <a:ext cx="1918506"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6" name="Rectangle 25"/>
          <p:cNvSpPr/>
          <p:nvPr/>
        </p:nvSpPr>
        <p:spPr>
          <a:xfrm>
            <a:off x="3440560" y="2094880"/>
            <a:ext cx="1946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in-band</a:t>
            </a:r>
          </a:p>
        </p:txBody>
      </p:sp>
      <p:sp>
        <p:nvSpPr>
          <p:cNvPr id="27" name="Rectangle 26"/>
          <p:cNvSpPr/>
          <p:nvPr/>
        </p:nvSpPr>
        <p:spPr>
          <a:xfrm>
            <a:off x="3440560"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SMB</a:t>
            </a:r>
          </a:p>
        </p:txBody>
      </p:sp>
      <p:sp>
        <p:nvSpPr>
          <p:cNvPr id="28" name="Rectangle 27"/>
          <p:cNvSpPr/>
          <p:nvPr/>
        </p:nvSpPr>
        <p:spPr>
          <a:xfrm>
            <a:off x="4089612"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SQL</a:t>
            </a:r>
          </a:p>
        </p:txBody>
      </p:sp>
      <p:sp>
        <p:nvSpPr>
          <p:cNvPr id="29" name="Rectangle 28"/>
          <p:cNvSpPr/>
          <p:nvPr/>
        </p:nvSpPr>
        <p:spPr>
          <a:xfrm>
            <a:off x="4737684"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LDAP</a:t>
            </a:r>
          </a:p>
        </p:txBody>
      </p:sp>
      <p:sp>
        <p:nvSpPr>
          <p:cNvPr id="30" name="Rectangle 29"/>
          <p:cNvSpPr/>
          <p:nvPr/>
        </p:nvSpPr>
        <p:spPr>
          <a:xfrm>
            <a:off x="3700328" y="2739404"/>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HTTP</a:t>
            </a:r>
          </a:p>
        </p:txBody>
      </p:sp>
      <p:sp>
        <p:nvSpPr>
          <p:cNvPr id="31" name="Rectangle 30"/>
          <p:cNvSpPr/>
          <p:nvPr/>
        </p:nvSpPr>
        <p:spPr>
          <a:xfrm>
            <a:off x="1475656" y="3480320"/>
            <a:ext cx="1584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Kerberos</a:t>
            </a:r>
          </a:p>
        </p:txBody>
      </p:sp>
      <p:sp>
        <p:nvSpPr>
          <p:cNvPr id="32" name="Rectangle 31"/>
          <p:cNvSpPr/>
          <p:nvPr/>
        </p:nvSpPr>
        <p:spPr>
          <a:xfrm>
            <a:off x="1475656" y="3843572"/>
            <a:ext cx="792088"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TCP 88</a:t>
            </a:r>
          </a:p>
        </p:txBody>
      </p:sp>
    </p:spTree>
    <p:extLst>
      <p:ext uri="{BB962C8B-B14F-4D97-AF65-F5344CB8AC3E}">
        <p14:creationId xmlns:p14="http://schemas.microsoft.com/office/powerpoint/2010/main" val="4062897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A0EA8F-40AB-E730-03B6-B45BD8970715}"/>
              </a:ext>
            </a:extLst>
          </p:cNvPr>
          <p:cNvSpPr/>
          <p:nvPr/>
        </p:nvSpPr>
        <p:spPr>
          <a:xfrm>
            <a:off x="2282568" y="3843572"/>
            <a:ext cx="792088" cy="63539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generate tickets</a:t>
            </a:r>
          </a:p>
        </p:txBody>
      </p:sp>
      <p:sp>
        <p:nvSpPr>
          <p:cNvPr id="2" name="Title 1"/>
          <p:cNvSpPr>
            <a:spLocks noGrp="1"/>
          </p:cNvSpPr>
          <p:nvPr>
            <p:ph type="title"/>
          </p:nvPr>
        </p:nvSpPr>
        <p:spPr>
          <a:xfrm>
            <a:off x="457200" y="116632"/>
            <a:ext cx="8229600" cy="782960"/>
          </a:xfrm>
        </p:spPr>
        <p:txBody>
          <a:bodyPr>
            <a:normAutofit/>
          </a:bodyPr>
          <a:lstStyle/>
          <a:p>
            <a:r>
              <a:rPr lang="en-US" dirty="0">
                <a:solidFill>
                  <a:schemeClr val="accent2"/>
                </a:solidFill>
              </a:rPr>
              <a:t>Compare: </a:t>
            </a:r>
            <a:r>
              <a:rPr lang="en-US" dirty="0">
                <a:solidFill>
                  <a:schemeClr val="accent1"/>
                </a:solidFill>
              </a:rPr>
              <a:t>out-of-band</a:t>
            </a:r>
            <a:r>
              <a:rPr lang="en-US" dirty="0"/>
              <a:t> Kerberos</a:t>
            </a:r>
          </a:p>
        </p:txBody>
      </p:sp>
      <p:sp>
        <p:nvSpPr>
          <p:cNvPr id="4" name="Rectangle 3"/>
          <p:cNvSpPr/>
          <p:nvPr/>
        </p:nvSpPr>
        <p:spPr>
          <a:xfrm>
            <a:off x="89959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454552" y="155679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sp>
        <p:nvSpPr>
          <p:cNvPr id="6" name="Rectangle 5"/>
          <p:cNvSpPr/>
          <p:nvPr/>
        </p:nvSpPr>
        <p:spPr>
          <a:xfrm>
            <a:off x="889248" y="4930824"/>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7" name="Rectangle 6"/>
          <p:cNvSpPr/>
          <p:nvPr/>
        </p:nvSpPr>
        <p:spPr>
          <a:xfrm>
            <a:off x="1763688" y="5823220"/>
            <a:ext cx="1442120"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Active Directory</a:t>
            </a:r>
          </a:p>
        </p:txBody>
      </p:sp>
      <p:sp>
        <p:nvSpPr>
          <p:cNvPr id="3" name="Left-Right Arrow 2"/>
          <p:cNvSpPr/>
          <p:nvPr/>
        </p:nvSpPr>
        <p:spPr>
          <a:xfrm>
            <a:off x="2134072" y="1705980"/>
            <a:ext cx="4176464"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Left-Right Arrow 24"/>
          <p:cNvSpPr/>
          <p:nvPr/>
        </p:nvSpPr>
        <p:spPr>
          <a:xfrm rot="16200000">
            <a:off x="516403" y="3392295"/>
            <a:ext cx="1918506"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6" name="Rectangle 25"/>
          <p:cNvSpPr/>
          <p:nvPr/>
        </p:nvSpPr>
        <p:spPr>
          <a:xfrm>
            <a:off x="3440560" y="2094880"/>
            <a:ext cx="1946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in-band</a:t>
            </a:r>
          </a:p>
        </p:txBody>
      </p:sp>
      <p:sp>
        <p:nvSpPr>
          <p:cNvPr id="27" name="Rectangle 26"/>
          <p:cNvSpPr/>
          <p:nvPr/>
        </p:nvSpPr>
        <p:spPr>
          <a:xfrm>
            <a:off x="3440560"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SMB</a:t>
            </a:r>
          </a:p>
        </p:txBody>
      </p:sp>
      <p:sp>
        <p:nvSpPr>
          <p:cNvPr id="28" name="Rectangle 27"/>
          <p:cNvSpPr/>
          <p:nvPr/>
        </p:nvSpPr>
        <p:spPr>
          <a:xfrm>
            <a:off x="4089612"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SQL</a:t>
            </a:r>
          </a:p>
        </p:txBody>
      </p:sp>
      <p:sp>
        <p:nvSpPr>
          <p:cNvPr id="29" name="Rectangle 28"/>
          <p:cNvSpPr/>
          <p:nvPr/>
        </p:nvSpPr>
        <p:spPr>
          <a:xfrm>
            <a:off x="4737684" y="2418928"/>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LDAP</a:t>
            </a:r>
          </a:p>
        </p:txBody>
      </p:sp>
      <p:sp>
        <p:nvSpPr>
          <p:cNvPr id="30" name="Rectangle 29"/>
          <p:cNvSpPr/>
          <p:nvPr/>
        </p:nvSpPr>
        <p:spPr>
          <a:xfrm>
            <a:off x="3700328" y="2739404"/>
            <a:ext cx="648072"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HTTP</a:t>
            </a:r>
          </a:p>
        </p:txBody>
      </p:sp>
      <p:sp>
        <p:nvSpPr>
          <p:cNvPr id="31" name="Rectangle 30"/>
          <p:cNvSpPr/>
          <p:nvPr/>
        </p:nvSpPr>
        <p:spPr>
          <a:xfrm>
            <a:off x="1475656" y="3480320"/>
            <a:ext cx="1584176" cy="362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Kerberos</a:t>
            </a:r>
          </a:p>
        </p:txBody>
      </p:sp>
      <p:sp>
        <p:nvSpPr>
          <p:cNvPr id="32" name="Rectangle 31"/>
          <p:cNvSpPr/>
          <p:nvPr/>
        </p:nvSpPr>
        <p:spPr>
          <a:xfrm>
            <a:off x="1475656" y="3843572"/>
            <a:ext cx="792088" cy="3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TCP 88</a:t>
            </a:r>
          </a:p>
        </p:txBody>
      </p:sp>
      <p:sp>
        <p:nvSpPr>
          <p:cNvPr id="9" name="Rectangle 8">
            <a:extLst>
              <a:ext uri="{FF2B5EF4-FFF2-40B4-BE49-F238E27FC236}">
                <a16:creationId xmlns:a16="http://schemas.microsoft.com/office/drawing/2014/main" id="{2AB3FD52-3798-0754-ECB6-B4302B1E00EF}"/>
              </a:ext>
            </a:extLst>
          </p:cNvPr>
          <p:cNvSpPr/>
          <p:nvPr/>
        </p:nvSpPr>
        <p:spPr>
          <a:xfrm>
            <a:off x="5590456" y="930854"/>
            <a:ext cx="1234480" cy="91350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tickets encrypted with strong random keys</a:t>
            </a:r>
          </a:p>
        </p:txBody>
      </p:sp>
    </p:spTree>
    <p:extLst>
      <p:ext uri="{BB962C8B-B14F-4D97-AF65-F5344CB8AC3E}">
        <p14:creationId xmlns:p14="http://schemas.microsoft.com/office/powerpoint/2010/main" val="367881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0146-BF6C-4B9F-A36E-6823F025D006}"/>
              </a:ext>
            </a:extLst>
          </p:cNvPr>
          <p:cNvSpPr>
            <a:spLocks noGrp="1"/>
          </p:cNvSpPr>
          <p:nvPr>
            <p:ph type="title"/>
          </p:nvPr>
        </p:nvSpPr>
        <p:spPr/>
        <p:txBody>
          <a:bodyPr/>
          <a:lstStyle/>
          <a:p>
            <a:r>
              <a:rPr lang="en-US" dirty="0"/>
              <a:t>Tickets</a:t>
            </a:r>
          </a:p>
        </p:txBody>
      </p:sp>
      <p:sp>
        <p:nvSpPr>
          <p:cNvPr id="3" name="Content Placeholder 2">
            <a:extLst>
              <a:ext uri="{FF2B5EF4-FFF2-40B4-BE49-F238E27FC236}">
                <a16:creationId xmlns:a16="http://schemas.microsoft.com/office/drawing/2014/main" id="{C1438DDC-AA6A-411E-B006-9863467E3C58}"/>
              </a:ext>
            </a:extLst>
          </p:cNvPr>
          <p:cNvSpPr>
            <a:spLocks noGrp="1"/>
          </p:cNvSpPr>
          <p:nvPr>
            <p:ph idx="1"/>
          </p:nvPr>
        </p:nvSpPr>
        <p:spPr/>
        <p:txBody>
          <a:bodyPr/>
          <a:lstStyle/>
          <a:p>
            <a:r>
              <a:rPr lang="en-US" dirty="0"/>
              <a:t>user ticket</a:t>
            </a:r>
          </a:p>
          <a:p>
            <a:pPr lvl="1"/>
            <a:r>
              <a:rPr lang="en-US" dirty="0"/>
              <a:t>ticket-granting ticket (TGT)</a:t>
            </a:r>
          </a:p>
          <a:p>
            <a:pPr lvl="1"/>
            <a:r>
              <a:rPr lang="en-US" dirty="0"/>
              <a:t>produced by authentication service (AS)</a:t>
            </a:r>
          </a:p>
          <a:p>
            <a:r>
              <a:rPr lang="en-US" dirty="0"/>
              <a:t>service ticket</a:t>
            </a:r>
          </a:p>
          <a:p>
            <a:pPr lvl="1"/>
            <a:r>
              <a:rPr lang="en-US" dirty="0"/>
              <a:t>ticket granting service (TGS)</a:t>
            </a:r>
          </a:p>
          <a:p>
            <a:pPr lvl="1"/>
            <a:r>
              <a:rPr lang="en-US" dirty="0"/>
              <a:t>obtained from TGS service</a:t>
            </a:r>
          </a:p>
          <a:p>
            <a:endParaRPr lang="en-US" dirty="0"/>
          </a:p>
        </p:txBody>
      </p:sp>
    </p:spTree>
    <p:extLst>
      <p:ext uri="{BB962C8B-B14F-4D97-AF65-F5344CB8AC3E}">
        <p14:creationId xmlns:p14="http://schemas.microsoft.com/office/powerpoint/2010/main" val="1294521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Right 22">
            <a:extLst>
              <a:ext uri="{FF2B5EF4-FFF2-40B4-BE49-F238E27FC236}">
                <a16:creationId xmlns:a16="http://schemas.microsoft.com/office/drawing/2014/main" id="{0020947E-4C0E-41A8-AA7B-A443F108A894}"/>
              </a:ext>
            </a:extLst>
          </p:cNvPr>
          <p:cNvSpPr/>
          <p:nvPr/>
        </p:nvSpPr>
        <p:spPr>
          <a:xfrm rot="317079">
            <a:off x="4077955" y="2126865"/>
            <a:ext cx="1075825"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5" name="Arrow: Right 24">
            <a:extLst>
              <a:ext uri="{FF2B5EF4-FFF2-40B4-BE49-F238E27FC236}">
                <a16:creationId xmlns:a16="http://schemas.microsoft.com/office/drawing/2014/main" id="{D6AF6CD2-0636-4303-B16C-086F947B6617}"/>
              </a:ext>
            </a:extLst>
          </p:cNvPr>
          <p:cNvSpPr/>
          <p:nvPr/>
        </p:nvSpPr>
        <p:spPr>
          <a:xfrm rot="317079">
            <a:off x="2917195" y="2012069"/>
            <a:ext cx="1075825"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#0</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8" name="Arrow: Right 17">
            <a:extLst>
              <a:ext uri="{FF2B5EF4-FFF2-40B4-BE49-F238E27FC236}">
                <a16:creationId xmlns:a16="http://schemas.microsoft.com/office/drawing/2014/main" id="{951E8CBE-0168-46A7-8524-FDBF8EBE4C84}"/>
              </a:ext>
            </a:extLst>
          </p:cNvPr>
          <p:cNvSpPr/>
          <p:nvPr/>
        </p:nvSpPr>
        <p:spPr>
          <a:xfrm rot="317079">
            <a:off x="6512167" y="2372109"/>
            <a:ext cx="1075825"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0" name="Rectangle: Rounded Corners 19">
            <a:extLst>
              <a:ext uri="{FF2B5EF4-FFF2-40B4-BE49-F238E27FC236}">
                <a16:creationId xmlns:a16="http://schemas.microsoft.com/office/drawing/2014/main" id="{8CDB6E18-A1F7-4397-93B1-C67BB5547032}"/>
              </a:ext>
            </a:extLst>
          </p:cNvPr>
          <p:cNvSpPr/>
          <p:nvPr/>
        </p:nvSpPr>
        <p:spPr>
          <a:xfrm>
            <a:off x="3182316" y="232430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1" name="Rectangle: Rounded Corners 20">
            <a:extLst>
              <a:ext uri="{FF2B5EF4-FFF2-40B4-BE49-F238E27FC236}">
                <a16:creationId xmlns:a16="http://schemas.microsoft.com/office/drawing/2014/main" id="{31ED5564-FBC7-4AAD-ADC4-1435CC3AD937}"/>
              </a:ext>
            </a:extLst>
          </p:cNvPr>
          <p:cNvSpPr/>
          <p:nvPr/>
        </p:nvSpPr>
        <p:spPr>
          <a:xfrm>
            <a:off x="3915251" y="232430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2" name="Arrow: Right 21">
            <a:extLst>
              <a:ext uri="{FF2B5EF4-FFF2-40B4-BE49-F238E27FC236}">
                <a16:creationId xmlns:a16="http://schemas.microsoft.com/office/drawing/2014/main" id="{8BEF04D2-EAC8-40D7-8843-8C96D44FA99F}"/>
              </a:ext>
            </a:extLst>
          </p:cNvPr>
          <p:cNvSpPr/>
          <p:nvPr/>
        </p:nvSpPr>
        <p:spPr>
          <a:xfrm rot="317079">
            <a:off x="5295061" y="2253643"/>
            <a:ext cx="1075825"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6" name="Arrow: Right 25">
            <a:extLst>
              <a:ext uri="{FF2B5EF4-FFF2-40B4-BE49-F238E27FC236}">
                <a16:creationId xmlns:a16="http://schemas.microsoft.com/office/drawing/2014/main" id="{2946E657-83DC-4855-A9C7-0950CE3176F6}"/>
              </a:ext>
            </a:extLst>
          </p:cNvPr>
          <p:cNvSpPr/>
          <p:nvPr/>
        </p:nvSpPr>
        <p:spPr>
          <a:xfrm rot="317079">
            <a:off x="1700090" y="1894911"/>
            <a:ext cx="1075825"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Tree>
    <p:extLst>
      <p:ext uri="{BB962C8B-B14F-4D97-AF65-F5344CB8AC3E}">
        <p14:creationId xmlns:p14="http://schemas.microsoft.com/office/powerpoint/2010/main" val="2864474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(with pre-authentication)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8" name="Rectangle: Rounded Corners 7">
            <a:extLst>
              <a:ext uri="{FF2B5EF4-FFF2-40B4-BE49-F238E27FC236}">
                <a16:creationId xmlns:a16="http://schemas.microsoft.com/office/drawing/2014/main" id="{C5702751-EE72-47A2-8AA6-F2087EFE6994}"/>
              </a:ext>
            </a:extLst>
          </p:cNvPr>
          <p:cNvSpPr/>
          <p:nvPr/>
        </p:nvSpPr>
        <p:spPr>
          <a:xfrm>
            <a:off x="755576" y="3659027"/>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9" name="Rectangle: Rounded Corners 8">
            <a:extLst>
              <a:ext uri="{FF2B5EF4-FFF2-40B4-BE49-F238E27FC236}">
                <a16:creationId xmlns:a16="http://schemas.microsoft.com/office/drawing/2014/main" id="{1BD8123C-0A67-464D-915C-33DA26243677}"/>
              </a:ext>
            </a:extLst>
          </p:cNvPr>
          <p:cNvSpPr/>
          <p:nvPr/>
        </p:nvSpPr>
        <p:spPr>
          <a:xfrm>
            <a:off x="755577"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10" name="Rectangle: Rounded Corners 9">
            <a:extLst>
              <a:ext uri="{FF2B5EF4-FFF2-40B4-BE49-F238E27FC236}">
                <a16:creationId xmlns:a16="http://schemas.microsoft.com/office/drawing/2014/main" id="{07A1602E-F7A9-4B81-BB9B-B7CE410B3235}"/>
              </a:ext>
            </a:extLst>
          </p:cNvPr>
          <p:cNvSpPr/>
          <p:nvPr/>
        </p:nvSpPr>
        <p:spPr>
          <a:xfrm>
            <a:off x="1251589"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Tree>
    <p:extLst>
      <p:ext uri="{BB962C8B-B14F-4D97-AF65-F5344CB8AC3E}">
        <p14:creationId xmlns:p14="http://schemas.microsoft.com/office/powerpoint/2010/main" val="98129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(with pre-authentication)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8" name="Rectangle: Rounded Corners 7">
            <a:extLst>
              <a:ext uri="{FF2B5EF4-FFF2-40B4-BE49-F238E27FC236}">
                <a16:creationId xmlns:a16="http://schemas.microsoft.com/office/drawing/2014/main" id="{C5702751-EE72-47A2-8AA6-F2087EFE6994}"/>
              </a:ext>
            </a:extLst>
          </p:cNvPr>
          <p:cNvSpPr/>
          <p:nvPr/>
        </p:nvSpPr>
        <p:spPr>
          <a:xfrm>
            <a:off x="755576" y="3659027"/>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9" name="Rectangle: Rounded Corners 8">
            <a:extLst>
              <a:ext uri="{FF2B5EF4-FFF2-40B4-BE49-F238E27FC236}">
                <a16:creationId xmlns:a16="http://schemas.microsoft.com/office/drawing/2014/main" id="{1BD8123C-0A67-464D-915C-33DA26243677}"/>
              </a:ext>
            </a:extLst>
          </p:cNvPr>
          <p:cNvSpPr/>
          <p:nvPr/>
        </p:nvSpPr>
        <p:spPr>
          <a:xfrm>
            <a:off x="755577"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10" name="Rectangle: Rounded Corners 9">
            <a:extLst>
              <a:ext uri="{FF2B5EF4-FFF2-40B4-BE49-F238E27FC236}">
                <a16:creationId xmlns:a16="http://schemas.microsoft.com/office/drawing/2014/main" id="{07A1602E-F7A9-4B81-BB9B-B7CE410B3235}"/>
              </a:ext>
            </a:extLst>
          </p:cNvPr>
          <p:cNvSpPr/>
          <p:nvPr/>
        </p:nvSpPr>
        <p:spPr>
          <a:xfrm>
            <a:off x="1251589"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a:t>
            </a:r>
            <a:endParaRPr lang="cs-CZ" sz="1050" dirty="0"/>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Tree>
    <p:extLst>
      <p:ext uri="{BB962C8B-B14F-4D97-AF65-F5344CB8AC3E}">
        <p14:creationId xmlns:p14="http://schemas.microsoft.com/office/powerpoint/2010/main" val="2940820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(with pre-authentication)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8" name="Rectangle: Rounded Corners 7">
            <a:extLst>
              <a:ext uri="{FF2B5EF4-FFF2-40B4-BE49-F238E27FC236}">
                <a16:creationId xmlns:a16="http://schemas.microsoft.com/office/drawing/2014/main" id="{C5702751-EE72-47A2-8AA6-F2087EFE6994}"/>
              </a:ext>
            </a:extLst>
          </p:cNvPr>
          <p:cNvSpPr/>
          <p:nvPr/>
        </p:nvSpPr>
        <p:spPr>
          <a:xfrm>
            <a:off x="755576" y="3659027"/>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9" name="Rectangle: Rounded Corners 8">
            <a:extLst>
              <a:ext uri="{FF2B5EF4-FFF2-40B4-BE49-F238E27FC236}">
                <a16:creationId xmlns:a16="http://schemas.microsoft.com/office/drawing/2014/main" id="{1BD8123C-0A67-464D-915C-33DA26243677}"/>
              </a:ext>
            </a:extLst>
          </p:cNvPr>
          <p:cNvSpPr/>
          <p:nvPr/>
        </p:nvSpPr>
        <p:spPr>
          <a:xfrm>
            <a:off x="755577"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10" name="Rectangle: Rounded Corners 9">
            <a:extLst>
              <a:ext uri="{FF2B5EF4-FFF2-40B4-BE49-F238E27FC236}">
                <a16:creationId xmlns:a16="http://schemas.microsoft.com/office/drawing/2014/main" id="{07A1602E-F7A9-4B81-BB9B-B7CE410B3235}"/>
              </a:ext>
            </a:extLst>
          </p:cNvPr>
          <p:cNvSpPr/>
          <p:nvPr/>
        </p:nvSpPr>
        <p:spPr>
          <a:xfrm>
            <a:off x="1251589"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a:t>
            </a:r>
            <a:endParaRPr lang="cs-CZ" sz="1050" dirty="0"/>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3" name="Rectangle: Rounded Corners 2">
            <a:extLst>
              <a:ext uri="{FF2B5EF4-FFF2-40B4-BE49-F238E27FC236}">
                <a16:creationId xmlns:a16="http://schemas.microsoft.com/office/drawing/2014/main" id="{8E8722D0-6DF9-82DC-0F02-FCB5BC0393E6}"/>
              </a:ext>
            </a:extLst>
          </p:cNvPr>
          <p:cNvSpPr/>
          <p:nvPr/>
        </p:nvSpPr>
        <p:spPr>
          <a:xfrm>
            <a:off x="2598277" y="4005064"/>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10 hours</a:t>
            </a:r>
            <a:endParaRPr lang="cs-CZ" sz="1050" dirty="0"/>
          </a:p>
        </p:txBody>
      </p:sp>
      <p:sp>
        <p:nvSpPr>
          <p:cNvPr id="5" name="Rectangle: Rounded Corners 4">
            <a:extLst>
              <a:ext uri="{FF2B5EF4-FFF2-40B4-BE49-F238E27FC236}">
                <a16:creationId xmlns:a16="http://schemas.microsoft.com/office/drawing/2014/main" id="{EC3A71F3-D5AA-46FD-A7F8-78808DBEE337}"/>
              </a:ext>
            </a:extLst>
          </p:cNvPr>
          <p:cNvSpPr/>
          <p:nvPr/>
        </p:nvSpPr>
        <p:spPr>
          <a:xfrm>
            <a:off x="3327711" y="4005064"/>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group SIDs</a:t>
            </a:r>
            <a:endParaRPr lang="cs-CZ" sz="1050" dirty="0"/>
          </a:p>
        </p:txBody>
      </p:sp>
    </p:spTree>
    <p:extLst>
      <p:ext uri="{BB962C8B-B14F-4D97-AF65-F5344CB8AC3E}">
        <p14:creationId xmlns:p14="http://schemas.microsoft.com/office/powerpoint/2010/main" val="4285770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8400BD8D-F9F5-4F70-800C-FEC6C1CCFEF1}"/>
              </a:ext>
            </a:extLst>
          </p:cNvPr>
          <p:cNvSpPr/>
          <p:nvPr/>
        </p:nvSpPr>
        <p:spPr>
          <a:xfrm>
            <a:off x="1710961" y="1378325"/>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10 hours</a:t>
            </a:r>
            <a:endParaRPr lang="cs-CZ" sz="1050" dirty="0"/>
          </a:p>
        </p:txBody>
      </p:sp>
      <p:sp>
        <p:nvSpPr>
          <p:cNvPr id="25" name="Rectangle: Rounded Corners 24">
            <a:extLst>
              <a:ext uri="{FF2B5EF4-FFF2-40B4-BE49-F238E27FC236}">
                <a16:creationId xmlns:a16="http://schemas.microsoft.com/office/drawing/2014/main" id="{C1E106ED-9D1C-4E0B-8B0B-55AD30C567EF}"/>
              </a:ext>
            </a:extLst>
          </p:cNvPr>
          <p:cNvSpPr/>
          <p:nvPr/>
        </p:nvSpPr>
        <p:spPr>
          <a:xfrm>
            <a:off x="2440395" y="1378325"/>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group SIDs</a:t>
            </a:r>
            <a:endParaRPr lang="cs-CZ" sz="1050" dirty="0"/>
          </a:p>
        </p:txBody>
      </p:sp>
    </p:spTree>
    <p:extLst>
      <p:ext uri="{BB962C8B-B14F-4D97-AF65-F5344CB8AC3E}">
        <p14:creationId xmlns:p14="http://schemas.microsoft.com/office/powerpoint/2010/main" val="4187196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197768"/>
            <a:ext cx="8229600" cy="782960"/>
          </a:xfrm>
        </p:spPr>
        <p:txBody>
          <a:bodyPr>
            <a:normAutofit/>
          </a:bodyPr>
          <a:lstStyle/>
          <a:p>
            <a:r>
              <a:rPr lang="en-US" sz="2800" dirty="0"/>
              <a:t>Ticket-granting ticket (TGT)</a:t>
            </a:r>
            <a:endParaRPr lang="cs-CZ" sz="2800" dirty="0"/>
          </a:p>
        </p:txBody>
      </p:sp>
      <p:graphicFrame>
        <p:nvGraphicFramePr>
          <p:cNvPr id="3" name="Object 2">
            <a:extLst>
              <a:ext uri="{FF2B5EF4-FFF2-40B4-BE49-F238E27FC236}">
                <a16:creationId xmlns:a16="http://schemas.microsoft.com/office/drawing/2014/main" id="{736529EC-AF97-B98F-F96C-7626F071308B}"/>
              </a:ext>
            </a:extLst>
          </p:cNvPr>
          <p:cNvGraphicFramePr>
            <a:graphicFrameLocks noChangeAspect="1"/>
          </p:cNvGraphicFramePr>
          <p:nvPr>
            <p:extLst>
              <p:ext uri="{D42A27DB-BD31-4B8C-83A1-F6EECF244321}">
                <p14:modId xmlns:p14="http://schemas.microsoft.com/office/powerpoint/2010/main" val="4261268518"/>
              </p:ext>
            </p:extLst>
          </p:nvPr>
        </p:nvGraphicFramePr>
        <p:xfrm>
          <a:off x="-2125" y="1124744"/>
          <a:ext cx="9142849" cy="5733256"/>
        </p:xfrm>
        <a:graphic>
          <a:graphicData uri="http://schemas.openxmlformats.org/presentationml/2006/ole">
            <mc:AlternateContent xmlns:mc="http://schemas.openxmlformats.org/markup-compatibility/2006">
              <mc:Choice xmlns:v="urn:schemas-microsoft-com:vml" Requires="v">
                <p:oleObj r:id="rId2" imgW="7458120" imgH="4676760" progId="">
                  <p:embed/>
                </p:oleObj>
              </mc:Choice>
              <mc:Fallback>
                <p:oleObj r:id="rId2" imgW="7458120" imgH="4676760" progId="">
                  <p:embed/>
                  <p:pic>
                    <p:nvPicPr>
                      <p:cNvPr id="0" name=""/>
                      <p:cNvPicPr/>
                      <p:nvPr/>
                    </p:nvPicPr>
                    <p:blipFill>
                      <a:blip r:embed="rId3"/>
                      <a:stretch>
                        <a:fillRect/>
                      </a:stretch>
                    </p:blipFill>
                    <p:spPr>
                      <a:xfrm>
                        <a:off x="-2125" y="1124744"/>
                        <a:ext cx="9142849" cy="5733256"/>
                      </a:xfrm>
                      <a:prstGeom prst="rect">
                        <a:avLst/>
                      </a:prstGeom>
                    </p:spPr>
                  </p:pic>
                </p:oleObj>
              </mc:Fallback>
            </mc:AlternateContent>
          </a:graphicData>
        </a:graphic>
      </p:graphicFrame>
    </p:spTree>
    <p:extLst>
      <p:ext uri="{BB962C8B-B14F-4D97-AF65-F5344CB8AC3E}">
        <p14:creationId xmlns:p14="http://schemas.microsoft.com/office/powerpoint/2010/main" val="427510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197768"/>
            <a:ext cx="8229600" cy="782960"/>
          </a:xfrm>
        </p:spPr>
        <p:txBody>
          <a:bodyPr>
            <a:normAutofit/>
          </a:bodyPr>
          <a:lstStyle/>
          <a:p>
            <a:r>
              <a:rPr lang="en-US" sz="2800" dirty="0"/>
              <a:t>Ticket-granting ticket (TGT)</a:t>
            </a:r>
            <a:endParaRPr lang="cs-CZ" sz="2800" dirty="0"/>
          </a:p>
        </p:txBody>
      </p:sp>
      <p:graphicFrame>
        <p:nvGraphicFramePr>
          <p:cNvPr id="4" name="Object 3">
            <a:extLst>
              <a:ext uri="{FF2B5EF4-FFF2-40B4-BE49-F238E27FC236}">
                <a16:creationId xmlns:a16="http://schemas.microsoft.com/office/drawing/2014/main" id="{A57AA6BC-9451-E4D8-E52C-603965524883}"/>
              </a:ext>
            </a:extLst>
          </p:cNvPr>
          <p:cNvGraphicFramePr>
            <a:graphicFrameLocks noChangeAspect="1"/>
          </p:cNvGraphicFramePr>
          <p:nvPr>
            <p:extLst>
              <p:ext uri="{D42A27DB-BD31-4B8C-83A1-F6EECF244321}">
                <p14:modId xmlns:p14="http://schemas.microsoft.com/office/powerpoint/2010/main" val="794574666"/>
              </p:ext>
            </p:extLst>
          </p:nvPr>
        </p:nvGraphicFramePr>
        <p:xfrm>
          <a:off x="1763689" y="1166516"/>
          <a:ext cx="7380312" cy="5691484"/>
        </p:xfrm>
        <a:graphic>
          <a:graphicData uri="http://schemas.openxmlformats.org/presentationml/2006/ole">
            <mc:AlternateContent xmlns:mc="http://schemas.openxmlformats.org/markup-compatibility/2006">
              <mc:Choice xmlns:v="urn:schemas-microsoft-com:vml" Requires="v">
                <p:oleObj r:id="rId2" imgW="5286240" imgH="4076640" progId="">
                  <p:embed/>
                </p:oleObj>
              </mc:Choice>
              <mc:Fallback>
                <p:oleObj r:id="rId2" imgW="5286240" imgH="4076640" progId="">
                  <p:embed/>
                  <p:pic>
                    <p:nvPicPr>
                      <p:cNvPr id="0" name=""/>
                      <p:cNvPicPr/>
                      <p:nvPr/>
                    </p:nvPicPr>
                    <p:blipFill>
                      <a:blip r:embed="rId3"/>
                      <a:stretch>
                        <a:fillRect/>
                      </a:stretch>
                    </p:blipFill>
                    <p:spPr>
                      <a:xfrm>
                        <a:off x="1763689" y="1166516"/>
                        <a:ext cx="7380312" cy="5691484"/>
                      </a:xfrm>
                      <a:prstGeom prst="rect">
                        <a:avLst/>
                      </a:prstGeom>
                    </p:spPr>
                  </p:pic>
                </p:oleObj>
              </mc:Fallback>
            </mc:AlternateContent>
          </a:graphicData>
        </a:graphic>
      </p:graphicFrame>
    </p:spTree>
    <p:extLst>
      <p:ext uri="{BB962C8B-B14F-4D97-AF65-F5344CB8AC3E}">
        <p14:creationId xmlns:p14="http://schemas.microsoft.com/office/powerpoint/2010/main" val="366513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197768"/>
            <a:ext cx="8229600" cy="782960"/>
          </a:xfrm>
        </p:spPr>
        <p:txBody>
          <a:bodyPr>
            <a:normAutofit/>
          </a:bodyPr>
          <a:lstStyle/>
          <a:p>
            <a:r>
              <a:rPr lang="en-US" sz="2800" dirty="0"/>
              <a:t>Ticket-granting ticket (TGT) renewal</a:t>
            </a:r>
            <a:endParaRPr lang="cs-CZ" sz="2800" dirty="0"/>
          </a:p>
        </p:txBody>
      </p:sp>
      <p:graphicFrame>
        <p:nvGraphicFramePr>
          <p:cNvPr id="4" name="Object 3">
            <a:extLst>
              <a:ext uri="{FF2B5EF4-FFF2-40B4-BE49-F238E27FC236}">
                <a16:creationId xmlns:a16="http://schemas.microsoft.com/office/drawing/2014/main" id="{0065720D-1BB2-12E1-24CB-43596816B10A}"/>
              </a:ext>
            </a:extLst>
          </p:cNvPr>
          <p:cNvGraphicFramePr>
            <a:graphicFrameLocks noChangeAspect="1"/>
          </p:cNvGraphicFramePr>
          <p:nvPr>
            <p:extLst>
              <p:ext uri="{D42A27DB-BD31-4B8C-83A1-F6EECF244321}">
                <p14:modId xmlns:p14="http://schemas.microsoft.com/office/powerpoint/2010/main" val="1703996974"/>
              </p:ext>
            </p:extLst>
          </p:nvPr>
        </p:nvGraphicFramePr>
        <p:xfrm>
          <a:off x="914400" y="1768500"/>
          <a:ext cx="8229600" cy="5086060"/>
        </p:xfrm>
        <a:graphic>
          <a:graphicData uri="http://schemas.openxmlformats.org/presentationml/2006/ole">
            <mc:AlternateContent xmlns:mc="http://schemas.openxmlformats.org/markup-compatibility/2006">
              <mc:Choice xmlns:v="urn:schemas-microsoft-com:vml" Requires="v">
                <p:oleObj r:id="rId2" imgW="7505640" imgH="4638600" progId="">
                  <p:embed/>
                </p:oleObj>
              </mc:Choice>
              <mc:Fallback>
                <p:oleObj r:id="rId2" imgW="7505640" imgH="4638600" progId="">
                  <p:embed/>
                  <p:pic>
                    <p:nvPicPr>
                      <p:cNvPr id="0" name=""/>
                      <p:cNvPicPr/>
                      <p:nvPr/>
                    </p:nvPicPr>
                    <p:blipFill>
                      <a:blip r:embed="rId3"/>
                      <a:stretch>
                        <a:fillRect/>
                      </a:stretch>
                    </p:blipFill>
                    <p:spPr>
                      <a:xfrm>
                        <a:off x="914400" y="1768500"/>
                        <a:ext cx="8229600" cy="5086060"/>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C12E548E-72DC-9229-83B2-78B16336E1A7}"/>
              </a:ext>
            </a:extLst>
          </p:cNvPr>
          <p:cNvSpPr txBox="1"/>
          <p:nvPr/>
        </p:nvSpPr>
        <p:spPr>
          <a:xfrm>
            <a:off x="457200" y="1124744"/>
            <a:ext cx="7051802" cy="523220"/>
          </a:xfrm>
          <a:prstGeom prst="rect">
            <a:avLst/>
          </a:prstGeom>
          <a:noFill/>
        </p:spPr>
        <p:txBody>
          <a:bodyPr wrap="none" rtlCol="0">
            <a:spAutoFit/>
          </a:bodyPr>
          <a:lstStyle/>
          <a:p>
            <a:r>
              <a:rPr lang="en-US" sz="1400" dirty="0" err="1"/>
              <a:t>limitting</a:t>
            </a:r>
            <a:r>
              <a:rPr lang="en-US" sz="1400" dirty="0"/>
              <a:t> primary credentials exposure by using yet-valid TGT ticket to obtain a new one</a:t>
            </a:r>
          </a:p>
          <a:p>
            <a:r>
              <a:rPr lang="en-US" sz="1400" dirty="0"/>
              <a:t>in Windows attempted once 20 minutes before current TGT expiration</a:t>
            </a:r>
          </a:p>
        </p:txBody>
      </p:sp>
    </p:spTree>
    <p:extLst>
      <p:ext uri="{BB962C8B-B14F-4D97-AF65-F5344CB8AC3E}">
        <p14:creationId xmlns:p14="http://schemas.microsoft.com/office/powerpoint/2010/main" val="62378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16E5-5D8E-4372-AA2A-084DAF6157E4}"/>
              </a:ext>
            </a:extLst>
          </p:cNvPr>
          <p:cNvSpPr>
            <a:spLocks noGrp="1"/>
          </p:cNvSpPr>
          <p:nvPr>
            <p:ph type="title"/>
          </p:nvPr>
        </p:nvSpPr>
        <p:spPr>
          <a:xfrm>
            <a:off x="251520" y="216024"/>
            <a:ext cx="8229600" cy="782960"/>
          </a:xfrm>
        </p:spPr>
        <p:txBody>
          <a:bodyPr>
            <a:normAutofit/>
          </a:bodyPr>
          <a:lstStyle/>
          <a:p>
            <a:r>
              <a:rPr lang="en-US" sz="2400" dirty="0" err="1"/>
              <a:t>lastLogon</a:t>
            </a:r>
            <a:r>
              <a:rPr lang="en-US" sz="2400" dirty="0"/>
              <a:t> and </a:t>
            </a:r>
            <a:r>
              <a:rPr lang="en-US" sz="2400" dirty="0" err="1"/>
              <a:t>lastLogonTimestamp</a:t>
            </a:r>
            <a:endParaRPr lang="en-US" sz="2400" dirty="0"/>
          </a:p>
        </p:txBody>
      </p:sp>
      <p:sp>
        <p:nvSpPr>
          <p:cNvPr id="3" name="Content Placeholder 2">
            <a:extLst>
              <a:ext uri="{FF2B5EF4-FFF2-40B4-BE49-F238E27FC236}">
                <a16:creationId xmlns:a16="http://schemas.microsoft.com/office/drawing/2014/main" id="{74610155-ECF8-48D9-9040-A145CE5617F6}"/>
              </a:ext>
            </a:extLst>
          </p:cNvPr>
          <p:cNvSpPr>
            <a:spLocks noGrp="1"/>
          </p:cNvSpPr>
          <p:nvPr>
            <p:ph idx="1"/>
          </p:nvPr>
        </p:nvSpPr>
        <p:spPr>
          <a:xfrm>
            <a:off x="251520" y="1124744"/>
            <a:ext cx="6408712" cy="4824536"/>
          </a:xfrm>
        </p:spPr>
        <p:txBody>
          <a:bodyPr>
            <a:normAutofit/>
          </a:bodyPr>
          <a:lstStyle/>
          <a:p>
            <a:r>
              <a:rPr lang="en-US" sz="2000" dirty="0" err="1"/>
              <a:t>lastLogon</a:t>
            </a:r>
            <a:endParaRPr lang="en-US" sz="2000" dirty="0"/>
          </a:p>
          <a:p>
            <a:pPr lvl="1"/>
            <a:r>
              <a:rPr lang="en-US" sz="1800" dirty="0"/>
              <a:t>updated only on initial TGT issuance (AS)</a:t>
            </a:r>
          </a:p>
          <a:p>
            <a:pPr lvl="2"/>
            <a:r>
              <a:rPr lang="en-US" sz="1600" dirty="0">
                <a:solidFill>
                  <a:schemeClr val="accent1"/>
                </a:solidFill>
              </a:rPr>
              <a:t>not on renewal</a:t>
            </a:r>
            <a:r>
              <a:rPr lang="en-US" sz="1600" dirty="0"/>
              <a:t>, not on TGS requests</a:t>
            </a:r>
          </a:p>
          <a:p>
            <a:pPr lvl="1"/>
            <a:r>
              <a:rPr lang="en-US" sz="1800" dirty="0"/>
              <a:t>not replicated</a:t>
            </a:r>
          </a:p>
          <a:p>
            <a:r>
              <a:rPr lang="en-US" sz="2000" dirty="0" err="1"/>
              <a:t>lastLogonTimestamp</a:t>
            </a:r>
            <a:endParaRPr lang="en-US" sz="2000" dirty="0"/>
          </a:p>
          <a:p>
            <a:pPr lvl="1"/>
            <a:r>
              <a:rPr lang="en-US" sz="1800" dirty="0"/>
              <a:t>updated every 9-14 days after </a:t>
            </a:r>
            <a:r>
              <a:rPr lang="en-US" sz="1800" dirty="0" err="1"/>
              <a:t>lastLogon</a:t>
            </a:r>
            <a:r>
              <a:rPr lang="en-US" sz="1800" dirty="0"/>
              <a:t> changed</a:t>
            </a:r>
          </a:p>
          <a:p>
            <a:pPr lvl="1"/>
            <a:r>
              <a:rPr lang="en-US" sz="1800" dirty="0"/>
              <a:t>replicated</a:t>
            </a:r>
          </a:p>
          <a:p>
            <a:pPr lvl="1"/>
            <a:r>
              <a:rPr lang="en-US" sz="1800" dirty="0" err="1"/>
              <a:t>msDS-LogonTimeSyncInterval</a:t>
            </a:r>
            <a:endParaRPr lang="en-US" sz="1800" dirty="0"/>
          </a:p>
        </p:txBody>
      </p:sp>
      <p:pic>
        <p:nvPicPr>
          <p:cNvPr id="7" name="Picture 6">
            <a:extLst>
              <a:ext uri="{FF2B5EF4-FFF2-40B4-BE49-F238E27FC236}">
                <a16:creationId xmlns:a16="http://schemas.microsoft.com/office/drawing/2014/main" id="{D98F00A8-8CDC-4DCF-9D2B-58E0EC1A5B0E}"/>
              </a:ext>
            </a:extLst>
          </p:cNvPr>
          <p:cNvPicPr>
            <a:picLocks noChangeAspect="1"/>
          </p:cNvPicPr>
          <p:nvPr/>
        </p:nvPicPr>
        <p:blipFill>
          <a:blip r:embed="rId2"/>
          <a:stretch>
            <a:fillRect/>
          </a:stretch>
        </p:blipFill>
        <p:spPr>
          <a:xfrm>
            <a:off x="5148064" y="3153738"/>
            <a:ext cx="3995936" cy="3704262"/>
          </a:xfrm>
          <a:prstGeom prst="rect">
            <a:avLst/>
          </a:prstGeom>
        </p:spPr>
      </p:pic>
    </p:spTree>
    <p:extLst>
      <p:ext uri="{BB962C8B-B14F-4D97-AF65-F5344CB8AC3E}">
        <p14:creationId xmlns:p14="http://schemas.microsoft.com/office/powerpoint/2010/main" val="1419849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4" name="Rectangle: Rounded Corners 13">
            <a:extLst>
              <a:ext uri="{FF2B5EF4-FFF2-40B4-BE49-F238E27FC236}">
                <a16:creationId xmlns:a16="http://schemas.microsoft.com/office/drawing/2014/main" id="{6C63AAF4-10EB-4695-80B5-9C653D656D3D}"/>
              </a:ext>
            </a:extLst>
          </p:cNvPr>
          <p:cNvSpPr/>
          <p:nvPr/>
        </p:nvSpPr>
        <p:spPr>
          <a:xfrm>
            <a:off x="441834"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5" name="Rectangle: Rounded Corners 14">
            <a:extLst>
              <a:ext uri="{FF2B5EF4-FFF2-40B4-BE49-F238E27FC236}">
                <a16:creationId xmlns:a16="http://schemas.microsoft.com/office/drawing/2014/main" id="{D067E46B-697B-4B1D-9FA5-C461D9BB3EDB}"/>
              </a:ext>
            </a:extLst>
          </p:cNvPr>
          <p:cNvSpPr/>
          <p:nvPr/>
        </p:nvSpPr>
        <p:spPr>
          <a:xfrm>
            <a:off x="1174769"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6" name="Rectangle: Rounded Corners 15">
            <a:extLst>
              <a:ext uri="{FF2B5EF4-FFF2-40B4-BE49-F238E27FC236}">
                <a16:creationId xmlns:a16="http://schemas.microsoft.com/office/drawing/2014/main" id="{E6BEB038-3CFD-4D30-9747-075E7979E100}"/>
              </a:ext>
            </a:extLst>
          </p:cNvPr>
          <p:cNvSpPr/>
          <p:nvPr/>
        </p:nvSpPr>
        <p:spPr>
          <a:xfrm>
            <a:off x="449517" y="3501008"/>
            <a:ext cx="1450504"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 request for service2</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Tree>
    <p:extLst>
      <p:ext uri="{BB962C8B-B14F-4D97-AF65-F5344CB8AC3E}">
        <p14:creationId xmlns:p14="http://schemas.microsoft.com/office/powerpoint/2010/main" val="1562178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4" name="Rectangle: Rounded Corners 13">
            <a:extLst>
              <a:ext uri="{FF2B5EF4-FFF2-40B4-BE49-F238E27FC236}">
                <a16:creationId xmlns:a16="http://schemas.microsoft.com/office/drawing/2014/main" id="{6C63AAF4-10EB-4695-80B5-9C653D656D3D}"/>
              </a:ext>
            </a:extLst>
          </p:cNvPr>
          <p:cNvSpPr/>
          <p:nvPr/>
        </p:nvSpPr>
        <p:spPr>
          <a:xfrm>
            <a:off x="441834"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5" name="Rectangle: Rounded Corners 14">
            <a:extLst>
              <a:ext uri="{FF2B5EF4-FFF2-40B4-BE49-F238E27FC236}">
                <a16:creationId xmlns:a16="http://schemas.microsoft.com/office/drawing/2014/main" id="{D067E46B-697B-4B1D-9FA5-C461D9BB3EDB}"/>
              </a:ext>
            </a:extLst>
          </p:cNvPr>
          <p:cNvSpPr/>
          <p:nvPr/>
        </p:nvSpPr>
        <p:spPr>
          <a:xfrm>
            <a:off x="1174769"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6" name="Rectangle: Rounded Corners 15">
            <a:extLst>
              <a:ext uri="{FF2B5EF4-FFF2-40B4-BE49-F238E27FC236}">
                <a16:creationId xmlns:a16="http://schemas.microsoft.com/office/drawing/2014/main" id="{E6BEB038-3CFD-4D30-9747-075E7979E100}"/>
              </a:ext>
            </a:extLst>
          </p:cNvPr>
          <p:cNvSpPr/>
          <p:nvPr/>
        </p:nvSpPr>
        <p:spPr>
          <a:xfrm>
            <a:off x="449517" y="3501008"/>
            <a:ext cx="1450504"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 request for service2</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1" name="Rectangle: Rounded Corners 20">
            <a:extLst>
              <a:ext uri="{FF2B5EF4-FFF2-40B4-BE49-F238E27FC236}">
                <a16:creationId xmlns:a16="http://schemas.microsoft.com/office/drawing/2014/main" id="{7A601825-DC62-4D82-A06C-12A6AE8C95C6}"/>
              </a:ext>
            </a:extLst>
          </p:cNvPr>
          <p:cNvSpPr/>
          <p:nvPr/>
        </p:nvSpPr>
        <p:spPr>
          <a:xfrm>
            <a:off x="224539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2" name="Rectangle: Rounded Corners 21">
            <a:extLst>
              <a:ext uri="{FF2B5EF4-FFF2-40B4-BE49-F238E27FC236}">
                <a16:creationId xmlns:a16="http://schemas.microsoft.com/office/drawing/2014/main" id="{3BE20DB2-217F-4AEE-8878-31DD9A6FB7B9}"/>
              </a:ext>
            </a:extLst>
          </p:cNvPr>
          <p:cNvSpPr/>
          <p:nvPr/>
        </p:nvSpPr>
        <p:spPr>
          <a:xfrm>
            <a:off x="2978330"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3" name="Rectangle: Rounded Corners 22">
            <a:extLst>
              <a:ext uri="{FF2B5EF4-FFF2-40B4-BE49-F238E27FC236}">
                <a16:creationId xmlns:a16="http://schemas.microsoft.com/office/drawing/2014/main" id="{22750550-BDBD-4DB0-8675-4FB74B372A78}"/>
              </a:ext>
            </a:extLst>
          </p:cNvPr>
          <p:cNvSpPr/>
          <p:nvPr/>
        </p:nvSpPr>
        <p:spPr>
          <a:xfrm>
            <a:off x="371126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Tree>
    <p:extLst>
      <p:ext uri="{BB962C8B-B14F-4D97-AF65-F5344CB8AC3E}">
        <p14:creationId xmlns:p14="http://schemas.microsoft.com/office/powerpoint/2010/main" val="2500606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4" name="Rectangle: Rounded Corners 13">
            <a:extLst>
              <a:ext uri="{FF2B5EF4-FFF2-40B4-BE49-F238E27FC236}">
                <a16:creationId xmlns:a16="http://schemas.microsoft.com/office/drawing/2014/main" id="{6C63AAF4-10EB-4695-80B5-9C653D656D3D}"/>
              </a:ext>
            </a:extLst>
          </p:cNvPr>
          <p:cNvSpPr/>
          <p:nvPr/>
        </p:nvSpPr>
        <p:spPr>
          <a:xfrm>
            <a:off x="441834"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5" name="Rectangle: Rounded Corners 14">
            <a:extLst>
              <a:ext uri="{FF2B5EF4-FFF2-40B4-BE49-F238E27FC236}">
                <a16:creationId xmlns:a16="http://schemas.microsoft.com/office/drawing/2014/main" id="{D067E46B-697B-4B1D-9FA5-C461D9BB3EDB}"/>
              </a:ext>
            </a:extLst>
          </p:cNvPr>
          <p:cNvSpPr/>
          <p:nvPr/>
        </p:nvSpPr>
        <p:spPr>
          <a:xfrm>
            <a:off x="1174769"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6" name="Rectangle: Rounded Corners 15">
            <a:extLst>
              <a:ext uri="{FF2B5EF4-FFF2-40B4-BE49-F238E27FC236}">
                <a16:creationId xmlns:a16="http://schemas.microsoft.com/office/drawing/2014/main" id="{E6BEB038-3CFD-4D30-9747-075E7979E100}"/>
              </a:ext>
            </a:extLst>
          </p:cNvPr>
          <p:cNvSpPr/>
          <p:nvPr/>
        </p:nvSpPr>
        <p:spPr>
          <a:xfrm>
            <a:off x="449517" y="3501008"/>
            <a:ext cx="1450504"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 request for service2</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1" name="Rectangle: Rounded Corners 20">
            <a:extLst>
              <a:ext uri="{FF2B5EF4-FFF2-40B4-BE49-F238E27FC236}">
                <a16:creationId xmlns:a16="http://schemas.microsoft.com/office/drawing/2014/main" id="{7A601825-DC62-4D82-A06C-12A6AE8C95C6}"/>
              </a:ext>
            </a:extLst>
          </p:cNvPr>
          <p:cNvSpPr/>
          <p:nvPr/>
        </p:nvSpPr>
        <p:spPr>
          <a:xfrm>
            <a:off x="224539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2" name="Rectangle: Rounded Corners 21">
            <a:extLst>
              <a:ext uri="{FF2B5EF4-FFF2-40B4-BE49-F238E27FC236}">
                <a16:creationId xmlns:a16="http://schemas.microsoft.com/office/drawing/2014/main" id="{3BE20DB2-217F-4AEE-8878-31DD9A6FB7B9}"/>
              </a:ext>
            </a:extLst>
          </p:cNvPr>
          <p:cNvSpPr/>
          <p:nvPr/>
        </p:nvSpPr>
        <p:spPr>
          <a:xfrm>
            <a:off x="2978330"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3" name="Rectangle: Rounded Corners 22">
            <a:extLst>
              <a:ext uri="{FF2B5EF4-FFF2-40B4-BE49-F238E27FC236}">
                <a16:creationId xmlns:a16="http://schemas.microsoft.com/office/drawing/2014/main" id="{22750550-BDBD-4DB0-8675-4FB74B372A78}"/>
              </a:ext>
            </a:extLst>
          </p:cNvPr>
          <p:cNvSpPr/>
          <p:nvPr/>
        </p:nvSpPr>
        <p:spPr>
          <a:xfrm>
            <a:off x="371126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4" name="Rectangle: Rounded Corners 23">
            <a:extLst>
              <a:ext uri="{FF2B5EF4-FFF2-40B4-BE49-F238E27FC236}">
                <a16:creationId xmlns:a16="http://schemas.microsoft.com/office/drawing/2014/main" id="{D0BA5E34-5C9A-4B3A-9347-75AA6ADFACFB}"/>
              </a:ext>
            </a:extLst>
          </p:cNvPr>
          <p:cNvSpPr/>
          <p:nvPr/>
        </p:nvSpPr>
        <p:spPr>
          <a:xfrm>
            <a:off x="2981831" y="3429000"/>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solidFill>
                  <a:schemeClr val="accent4"/>
                </a:solidFill>
              </a:rPr>
              <a:t>&lt;</a:t>
            </a:r>
            <a:r>
              <a:rPr lang="en-US" sz="1050" dirty="0"/>
              <a:t>10 hours</a:t>
            </a:r>
            <a:endParaRPr lang="cs-CZ" sz="1050" dirty="0"/>
          </a:p>
        </p:txBody>
      </p:sp>
      <p:sp>
        <p:nvSpPr>
          <p:cNvPr id="25" name="Rectangle: Rounded Corners 24">
            <a:extLst>
              <a:ext uri="{FF2B5EF4-FFF2-40B4-BE49-F238E27FC236}">
                <a16:creationId xmlns:a16="http://schemas.microsoft.com/office/drawing/2014/main" id="{B86086B0-3C5C-4422-8240-6D84E46CAFF9}"/>
              </a:ext>
            </a:extLst>
          </p:cNvPr>
          <p:cNvSpPr/>
          <p:nvPr/>
        </p:nvSpPr>
        <p:spPr>
          <a:xfrm>
            <a:off x="3711265" y="3429000"/>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group SIDs</a:t>
            </a:r>
            <a:endParaRPr lang="cs-CZ" sz="1050" dirty="0"/>
          </a:p>
        </p:txBody>
      </p:sp>
      <p:sp>
        <p:nvSpPr>
          <p:cNvPr id="26" name="Rectangle: Rounded Corners 25">
            <a:extLst>
              <a:ext uri="{FF2B5EF4-FFF2-40B4-BE49-F238E27FC236}">
                <a16:creationId xmlns:a16="http://schemas.microsoft.com/office/drawing/2014/main" id="{3858EA24-7138-4980-A368-B4DAAA5F3355}"/>
              </a:ext>
            </a:extLst>
          </p:cNvPr>
          <p:cNvSpPr/>
          <p:nvPr/>
        </p:nvSpPr>
        <p:spPr>
          <a:xfrm>
            <a:off x="1174769" y="4361089"/>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10 hours</a:t>
            </a:r>
            <a:endParaRPr lang="cs-CZ" sz="1050" dirty="0"/>
          </a:p>
        </p:txBody>
      </p:sp>
      <p:sp>
        <p:nvSpPr>
          <p:cNvPr id="27" name="Rectangle: Rounded Corners 26">
            <a:extLst>
              <a:ext uri="{FF2B5EF4-FFF2-40B4-BE49-F238E27FC236}">
                <a16:creationId xmlns:a16="http://schemas.microsoft.com/office/drawing/2014/main" id="{99F5F4D6-7608-4D8B-BF42-5602FEF8FD56}"/>
              </a:ext>
            </a:extLst>
          </p:cNvPr>
          <p:cNvSpPr/>
          <p:nvPr/>
        </p:nvSpPr>
        <p:spPr>
          <a:xfrm>
            <a:off x="1174769" y="4788337"/>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group SIDs</a:t>
            </a:r>
            <a:endParaRPr lang="cs-CZ" sz="1050" dirty="0"/>
          </a:p>
        </p:txBody>
      </p:sp>
    </p:spTree>
    <p:extLst>
      <p:ext uri="{BB962C8B-B14F-4D97-AF65-F5344CB8AC3E}">
        <p14:creationId xmlns:p14="http://schemas.microsoft.com/office/powerpoint/2010/main" val="1933156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1" name="Arrow: Right 10">
            <a:extLst>
              <a:ext uri="{FF2B5EF4-FFF2-40B4-BE49-F238E27FC236}">
                <a16:creationId xmlns:a16="http://schemas.microsoft.com/office/drawing/2014/main" id="{B2AFF908-D688-4555-996A-48408B851C60}"/>
              </a:ext>
            </a:extLst>
          </p:cNvPr>
          <p:cNvSpPr/>
          <p:nvPr/>
        </p:nvSpPr>
        <p:spPr>
          <a:xfrm rot="317079">
            <a:off x="1828878" y="2155975"/>
            <a:ext cx="5769089"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87F1BDC8-782A-433A-A887-CEBEB6F9CF14}"/>
              </a:ext>
            </a:extLst>
          </p:cNvPr>
          <p:cNvSpPr/>
          <p:nvPr/>
        </p:nvSpPr>
        <p:spPr>
          <a:xfrm>
            <a:off x="382621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5" name="Rectangle: Rounded Corners 24">
            <a:extLst>
              <a:ext uri="{FF2B5EF4-FFF2-40B4-BE49-F238E27FC236}">
                <a16:creationId xmlns:a16="http://schemas.microsoft.com/office/drawing/2014/main" id="{62781A8D-794B-437B-9A17-BF18CA75ABAB}"/>
              </a:ext>
            </a:extLst>
          </p:cNvPr>
          <p:cNvSpPr/>
          <p:nvPr/>
        </p:nvSpPr>
        <p:spPr>
          <a:xfrm>
            <a:off x="4559145"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6" name="Rectangle: Rounded Corners 25">
            <a:extLst>
              <a:ext uri="{FF2B5EF4-FFF2-40B4-BE49-F238E27FC236}">
                <a16:creationId xmlns:a16="http://schemas.microsoft.com/office/drawing/2014/main" id="{0CA04A9F-DECA-473A-975E-31A8CF0ED232}"/>
              </a:ext>
            </a:extLst>
          </p:cNvPr>
          <p:cNvSpPr/>
          <p:nvPr/>
        </p:nvSpPr>
        <p:spPr>
          <a:xfrm>
            <a:off x="529208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7" name="Rectangle: Rounded Corners 26">
            <a:extLst>
              <a:ext uri="{FF2B5EF4-FFF2-40B4-BE49-F238E27FC236}">
                <a16:creationId xmlns:a16="http://schemas.microsoft.com/office/drawing/2014/main" id="{F21DAA83-83CA-4A53-8376-F259048E4A60}"/>
              </a:ext>
            </a:extLst>
          </p:cNvPr>
          <p:cNvSpPr/>
          <p:nvPr/>
        </p:nvSpPr>
        <p:spPr>
          <a:xfrm>
            <a:off x="43503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TGS</a:t>
            </a:r>
            <a:endParaRPr lang="cs-CZ" sz="1050" dirty="0"/>
          </a:p>
        </p:txBody>
      </p:sp>
      <p:sp>
        <p:nvSpPr>
          <p:cNvPr id="28" name="Rectangle: Rounded Corners 27">
            <a:extLst>
              <a:ext uri="{FF2B5EF4-FFF2-40B4-BE49-F238E27FC236}">
                <a16:creationId xmlns:a16="http://schemas.microsoft.com/office/drawing/2014/main" id="{31316A70-3405-4042-9347-B097DC473675}"/>
              </a:ext>
            </a:extLst>
          </p:cNvPr>
          <p:cNvSpPr/>
          <p:nvPr/>
        </p:nvSpPr>
        <p:spPr>
          <a:xfrm>
            <a:off x="1167968"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kamil</a:t>
            </a:r>
            <a:endParaRPr lang="cs-CZ" sz="1050" dirty="0"/>
          </a:p>
        </p:txBody>
      </p:sp>
      <p:sp>
        <p:nvSpPr>
          <p:cNvPr id="29" name="Rectangle: Rounded Corners 28">
            <a:extLst>
              <a:ext uri="{FF2B5EF4-FFF2-40B4-BE49-F238E27FC236}">
                <a16:creationId xmlns:a16="http://schemas.microsoft.com/office/drawing/2014/main" id="{FCEC7543-D990-4C14-984F-F31EB12B13D3}"/>
              </a:ext>
            </a:extLst>
          </p:cNvPr>
          <p:cNvSpPr/>
          <p:nvPr/>
        </p:nvSpPr>
        <p:spPr>
          <a:xfrm>
            <a:off x="190090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service2</a:t>
            </a:r>
            <a:endParaRPr lang="cs-CZ" sz="1050" dirty="0"/>
          </a:p>
        </p:txBody>
      </p:sp>
    </p:spTree>
    <p:extLst>
      <p:ext uri="{BB962C8B-B14F-4D97-AF65-F5344CB8AC3E}">
        <p14:creationId xmlns:p14="http://schemas.microsoft.com/office/powerpoint/2010/main" val="4084276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#1</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1" name="Arrow: Right 10">
            <a:extLst>
              <a:ext uri="{FF2B5EF4-FFF2-40B4-BE49-F238E27FC236}">
                <a16:creationId xmlns:a16="http://schemas.microsoft.com/office/drawing/2014/main" id="{B2AFF908-D688-4555-996A-48408B851C60}"/>
              </a:ext>
            </a:extLst>
          </p:cNvPr>
          <p:cNvSpPr/>
          <p:nvPr/>
        </p:nvSpPr>
        <p:spPr>
          <a:xfrm rot="317079">
            <a:off x="1828878" y="2155975"/>
            <a:ext cx="5769089"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87F1BDC8-782A-433A-A887-CEBEB6F9CF14}"/>
              </a:ext>
            </a:extLst>
          </p:cNvPr>
          <p:cNvSpPr/>
          <p:nvPr/>
        </p:nvSpPr>
        <p:spPr>
          <a:xfrm>
            <a:off x="382621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5" name="Rectangle: Rounded Corners 24">
            <a:extLst>
              <a:ext uri="{FF2B5EF4-FFF2-40B4-BE49-F238E27FC236}">
                <a16:creationId xmlns:a16="http://schemas.microsoft.com/office/drawing/2014/main" id="{62781A8D-794B-437B-9A17-BF18CA75ABAB}"/>
              </a:ext>
            </a:extLst>
          </p:cNvPr>
          <p:cNvSpPr/>
          <p:nvPr/>
        </p:nvSpPr>
        <p:spPr>
          <a:xfrm>
            <a:off x="4559145"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6" name="Rectangle: Rounded Corners 25">
            <a:extLst>
              <a:ext uri="{FF2B5EF4-FFF2-40B4-BE49-F238E27FC236}">
                <a16:creationId xmlns:a16="http://schemas.microsoft.com/office/drawing/2014/main" id="{0CA04A9F-DECA-473A-975E-31A8CF0ED232}"/>
              </a:ext>
            </a:extLst>
          </p:cNvPr>
          <p:cNvSpPr/>
          <p:nvPr/>
        </p:nvSpPr>
        <p:spPr>
          <a:xfrm>
            <a:off x="529208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7" name="Rectangle: Rounded Corners 26">
            <a:extLst>
              <a:ext uri="{FF2B5EF4-FFF2-40B4-BE49-F238E27FC236}">
                <a16:creationId xmlns:a16="http://schemas.microsoft.com/office/drawing/2014/main" id="{F21DAA83-83CA-4A53-8376-F259048E4A60}"/>
              </a:ext>
            </a:extLst>
          </p:cNvPr>
          <p:cNvSpPr/>
          <p:nvPr/>
        </p:nvSpPr>
        <p:spPr>
          <a:xfrm>
            <a:off x="43503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TGS</a:t>
            </a:r>
            <a:endParaRPr lang="cs-CZ" sz="1050" dirty="0"/>
          </a:p>
        </p:txBody>
      </p:sp>
      <p:sp>
        <p:nvSpPr>
          <p:cNvPr id="28" name="Rectangle: Rounded Corners 27">
            <a:extLst>
              <a:ext uri="{FF2B5EF4-FFF2-40B4-BE49-F238E27FC236}">
                <a16:creationId xmlns:a16="http://schemas.microsoft.com/office/drawing/2014/main" id="{31316A70-3405-4042-9347-B097DC473675}"/>
              </a:ext>
            </a:extLst>
          </p:cNvPr>
          <p:cNvSpPr/>
          <p:nvPr/>
        </p:nvSpPr>
        <p:spPr>
          <a:xfrm>
            <a:off x="1167968"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kamil</a:t>
            </a:r>
            <a:endParaRPr lang="cs-CZ" sz="1050" dirty="0"/>
          </a:p>
        </p:txBody>
      </p:sp>
      <p:sp>
        <p:nvSpPr>
          <p:cNvPr id="29" name="Rectangle: Rounded Corners 28">
            <a:extLst>
              <a:ext uri="{FF2B5EF4-FFF2-40B4-BE49-F238E27FC236}">
                <a16:creationId xmlns:a16="http://schemas.microsoft.com/office/drawing/2014/main" id="{FCEC7543-D990-4C14-984F-F31EB12B13D3}"/>
              </a:ext>
            </a:extLst>
          </p:cNvPr>
          <p:cNvSpPr/>
          <p:nvPr/>
        </p:nvSpPr>
        <p:spPr>
          <a:xfrm>
            <a:off x="190090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service2</a:t>
            </a:r>
            <a:endParaRPr lang="cs-CZ" sz="1050" dirty="0"/>
          </a:p>
        </p:txBody>
      </p:sp>
      <p:sp>
        <p:nvSpPr>
          <p:cNvPr id="21" name="Rectangle: Rounded Corners 20">
            <a:extLst>
              <a:ext uri="{FF2B5EF4-FFF2-40B4-BE49-F238E27FC236}">
                <a16:creationId xmlns:a16="http://schemas.microsoft.com/office/drawing/2014/main" id="{52E9ED5A-995D-4C57-9358-F8EC649E653E}"/>
              </a:ext>
            </a:extLst>
          </p:cNvPr>
          <p:cNvSpPr/>
          <p:nvPr/>
        </p:nvSpPr>
        <p:spPr>
          <a:xfrm>
            <a:off x="4564070" y="2490710"/>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solidFill>
                  <a:schemeClr val="accent4"/>
                </a:solidFill>
              </a:rPr>
              <a:t>&lt;</a:t>
            </a:r>
            <a:r>
              <a:rPr lang="en-US" sz="1050" dirty="0"/>
              <a:t>10 hours</a:t>
            </a:r>
            <a:endParaRPr lang="cs-CZ" sz="1050" dirty="0"/>
          </a:p>
        </p:txBody>
      </p:sp>
      <p:sp>
        <p:nvSpPr>
          <p:cNvPr id="22" name="Rectangle: Rounded Corners 21">
            <a:extLst>
              <a:ext uri="{FF2B5EF4-FFF2-40B4-BE49-F238E27FC236}">
                <a16:creationId xmlns:a16="http://schemas.microsoft.com/office/drawing/2014/main" id="{CA81206F-C912-4BC3-840C-13571187465E}"/>
              </a:ext>
            </a:extLst>
          </p:cNvPr>
          <p:cNvSpPr/>
          <p:nvPr/>
        </p:nvSpPr>
        <p:spPr>
          <a:xfrm>
            <a:off x="5293504" y="2490710"/>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group SIDs</a:t>
            </a:r>
            <a:endParaRPr lang="cs-CZ" sz="1050" dirty="0"/>
          </a:p>
        </p:txBody>
      </p:sp>
    </p:spTree>
    <p:extLst>
      <p:ext uri="{BB962C8B-B14F-4D97-AF65-F5344CB8AC3E}">
        <p14:creationId xmlns:p14="http://schemas.microsoft.com/office/powerpoint/2010/main" val="280496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197768"/>
            <a:ext cx="8229600" cy="782960"/>
          </a:xfrm>
        </p:spPr>
        <p:txBody>
          <a:bodyPr/>
          <a:lstStyle/>
          <a:p>
            <a:r>
              <a:rPr lang="en-US" dirty="0"/>
              <a:t>Ticket granting service (TGS)</a:t>
            </a:r>
            <a:endParaRPr lang="cs-CZ" dirty="0"/>
          </a:p>
        </p:txBody>
      </p:sp>
      <p:graphicFrame>
        <p:nvGraphicFramePr>
          <p:cNvPr id="4" name="Object 3">
            <a:extLst>
              <a:ext uri="{FF2B5EF4-FFF2-40B4-BE49-F238E27FC236}">
                <a16:creationId xmlns:a16="http://schemas.microsoft.com/office/drawing/2014/main" id="{934784E4-9472-DCA0-1FB0-8399C73964B3}"/>
              </a:ext>
            </a:extLst>
          </p:cNvPr>
          <p:cNvGraphicFramePr>
            <a:graphicFrameLocks noChangeAspect="1"/>
          </p:cNvGraphicFramePr>
          <p:nvPr>
            <p:extLst>
              <p:ext uri="{D42A27DB-BD31-4B8C-83A1-F6EECF244321}">
                <p14:modId xmlns:p14="http://schemas.microsoft.com/office/powerpoint/2010/main" val="287069512"/>
              </p:ext>
            </p:extLst>
          </p:nvPr>
        </p:nvGraphicFramePr>
        <p:xfrm>
          <a:off x="1" y="1181673"/>
          <a:ext cx="9144000" cy="5055639"/>
        </p:xfrm>
        <a:graphic>
          <a:graphicData uri="http://schemas.openxmlformats.org/presentationml/2006/ole">
            <mc:AlternateContent xmlns:mc="http://schemas.openxmlformats.org/markup-compatibility/2006">
              <mc:Choice xmlns:v="urn:schemas-microsoft-com:vml" Requires="v">
                <p:oleObj r:id="rId2" imgW="6753240" imgH="3733920" progId="">
                  <p:embed/>
                </p:oleObj>
              </mc:Choice>
              <mc:Fallback>
                <p:oleObj r:id="rId2" imgW="6753240" imgH="3733920" progId="">
                  <p:embed/>
                  <p:pic>
                    <p:nvPicPr>
                      <p:cNvPr id="0" name=""/>
                      <p:cNvPicPr/>
                      <p:nvPr/>
                    </p:nvPicPr>
                    <p:blipFill>
                      <a:blip r:embed="rId3"/>
                      <a:stretch>
                        <a:fillRect/>
                      </a:stretch>
                    </p:blipFill>
                    <p:spPr>
                      <a:xfrm>
                        <a:off x="1" y="1181673"/>
                        <a:ext cx="9144000" cy="5055639"/>
                      </a:xfrm>
                      <a:prstGeom prst="rect">
                        <a:avLst/>
                      </a:prstGeom>
                    </p:spPr>
                  </p:pic>
                </p:oleObj>
              </mc:Fallback>
            </mc:AlternateContent>
          </a:graphicData>
        </a:graphic>
      </p:graphicFrame>
    </p:spTree>
    <p:extLst>
      <p:ext uri="{BB962C8B-B14F-4D97-AF65-F5344CB8AC3E}">
        <p14:creationId xmlns:p14="http://schemas.microsoft.com/office/powerpoint/2010/main" val="484255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44624"/>
            <a:ext cx="8229600" cy="782960"/>
          </a:xfrm>
        </p:spPr>
        <p:txBody>
          <a:bodyPr>
            <a:normAutofit/>
          </a:bodyPr>
          <a:lstStyle/>
          <a:p>
            <a:r>
              <a:rPr lang="en-US" sz="2400" dirty="0"/>
              <a:t>Ticket granting service (TGS)</a:t>
            </a:r>
            <a:endParaRPr lang="cs-CZ" sz="2400" dirty="0"/>
          </a:p>
        </p:txBody>
      </p:sp>
      <p:pic>
        <p:nvPicPr>
          <p:cNvPr id="5" name="Picture 4">
            <a:extLst>
              <a:ext uri="{FF2B5EF4-FFF2-40B4-BE49-F238E27FC236}">
                <a16:creationId xmlns:a16="http://schemas.microsoft.com/office/drawing/2014/main" id="{3BC6DD7C-B88B-4F1F-976C-BA1E4EC727A2}"/>
              </a:ext>
            </a:extLst>
          </p:cNvPr>
          <p:cNvPicPr>
            <a:picLocks noChangeAspect="1"/>
          </p:cNvPicPr>
          <p:nvPr/>
        </p:nvPicPr>
        <p:blipFill>
          <a:blip r:embed="rId2"/>
          <a:stretch>
            <a:fillRect/>
          </a:stretch>
        </p:blipFill>
        <p:spPr>
          <a:xfrm>
            <a:off x="1386692" y="827585"/>
            <a:ext cx="7757308" cy="6030416"/>
          </a:xfrm>
          <a:prstGeom prst="rect">
            <a:avLst/>
          </a:prstGeom>
        </p:spPr>
      </p:pic>
    </p:spTree>
    <p:extLst>
      <p:ext uri="{BB962C8B-B14F-4D97-AF65-F5344CB8AC3E}">
        <p14:creationId xmlns:p14="http://schemas.microsoft.com/office/powerpoint/2010/main" val="1094328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9" name="Rectangle: Rounded Corners 18">
            <a:extLst>
              <a:ext uri="{FF2B5EF4-FFF2-40B4-BE49-F238E27FC236}">
                <a16:creationId xmlns:a16="http://schemas.microsoft.com/office/drawing/2014/main" id="{077574D6-7FDA-457A-B6AD-3BFE46A10F2F}"/>
              </a:ext>
            </a:extLst>
          </p:cNvPr>
          <p:cNvSpPr/>
          <p:nvPr/>
        </p:nvSpPr>
        <p:spPr>
          <a:xfrm>
            <a:off x="267311" y="1345141"/>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0" name="Rectangle: Rounded Corners 19">
            <a:extLst>
              <a:ext uri="{FF2B5EF4-FFF2-40B4-BE49-F238E27FC236}">
                <a16:creationId xmlns:a16="http://schemas.microsoft.com/office/drawing/2014/main" id="{AE017D51-1E77-4946-968A-563C634CF9FD}"/>
              </a:ext>
            </a:extLst>
          </p:cNvPr>
          <p:cNvSpPr/>
          <p:nvPr/>
        </p:nvSpPr>
        <p:spPr>
          <a:xfrm>
            <a:off x="3779912" y="6228184"/>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1" name="Rectangle: Rounded Corners 20">
            <a:extLst>
              <a:ext uri="{FF2B5EF4-FFF2-40B4-BE49-F238E27FC236}">
                <a16:creationId xmlns:a16="http://schemas.microsoft.com/office/drawing/2014/main" id="{D8DAB60B-AC39-4921-93EF-AA58232B117E}"/>
              </a:ext>
            </a:extLst>
          </p:cNvPr>
          <p:cNvSpPr/>
          <p:nvPr/>
        </p:nvSpPr>
        <p:spPr>
          <a:xfrm>
            <a:off x="1258996" y="1345141"/>
            <a:ext cx="495672"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err="1">
                <a:solidFill>
                  <a:schemeClr val="bg1"/>
                </a:solidFill>
              </a:rPr>
              <a:t>pwd</a:t>
            </a:r>
            <a:endParaRPr lang="cs-CZ" sz="1050" dirty="0">
              <a:solidFill>
                <a:schemeClr val="bg1"/>
              </a:solidFill>
            </a:endParaRPr>
          </a:p>
        </p:txBody>
      </p:sp>
      <p:sp>
        <p:nvSpPr>
          <p:cNvPr id="22" name="Rectangle: Rounded Corners 21">
            <a:extLst>
              <a:ext uri="{FF2B5EF4-FFF2-40B4-BE49-F238E27FC236}">
                <a16:creationId xmlns:a16="http://schemas.microsoft.com/office/drawing/2014/main" id="{5F607E95-35EA-4EF7-B595-BB9ECA2C510D}"/>
              </a:ext>
            </a:extLst>
          </p:cNvPr>
          <p:cNvSpPr/>
          <p:nvPr/>
        </p:nvSpPr>
        <p:spPr>
          <a:xfrm>
            <a:off x="1755008" y="1345141"/>
            <a:ext cx="495672"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bg1"/>
                </a:solidFill>
              </a:rPr>
              <a:t>cert </a:t>
            </a:r>
            <a:r>
              <a:rPr lang="en-US" sz="1050" dirty="0" err="1">
                <a:solidFill>
                  <a:schemeClr val="bg1"/>
                </a:solidFill>
              </a:rPr>
              <a:t>priv</a:t>
            </a:r>
            <a:endParaRPr lang="cs-CZ" sz="1050" dirty="0">
              <a:solidFill>
                <a:schemeClr val="bg1"/>
              </a:solidFill>
            </a:endParaRPr>
          </a:p>
        </p:txBody>
      </p:sp>
      <p:sp>
        <p:nvSpPr>
          <p:cNvPr id="23" name="Rectangle: Rounded Corners 22">
            <a:extLst>
              <a:ext uri="{FF2B5EF4-FFF2-40B4-BE49-F238E27FC236}">
                <a16:creationId xmlns:a16="http://schemas.microsoft.com/office/drawing/2014/main" id="{7D773068-CFCF-455A-BB2C-5B6F19D94A67}"/>
              </a:ext>
            </a:extLst>
          </p:cNvPr>
          <p:cNvSpPr/>
          <p:nvPr/>
        </p:nvSpPr>
        <p:spPr>
          <a:xfrm>
            <a:off x="4771597"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r>
              <a:rPr lang="en-US" sz="1050" dirty="0"/>
              <a:t>#</a:t>
            </a:r>
            <a:endParaRPr lang="cs-CZ" sz="1050" dirty="0"/>
          </a:p>
        </p:txBody>
      </p:sp>
      <p:sp>
        <p:nvSpPr>
          <p:cNvPr id="24" name="Rectangle: Rounded Corners 23">
            <a:extLst>
              <a:ext uri="{FF2B5EF4-FFF2-40B4-BE49-F238E27FC236}">
                <a16:creationId xmlns:a16="http://schemas.microsoft.com/office/drawing/2014/main" id="{4F94C04B-2586-4407-B697-429A6A5CA876}"/>
              </a:ext>
            </a:extLst>
          </p:cNvPr>
          <p:cNvSpPr/>
          <p:nvPr/>
        </p:nvSpPr>
        <p:spPr>
          <a:xfrm>
            <a:off x="5267609"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pub</a:t>
            </a:r>
            <a:endParaRPr lang="cs-CZ" sz="1050" dirty="0"/>
          </a:p>
        </p:txBody>
      </p:sp>
    </p:spTree>
    <p:extLst>
      <p:ext uri="{BB962C8B-B14F-4D97-AF65-F5344CB8AC3E}">
        <p14:creationId xmlns:p14="http://schemas.microsoft.com/office/powerpoint/2010/main" val="1564147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8" name="Rectangle: Rounded Corners 17">
            <a:extLst>
              <a:ext uri="{FF2B5EF4-FFF2-40B4-BE49-F238E27FC236}">
                <a16:creationId xmlns:a16="http://schemas.microsoft.com/office/drawing/2014/main" id="{D292242B-5C84-4A7D-A2C2-9B3A0252138A}"/>
              </a:ext>
            </a:extLst>
          </p:cNvPr>
          <p:cNvSpPr/>
          <p:nvPr/>
        </p:nvSpPr>
        <p:spPr>
          <a:xfrm>
            <a:off x="2495263" y="3501008"/>
            <a:ext cx="1671898" cy="936104"/>
          </a:xfrm>
          <a:prstGeom prst="roundRect">
            <a:avLst>
              <a:gd name="adj" fmla="val 7939"/>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050" dirty="0"/>
              <a:t>encrypted by user's primary credentials</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(with pre-authentication)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9" name="Rectangle: Rounded Corners 18">
            <a:extLst>
              <a:ext uri="{FF2B5EF4-FFF2-40B4-BE49-F238E27FC236}">
                <a16:creationId xmlns:a16="http://schemas.microsoft.com/office/drawing/2014/main" id="{077574D6-7FDA-457A-B6AD-3BFE46A10F2F}"/>
              </a:ext>
            </a:extLst>
          </p:cNvPr>
          <p:cNvSpPr/>
          <p:nvPr/>
        </p:nvSpPr>
        <p:spPr>
          <a:xfrm>
            <a:off x="267311" y="1345141"/>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0" name="Rectangle: Rounded Corners 19">
            <a:extLst>
              <a:ext uri="{FF2B5EF4-FFF2-40B4-BE49-F238E27FC236}">
                <a16:creationId xmlns:a16="http://schemas.microsoft.com/office/drawing/2014/main" id="{AE017D51-1E77-4946-968A-563C634CF9FD}"/>
              </a:ext>
            </a:extLst>
          </p:cNvPr>
          <p:cNvSpPr/>
          <p:nvPr/>
        </p:nvSpPr>
        <p:spPr>
          <a:xfrm>
            <a:off x="3779912" y="6228184"/>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1" name="Rectangle: Rounded Corners 20">
            <a:extLst>
              <a:ext uri="{FF2B5EF4-FFF2-40B4-BE49-F238E27FC236}">
                <a16:creationId xmlns:a16="http://schemas.microsoft.com/office/drawing/2014/main" id="{D8DAB60B-AC39-4921-93EF-AA58232B117E}"/>
              </a:ext>
            </a:extLst>
          </p:cNvPr>
          <p:cNvSpPr/>
          <p:nvPr/>
        </p:nvSpPr>
        <p:spPr>
          <a:xfrm>
            <a:off x="1258996" y="1345141"/>
            <a:ext cx="495672"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err="1">
                <a:solidFill>
                  <a:schemeClr val="bg1"/>
                </a:solidFill>
              </a:rPr>
              <a:t>pwd</a:t>
            </a:r>
            <a:endParaRPr lang="cs-CZ" sz="1050" dirty="0">
              <a:solidFill>
                <a:schemeClr val="bg1"/>
              </a:solidFill>
            </a:endParaRPr>
          </a:p>
        </p:txBody>
      </p:sp>
      <p:sp>
        <p:nvSpPr>
          <p:cNvPr id="22" name="Rectangle: Rounded Corners 21">
            <a:extLst>
              <a:ext uri="{FF2B5EF4-FFF2-40B4-BE49-F238E27FC236}">
                <a16:creationId xmlns:a16="http://schemas.microsoft.com/office/drawing/2014/main" id="{5F607E95-35EA-4EF7-B595-BB9ECA2C510D}"/>
              </a:ext>
            </a:extLst>
          </p:cNvPr>
          <p:cNvSpPr/>
          <p:nvPr/>
        </p:nvSpPr>
        <p:spPr>
          <a:xfrm>
            <a:off x="1755008" y="1345141"/>
            <a:ext cx="495672"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bg1"/>
                </a:solidFill>
              </a:rPr>
              <a:t>cert </a:t>
            </a:r>
            <a:r>
              <a:rPr lang="en-US" sz="1050" dirty="0" err="1">
                <a:solidFill>
                  <a:schemeClr val="bg1"/>
                </a:solidFill>
              </a:rPr>
              <a:t>priv</a:t>
            </a:r>
            <a:endParaRPr lang="cs-CZ" sz="1050" dirty="0">
              <a:solidFill>
                <a:schemeClr val="bg1"/>
              </a:solidFill>
            </a:endParaRPr>
          </a:p>
        </p:txBody>
      </p:sp>
      <p:sp>
        <p:nvSpPr>
          <p:cNvPr id="23" name="Rectangle: Rounded Corners 22">
            <a:extLst>
              <a:ext uri="{FF2B5EF4-FFF2-40B4-BE49-F238E27FC236}">
                <a16:creationId xmlns:a16="http://schemas.microsoft.com/office/drawing/2014/main" id="{7D773068-CFCF-455A-BB2C-5B6F19D94A67}"/>
              </a:ext>
            </a:extLst>
          </p:cNvPr>
          <p:cNvSpPr/>
          <p:nvPr/>
        </p:nvSpPr>
        <p:spPr>
          <a:xfrm>
            <a:off x="4771597"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r>
              <a:rPr lang="en-US" sz="1050" dirty="0"/>
              <a:t>#</a:t>
            </a:r>
            <a:endParaRPr lang="cs-CZ" sz="1050" dirty="0"/>
          </a:p>
        </p:txBody>
      </p:sp>
      <p:sp>
        <p:nvSpPr>
          <p:cNvPr id="24" name="Rectangle: Rounded Corners 23">
            <a:extLst>
              <a:ext uri="{FF2B5EF4-FFF2-40B4-BE49-F238E27FC236}">
                <a16:creationId xmlns:a16="http://schemas.microsoft.com/office/drawing/2014/main" id="{4F94C04B-2586-4407-B697-429A6A5CA876}"/>
              </a:ext>
            </a:extLst>
          </p:cNvPr>
          <p:cNvSpPr/>
          <p:nvPr/>
        </p:nvSpPr>
        <p:spPr>
          <a:xfrm>
            <a:off x="5267609"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pub</a:t>
            </a:r>
            <a:endParaRPr lang="cs-CZ" sz="1050" dirty="0"/>
          </a:p>
        </p:txBody>
      </p:sp>
      <p:sp>
        <p:nvSpPr>
          <p:cNvPr id="3" name="Arrow: Right 2">
            <a:extLst>
              <a:ext uri="{FF2B5EF4-FFF2-40B4-BE49-F238E27FC236}">
                <a16:creationId xmlns:a16="http://schemas.microsoft.com/office/drawing/2014/main" id="{DCB496FA-891D-4832-41DE-F77CCBC55315}"/>
              </a:ext>
            </a:extLst>
          </p:cNvPr>
          <p:cNvSpPr/>
          <p:nvPr/>
        </p:nvSpPr>
        <p:spPr>
          <a:xfrm rot="3194510">
            <a:off x="376792" y="3911055"/>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5" name="Rectangle: Rounded Corners 4">
            <a:extLst>
              <a:ext uri="{FF2B5EF4-FFF2-40B4-BE49-F238E27FC236}">
                <a16:creationId xmlns:a16="http://schemas.microsoft.com/office/drawing/2014/main" id="{25DB953C-06DD-A8C6-0FA8-F7D95C2FD094}"/>
              </a:ext>
            </a:extLst>
          </p:cNvPr>
          <p:cNvSpPr/>
          <p:nvPr/>
        </p:nvSpPr>
        <p:spPr>
          <a:xfrm>
            <a:off x="755576" y="3659027"/>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7" name="Rectangle: Rounded Corners 6">
            <a:extLst>
              <a:ext uri="{FF2B5EF4-FFF2-40B4-BE49-F238E27FC236}">
                <a16:creationId xmlns:a16="http://schemas.microsoft.com/office/drawing/2014/main" id="{73764D71-2608-161B-1A04-4C2BAD66F701}"/>
              </a:ext>
            </a:extLst>
          </p:cNvPr>
          <p:cNvSpPr/>
          <p:nvPr/>
        </p:nvSpPr>
        <p:spPr>
          <a:xfrm>
            <a:off x="755577"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8" name="Rectangle: Rounded Corners 7">
            <a:extLst>
              <a:ext uri="{FF2B5EF4-FFF2-40B4-BE49-F238E27FC236}">
                <a16:creationId xmlns:a16="http://schemas.microsoft.com/office/drawing/2014/main" id="{21A8C5A5-2B49-3667-A89A-31F22D28F351}"/>
              </a:ext>
            </a:extLst>
          </p:cNvPr>
          <p:cNvSpPr/>
          <p:nvPr/>
        </p:nvSpPr>
        <p:spPr>
          <a:xfrm>
            <a:off x="1251589" y="4095336"/>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a:t>
            </a:r>
            <a:endParaRPr lang="cs-CZ" sz="1050" dirty="0"/>
          </a:p>
        </p:txBody>
      </p:sp>
    </p:spTree>
    <p:extLst>
      <p:ext uri="{BB962C8B-B14F-4D97-AF65-F5344CB8AC3E}">
        <p14:creationId xmlns:p14="http://schemas.microsoft.com/office/powerpoint/2010/main" val="2586180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8" name="Rectangle: Rounded Corners 17">
            <a:extLst>
              <a:ext uri="{FF2B5EF4-FFF2-40B4-BE49-F238E27FC236}">
                <a16:creationId xmlns:a16="http://schemas.microsoft.com/office/drawing/2014/main" id="{D292242B-5C84-4A7D-A2C2-9B3A0252138A}"/>
              </a:ext>
            </a:extLst>
          </p:cNvPr>
          <p:cNvSpPr/>
          <p:nvPr/>
        </p:nvSpPr>
        <p:spPr>
          <a:xfrm>
            <a:off x="2495263" y="3501008"/>
            <a:ext cx="1671898" cy="936104"/>
          </a:xfrm>
          <a:prstGeom prst="roundRect">
            <a:avLst>
              <a:gd name="adj" fmla="val 7939"/>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050" dirty="0"/>
              <a:t>encrypted by user's primary credentials</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a:t>
            </a:r>
            <a:r>
              <a:rPr lang="en-US" dirty="0">
                <a:solidFill>
                  <a:schemeClr val="accent1"/>
                </a:solidFill>
              </a:rPr>
              <a:t>without</a:t>
            </a:r>
            <a:r>
              <a:rPr lang="en-US" dirty="0"/>
              <a:t> pre-authentication)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9" name="Rectangle: Rounded Corners 18">
            <a:extLst>
              <a:ext uri="{FF2B5EF4-FFF2-40B4-BE49-F238E27FC236}">
                <a16:creationId xmlns:a16="http://schemas.microsoft.com/office/drawing/2014/main" id="{077574D6-7FDA-457A-B6AD-3BFE46A10F2F}"/>
              </a:ext>
            </a:extLst>
          </p:cNvPr>
          <p:cNvSpPr/>
          <p:nvPr/>
        </p:nvSpPr>
        <p:spPr>
          <a:xfrm>
            <a:off x="267311" y="1345141"/>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0" name="Rectangle: Rounded Corners 19">
            <a:extLst>
              <a:ext uri="{FF2B5EF4-FFF2-40B4-BE49-F238E27FC236}">
                <a16:creationId xmlns:a16="http://schemas.microsoft.com/office/drawing/2014/main" id="{AE017D51-1E77-4946-968A-563C634CF9FD}"/>
              </a:ext>
            </a:extLst>
          </p:cNvPr>
          <p:cNvSpPr/>
          <p:nvPr/>
        </p:nvSpPr>
        <p:spPr>
          <a:xfrm>
            <a:off x="3779912" y="6228184"/>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1" name="Rectangle: Rounded Corners 20">
            <a:extLst>
              <a:ext uri="{FF2B5EF4-FFF2-40B4-BE49-F238E27FC236}">
                <a16:creationId xmlns:a16="http://schemas.microsoft.com/office/drawing/2014/main" id="{D8DAB60B-AC39-4921-93EF-AA58232B117E}"/>
              </a:ext>
            </a:extLst>
          </p:cNvPr>
          <p:cNvSpPr/>
          <p:nvPr/>
        </p:nvSpPr>
        <p:spPr>
          <a:xfrm>
            <a:off x="1258996" y="1345141"/>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22" name="Rectangle: Rounded Corners 21">
            <a:extLst>
              <a:ext uri="{FF2B5EF4-FFF2-40B4-BE49-F238E27FC236}">
                <a16:creationId xmlns:a16="http://schemas.microsoft.com/office/drawing/2014/main" id="{5F607E95-35EA-4EF7-B595-BB9ECA2C510D}"/>
              </a:ext>
            </a:extLst>
          </p:cNvPr>
          <p:cNvSpPr/>
          <p:nvPr/>
        </p:nvSpPr>
        <p:spPr>
          <a:xfrm>
            <a:off x="1755008" y="1345141"/>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a:t>
            </a:r>
            <a:r>
              <a:rPr lang="en-US" sz="1050" dirty="0" err="1"/>
              <a:t>priv</a:t>
            </a:r>
            <a:endParaRPr lang="cs-CZ" sz="1050" dirty="0"/>
          </a:p>
        </p:txBody>
      </p:sp>
      <p:sp>
        <p:nvSpPr>
          <p:cNvPr id="23" name="Rectangle: Rounded Corners 22">
            <a:extLst>
              <a:ext uri="{FF2B5EF4-FFF2-40B4-BE49-F238E27FC236}">
                <a16:creationId xmlns:a16="http://schemas.microsoft.com/office/drawing/2014/main" id="{7D773068-CFCF-455A-BB2C-5B6F19D94A67}"/>
              </a:ext>
            </a:extLst>
          </p:cNvPr>
          <p:cNvSpPr/>
          <p:nvPr/>
        </p:nvSpPr>
        <p:spPr>
          <a:xfrm>
            <a:off x="4771597"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r>
              <a:rPr lang="en-US" sz="1050" dirty="0"/>
              <a:t>#</a:t>
            </a:r>
            <a:endParaRPr lang="cs-CZ" sz="1050" dirty="0"/>
          </a:p>
        </p:txBody>
      </p:sp>
      <p:sp>
        <p:nvSpPr>
          <p:cNvPr id="24" name="Rectangle: Rounded Corners 23">
            <a:extLst>
              <a:ext uri="{FF2B5EF4-FFF2-40B4-BE49-F238E27FC236}">
                <a16:creationId xmlns:a16="http://schemas.microsoft.com/office/drawing/2014/main" id="{4F94C04B-2586-4407-B697-429A6A5CA876}"/>
              </a:ext>
            </a:extLst>
          </p:cNvPr>
          <p:cNvSpPr/>
          <p:nvPr/>
        </p:nvSpPr>
        <p:spPr>
          <a:xfrm>
            <a:off x="5267609"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pub</a:t>
            </a:r>
            <a:endParaRPr lang="cs-CZ" sz="1050" dirty="0"/>
          </a:p>
        </p:txBody>
      </p:sp>
      <p:sp>
        <p:nvSpPr>
          <p:cNvPr id="25"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7" name="Rectangle: Rounded Corners 7">
            <a:extLst>
              <a:ext uri="{FF2B5EF4-FFF2-40B4-BE49-F238E27FC236}">
                <a16:creationId xmlns:a16="http://schemas.microsoft.com/office/drawing/2014/main" id="{C5702751-EE72-47A2-8AA6-F2087EFE6994}"/>
              </a:ext>
            </a:extLst>
          </p:cNvPr>
          <p:cNvSpPr/>
          <p:nvPr/>
        </p:nvSpPr>
        <p:spPr>
          <a:xfrm>
            <a:off x="442284" y="3659027"/>
            <a:ext cx="1825461"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nothing</a:t>
            </a:r>
            <a:endParaRPr lang="cs-CZ" sz="1050" dirty="0"/>
          </a:p>
        </p:txBody>
      </p:sp>
    </p:spTree>
    <p:extLst>
      <p:ext uri="{BB962C8B-B14F-4D97-AF65-F5344CB8AC3E}">
        <p14:creationId xmlns:p14="http://schemas.microsoft.com/office/powerpoint/2010/main" val="4125329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with pre-authentication</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8" name="Rectangle: Rounded Corners 7">
            <a:extLst>
              <a:ext uri="{FF2B5EF4-FFF2-40B4-BE49-F238E27FC236}">
                <a16:creationId xmlns:a16="http://schemas.microsoft.com/office/drawing/2014/main" id="{C5702751-EE72-47A2-8AA6-F2087EFE6994}"/>
              </a:ext>
            </a:extLst>
          </p:cNvPr>
          <p:cNvSpPr/>
          <p:nvPr/>
        </p:nvSpPr>
        <p:spPr>
          <a:xfrm>
            <a:off x="442284" y="3659027"/>
            <a:ext cx="1825461"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primary credentials</a:t>
            </a:r>
            <a:endParaRPr lang="cs-CZ" sz="1050" dirty="0"/>
          </a:p>
        </p:txBody>
      </p:sp>
      <p:sp>
        <p:nvSpPr>
          <p:cNvPr id="9" name="Rectangle: Rounded Corners 8">
            <a:extLst>
              <a:ext uri="{FF2B5EF4-FFF2-40B4-BE49-F238E27FC236}">
                <a16:creationId xmlns:a16="http://schemas.microsoft.com/office/drawing/2014/main" id="{1BD8123C-0A67-464D-915C-33DA26243677}"/>
              </a:ext>
            </a:extLst>
          </p:cNvPr>
          <p:cNvSpPr/>
          <p:nvPr/>
        </p:nvSpPr>
        <p:spPr>
          <a:xfrm>
            <a:off x="442284" y="4095336"/>
            <a:ext cx="1825459"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1050" dirty="0"/>
              <a:t>RC4-pwd#</a:t>
            </a:r>
            <a:endParaRPr lang="cs-CZ" sz="1050" dirty="0"/>
          </a:p>
        </p:txBody>
      </p:sp>
      <p:sp>
        <p:nvSpPr>
          <p:cNvPr id="10" name="Rectangle: Rounded Corners 9">
            <a:extLst>
              <a:ext uri="{FF2B5EF4-FFF2-40B4-BE49-F238E27FC236}">
                <a16:creationId xmlns:a16="http://schemas.microsoft.com/office/drawing/2014/main" id="{07A1602E-F7A9-4B81-BB9B-B7CE410B3235}"/>
              </a:ext>
            </a:extLst>
          </p:cNvPr>
          <p:cNvSpPr/>
          <p:nvPr/>
        </p:nvSpPr>
        <p:spPr>
          <a:xfrm>
            <a:off x="441268" y="4967261"/>
            <a:ext cx="1825459"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1050" dirty="0"/>
              <a:t>cert-</a:t>
            </a:r>
            <a:r>
              <a:rPr lang="en-US" sz="1050" dirty="0" err="1"/>
              <a:t>priv</a:t>
            </a:r>
            <a:r>
              <a:rPr lang="en-US" sz="1050" dirty="0"/>
              <a:t>-sig</a:t>
            </a:r>
            <a:endParaRPr lang="cs-CZ" sz="1050" dirty="0"/>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8" name="Rectangle: Rounded Corners 8">
            <a:extLst>
              <a:ext uri="{FF2B5EF4-FFF2-40B4-BE49-F238E27FC236}">
                <a16:creationId xmlns:a16="http://schemas.microsoft.com/office/drawing/2014/main" id="{1BD8123C-0A67-464D-915C-33DA26243677}"/>
              </a:ext>
            </a:extLst>
          </p:cNvPr>
          <p:cNvSpPr/>
          <p:nvPr/>
        </p:nvSpPr>
        <p:spPr>
          <a:xfrm>
            <a:off x="1331640" y="4173383"/>
            <a:ext cx="845425" cy="2762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timestamp</a:t>
            </a:r>
            <a:endParaRPr lang="cs-CZ" sz="1050" dirty="0"/>
          </a:p>
        </p:txBody>
      </p:sp>
      <p:sp>
        <p:nvSpPr>
          <p:cNvPr id="19" name="Rectangle: Rounded Corners 8">
            <a:extLst>
              <a:ext uri="{FF2B5EF4-FFF2-40B4-BE49-F238E27FC236}">
                <a16:creationId xmlns:a16="http://schemas.microsoft.com/office/drawing/2014/main" id="{1BD8123C-0A67-464D-915C-33DA26243677}"/>
              </a:ext>
            </a:extLst>
          </p:cNvPr>
          <p:cNvSpPr/>
          <p:nvPr/>
        </p:nvSpPr>
        <p:spPr>
          <a:xfrm>
            <a:off x="1336872" y="5044968"/>
            <a:ext cx="845425" cy="2762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timestamp</a:t>
            </a:r>
            <a:endParaRPr lang="cs-CZ" sz="1050" dirty="0"/>
          </a:p>
        </p:txBody>
      </p:sp>
      <p:sp>
        <p:nvSpPr>
          <p:cNvPr id="20" name="Rectangle: Rounded Corners 17">
            <a:extLst>
              <a:ext uri="{FF2B5EF4-FFF2-40B4-BE49-F238E27FC236}">
                <a16:creationId xmlns:a16="http://schemas.microsoft.com/office/drawing/2014/main" id="{D292242B-5C84-4A7D-A2C2-9B3A0252138A}"/>
              </a:ext>
            </a:extLst>
          </p:cNvPr>
          <p:cNvSpPr/>
          <p:nvPr/>
        </p:nvSpPr>
        <p:spPr>
          <a:xfrm>
            <a:off x="2495263" y="3501008"/>
            <a:ext cx="1671898" cy="936104"/>
          </a:xfrm>
          <a:prstGeom prst="roundRect">
            <a:avLst>
              <a:gd name="adj" fmla="val 7939"/>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050" dirty="0"/>
              <a:t>encrypted by user's primary credentials</a:t>
            </a:r>
            <a:endParaRPr lang="cs-CZ" sz="1050" dirty="0"/>
          </a:p>
        </p:txBody>
      </p:sp>
      <p:sp>
        <p:nvSpPr>
          <p:cNvPr id="21"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22"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24" name="Rectangle: Rounded Corners 19">
            <a:extLst>
              <a:ext uri="{FF2B5EF4-FFF2-40B4-BE49-F238E27FC236}">
                <a16:creationId xmlns:a16="http://schemas.microsoft.com/office/drawing/2014/main" id="{AE017D51-1E77-4946-968A-563C634CF9FD}"/>
              </a:ext>
            </a:extLst>
          </p:cNvPr>
          <p:cNvSpPr/>
          <p:nvPr/>
        </p:nvSpPr>
        <p:spPr>
          <a:xfrm>
            <a:off x="3779912" y="6228184"/>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5" name="Rectangle: Rounded Corners 22">
            <a:extLst>
              <a:ext uri="{FF2B5EF4-FFF2-40B4-BE49-F238E27FC236}">
                <a16:creationId xmlns:a16="http://schemas.microsoft.com/office/drawing/2014/main" id="{7D773068-CFCF-455A-BB2C-5B6F19D94A67}"/>
              </a:ext>
            </a:extLst>
          </p:cNvPr>
          <p:cNvSpPr/>
          <p:nvPr/>
        </p:nvSpPr>
        <p:spPr>
          <a:xfrm>
            <a:off x="4771597"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r>
              <a:rPr lang="en-US" sz="1050" dirty="0"/>
              <a:t>#</a:t>
            </a:r>
            <a:endParaRPr lang="cs-CZ" sz="1050" dirty="0"/>
          </a:p>
        </p:txBody>
      </p:sp>
      <p:sp>
        <p:nvSpPr>
          <p:cNvPr id="26" name="Rectangle: Rounded Corners 23">
            <a:extLst>
              <a:ext uri="{FF2B5EF4-FFF2-40B4-BE49-F238E27FC236}">
                <a16:creationId xmlns:a16="http://schemas.microsoft.com/office/drawing/2014/main" id="{4F94C04B-2586-4407-B697-429A6A5CA876}"/>
              </a:ext>
            </a:extLst>
          </p:cNvPr>
          <p:cNvSpPr/>
          <p:nvPr/>
        </p:nvSpPr>
        <p:spPr>
          <a:xfrm>
            <a:off x="5267609"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pub</a:t>
            </a:r>
            <a:endParaRPr lang="cs-CZ" sz="1050" dirty="0"/>
          </a:p>
        </p:txBody>
      </p:sp>
      <p:sp>
        <p:nvSpPr>
          <p:cNvPr id="27" name="Rectangle: Rounded Corners 8">
            <a:extLst>
              <a:ext uri="{FF2B5EF4-FFF2-40B4-BE49-F238E27FC236}">
                <a16:creationId xmlns:a16="http://schemas.microsoft.com/office/drawing/2014/main" id="{1BD8123C-0A67-464D-915C-33DA26243677}"/>
              </a:ext>
            </a:extLst>
          </p:cNvPr>
          <p:cNvSpPr/>
          <p:nvPr/>
        </p:nvSpPr>
        <p:spPr>
          <a:xfrm>
            <a:off x="441268" y="4535213"/>
            <a:ext cx="1825459"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1050" dirty="0"/>
              <a:t>AES-</a:t>
            </a:r>
            <a:r>
              <a:rPr lang="en-US" sz="1050" dirty="0" err="1"/>
              <a:t>pwd</a:t>
            </a:r>
            <a:r>
              <a:rPr lang="en-US" sz="1050" dirty="0"/>
              <a:t>#</a:t>
            </a:r>
            <a:endParaRPr lang="cs-CZ" sz="1050" dirty="0"/>
          </a:p>
        </p:txBody>
      </p:sp>
      <p:sp>
        <p:nvSpPr>
          <p:cNvPr id="28" name="Rectangle: Rounded Corners 8">
            <a:extLst>
              <a:ext uri="{FF2B5EF4-FFF2-40B4-BE49-F238E27FC236}">
                <a16:creationId xmlns:a16="http://schemas.microsoft.com/office/drawing/2014/main" id="{1BD8123C-0A67-464D-915C-33DA26243677}"/>
              </a:ext>
            </a:extLst>
          </p:cNvPr>
          <p:cNvSpPr/>
          <p:nvPr/>
        </p:nvSpPr>
        <p:spPr>
          <a:xfrm>
            <a:off x="1330624" y="4613260"/>
            <a:ext cx="845425" cy="2762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timestamp</a:t>
            </a:r>
            <a:endParaRPr lang="cs-CZ" sz="1050" dirty="0"/>
          </a:p>
        </p:txBody>
      </p:sp>
      <p:sp>
        <p:nvSpPr>
          <p:cNvPr id="29" name="Rectangle: Rounded Corners 18">
            <a:extLst>
              <a:ext uri="{FF2B5EF4-FFF2-40B4-BE49-F238E27FC236}">
                <a16:creationId xmlns:a16="http://schemas.microsoft.com/office/drawing/2014/main" id="{077574D6-7FDA-457A-B6AD-3BFE46A10F2F}"/>
              </a:ext>
            </a:extLst>
          </p:cNvPr>
          <p:cNvSpPr/>
          <p:nvPr/>
        </p:nvSpPr>
        <p:spPr>
          <a:xfrm>
            <a:off x="267311" y="1345141"/>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30" name="Rectangle: Rounded Corners 20">
            <a:extLst>
              <a:ext uri="{FF2B5EF4-FFF2-40B4-BE49-F238E27FC236}">
                <a16:creationId xmlns:a16="http://schemas.microsoft.com/office/drawing/2014/main" id="{D8DAB60B-AC39-4921-93EF-AA58232B117E}"/>
              </a:ext>
            </a:extLst>
          </p:cNvPr>
          <p:cNvSpPr/>
          <p:nvPr/>
        </p:nvSpPr>
        <p:spPr>
          <a:xfrm>
            <a:off x="1258996" y="1345141"/>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31" name="Rectangle: Rounded Corners 21">
            <a:extLst>
              <a:ext uri="{FF2B5EF4-FFF2-40B4-BE49-F238E27FC236}">
                <a16:creationId xmlns:a16="http://schemas.microsoft.com/office/drawing/2014/main" id="{5F607E95-35EA-4EF7-B595-BB9ECA2C510D}"/>
              </a:ext>
            </a:extLst>
          </p:cNvPr>
          <p:cNvSpPr/>
          <p:nvPr/>
        </p:nvSpPr>
        <p:spPr>
          <a:xfrm>
            <a:off x="1755008" y="1345141"/>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a:t>
            </a:r>
            <a:r>
              <a:rPr lang="en-US" sz="1050" dirty="0" err="1"/>
              <a:t>priv</a:t>
            </a:r>
            <a:endParaRPr lang="cs-CZ" sz="1050" dirty="0"/>
          </a:p>
        </p:txBody>
      </p:sp>
    </p:spTree>
    <p:extLst>
      <p:ext uri="{BB962C8B-B14F-4D97-AF65-F5344CB8AC3E}">
        <p14:creationId xmlns:p14="http://schemas.microsoft.com/office/powerpoint/2010/main" val="3469316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197768"/>
            <a:ext cx="8229600" cy="782960"/>
          </a:xfrm>
        </p:spPr>
        <p:txBody>
          <a:bodyPr>
            <a:normAutofit/>
          </a:bodyPr>
          <a:lstStyle/>
          <a:p>
            <a:r>
              <a:rPr lang="en-US" sz="2000" dirty="0">
                <a:solidFill>
                  <a:schemeClr val="accent1"/>
                </a:solidFill>
              </a:rPr>
              <a:t>Incorrect password </a:t>
            </a:r>
            <a:r>
              <a:rPr lang="en-US" sz="2000" dirty="0"/>
              <a:t>failure audit on DC with pre-authentication enabled</a:t>
            </a:r>
            <a:endParaRPr lang="cs-CZ" sz="2000" dirty="0"/>
          </a:p>
        </p:txBody>
      </p:sp>
      <p:sp>
        <p:nvSpPr>
          <p:cNvPr id="7" name="Content Placeholder 6">
            <a:extLst>
              <a:ext uri="{FF2B5EF4-FFF2-40B4-BE49-F238E27FC236}">
                <a16:creationId xmlns:a16="http://schemas.microsoft.com/office/drawing/2014/main" id="{2078D3CE-9BE6-4670-803B-4F5E09D2140A}"/>
              </a:ext>
            </a:extLst>
          </p:cNvPr>
          <p:cNvSpPr>
            <a:spLocks noGrp="1"/>
          </p:cNvSpPr>
          <p:nvPr>
            <p:ph idx="1"/>
          </p:nvPr>
        </p:nvSpPr>
        <p:spPr>
          <a:xfrm>
            <a:off x="457200" y="1052736"/>
            <a:ext cx="8229600" cy="5184576"/>
          </a:xfrm>
        </p:spPr>
        <p:txBody>
          <a:bodyPr>
            <a:normAutofit/>
          </a:bodyPr>
          <a:lstStyle/>
          <a:p>
            <a:pPr marL="0" indent="0">
              <a:buNone/>
            </a:pPr>
            <a:r>
              <a:rPr lang="en-US" sz="1200" dirty="0">
                <a:latin typeface="Courier New" panose="02070309020205020404" pitchFamily="49" charset="0"/>
                <a:cs typeface="Courier New" panose="02070309020205020404" pitchFamily="49" charset="0"/>
              </a:rPr>
              <a:t>log: Security</a:t>
            </a:r>
          </a:p>
          <a:p>
            <a:pPr marL="0" indent="0">
              <a:buNone/>
            </a:pPr>
            <a:r>
              <a:rPr lang="en-US" sz="1200" dirty="0">
                <a:latin typeface="Courier New" panose="02070309020205020404" pitchFamily="49" charset="0"/>
                <a:cs typeface="Courier New" panose="02070309020205020404" pitchFamily="49" charset="0"/>
              </a:rPr>
              <a:t>source: Microsoft Windows Security Auditing.</a:t>
            </a:r>
          </a:p>
          <a:p>
            <a:pPr marL="0" indent="0">
              <a:buNone/>
            </a:pPr>
            <a:r>
              <a:rPr lang="en-US" sz="1200" dirty="0">
                <a:latin typeface="Courier New" panose="02070309020205020404" pitchFamily="49" charset="0"/>
                <a:cs typeface="Courier New" panose="02070309020205020404" pitchFamily="49" charset="0"/>
              </a:rPr>
              <a:t>event id: 4771</a:t>
            </a:r>
          </a:p>
          <a:p>
            <a:pPr marL="0" indent="0">
              <a:buNone/>
            </a:pPr>
            <a:r>
              <a:rPr lang="en-US" sz="1200" dirty="0">
                <a:latin typeface="Courier New" panose="02070309020205020404" pitchFamily="49" charset="0"/>
                <a:cs typeface="Courier New" panose="02070309020205020404" pitchFamily="49" charset="0"/>
              </a:rPr>
              <a:t>event type: audit failure</a:t>
            </a:r>
          </a:p>
          <a:p>
            <a:pPr marL="0" indent="0">
              <a:buNone/>
            </a:pPr>
            <a:r>
              <a:rPr lang="en-US" sz="1200" dirty="0">
                <a:latin typeface="Courier New" panose="02070309020205020404" pitchFamily="49" charset="0"/>
                <a:cs typeface="Courier New" panose="02070309020205020404" pitchFamily="49" charset="0"/>
              </a:rPr>
              <a:t>category: Kerberos Authentication Service</a:t>
            </a:r>
          </a:p>
          <a:p>
            <a:pPr marL="0" indent="0">
              <a:buNone/>
            </a:pPr>
            <a:r>
              <a:rPr lang="en-US" sz="1200" dirty="0">
                <a:latin typeface="Courier New" panose="02070309020205020404" pitchFamily="49" charset="0"/>
                <a:cs typeface="Courier New" panose="02070309020205020404" pitchFamily="49" charset="0"/>
              </a:rPr>
              <a:t>message: Kerberos pre-authentication failed. Failure code KDC_ERR_PREAUTH_FAILED</a:t>
            </a:r>
          </a:p>
          <a:p>
            <a:pPr marL="0" indent="0">
              <a:buNone/>
            </a:pPr>
            <a:endParaRPr lang="en-US" sz="1200" dirty="0">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3E10C57B-301F-4C8A-AD80-5C0F4487135E}"/>
              </a:ext>
            </a:extLst>
          </p:cNvPr>
          <p:cNvPicPr>
            <a:picLocks noChangeAspect="1"/>
          </p:cNvPicPr>
          <p:nvPr/>
        </p:nvPicPr>
        <p:blipFill>
          <a:blip r:embed="rId2"/>
          <a:stretch>
            <a:fillRect/>
          </a:stretch>
        </p:blipFill>
        <p:spPr>
          <a:xfrm>
            <a:off x="4283968" y="2555878"/>
            <a:ext cx="4860032" cy="4302121"/>
          </a:xfrm>
          <a:prstGeom prst="rect">
            <a:avLst/>
          </a:prstGeom>
        </p:spPr>
      </p:pic>
      <p:pic>
        <p:nvPicPr>
          <p:cNvPr id="9" name="Picture 8">
            <a:extLst>
              <a:ext uri="{FF2B5EF4-FFF2-40B4-BE49-F238E27FC236}">
                <a16:creationId xmlns:a16="http://schemas.microsoft.com/office/drawing/2014/main" id="{532843AE-7001-4394-89CE-069531D7F992}"/>
              </a:ext>
            </a:extLst>
          </p:cNvPr>
          <p:cNvPicPr>
            <a:picLocks noChangeAspect="1"/>
          </p:cNvPicPr>
          <p:nvPr/>
        </p:nvPicPr>
        <p:blipFill>
          <a:blip r:embed="rId3"/>
          <a:stretch>
            <a:fillRect/>
          </a:stretch>
        </p:blipFill>
        <p:spPr>
          <a:xfrm>
            <a:off x="0" y="3933056"/>
            <a:ext cx="5124450" cy="2000250"/>
          </a:xfrm>
          <a:prstGeom prst="rect">
            <a:avLst/>
          </a:prstGeom>
        </p:spPr>
      </p:pic>
    </p:spTree>
    <p:extLst>
      <p:ext uri="{BB962C8B-B14F-4D97-AF65-F5344CB8AC3E}">
        <p14:creationId xmlns:p14="http://schemas.microsoft.com/office/powerpoint/2010/main" val="1484236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a:xfrm>
            <a:off x="457200" y="197768"/>
            <a:ext cx="8229600" cy="782960"/>
          </a:xfrm>
        </p:spPr>
        <p:txBody>
          <a:bodyPr>
            <a:normAutofit fontScale="90000"/>
          </a:bodyPr>
          <a:lstStyle/>
          <a:p>
            <a:r>
              <a:rPr lang="en-US" sz="2800" dirty="0"/>
              <a:t>Ticket-granting ticket (TGT) without pre-authentication</a:t>
            </a:r>
            <a:endParaRPr lang="cs-CZ" sz="2800" dirty="0"/>
          </a:p>
        </p:txBody>
      </p:sp>
      <p:graphicFrame>
        <p:nvGraphicFramePr>
          <p:cNvPr id="3" name="Object 2">
            <a:extLst>
              <a:ext uri="{FF2B5EF4-FFF2-40B4-BE49-F238E27FC236}">
                <a16:creationId xmlns:a16="http://schemas.microsoft.com/office/drawing/2014/main" id="{63CB6FC9-8173-A6C7-91DC-7693CF5F095B}"/>
              </a:ext>
            </a:extLst>
          </p:cNvPr>
          <p:cNvGraphicFramePr>
            <a:graphicFrameLocks noChangeAspect="1"/>
          </p:cNvGraphicFramePr>
          <p:nvPr/>
        </p:nvGraphicFramePr>
        <p:xfrm>
          <a:off x="0" y="1052735"/>
          <a:ext cx="5076056" cy="5113108"/>
        </p:xfrm>
        <a:graphic>
          <a:graphicData uri="http://schemas.openxmlformats.org/presentationml/2006/ole">
            <mc:AlternateContent xmlns:mc="http://schemas.openxmlformats.org/markup-compatibility/2006">
              <mc:Choice xmlns:v="urn:schemas-microsoft-com:vml" Requires="v">
                <p:oleObj r:id="rId2" imgW="3914640" imgH="3943440" progId="">
                  <p:embed/>
                </p:oleObj>
              </mc:Choice>
              <mc:Fallback>
                <p:oleObj r:id="rId2" imgW="3914640" imgH="3943440" progId="">
                  <p:embed/>
                  <p:pic>
                    <p:nvPicPr>
                      <p:cNvPr id="3" name="Object 2">
                        <a:extLst>
                          <a:ext uri="{FF2B5EF4-FFF2-40B4-BE49-F238E27FC236}">
                            <a16:creationId xmlns:a16="http://schemas.microsoft.com/office/drawing/2014/main" id="{63CB6FC9-8173-A6C7-91DC-7693CF5F095B}"/>
                          </a:ext>
                        </a:extLst>
                      </p:cNvPr>
                      <p:cNvPicPr/>
                      <p:nvPr/>
                    </p:nvPicPr>
                    <p:blipFill>
                      <a:blip r:embed="rId3"/>
                      <a:stretch>
                        <a:fillRect/>
                      </a:stretch>
                    </p:blipFill>
                    <p:spPr>
                      <a:xfrm>
                        <a:off x="0" y="1052735"/>
                        <a:ext cx="5076056" cy="511310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E6C2897-2355-0DBC-ADAD-73F4B24AB911}"/>
              </a:ext>
            </a:extLst>
          </p:cNvPr>
          <p:cNvGraphicFramePr>
            <a:graphicFrameLocks noChangeAspect="1"/>
          </p:cNvGraphicFramePr>
          <p:nvPr/>
        </p:nvGraphicFramePr>
        <p:xfrm>
          <a:off x="3602397" y="2348880"/>
          <a:ext cx="5537035" cy="4509120"/>
        </p:xfrm>
        <a:graphic>
          <a:graphicData uri="http://schemas.openxmlformats.org/presentationml/2006/ole">
            <mc:AlternateContent xmlns:mc="http://schemas.openxmlformats.org/markup-compatibility/2006">
              <mc:Choice xmlns:v="urn:schemas-microsoft-com:vml" Requires="v">
                <p:oleObj r:id="rId4" imgW="3848040" imgH="3133800" progId="">
                  <p:embed/>
                </p:oleObj>
              </mc:Choice>
              <mc:Fallback>
                <p:oleObj r:id="rId4" imgW="3848040" imgH="3133800" progId="">
                  <p:embed/>
                  <p:pic>
                    <p:nvPicPr>
                      <p:cNvPr id="5" name="Object 4">
                        <a:extLst>
                          <a:ext uri="{FF2B5EF4-FFF2-40B4-BE49-F238E27FC236}">
                            <a16:creationId xmlns:a16="http://schemas.microsoft.com/office/drawing/2014/main" id="{5E6C2897-2355-0DBC-ADAD-73F4B24AB911}"/>
                          </a:ext>
                        </a:extLst>
                      </p:cNvPr>
                      <p:cNvPicPr/>
                      <p:nvPr/>
                    </p:nvPicPr>
                    <p:blipFill>
                      <a:blip r:embed="rId5"/>
                      <a:stretch>
                        <a:fillRect/>
                      </a:stretch>
                    </p:blipFill>
                    <p:spPr>
                      <a:xfrm>
                        <a:off x="3602397" y="2348880"/>
                        <a:ext cx="5537035" cy="4509120"/>
                      </a:xfrm>
                      <a:prstGeom prst="rect">
                        <a:avLst/>
                      </a:prstGeom>
                    </p:spPr>
                  </p:pic>
                </p:oleObj>
              </mc:Fallback>
            </mc:AlternateContent>
          </a:graphicData>
        </a:graphic>
      </p:graphicFrame>
    </p:spTree>
    <p:extLst>
      <p:ext uri="{BB962C8B-B14F-4D97-AF65-F5344CB8AC3E}">
        <p14:creationId xmlns:p14="http://schemas.microsoft.com/office/powerpoint/2010/main" val="2293305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688E4F1-AAAB-4C48-94FA-6D0A4A267789}"/>
              </a:ext>
            </a:extLst>
          </p:cNvPr>
          <p:cNvSpPr/>
          <p:nvPr/>
        </p:nvSpPr>
        <p:spPr>
          <a:xfrm>
            <a:off x="2753239" y="5642992"/>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27" name="Rectangle 26">
            <a:extLst>
              <a:ext uri="{FF2B5EF4-FFF2-40B4-BE49-F238E27FC236}">
                <a16:creationId xmlns:a16="http://schemas.microsoft.com/office/drawing/2014/main" id="{518AAA52-9363-44E0-947F-3A8D3471B516}"/>
              </a:ext>
            </a:extLst>
          </p:cNvPr>
          <p:cNvSpPr/>
          <p:nvPr/>
        </p:nvSpPr>
        <p:spPr>
          <a:xfrm>
            <a:off x="2915816" y="5373216"/>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25" name="Rectangle: Rounded Corners 24">
            <a:extLst>
              <a:ext uri="{FF2B5EF4-FFF2-40B4-BE49-F238E27FC236}">
                <a16:creationId xmlns:a16="http://schemas.microsoft.com/office/drawing/2014/main" id="{A43486BC-8D2D-43CD-A647-190229E847AF}"/>
              </a:ext>
            </a:extLst>
          </p:cNvPr>
          <p:cNvSpPr/>
          <p:nvPr/>
        </p:nvSpPr>
        <p:spPr>
          <a:xfrm>
            <a:off x="2655325" y="3320988"/>
            <a:ext cx="1844667" cy="1404156"/>
          </a:xfrm>
          <a:prstGeom prst="roundRect">
            <a:avLst>
              <a:gd name="adj" fmla="val 7939"/>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r"/>
            <a:r>
              <a:rPr lang="en-US" sz="1050" dirty="0" err="1"/>
              <a:t>krbtgt</a:t>
            </a:r>
            <a:r>
              <a:rPr lang="en-US" sz="1050" dirty="0"/>
              <a:t> encrypted</a:t>
            </a:r>
            <a:endParaRPr lang="cs-CZ" sz="1050" dirty="0"/>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92589" y="3687048"/>
            <a:ext cx="3131937"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8" name="Rectangle: Rounded Corners 17">
            <a:extLst>
              <a:ext uri="{FF2B5EF4-FFF2-40B4-BE49-F238E27FC236}">
                <a16:creationId xmlns:a16="http://schemas.microsoft.com/office/drawing/2014/main" id="{D292242B-5C84-4A7D-A2C2-9B3A0252138A}"/>
              </a:ext>
            </a:extLst>
          </p:cNvPr>
          <p:cNvSpPr/>
          <p:nvPr/>
        </p:nvSpPr>
        <p:spPr>
          <a:xfrm>
            <a:off x="2495263" y="3501008"/>
            <a:ext cx="1671898" cy="936104"/>
          </a:xfrm>
          <a:prstGeom prst="roundRect">
            <a:avLst>
              <a:gd name="adj" fmla="val 7939"/>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050" dirty="0"/>
              <a:t>encrypted by user's primary credentials</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solidFill>
                  <a:schemeClr val="accent1"/>
                </a:solidFill>
              </a:rPr>
              <a:t>KRBTGT</a:t>
            </a:r>
            <a:r>
              <a:rPr lang="en-US" dirty="0"/>
              <a:t> master key</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9" name="Rectangle: Rounded Corners 18">
            <a:extLst>
              <a:ext uri="{FF2B5EF4-FFF2-40B4-BE49-F238E27FC236}">
                <a16:creationId xmlns:a16="http://schemas.microsoft.com/office/drawing/2014/main" id="{077574D6-7FDA-457A-B6AD-3BFE46A10F2F}"/>
              </a:ext>
            </a:extLst>
          </p:cNvPr>
          <p:cNvSpPr/>
          <p:nvPr/>
        </p:nvSpPr>
        <p:spPr>
          <a:xfrm>
            <a:off x="267311" y="1345141"/>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0" name="Rectangle: Rounded Corners 19">
            <a:extLst>
              <a:ext uri="{FF2B5EF4-FFF2-40B4-BE49-F238E27FC236}">
                <a16:creationId xmlns:a16="http://schemas.microsoft.com/office/drawing/2014/main" id="{AE017D51-1E77-4946-968A-563C634CF9FD}"/>
              </a:ext>
            </a:extLst>
          </p:cNvPr>
          <p:cNvSpPr/>
          <p:nvPr/>
        </p:nvSpPr>
        <p:spPr>
          <a:xfrm>
            <a:off x="3779912" y="6228184"/>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1" name="Rectangle: Rounded Corners 20">
            <a:extLst>
              <a:ext uri="{FF2B5EF4-FFF2-40B4-BE49-F238E27FC236}">
                <a16:creationId xmlns:a16="http://schemas.microsoft.com/office/drawing/2014/main" id="{D8DAB60B-AC39-4921-93EF-AA58232B117E}"/>
              </a:ext>
            </a:extLst>
          </p:cNvPr>
          <p:cNvSpPr/>
          <p:nvPr/>
        </p:nvSpPr>
        <p:spPr>
          <a:xfrm>
            <a:off x="1258996" y="1345141"/>
            <a:ext cx="495672"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err="1">
                <a:solidFill>
                  <a:schemeClr val="bg1"/>
                </a:solidFill>
              </a:rPr>
              <a:t>pwd</a:t>
            </a:r>
            <a:endParaRPr lang="cs-CZ" sz="1050" dirty="0">
              <a:solidFill>
                <a:schemeClr val="bg1"/>
              </a:solidFill>
            </a:endParaRPr>
          </a:p>
        </p:txBody>
      </p:sp>
      <p:sp>
        <p:nvSpPr>
          <p:cNvPr id="22" name="Rectangle: Rounded Corners 21">
            <a:extLst>
              <a:ext uri="{FF2B5EF4-FFF2-40B4-BE49-F238E27FC236}">
                <a16:creationId xmlns:a16="http://schemas.microsoft.com/office/drawing/2014/main" id="{5F607E95-35EA-4EF7-B595-BB9ECA2C510D}"/>
              </a:ext>
            </a:extLst>
          </p:cNvPr>
          <p:cNvSpPr/>
          <p:nvPr/>
        </p:nvSpPr>
        <p:spPr>
          <a:xfrm>
            <a:off x="1755008" y="1345141"/>
            <a:ext cx="495672"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bg1"/>
                </a:solidFill>
              </a:rPr>
              <a:t>cert </a:t>
            </a:r>
            <a:r>
              <a:rPr lang="en-US" sz="1050" dirty="0" err="1">
                <a:solidFill>
                  <a:schemeClr val="bg1"/>
                </a:solidFill>
              </a:rPr>
              <a:t>priv</a:t>
            </a:r>
            <a:endParaRPr lang="cs-CZ" sz="1050" dirty="0">
              <a:solidFill>
                <a:schemeClr val="bg1"/>
              </a:solidFill>
            </a:endParaRPr>
          </a:p>
        </p:txBody>
      </p:sp>
      <p:sp>
        <p:nvSpPr>
          <p:cNvPr id="23" name="Rectangle: Rounded Corners 22">
            <a:extLst>
              <a:ext uri="{FF2B5EF4-FFF2-40B4-BE49-F238E27FC236}">
                <a16:creationId xmlns:a16="http://schemas.microsoft.com/office/drawing/2014/main" id="{7D773068-CFCF-455A-BB2C-5B6F19D94A67}"/>
              </a:ext>
            </a:extLst>
          </p:cNvPr>
          <p:cNvSpPr/>
          <p:nvPr/>
        </p:nvSpPr>
        <p:spPr>
          <a:xfrm>
            <a:off x="4771597"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r>
              <a:rPr lang="en-US" sz="1050" dirty="0"/>
              <a:t>#</a:t>
            </a:r>
            <a:endParaRPr lang="cs-CZ" sz="1050" dirty="0"/>
          </a:p>
        </p:txBody>
      </p:sp>
      <p:sp>
        <p:nvSpPr>
          <p:cNvPr id="24" name="Rectangle: Rounded Corners 23">
            <a:extLst>
              <a:ext uri="{FF2B5EF4-FFF2-40B4-BE49-F238E27FC236}">
                <a16:creationId xmlns:a16="http://schemas.microsoft.com/office/drawing/2014/main" id="{4F94C04B-2586-4407-B697-429A6A5CA876}"/>
              </a:ext>
            </a:extLst>
          </p:cNvPr>
          <p:cNvSpPr/>
          <p:nvPr/>
        </p:nvSpPr>
        <p:spPr>
          <a:xfrm>
            <a:off x="5267609"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pub</a:t>
            </a:r>
            <a:endParaRPr lang="cs-CZ" sz="1050" dirty="0"/>
          </a:p>
        </p:txBody>
      </p:sp>
      <p:sp>
        <p:nvSpPr>
          <p:cNvPr id="26" name="Rectangle: Rounded Corners 25">
            <a:extLst>
              <a:ext uri="{FF2B5EF4-FFF2-40B4-BE49-F238E27FC236}">
                <a16:creationId xmlns:a16="http://schemas.microsoft.com/office/drawing/2014/main" id="{AEE1324D-A9BF-4C19-8913-22E2F4BFB84C}"/>
              </a:ext>
            </a:extLst>
          </p:cNvPr>
          <p:cNvSpPr/>
          <p:nvPr/>
        </p:nvSpPr>
        <p:spPr>
          <a:xfrm>
            <a:off x="3779912" y="5724095"/>
            <a:ext cx="145301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err="1"/>
              <a:t>krbtgt</a:t>
            </a:r>
            <a:r>
              <a:rPr lang="en-US" sz="1050" dirty="0"/>
              <a:t> key</a:t>
            </a:r>
            <a:endParaRPr lang="cs-CZ" sz="1050" dirty="0"/>
          </a:p>
        </p:txBody>
      </p:sp>
    </p:spTree>
    <p:extLst>
      <p:ext uri="{BB962C8B-B14F-4D97-AF65-F5344CB8AC3E}">
        <p14:creationId xmlns:p14="http://schemas.microsoft.com/office/powerpoint/2010/main" val="414286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1677C-20C7-A76B-6F53-B75FEA60191C}"/>
              </a:ext>
            </a:extLst>
          </p:cNvPr>
          <p:cNvSpPr>
            <a:spLocks noGrp="1"/>
          </p:cNvSpPr>
          <p:nvPr>
            <p:ph type="title"/>
          </p:nvPr>
        </p:nvSpPr>
        <p:spPr/>
        <p:txBody>
          <a:bodyPr/>
          <a:lstStyle/>
          <a:p>
            <a:r>
              <a:rPr lang="en-US" dirty="0"/>
              <a:t>KRBTGT "account" (holder of the KDC secret key)</a:t>
            </a:r>
          </a:p>
        </p:txBody>
      </p:sp>
      <p:sp>
        <p:nvSpPr>
          <p:cNvPr id="3" name="Content Placeholder 2">
            <a:extLst>
              <a:ext uri="{FF2B5EF4-FFF2-40B4-BE49-F238E27FC236}">
                <a16:creationId xmlns:a16="http://schemas.microsoft.com/office/drawing/2014/main" id="{47DC60C4-6DE1-D68A-65C8-49AD2C8F0231}"/>
              </a:ext>
            </a:extLst>
          </p:cNvPr>
          <p:cNvSpPr>
            <a:spLocks noGrp="1"/>
          </p:cNvSpPr>
          <p:nvPr>
            <p:ph idx="1"/>
          </p:nvPr>
        </p:nvSpPr>
        <p:spPr/>
        <p:txBody>
          <a:bodyPr>
            <a:normAutofit lnSpcReduction="10000"/>
          </a:bodyPr>
          <a:lstStyle/>
          <a:p>
            <a:r>
              <a:rPr lang="en-US" dirty="0"/>
              <a:t>SID-502</a:t>
            </a:r>
          </a:p>
          <a:p>
            <a:r>
              <a:rPr lang="en-US" dirty="0"/>
              <a:t>current key + 1 previous in history</a:t>
            </a:r>
          </a:p>
          <a:p>
            <a:pPr lvl="1"/>
            <a:r>
              <a:rPr lang="en-US" dirty="0"/>
              <a:t>to keep already </a:t>
            </a:r>
            <a:r>
              <a:rPr lang="en-US" dirty="0">
                <a:solidFill>
                  <a:schemeClr val="accent5"/>
                </a:solidFill>
              </a:rPr>
              <a:t>issued TGTs valid</a:t>
            </a:r>
          </a:p>
          <a:p>
            <a:endParaRPr lang="en-US" dirty="0"/>
          </a:p>
          <a:p>
            <a:r>
              <a:rPr lang="en-US" dirty="0"/>
              <a:t>"password" does not change automatically ever</a:t>
            </a:r>
          </a:p>
          <a:p>
            <a:pPr lvl="1"/>
            <a:r>
              <a:rPr lang="en-US" dirty="0"/>
              <a:t>once during upgrade when first 2008+ DC becomes PDC in order to generate AES SHA-1 hash</a:t>
            </a:r>
          </a:p>
          <a:p>
            <a:pPr lvl="1"/>
            <a:r>
              <a:rPr lang="en-US" dirty="0">
                <a:solidFill>
                  <a:schemeClr val="accent1"/>
                </a:solidFill>
              </a:rPr>
              <a:t>recommended</a:t>
            </a:r>
            <a:r>
              <a:rPr lang="en-US" dirty="0"/>
              <a:t> to reset at least once 6 months</a:t>
            </a:r>
          </a:p>
          <a:p>
            <a:pPr lvl="1"/>
            <a:r>
              <a:rPr lang="en-US" dirty="0">
                <a:solidFill>
                  <a:schemeClr val="accent5"/>
                </a:solidFill>
              </a:rPr>
              <a:t>supported</a:t>
            </a:r>
            <a:r>
              <a:rPr lang="en-US" dirty="0"/>
              <a:t> to reset once per 8 days</a:t>
            </a:r>
          </a:p>
          <a:p>
            <a:r>
              <a:rPr lang="en-US" dirty="0"/>
              <a:t>reset operation generates </a:t>
            </a:r>
            <a:r>
              <a:rPr lang="en-US" dirty="0">
                <a:solidFill>
                  <a:schemeClr val="accent1"/>
                </a:solidFill>
              </a:rPr>
              <a:t>random key</a:t>
            </a:r>
            <a:r>
              <a:rPr lang="en-US" dirty="0"/>
              <a:t> regardless of the password supplied</a:t>
            </a:r>
          </a:p>
          <a:p>
            <a:endParaRPr lang="en-US" dirty="0"/>
          </a:p>
          <a:p>
            <a:r>
              <a:rPr lang="en-US" dirty="0">
                <a:solidFill>
                  <a:schemeClr val="accent5"/>
                </a:solidFill>
              </a:rPr>
              <a:t>normal reset </a:t>
            </a:r>
            <a:r>
              <a:rPr lang="en-US" dirty="0"/>
              <a:t>1x</a:t>
            </a:r>
          </a:p>
          <a:p>
            <a:pPr lvl="1"/>
            <a:r>
              <a:rPr lang="en-US" dirty="0"/>
              <a:t>and verify replication among DCs</a:t>
            </a:r>
          </a:p>
          <a:p>
            <a:r>
              <a:rPr lang="en-US" dirty="0">
                <a:solidFill>
                  <a:schemeClr val="accent4"/>
                </a:solidFill>
              </a:rPr>
              <a:t>forest recovery </a:t>
            </a:r>
            <a:r>
              <a:rPr lang="en-US" dirty="0"/>
              <a:t>reset 2x</a:t>
            </a:r>
          </a:p>
          <a:p>
            <a:pPr lvl="1"/>
            <a:r>
              <a:rPr lang="en-US" dirty="0"/>
              <a:t>making all already </a:t>
            </a:r>
            <a:r>
              <a:rPr lang="en-US" dirty="0">
                <a:solidFill>
                  <a:schemeClr val="accent4"/>
                </a:solidFill>
              </a:rPr>
              <a:t>issued TGTs invalid</a:t>
            </a:r>
          </a:p>
        </p:txBody>
      </p:sp>
    </p:spTree>
    <p:extLst>
      <p:ext uri="{BB962C8B-B14F-4D97-AF65-F5344CB8AC3E}">
        <p14:creationId xmlns:p14="http://schemas.microsoft.com/office/powerpoint/2010/main" val="2388222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E29B6-C7B6-D22A-8DEF-9EB891674616}"/>
              </a:ext>
            </a:extLst>
          </p:cNvPr>
          <p:cNvSpPr>
            <a:spLocks noGrp="1"/>
          </p:cNvSpPr>
          <p:nvPr>
            <p:ph type="title"/>
          </p:nvPr>
        </p:nvSpPr>
        <p:spPr/>
        <p:txBody>
          <a:bodyPr/>
          <a:lstStyle/>
          <a:p>
            <a:r>
              <a:rPr lang="en-US" dirty="0"/>
              <a:t>KRBTGT account vs. RODCs</a:t>
            </a:r>
          </a:p>
        </p:txBody>
      </p:sp>
      <p:sp>
        <p:nvSpPr>
          <p:cNvPr id="3" name="Content Placeholder 2">
            <a:extLst>
              <a:ext uri="{FF2B5EF4-FFF2-40B4-BE49-F238E27FC236}">
                <a16:creationId xmlns:a16="http://schemas.microsoft.com/office/drawing/2014/main" id="{FB900939-134D-8B1A-0C1E-9B0FC13CA9EE}"/>
              </a:ext>
            </a:extLst>
          </p:cNvPr>
          <p:cNvSpPr>
            <a:spLocks noGrp="1"/>
          </p:cNvSpPr>
          <p:nvPr>
            <p:ph idx="1"/>
          </p:nvPr>
        </p:nvSpPr>
        <p:spPr/>
        <p:txBody>
          <a:bodyPr/>
          <a:lstStyle/>
          <a:p>
            <a:r>
              <a:rPr lang="en-US" dirty="0"/>
              <a:t>KRBTGT does not replicate to RODCs</a:t>
            </a:r>
          </a:p>
          <a:p>
            <a:r>
              <a:rPr lang="en-US" dirty="0"/>
              <a:t>every RODC has its own separate KRBTGT_RND</a:t>
            </a:r>
          </a:p>
          <a:p>
            <a:pPr lvl="1"/>
            <a:r>
              <a:rPr lang="en-US" dirty="0" err="1"/>
              <a:t>msDS-KrbTgtLink</a:t>
            </a:r>
            <a:r>
              <a:rPr lang="en-US" dirty="0"/>
              <a:t> -&gt; </a:t>
            </a:r>
            <a:r>
              <a:rPr lang="en-US" dirty="0" err="1"/>
              <a:t>msDS-KrbTgtLinkBl</a:t>
            </a:r>
            <a:endParaRPr lang="en-US" dirty="0"/>
          </a:p>
          <a:p>
            <a:r>
              <a:rPr lang="en-US" dirty="0"/>
              <a:t>writable DCs know KRBTGT_RND keys</a:t>
            </a:r>
          </a:p>
          <a:p>
            <a:pPr lvl="1"/>
            <a:r>
              <a:rPr lang="en-US" dirty="0"/>
              <a:t>always resets only on a writable DC if needed</a:t>
            </a:r>
          </a:p>
          <a:p>
            <a:pPr lvl="1"/>
            <a:r>
              <a:rPr lang="en-US" dirty="0"/>
              <a:t>can validate RODC issued TGTs but not vice-versa</a:t>
            </a:r>
          </a:p>
        </p:txBody>
      </p:sp>
    </p:spTree>
    <p:extLst>
      <p:ext uri="{BB962C8B-B14F-4D97-AF65-F5344CB8AC3E}">
        <p14:creationId xmlns:p14="http://schemas.microsoft.com/office/powerpoint/2010/main" val="2227672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D5B5-07F2-4C59-B8D7-4A448CB9CDC8}"/>
              </a:ext>
            </a:extLst>
          </p:cNvPr>
          <p:cNvSpPr>
            <a:spLocks noGrp="1"/>
          </p:cNvSpPr>
          <p:nvPr>
            <p:ph type="title"/>
          </p:nvPr>
        </p:nvSpPr>
        <p:spPr/>
        <p:txBody>
          <a:bodyPr/>
          <a:lstStyle/>
          <a:p>
            <a:r>
              <a:rPr lang="en-US" dirty="0"/>
              <a:t>2x KRBTGT reset - KRB_AP_ERR_BAD_INTEGRITY</a:t>
            </a:r>
          </a:p>
        </p:txBody>
      </p:sp>
      <p:pic>
        <p:nvPicPr>
          <p:cNvPr id="5" name="Picture 4">
            <a:extLst>
              <a:ext uri="{FF2B5EF4-FFF2-40B4-BE49-F238E27FC236}">
                <a16:creationId xmlns:a16="http://schemas.microsoft.com/office/drawing/2014/main" id="{26893334-0A09-4F7A-A4C9-3364740BAD52}"/>
              </a:ext>
            </a:extLst>
          </p:cNvPr>
          <p:cNvPicPr>
            <a:picLocks noChangeAspect="1"/>
          </p:cNvPicPr>
          <p:nvPr/>
        </p:nvPicPr>
        <p:blipFill>
          <a:blip r:embed="rId2"/>
          <a:stretch>
            <a:fillRect/>
          </a:stretch>
        </p:blipFill>
        <p:spPr>
          <a:xfrm>
            <a:off x="0" y="1340768"/>
            <a:ext cx="9144000" cy="3769440"/>
          </a:xfrm>
          <a:prstGeom prst="rect">
            <a:avLst/>
          </a:prstGeom>
        </p:spPr>
      </p:pic>
    </p:spTree>
    <p:extLst>
      <p:ext uri="{BB962C8B-B14F-4D97-AF65-F5344CB8AC3E}">
        <p14:creationId xmlns:p14="http://schemas.microsoft.com/office/powerpoint/2010/main" val="3511124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D5B5-07F2-4C59-B8D7-4A448CB9CDC8}"/>
              </a:ext>
            </a:extLst>
          </p:cNvPr>
          <p:cNvSpPr>
            <a:spLocks noGrp="1"/>
          </p:cNvSpPr>
          <p:nvPr>
            <p:ph type="title"/>
          </p:nvPr>
        </p:nvSpPr>
        <p:spPr/>
        <p:txBody>
          <a:bodyPr/>
          <a:lstStyle/>
          <a:p>
            <a:r>
              <a:rPr lang="en-US" dirty="0"/>
              <a:t>2x KRBTGT reset - KRB_AP_ERR_BAD_INTEGRITY</a:t>
            </a:r>
          </a:p>
        </p:txBody>
      </p:sp>
      <p:pic>
        <p:nvPicPr>
          <p:cNvPr id="7" name="Picture 6">
            <a:extLst>
              <a:ext uri="{FF2B5EF4-FFF2-40B4-BE49-F238E27FC236}">
                <a16:creationId xmlns:a16="http://schemas.microsoft.com/office/drawing/2014/main" id="{89A2D0E8-440F-4CBC-8C97-F7651A5A4C42}"/>
              </a:ext>
            </a:extLst>
          </p:cNvPr>
          <p:cNvPicPr>
            <a:picLocks noChangeAspect="1"/>
          </p:cNvPicPr>
          <p:nvPr/>
        </p:nvPicPr>
        <p:blipFill>
          <a:blip r:embed="rId2"/>
          <a:stretch>
            <a:fillRect/>
          </a:stretch>
        </p:blipFill>
        <p:spPr>
          <a:xfrm>
            <a:off x="2771801" y="1107741"/>
            <a:ext cx="6372200" cy="5746473"/>
          </a:xfrm>
          <a:prstGeom prst="rect">
            <a:avLst/>
          </a:prstGeom>
        </p:spPr>
      </p:pic>
    </p:spTree>
    <p:extLst>
      <p:ext uri="{BB962C8B-B14F-4D97-AF65-F5344CB8AC3E}">
        <p14:creationId xmlns:p14="http://schemas.microsoft.com/office/powerpoint/2010/main" val="2068052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D06EC342-CC12-42A7-A30B-D8AC34AA1962}"/>
              </a:ext>
            </a:extLst>
          </p:cNvPr>
          <p:cNvSpPr/>
          <p:nvPr/>
        </p:nvSpPr>
        <p:spPr>
          <a:xfrm>
            <a:off x="8100392" y="1946426"/>
            <a:ext cx="936103"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service2  </a:t>
            </a:r>
            <a:r>
              <a:rPr lang="en-US" sz="1050" dirty="0" err="1"/>
              <a:t>pwd</a:t>
            </a:r>
            <a:endParaRPr lang="cs-CZ" sz="1050" dirty="0"/>
          </a:p>
        </p:txBody>
      </p:sp>
      <p:sp>
        <p:nvSpPr>
          <p:cNvPr id="25" name="Rectangle: Rounded Corners 24">
            <a:extLst>
              <a:ext uri="{FF2B5EF4-FFF2-40B4-BE49-F238E27FC236}">
                <a16:creationId xmlns:a16="http://schemas.microsoft.com/office/drawing/2014/main" id="{CA4B31B7-26D4-4CEE-BA34-05F9960100B3}"/>
              </a:ext>
            </a:extLst>
          </p:cNvPr>
          <p:cNvSpPr/>
          <p:nvPr/>
        </p:nvSpPr>
        <p:spPr>
          <a:xfrm>
            <a:off x="7399595" y="4331137"/>
            <a:ext cx="936103"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service4$ </a:t>
            </a:r>
            <a:r>
              <a:rPr lang="en-US" sz="1050" dirty="0" err="1"/>
              <a:t>pwd</a:t>
            </a:r>
            <a:endParaRPr lang="cs-CZ" sz="1050" dirty="0"/>
          </a:p>
        </p:txBody>
      </p:sp>
      <p:sp>
        <p:nvSpPr>
          <p:cNvPr id="26" name="Rectangle: Rounded Corners 25">
            <a:extLst>
              <a:ext uri="{FF2B5EF4-FFF2-40B4-BE49-F238E27FC236}">
                <a16:creationId xmlns:a16="http://schemas.microsoft.com/office/drawing/2014/main" id="{7B086281-BA55-4D55-A756-07CDC2AA52E3}"/>
              </a:ext>
            </a:extLst>
          </p:cNvPr>
          <p:cNvSpPr/>
          <p:nvPr/>
        </p:nvSpPr>
        <p:spPr>
          <a:xfrm>
            <a:off x="6638595" y="3573016"/>
            <a:ext cx="936103"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machine3$ </a:t>
            </a:r>
            <a:r>
              <a:rPr lang="en-US" sz="1050" dirty="0" err="1"/>
              <a:t>pwd</a:t>
            </a:r>
            <a:endParaRPr lang="cs-CZ" sz="1050" dirty="0"/>
          </a:p>
        </p:txBody>
      </p:sp>
      <p:sp>
        <p:nvSpPr>
          <p:cNvPr id="27" name="Rectangle: Rounded Corners 26">
            <a:extLst>
              <a:ext uri="{FF2B5EF4-FFF2-40B4-BE49-F238E27FC236}">
                <a16:creationId xmlns:a16="http://schemas.microsoft.com/office/drawing/2014/main" id="{A2EE2AFA-BF05-464D-B26E-6448EE6BEA82}"/>
              </a:ext>
            </a:extLst>
          </p:cNvPr>
          <p:cNvSpPr/>
          <p:nvPr/>
        </p:nvSpPr>
        <p:spPr>
          <a:xfrm>
            <a:off x="7750697" y="1050549"/>
            <a:ext cx="936103"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machine1$ </a:t>
            </a:r>
            <a:r>
              <a:rPr lang="en-US" sz="1050" dirty="0" err="1"/>
              <a:t>pwd</a:t>
            </a:r>
            <a:endParaRPr lang="cs-CZ" sz="1050" dirty="0"/>
          </a:p>
        </p:txBody>
      </p:sp>
      <p:sp>
        <p:nvSpPr>
          <p:cNvPr id="29" name="Rectangle: Rounded Corners 28">
            <a:extLst>
              <a:ext uri="{FF2B5EF4-FFF2-40B4-BE49-F238E27FC236}">
                <a16:creationId xmlns:a16="http://schemas.microsoft.com/office/drawing/2014/main" id="{9E54A35E-D10B-439A-B69F-0226A7923BBE}"/>
              </a:ext>
            </a:extLst>
          </p:cNvPr>
          <p:cNvSpPr/>
          <p:nvPr/>
        </p:nvSpPr>
        <p:spPr>
          <a:xfrm>
            <a:off x="3790985" y="5241597"/>
            <a:ext cx="145301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machine1$ </a:t>
            </a:r>
            <a:r>
              <a:rPr lang="en-US" sz="1050" dirty="0" err="1"/>
              <a:t>pwd</a:t>
            </a:r>
            <a:r>
              <a:rPr lang="en-US" sz="1050" dirty="0"/>
              <a:t> #</a:t>
            </a:r>
            <a:endParaRPr lang="cs-CZ" sz="1050" dirty="0"/>
          </a:p>
        </p:txBody>
      </p:sp>
      <p:sp>
        <p:nvSpPr>
          <p:cNvPr id="30" name="Rectangle: Rounded Corners 29">
            <a:extLst>
              <a:ext uri="{FF2B5EF4-FFF2-40B4-BE49-F238E27FC236}">
                <a16:creationId xmlns:a16="http://schemas.microsoft.com/office/drawing/2014/main" id="{55DC6638-4341-4457-8032-1EFB16CE45C4}"/>
              </a:ext>
            </a:extLst>
          </p:cNvPr>
          <p:cNvSpPr/>
          <p:nvPr/>
        </p:nvSpPr>
        <p:spPr>
          <a:xfrm>
            <a:off x="3839065" y="5589240"/>
            <a:ext cx="145301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service2 </a:t>
            </a:r>
            <a:r>
              <a:rPr lang="en-US" sz="1050" dirty="0" err="1"/>
              <a:t>pwd</a:t>
            </a:r>
            <a:r>
              <a:rPr lang="en-US" sz="1050" dirty="0"/>
              <a:t> #</a:t>
            </a:r>
            <a:endParaRPr lang="cs-CZ" sz="1050" dirty="0"/>
          </a:p>
        </p:txBody>
      </p:sp>
      <p:sp>
        <p:nvSpPr>
          <p:cNvPr id="31" name="Rectangle: Rounded Corners 30">
            <a:extLst>
              <a:ext uri="{FF2B5EF4-FFF2-40B4-BE49-F238E27FC236}">
                <a16:creationId xmlns:a16="http://schemas.microsoft.com/office/drawing/2014/main" id="{BD7963B1-6A16-43F3-AF60-5845F079F935}"/>
              </a:ext>
            </a:extLst>
          </p:cNvPr>
          <p:cNvSpPr/>
          <p:nvPr/>
        </p:nvSpPr>
        <p:spPr>
          <a:xfrm>
            <a:off x="3911073" y="5949280"/>
            <a:ext cx="145301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machine3$ </a:t>
            </a:r>
            <a:r>
              <a:rPr lang="en-US" sz="1050" dirty="0" err="1"/>
              <a:t>pwd</a:t>
            </a:r>
            <a:r>
              <a:rPr lang="en-US" sz="1050" dirty="0"/>
              <a:t> #</a:t>
            </a:r>
            <a:endParaRPr lang="cs-CZ" sz="1050" dirty="0"/>
          </a:p>
        </p:txBody>
      </p:sp>
      <p:sp>
        <p:nvSpPr>
          <p:cNvPr id="32" name="Rectangle: Rounded Corners 31">
            <a:extLst>
              <a:ext uri="{FF2B5EF4-FFF2-40B4-BE49-F238E27FC236}">
                <a16:creationId xmlns:a16="http://schemas.microsoft.com/office/drawing/2014/main" id="{F9AE502B-40EB-424A-9454-7C5E945A1A69}"/>
              </a:ext>
            </a:extLst>
          </p:cNvPr>
          <p:cNvSpPr/>
          <p:nvPr/>
        </p:nvSpPr>
        <p:spPr>
          <a:xfrm>
            <a:off x="3983081" y="6309320"/>
            <a:ext cx="145301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service4$ </a:t>
            </a:r>
            <a:r>
              <a:rPr lang="en-US" sz="1050" dirty="0" err="1"/>
              <a:t>pwd</a:t>
            </a:r>
            <a:r>
              <a:rPr lang="en-US" sz="1050" dirty="0"/>
              <a:t> #</a:t>
            </a:r>
            <a:endParaRPr lang="cs-CZ" sz="1050" dirty="0"/>
          </a:p>
        </p:txBody>
      </p:sp>
    </p:spTree>
    <p:extLst>
      <p:ext uri="{BB962C8B-B14F-4D97-AF65-F5344CB8AC3E}">
        <p14:creationId xmlns:p14="http://schemas.microsoft.com/office/powerpoint/2010/main" val="5447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D06EC342-CC12-42A7-A30B-D8AC34AA1962}"/>
              </a:ext>
            </a:extLst>
          </p:cNvPr>
          <p:cNvSpPr/>
          <p:nvPr/>
        </p:nvSpPr>
        <p:spPr>
          <a:xfrm>
            <a:off x="8252241" y="194642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25" name="Rectangle: Rounded Corners 24">
            <a:extLst>
              <a:ext uri="{FF2B5EF4-FFF2-40B4-BE49-F238E27FC236}">
                <a16:creationId xmlns:a16="http://schemas.microsoft.com/office/drawing/2014/main" id="{CA4B31B7-26D4-4CEE-BA34-05F9960100B3}"/>
              </a:ext>
            </a:extLst>
          </p:cNvPr>
          <p:cNvSpPr/>
          <p:nvPr/>
        </p:nvSpPr>
        <p:spPr>
          <a:xfrm>
            <a:off x="7602763" y="433113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
        <p:nvSpPr>
          <p:cNvPr id="26" name="Rectangle: Rounded Corners 25">
            <a:extLst>
              <a:ext uri="{FF2B5EF4-FFF2-40B4-BE49-F238E27FC236}">
                <a16:creationId xmlns:a16="http://schemas.microsoft.com/office/drawing/2014/main" id="{7B086281-BA55-4D55-A756-07CDC2AA52E3}"/>
              </a:ext>
            </a:extLst>
          </p:cNvPr>
          <p:cNvSpPr/>
          <p:nvPr/>
        </p:nvSpPr>
        <p:spPr>
          <a:xfrm>
            <a:off x="6841763" y="357301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27" name="Rectangle: Rounded Corners 26">
            <a:extLst>
              <a:ext uri="{FF2B5EF4-FFF2-40B4-BE49-F238E27FC236}">
                <a16:creationId xmlns:a16="http://schemas.microsoft.com/office/drawing/2014/main" id="{A2EE2AFA-BF05-464D-B26E-6448EE6BEA82}"/>
              </a:ext>
            </a:extLst>
          </p:cNvPr>
          <p:cNvSpPr/>
          <p:nvPr/>
        </p:nvSpPr>
        <p:spPr>
          <a:xfrm>
            <a:off x="7953865" y="1050549"/>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29" name="Rectangle: Rounded Corners 28">
            <a:extLst>
              <a:ext uri="{FF2B5EF4-FFF2-40B4-BE49-F238E27FC236}">
                <a16:creationId xmlns:a16="http://schemas.microsoft.com/office/drawing/2014/main" id="{9E54A35E-D10B-439A-B69F-0226A7923BBE}"/>
              </a:ext>
            </a:extLst>
          </p:cNvPr>
          <p:cNvSpPr/>
          <p:nvPr/>
        </p:nvSpPr>
        <p:spPr>
          <a:xfrm>
            <a:off x="3790985" y="524159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30" name="Rectangle: Rounded Corners 29">
            <a:extLst>
              <a:ext uri="{FF2B5EF4-FFF2-40B4-BE49-F238E27FC236}">
                <a16:creationId xmlns:a16="http://schemas.microsoft.com/office/drawing/2014/main" id="{55DC6638-4341-4457-8032-1EFB16CE45C4}"/>
              </a:ext>
            </a:extLst>
          </p:cNvPr>
          <p:cNvSpPr/>
          <p:nvPr/>
        </p:nvSpPr>
        <p:spPr>
          <a:xfrm>
            <a:off x="3839065" y="558924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31" name="Rectangle: Rounded Corners 30">
            <a:extLst>
              <a:ext uri="{FF2B5EF4-FFF2-40B4-BE49-F238E27FC236}">
                <a16:creationId xmlns:a16="http://schemas.microsoft.com/office/drawing/2014/main" id="{BD7963B1-6A16-43F3-AF60-5845F079F935}"/>
              </a:ext>
            </a:extLst>
          </p:cNvPr>
          <p:cNvSpPr/>
          <p:nvPr/>
        </p:nvSpPr>
        <p:spPr>
          <a:xfrm>
            <a:off x="3911073" y="594928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32" name="Rectangle: Rounded Corners 31">
            <a:extLst>
              <a:ext uri="{FF2B5EF4-FFF2-40B4-BE49-F238E27FC236}">
                <a16:creationId xmlns:a16="http://schemas.microsoft.com/office/drawing/2014/main" id="{F9AE502B-40EB-424A-9454-7C5E945A1A69}"/>
              </a:ext>
            </a:extLst>
          </p:cNvPr>
          <p:cNvSpPr/>
          <p:nvPr/>
        </p:nvSpPr>
        <p:spPr>
          <a:xfrm>
            <a:off x="3983081" y="630932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Tree>
    <p:extLst>
      <p:ext uri="{BB962C8B-B14F-4D97-AF65-F5344CB8AC3E}">
        <p14:creationId xmlns:p14="http://schemas.microsoft.com/office/powerpoint/2010/main" val="83451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315DF991-E61E-4ADA-925E-2AD93831740B}"/>
              </a:ext>
            </a:extLst>
          </p:cNvPr>
          <p:cNvSpPr/>
          <p:nvPr/>
        </p:nvSpPr>
        <p:spPr>
          <a:xfrm>
            <a:off x="2173790" y="2939688"/>
            <a:ext cx="2350130" cy="936104"/>
          </a:xfrm>
          <a:prstGeom prst="roundRect">
            <a:avLst>
              <a:gd name="adj" fmla="val 7939"/>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ctr"/>
            <a:r>
              <a:rPr lang="en-US" sz="1050" dirty="0"/>
              <a:t>encrypted by</a:t>
            </a:r>
            <a:br>
              <a:rPr lang="en-US" sz="1050" dirty="0"/>
            </a:br>
            <a:r>
              <a:rPr lang="en-US" sz="1050" dirty="0"/>
              <a:t>shared key 2</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4" name="Rectangle: Rounded Corners 13">
            <a:extLst>
              <a:ext uri="{FF2B5EF4-FFF2-40B4-BE49-F238E27FC236}">
                <a16:creationId xmlns:a16="http://schemas.microsoft.com/office/drawing/2014/main" id="{6C63AAF4-10EB-4695-80B5-9C653D656D3D}"/>
              </a:ext>
            </a:extLst>
          </p:cNvPr>
          <p:cNvSpPr/>
          <p:nvPr/>
        </p:nvSpPr>
        <p:spPr>
          <a:xfrm>
            <a:off x="441834"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5" name="Rectangle: Rounded Corners 14">
            <a:extLst>
              <a:ext uri="{FF2B5EF4-FFF2-40B4-BE49-F238E27FC236}">
                <a16:creationId xmlns:a16="http://schemas.microsoft.com/office/drawing/2014/main" id="{D067E46B-697B-4B1D-9FA5-C461D9BB3EDB}"/>
              </a:ext>
            </a:extLst>
          </p:cNvPr>
          <p:cNvSpPr/>
          <p:nvPr/>
        </p:nvSpPr>
        <p:spPr>
          <a:xfrm>
            <a:off x="1174769" y="393305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6" name="Rectangle: Rounded Corners 15">
            <a:extLst>
              <a:ext uri="{FF2B5EF4-FFF2-40B4-BE49-F238E27FC236}">
                <a16:creationId xmlns:a16="http://schemas.microsoft.com/office/drawing/2014/main" id="{E6BEB038-3CFD-4D30-9747-075E7979E100}"/>
              </a:ext>
            </a:extLst>
          </p:cNvPr>
          <p:cNvSpPr/>
          <p:nvPr/>
        </p:nvSpPr>
        <p:spPr>
          <a:xfrm>
            <a:off x="449517" y="3501008"/>
            <a:ext cx="1450504"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 request for service2</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1" name="Rectangle: Rounded Corners 20">
            <a:extLst>
              <a:ext uri="{FF2B5EF4-FFF2-40B4-BE49-F238E27FC236}">
                <a16:creationId xmlns:a16="http://schemas.microsoft.com/office/drawing/2014/main" id="{7A601825-DC62-4D82-A06C-12A6AE8C95C6}"/>
              </a:ext>
            </a:extLst>
          </p:cNvPr>
          <p:cNvSpPr/>
          <p:nvPr/>
        </p:nvSpPr>
        <p:spPr>
          <a:xfrm>
            <a:off x="224539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2" name="Rectangle: Rounded Corners 21">
            <a:extLst>
              <a:ext uri="{FF2B5EF4-FFF2-40B4-BE49-F238E27FC236}">
                <a16:creationId xmlns:a16="http://schemas.microsoft.com/office/drawing/2014/main" id="{3BE20DB2-217F-4AEE-8878-31DD9A6FB7B9}"/>
              </a:ext>
            </a:extLst>
          </p:cNvPr>
          <p:cNvSpPr/>
          <p:nvPr/>
        </p:nvSpPr>
        <p:spPr>
          <a:xfrm>
            <a:off x="2978330"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3" name="Rectangle: Rounded Corners 22">
            <a:extLst>
              <a:ext uri="{FF2B5EF4-FFF2-40B4-BE49-F238E27FC236}">
                <a16:creationId xmlns:a16="http://schemas.microsoft.com/office/drawing/2014/main" id="{22750550-BDBD-4DB0-8675-4FB74B372A78}"/>
              </a:ext>
            </a:extLst>
          </p:cNvPr>
          <p:cNvSpPr/>
          <p:nvPr/>
        </p:nvSpPr>
        <p:spPr>
          <a:xfrm>
            <a:off x="371126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4" name="Rectangle: Rounded Corners 23">
            <a:extLst>
              <a:ext uri="{FF2B5EF4-FFF2-40B4-BE49-F238E27FC236}">
                <a16:creationId xmlns:a16="http://schemas.microsoft.com/office/drawing/2014/main" id="{D06EC342-CC12-42A7-A30B-D8AC34AA1962}"/>
              </a:ext>
            </a:extLst>
          </p:cNvPr>
          <p:cNvSpPr/>
          <p:nvPr/>
        </p:nvSpPr>
        <p:spPr>
          <a:xfrm>
            <a:off x="8252241" y="194642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25" name="Rectangle: Rounded Corners 24">
            <a:extLst>
              <a:ext uri="{FF2B5EF4-FFF2-40B4-BE49-F238E27FC236}">
                <a16:creationId xmlns:a16="http://schemas.microsoft.com/office/drawing/2014/main" id="{CA4B31B7-26D4-4CEE-BA34-05F9960100B3}"/>
              </a:ext>
            </a:extLst>
          </p:cNvPr>
          <p:cNvSpPr/>
          <p:nvPr/>
        </p:nvSpPr>
        <p:spPr>
          <a:xfrm>
            <a:off x="7602763" y="433113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
        <p:nvSpPr>
          <p:cNvPr id="26" name="Rectangle: Rounded Corners 25">
            <a:extLst>
              <a:ext uri="{FF2B5EF4-FFF2-40B4-BE49-F238E27FC236}">
                <a16:creationId xmlns:a16="http://schemas.microsoft.com/office/drawing/2014/main" id="{7B086281-BA55-4D55-A756-07CDC2AA52E3}"/>
              </a:ext>
            </a:extLst>
          </p:cNvPr>
          <p:cNvSpPr/>
          <p:nvPr/>
        </p:nvSpPr>
        <p:spPr>
          <a:xfrm>
            <a:off x="6841763" y="357301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27" name="Rectangle: Rounded Corners 26">
            <a:extLst>
              <a:ext uri="{FF2B5EF4-FFF2-40B4-BE49-F238E27FC236}">
                <a16:creationId xmlns:a16="http://schemas.microsoft.com/office/drawing/2014/main" id="{A2EE2AFA-BF05-464D-B26E-6448EE6BEA82}"/>
              </a:ext>
            </a:extLst>
          </p:cNvPr>
          <p:cNvSpPr/>
          <p:nvPr/>
        </p:nvSpPr>
        <p:spPr>
          <a:xfrm>
            <a:off x="7953865" y="1050549"/>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29" name="Rectangle: Rounded Corners 28">
            <a:extLst>
              <a:ext uri="{FF2B5EF4-FFF2-40B4-BE49-F238E27FC236}">
                <a16:creationId xmlns:a16="http://schemas.microsoft.com/office/drawing/2014/main" id="{9E54A35E-D10B-439A-B69F-0226A7923BBE}"/>
              </a:ext>
            </a:extLst>
          </p:cNvPr>
          <p:cNvSpPr/>
          <p:nvPr/>
        </p:nvSpPr>
        <p:spPr>
          <a:xfrm>
            <a:off x="3790985" y="524159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30" name="Rectangle: Rounded Corners 29">
            <a:extLst>
              <a:ext uri="{FF2B5EF4-FFF2-40B4-BE49-F238E27FC236}">
                <a16:creationId xmlns:a16="http://schemas.microsoft.com/office/drawing/2014/main" id="{55DC6638-4341-4457-8032-1EFB16CE45C4}"/>
              </a:ext>
            </a:extLst>
          </p:cNvPr>
          <p:cNvSpPr/>
          <p:nvPr/>
        </p:nvSpPr>
        <p:spPr>
          <a:xfrm>
            <a:off x="3839065" y="558924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31" name="Rectangle: Rounded Corners 30">
            <a:extLst>
              <a:ext uri="{FF2B5EF4-FFF2-40B4-BE49-F238E27FC236}">
                <a16:creationId xmlns:a16="http://schemas.microsoft.com/office/drawing/2014/main" id="{BD7963B1-6A16-43F3-AF60-5845F079F935}"/>
              </a:ext>
            </a:extLst>
          </p:cNvPr>
          <p:cNvSpPr/>
          <p:nvPr/>
        </p:nvSpPr>
        <p:spPr>
          <a:xfrm>
            <a:off x="3911073" y="594928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32" name="Rectangle: Rounded Corners 31">
            <a:extLst>
              <a:ext uri="{FF2B5EF4-FFF2-40B4-BE49-F238E27FC236}">
                <a16:creationId xmlns:a16="http://schemas.microsoft.com/office/drawing/2014/main" id="{F9AE502B-40EB-424A-9454-7C5E945A1A69}"/>
              </a:ext>
            </a:extLst>
          </p:cNvPr>
          <p:cNvSpPr/>
          <p:nvPr/>
        </p:nvSpPr>
        <p:spPr>
          <a:xfrm>
            <a:off x="3983081" y="630932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Tree>
    <p:extLst>
      <p:ext uri="{BB962C8B-B14F-4D97-AF65-F5344CB8AC3E}">
        <p14:creationId xmlns:p14="http://schemas.microsoft.com/office/powerpoint/2010/main" val="11690145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B2AFF908-D688-4555-996A-48408B851C60}"/>
              </a:ext>
            </a:extLst>
          </p:cNvPr>
          <p:cNvSpPr/>
          <p:nvPr/>
        </p:nvSpPr>
        <p:spPr>
          <a:xfrm rot="317079">
            <a:off x="1828878" y="2155975"/>
            <a:ext cx="5769089"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1" name="Rectangle: Rounded Corners 20">
            <a:extLst>
              <a:ext uri="{FF2B5EF4-FFF2-40B4-BE49-F238E27FC236}">
                <a16:creationId xmlns:a16="http://schemas.microsoft.com/office/drawing/2014/main" id="{E37A6C75-C454-4A00-8CCF-542925786EFF}"/>
              </a:ext>
            </a:extLst>
          </p:cNvPr>
          <p:cNvSpPr/>
          <p:nvPr/>
        </p:nvSpPr>
        <p:spPr>
          <a:xfrm>
            <a:off x="3750547" y="1988840"/>
            <a:ext cx="2350130" cy="936104"/>
          </a:xfrm>
          <a:prstGeom prst="roundRect">
            <a:avLst>
              <a:gd name="adj" fmla="val 7939"/>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ctr"/>
            <a:r>
              <a:rPr lang="en-US" sz="1050" dirty="0"/>
              <a:t>encrypted by</a:t>
            </a:r>
            <a:br>
              <a:rPr lang="en-US" sz="1050" dirty="0"/>
            </a:br>
            <a:r>
              <a:rPr lang="en-US" sz="1050" dirty="0"/>
              <a:t>shared key 2</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87F1BDC8-782A-433A-A887-CEBEB6F9CF14}"/>
              </a:ext>
            </a:extLst>
          </p:cNvPr>
          <p:cNvSpPr/>
          <p:nvPr/>
        </p:nvSpPr>
        <p:spPr>
          <a:xfrm>
            <a:off x="382621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5" name="Rectangle: Rounded Corners 24">
            <a:extLst>
              <a:ext uri="{FF2B5EF4-FFF2-40B4-BE49-F238E27FC236}">
                <a16:creationId xmlns:a16="http://schemas.microsoft.com/office/drawing/2014/main" id="{62781A8D-794B-437B-9A17-BF18CA75ABAB}"/>
              </a:ext>
            </a:extLst>
          </p:cNvPr>
          <p:cNvSpPr/>
          <p:nvPr/>
        </p:nvSpPr>
        <p:spPr>
          <a:xfrm>
            <a:off x="4559145"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6" name="Rectangle: Rounded Corners 25">
            <a:extLst>
              <a:ext uri="{FF2B5EF4-FFF2-40B4-BE49-F238E27FC236}">
                <a16:creationId xmlns:a16="http://schemas.microsoft.com/office/drawing/2014/main" id="{0CA04A9F-DECA-473A-975E-31A8CF0ED232}"/>
              </a:ext>
            </a:extLst>
          </p:cNvPr>
          <p:cNvSpPr/>
          <p:nvPr/>
        </p:nvSpPr>
        <p:spPr>
          <a:xfrm>
            <a:off x="529208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7" name="Rectangle: Rounded Corners 26">
            <a:extLst>
              <a:ext uri="{FF2B5EF4-FFF2-40B4-BE49-F238E27FC236}">
                <a16:creationId xmlns:a16="http://schemas.microsoft.com/office/drawing/2014/main" id="{F21DAA83-83CA-4A53-8376-F259048E4A60}"/>
              </a:ext>
            </a:extLst>
          </p:cNvPr>
          <p:cNvSpPr/>
          <p:nvPr/>
        </p:nvSpPr>
        <p:spPr>
          <a:xfrm>
            <a:off x="43503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TGS</a:t>
            </a:r>
            <a:endParaRPr lang="cs-CZ" sz="1050" dirty="0"/>
          </a:p>
        </p:txBody>
      </p:sp>
      <p:sp>
        <p:nvSpPr>
          <p:cNvPr id="28" name="Rectangle: Rounded Corners 27">
            <a:extLst>
              <a:ext uri="{FF2B5EF4-FFF2-40B4-BE49-F238E27FC236}">
                <a16:creationId xmlns:a16="http://schemas.microsoft.com/office/drawing/2014/main" id="{31316A70-3405-4042-9347-B097DC473675}"/>
              </a:ext>
            </a:extLst>
          </p:cNvPr>
          <p:cNvSpPr/>
          <p:nvPr/>
        </p:nvSpPr>
        <p:spPr>
          <a:xfrm>
            <a:off x="1167968"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kamil</a:t>
            </a:r>
            <a:endParaRPr lang="cs-CZ" sz="1050" dirty="0"/>
          </a:p>
        </p:txBody>
      </p:sp>
      <p:sp>
        <p:nvSpPr>
          <p:cNvPr id="29" name="Rectangle: Rounded Corners 28">
            <a:extLst>
              <a:ext uri="{FF2B5EF4-FFF2-40B4-BE49-F238E27FC236}">
                <a16:creationId xmlns:a16="http://schemas.microsoft.com/office/drawing/2014/main" id="{FCEC7543-D990-4C14-984F-F31EB12B13D3}"/>
              </a:ext>
            </a:extLst>
          </p:cNvPr>
          <p:cNvSpPr/>
          <p:nvPr/>
        </p:nvSpPr>
        <p:spPr>
          <a:xfrm>
            <a:off x="190090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service2</a:t>
            </a:r>
            <a:endParaRPr lang="cs-CZ" sz="1050" dirty="0"/>
          </a:p>
        </p:txBody>
      </p:sp>
      <p:sp>
        <p:nvSpPr>
          <p:cNvPr id="22" name="Rectangle: Rounded Corners 23">
            <a:extLst>
              <a:ext uri="{FF2B5EF4-FFF2-40B4-BE49-F238E27FC236}">
                <a16:creationId xmlns:a16="http://schemas.microsoft.com/office/drawing/2014/main" id="{D06EC342-CC12-42A7-A30B-D8AC34AA1962}"/>
              </a:ext>
            </a:extLst>
          </p:cNvPr>
          <p:cNvSpPr/>
          <p:nvPr/>
        </p:nvSpPr>
        <p:spPr>
          <a:xfrm>
            <a:off x="8252241" y="194642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23" name="Rectangle: Rounded Corners 24">
            <a:extLst>
              <a:ext uri="{FF2B5EF4-FFF2-40B4-BE49-F238E27FC236}">
                <a16:creationId xmlns:a16="http://schemas.microsoft.com/office/drawing/2014/main" id="{CA4B31B7-26D4-4CEE-BA34-05F9960100B3}"/>
              </a:ext>
            </a:extLst>
          </p:cNvPr>
          <p:cNvSpPr/>
          <p:nvPr/>
        </p:nvSpPr>
        <p:spPr>
          <a:xfrm>
            <a:off x="7602763" y="433113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
        <p:nvSpPr>
          <p:cNvPr id="30" name="Rectangle: Rounded Corners 25">
            <a:extLst>
              <a:ext uri="{FF2B5EF4-FFF2-40B4-BE49-F238E27FC236}">
                <a16:creationId xmlns:a16="http://schemas.microsoft.com/office/drawing/2014/main" id="{7B086281-BA55-4D55-A756-07CDC2AA52E3}"/>
              </a:ext>
            </a:extLst>
          </p:cNvPr>
          <p:cNvSpPr/>
          <p:nvPr/>
        </p:nvSpPr>
        <p:spPr>
          <a:xfrm>
            <a:off x="6841763" y="357301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31" name="Rectangle: Rounded Corners 26">
            <a:extLst>
              <a:ext uri="{FF2B5EF4-FFF2-40B4-BE49-F238E27FC236}">
                <a16:creationId xmlns:a16="http://schemas.microsoft.com/office/drawing/2014/main" id="{A2EE2AFA-BF05-464D-B26E-6448EE6BEA82}"/>
              </a:ext>
            </a:extLst>
          </p:cNvPr>
          <p:cNvSpPr/>
          <p:nvPr/>
        </p:nvSpPr>
        <p:spPr>
          <a:xfrm>
            <a:off x="7953865" y="1050549"/>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Tree>
    <p:extLst>
      <p:ext uri="{BB962C8B-B14F-4D97-AF65-F5344CB8AC3E}">
        <p14:creationId xmlns:p14="http://schemas.microsoft.com/office/powerpoint/2010/main" val="1605676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B2AFF908-D688-4555-996A-48408B851C60}"/>
              </a:ext>
            </a:extLst>
          </p:cNvPr>
          <p:cNvSpPr/>
          <p:nvPr/>
        </p:nvSpPr>
        <p:spPr>
          <a:xfrm rot="317079">
            <a:off x="1828878" y="2155975"/>
            <a:ext cx="5769089"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1" name="Rectangle: Rounded Corners 20">
            <a:extLst>
              <a:ext uri="{FF2B5EF4-FFF2-40B4-BE49-F238E27FC236}">
                <a16:creationId xmlns:a16="http://schemas.microsoft.com/office/drawing/2014/main" id="{E37A6C75-C454-4A00-8CCF-542925786EFF}"/>
              </a:ext>
            </a:extLst>
          </p:cNvPr>
          <p:cNvSpPr/>
          <p:nvPr/>
        </p:nvSpPr>
        <p:spPr>
          <a:xfrm>
            <a:off x="3750547" y="1988840"/>
            <a:ext cx="2350130" cy="1440160"/>
          </a:xfrm>
          <a:prstGeom prst="roundRect">
            <a:avLst>
              <a:gd name="adj" fmla="val 7939"/>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ctr"/>
            <a:r>
              <a:rPr lang="en-US" sz="1050" dirty="0"/>
              <a:t>encrypted by</a:t>
            </a:r>
            <a:br>
              <a:rPr lang="en-US" sz="1050" dirty="0"/>
            </a:br>
            <a:r>
              <a:rPr lang="en-US" sz="1050" dirty="0"/>
              <a:t>shared key 2</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#2</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87F1BDC8-782A-433A-A887-CEBEB6F9CF14}"/>
              </a:ext>
            </a:extLst>
          </p:cNvPr>
          <p:cNvSpPr/>
          <p:nvPr/>
        </p:nvSpPr>
        <p:spPr>
          <a:xfrm>
            <a:off x="382621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5" name="Rectangle: Rounded Corners 24">
            <a:extLst>
              <a:ext uri="{FF2B5EF4-FFF2-40B4-BE49-F238E27FC236}">
                <a16:creationId xmlns:a16="http://schemas.microsoft.com/office/drawing/2014/main" id="{62781A8D-794B-437B-9A17-BF18CA75ABAB}"/>
              </a:ext>
            </a:extLst>
          </p:cNvPr>
          <p:cNvSpPr/>
          <p:nvPr/>
        </p:nvSpPr>
        <p:spPr>
          <a:xfrm>
            <a:off x="4559145"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6" name="Rectangle: Rounded Corners 25">
            <a:extLst>
              <a:ext uri="{FF2B5EF4-FFF2-40B4-BE49-F238E27FC236}">
                <a16:creationId xmlns:a16="http://schemas.microsoft.com/office/drawing/2014/main" id="{0CA04A9F-DECA-473A-975E-31A8CF0ED232}"/>
              </a:ext>
            </a:extLst>
          </p:cNvPr>
          <p:cNvSpPr/>
          <p:nvPr/>
        </p:nvSpPr>
        <p:spPr>
          <a:xfrm>
            <a:off x="529208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7" name="Rectangle: Rounded Corners 26">
            <a:extLst>
              <a:ext uri="{FF2B5EF4-FFF2-40B4-BE49-F238E27FC236}">
                <a16:creationId xmlns:a16="http://schemas.microsoft.com/office/drawing/2014/main" id="{F21DAA83-83CA-4A53-8376-F259048E4A60}"/>
              </a:ext>
            </a:extLst>
          </p:cNvPr>
          <p:cNvSpPr/>
          <p:nvPr/>
        </p:nvSpPr>
        <p:spPr>
          <a:xfrm>
            <a:off x="43503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TGS</a:t>
            </a:r>
            <a:endParaRPr lang="cs-CZ" sz="1050" dirty="0"/>
          </a:p>
        </p:txBody>
      </p:sp>
      <p:sp>
        <p:nvSpPr>
          <p:cNvPr id="28" name="Rectangle: Rounded Corners 27">
            <a:extLst>
              <a:ext uri="{FF2B5EF4-FFF2-40B4-BE49-F238E27FC236}">
                <a16:creationId xmlns:a16="http://schemas.microsoft.com/office/drawing/2014/main" id="{31316A70-3405-4042-9347-B097DC473675}"/>
              </a:ext>
            </a:extLst>
          </p:cNvPr>
          <p:cNvSpPr/>
          <p:nvPr/>
        </p:nvSpPr>
        <p:spPr>
          <a:xfrm>
            <a:off x="1167968"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kamil</a:t>
            </a:r>
            <a:endParaRPr lang="cs-CZ" sz="1050" dirty="0"/>
          </a:p>
        </p:txBody>
      </p:sp>
      <p:sp>
        <p:nvSpPr>
          <p:cNvPr id="29" name="Rectangle: Rounded Corners 28">
            <a:extLst>
              <a:ext uri="{FF2B5EF4-FFF2-40B4-BE49-F238E27FC236}">
                <a16:creationId xmlns:a16="http://schemas.microsoft.com/office/drawing/2014/main" id="{FCEC7543-D990-4C14-984F-F31EB12B13D3}"/>
              </a:ext>
            </a:extLst>
          </p:cNvPr>
          <p:cNvSpPr/>
          <p:nvPr/>
        </p:nvSpPr>
        <p:spPr>
          <a:xfrm>
            <a:off x="190090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service2</a:t>
            </a:r>
            <a:endParaRPr lang="cs-CZ" sz="1050" dirty="0"/>
          </a:p>
        </p:txBody>
      </p:sp>
      <p:sp>
        <p:nvSpPr>
          <p:cNvPr id="22" name="Rectangle: Rounded Corners 23">
            <a:extLst>
              <a:ext uri="{FF2B5EF4-FFF2-40B4-BE49-F238E27FC236}">
                <a16:creationId xmlns:a16="http://schemas.microsoft.com/office/drawing/2014/main" id="{D06EC342-CC12-42A7-A30B-D8AC34AA1962}"/>
              </a:ext>
            </a:extLst>
          </p:cNvPr>
          <p:cNvSpPr/>
          <p:nvPr/>
        </p:nvSpPr>
        <p:spPr>
          <a:xfrm>
            <a:off x="8252241" y="194642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23" name="Rectangle: Rounded Corners 24">
            <a:extLst>
              <a:ext uri="{FF2B5EF4-FFF2-40B4-BE49-F238E27FC236}">
                <a16:creationId xmlns:a16="http://schemas.microsoft.com/office/drawing/2014/main" id="{CA4B31B7-26D4-4CEE-BA34-05F9960100B3}"/>
              </a:ext>
            </a:extLst>
          </p:cNvPr>
          <p:cNvSpPr/>
          <p:nvPr/>
        </p:nvSpPr>
        <p:spPr>
          <a:xfrm>
            <a:off x="7602763" y="433113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
        <p:nvSpPr>
          <p:cNvPr id="30" name="Rectangle: Rounded Corners 25">
            <a:extLst>
              <a:ext uri="{FF2B5EF4-FFF2-40B4-BE49-F238E27FC236}">
                <a16:creationId xmlns:a16="http://schemas.microsoft.com/office/drawing/2014/main" id="{7B086281-BA55-4D55-A756-07CDC2AA52E3}"/>
              </a:ext>
            </a:extLst>
          </p:cNvPr>
          <p:cNvSpPr/>
          <p:nvPr/>
        </p:nvSpPr>
        <p:spPr>
          <a:xfrm>
            <a:off x="6841763" y="357301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31" name="Rectangle: Rounded Corners 26">
            <a:extLst>
              <a:ext uri="{FF2B5EF4-FFF2-40B4-BE49-F238E27FC236}">
                <a16:creationId xmlns:a16="http://schemas.microsoft.com/office/drawing/2014/main" id="{A2EE2AFA-BF05-464D-B26E-6448EE6BEA82}"/>
              </a:ext>
            </a:extLst>
          </p:cNvPr>
          <p:cNvSpPr/>
          <p:nvPr/>
        </p:nvSpPr>
        <p:spPr>
          <a:xfrm>
            <a:off x="7953865" y="1050549"/>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32" name="Rectangle: Rounded Corners 31">
            <a:extLst>
              <a:ext uri="{FF2B5EF4-FFF2-40B4-BE49-F238E27FC236}">
                <a16:creationId xmlns:a16="http://schemas.microsoft.com/office/drawing/2014/main" id="{8AE1AC18-F29E-4718-B8E1-7E54FD6C9B75}"/>
              </a:ext>
            </a:extLst>
          </p:cNvPr>
          <p:cNvSpPr/>
          <p:nvPr/>
        </p:nvSpPr>
        <p:spPr>
          <a:xfrm>
            <a:off x="4563472" y="2487824"/>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solidFill>
                  <a:schemeClr val="accent4"/>
                </a:solidFill>
              </a:rPr>
              <a:t>&lt;</a:t>
            </a:r>
            <a:r>
              <a:rPr lang="en-US" sz="1050" dirty="0"/>
              <a:t>10 hours</a:t>
            </a:r>
            <a:endParaRPr lang="cs-CZ" sz="1050" dirty="0"/>
          </a:p>
        </p:txBody>
      </p:sp>
      <p:sp>
        <p:nvSpPr>
          <p:cNvPr id="33" name="Rectangle: Rounded Corners 32">
            <a:extLst>
              <a:ext uri="{FF2B5EF4-FFF2-40B4-BE49-F238E27FC236}">
                <a16:creationId xmlns:a16="http://schemas.microsoft.com/office/drawing/2014/main" id="{248419DA-012D-4778-9602-D8E02F1D1B90}"/>
              </a:ext>
            </a:extLst>
          </p:cNvPr>
          <p:cNvSpPr/>
          <p:nvPr/>
        </p:nvSpPr>
        <p:spPr>
          <a:xfrm>
            <a:off x="5292906" y="2487824"/>
            <a:ext cx="732935"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group SIDs</a:t>
            </a:r>
            <a:endParaRPr lang="cs-CZ" sz="1050" dirty="0"/>
          </a:p>
        </p:txBody>
      </p:sp>
    </p:spTree>
    <p:extLst>
      <p:ext uri="{BB962C8B-B14F-4D97-AF65-F5344CB8AC3E}">
        <p14:creationId xmlns:p14="http://schemas.microsoft.com/office/powerpoint/2010/main" val="1409961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cs-CZ"/>
          </a:p>
        </p:txBody>
      </p:sp>
      <p:sp>
        <p:nvSpPr>
          <p:cNvPr id="18" name="Rectangle: Rounded Corners 17">
            <a:extLst>
              <a:ext uri="{FF2B5EF4-FFF2-40B4-BE49-F238E27FC236}">
                <a16:creationId xmlns:a16="http://schemas.microsoft.com/office/drawing/2014/main" id="{D292242B-5C84-4A7D-A2C2-9B3A0252138A}"/>
              </a:ext>
            </a:extLst>
          </p:cNvPr>
          <p:cNvSpPr/>
          <p:nvPr/>
        </p:nvSpPr>
        <p:spPr>
          <a:xfrm>
            <a:off x="2495263" y="3501008"/>
            <a:ext cx="1671898" cy="936104"/>
          </a:xfrm>
          <a:prstGeom prst="roundRect">
            <a:avLst>
              <a:gd name="adj" fmla="val 7939"/>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050" dirty="0"/>
              <a:t>encrypted by user's primary credentials</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#3</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598277"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3331212" y="3573016"/>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4" name="Rectangle 13">
            <a:extLst>
              <a:ext uri="{FF2B5EF4-FFF2-40B4-BE49-F238E27FC236}">
                <a16:creationId xmlns:a16="http://schemas.microsoft.com/office/drawing/2014/main" id="{B8E18E79-D5CC-4020-B761-4F7E87AEB8DF}"/>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5" name="Rectangle 14">
            <a:extLst>
              <a:ext uri="{FF2B5EF4-FFF2-40B4-BE49-F238E27FC236}">
                <a16:creationId xmlns:a16="http://schemas.microsoft.com/office/drawing/2014/main" id="{0D641C19-7C64-4FC2-BEA4-AE7059FC2F40}"/>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6" name="Rectangle 15">
            <a:extLst>
              <a:ext uri="{FF2B5EF4-FFF2-40B4-BE49-F238E27FC236}">
                <a16:creationId xmlns:a16="http://schemas.microsoft.com/office/drawing/2014/main" id="{8F5B48DF-1552-4723-B690-F1D072C76CC2}"/>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17" name="Rectangle 16">
            <a:extLst>
              <a:ext uri="{FF2B5EF4-FFF2-40B4-BE49-F238E27FC236}">
                <a16:creationId xmlns:a16="http://schemas.microsoft.com/office/drawing/2014/main" id="{E2DA92F1-9E33-4924-B248-1EB2E939C2B1}"/>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19" name="Rectangle: Rounded Corners 18">
            <a:extLst>
              <a:ext uri="{FF2B5EF4-FFF2-40B4-BE49-F238E27FC236}">
                <a16:creationId xmlns:a16="http://schemas.microsoft.com/office/drawing/2014/main" id="{077574D6-7FDA-457A-B6AD-3BFE46A10F2F}"/>
              </a:ext>
            </a:extLst>
          </p:cNvPr>
          <p:cNvSpPr/>
          <p:nvPr/>
        </p:nvSpPr>
        <p:spPr>
          <a:xfrm>
            <a:off x="267311" y="1345141"/>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0" name="Rectangle: Rounded Corners 19">
            <a:extLst>
              <a:ext uri="{FF2B5EF4-FFF2-40B4-BE49-F238E27FC236}">
                <a16:creationId xmlns:a16="http://schemas.microsoft.com/office/drawing/2014/main" id="{AE017D51-1E77-4946-968A-563C634CF9FD}"/>
              </a:ext>
            </a:extLst>
          </p:cNvPr>
          <p:cNvSpPr/>
          <p:nvPr/>
        </p:nvSpPr>
        <p:spPr>
          <a:xfrm>
            <a:off x="3779912" y="6228184"/>
            <a:ext cx="991685"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primary credentials</a:t>
            </a:r>
            <a:endParaRPr lang="cs-CZ" sz="1050" dirty="0"/>
          </a:p>
        </p:txBody>
      </p:sp>
      <p:sp>
        <p:nvSpPr>
          <p:cNvPr id="21" name="Rectangle: Rounded Corners 20">
            <a:extLst>
              <a:ext uri="{FF2B5EF4-FFF2-40B4-BE49-F238E27FC236}">
                <a16:creationId xmlns:a16="http://schemas.microsoft.com/office/drawing/2014/main" id="{D8DAB60B-AC39-4921-93EF-AA58232B117E}"/>
              </a:ext>
            </a:extLst>
          </p:cNvPr>
          <p:cNvSpPr/>
          <p:nvPr/>
        </p:nvSpPr>
        <p:spPr>
          <a:xfrm>
            <a:off x="1258996" y="1345141"/>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22" name="Rectangle: Rounded Corners 21">
            <a:extLst>
              <a:ext uri="{FF2B5EF4-FFF2-40B4-BE49-F238E27FC236}">
                <a16:creationId xmlns:a16="http://schemas.microsoft.com/office/drawing/2014/main" id="{5F607E95-35EA-4EF7-B595-BB9ECA2C510D}"/>
              </a:ext>
            </a:extLst>
          </p:cNvPr>
          <p:cNvSpPr/>
          <p:nvPr/>
        </p:nvSpPr>
        <p:spPr>
          <a:xfrm>
            <a:off x="1755008" y="1345141"/>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a:t>
            </a:r>
            <a:r>
              <a:rPr lang="en-US" sz="1050" dirty="0" err="1"/>
              <a:t>priv</a:t>
            </a:r>
            <a:endParaRPr lang="cs-CZ" sz="1050" dirty="0"/>
          </a:p>
        </p:txBody>
      </p:sp>
      <p:sp>
        <p:nvSpPr>
          <p:cNvPr id="23" name="Rectangle: Rounded Corners 22">
            <a:extLst>
              <a:ext uri="{FF2B5EF4-FFF2-40B4-BE49-F238E27FC236}">
                <a16:creationId xmlns:a16="http://schemas.microsoft.com/office/drawing/2014/main" id="{7D773068-CFCF-455A-BB2C-5B6F19D94A67}"/>
              </a:ext>
            </a:extLst>
          </p:cNvPr>
          <p:cNvSpPr/>
          <p:nvPr/>
        </p:nvSpPr>
        <p:spPr>
          <a:xfrm>
            <a:off x="4771597"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r>
              <a:rPr lang="en-US" sz="1050" dirty="0"/>
              <a:t>#</a:t>
            </a:r>
            <a:endParaRPr lang="cs-CZ" sz="1050" dirty="0"/>
          </a:p>
        </p:txBody>
      </p:sp>
      <p:sp>
        <p:nvSpPr>
          <p:cNvPr id="24" name="Rectangle: Rounded Corners 23">
            <a:extLst>
              <a:ext uri="{FF2B5EF4-FFF2-40B4-BE49-F238E27FC236}">
                <a16:creationId xmlns:a16="http://schemas.microsoft.com/office/drawing/2014/main" id="{4F94C04B-2586-4407-B697-429A6A5CA876}"/>
              </a:ext>
            </a:extLst>
          </p:cNvPr>
          <p:cNvSpPr/>
          <p:nvPr/>
        </p:nvSpPr>
        <p:spPr>
          <a:xfrm>
            <a:off x="5267609" y="6228184"/>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cert pub</a:t>
            </a:r>
            <a:endParaRPr lang="cs-CZ" sz="1050" dirty="0"/>
          </a:p>
        </p:txBody>
      </p:sp>
      <p:sp>
        <p:nvSpPr>
          <p:cNvPr id="3" name="Star: 8 Points 2">
            <a:extLst>
              <a:ext uri="{FF2B5EF4-FFF2-40B4-BE49-F238E27FC236}">
                <a16:creationId xmlns:a16="http://schemas.microsoft.com/office/drawing/2014/main" id="{FE41B525-1E46-4C7A-A921-34FDE8D57328}"/>
              </a:ext>
            </a:extLst>
          </p:cNvPr>
          <p:cNvSpPr/>
          <p:nvPr/>
        </p:nvSpPr>
        <p:spPr>
          <a:xfrm>
            <a:off x="3817327" y="3655007"/>
            <a:ext cx="1008112" cy="1008112"/>
          </a:xfrm>
          <a:prstGeom prst="star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a:t>C/TGS session key</a:t>
            </a:r>
            <a:endParaRPr lang="cs-CZ" sz="1100" dirty="0"/>
          </a:p>
        </p:txBody>
      </p:sp>
    </p:spTree>
    <p:extLst>
      <p:ext uri="{BB962C8B-B14F-4D97-AF65-F5344CB8AC3E}">
        <p14:creationId xmlns:p14="http://schemas.microsoft.com/office/powerpoint/2010/main" val="2053088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row: Right 6">
            <a:extLst>
              <a:ext uri="{FF2B5EF4-FFF2-40B4-BE49-F238E27FC236}">
                <a16:creationId xmlns:a16="http://schemas.microsoft.com/office/drawing/2014/main" id="{61A590FC-2119-4DF5-9914-85C6D5FDFD25}"/>
              </a:ext>
            </a:extLst>
          </p:cNvPr>
          <p:cNvSpPr/>
          <p:nvPr/>
        </p:nvSpPr>
        <p:spPr>
          <a:xfrm rot="3194510">
            <a:off x="376792" y="3911055"/>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34" name="Rectangle: Rounded Corners 33">
            <a:extLst>
              <a:ext uri="{FF2B5EF4-FFF2-40B4-BE49-F238E27FC236}">
                <a16:creationId xmlns:a16="http://schemas.microsoft.com/office/drawing/2014/main" id="{2D152DE4-6537-4A6F-A0AD-579E18A5D1F9}"/>
              </a:ext>
            </a:extLst>
          </p:cNvPr>
          <p:cNvSpPr/>
          <p:nvPr/>
        </p:nvSpPr>
        <p:spPr>
          <a:xfrm>
            <a:off x="364611" y="3429000"/>
            <a:ext cx="1631850" cy="936104"/>
          </a:xfrm>
          <a:prstGeom prst="roundRect">
            <a:avLst>
              <a:gd name="adj" fmla="val 7939"/>
            </a:avLst>
          </a:prstGeom>
        </p:spPr>
        <p:style>
          <a:lnRef idx="2">
            <a:schemeClr val="accent4">
              <a:shade val="50000"/>
            </a:schemeClr>
          </a:lnRef>
          <a:fillRef idx="1">
            <a:schemeClr val="accent4"/>
          </a:fillRef>
          <a:effectRef idx="0">
            <a:schemeClr val="accent4"/>
          </a:effectRef>
          <a:fontRef idx="minor">
            <a:schemeClr val="lt1"/>
          </a:fontRef>
        </p:style>
        <p:txBody>
          <a:bodyPr rtlCol="0" anchor="b"/>
          <a:lstStyle/>
          <a:p>
            <a:pPr algn="ctr"/>
            <a:r>
              <a:rPr lang="en-US" sz="1050" dirty="0"/>
              <a:t>encrypted by</a:t>
            </a:r>
            <a:br>
              <a:rPr lang="en-US" sz="1050" dirty="0"/>
            </a:br>
            <a:r>
              <a:rPr lang="en-US" sz="1050" dirty="0"/>
              <a:t>C/TGS key</a:t>
            </a:r>
            <a:endParaRPr lang="cs-CZ" sz="1050" dirty="0"/>
          </a:p>
        </p:txBody>
      </p:sp>
      <p:sp>
        <p:nvSpPr>
          <p:cNvPr id="28" name="Rectangle: Rounded Corners 27">
            <a:extLst>
              <a:ext uri="{FF2B5EF4-FFF2-40B4-BE49-F238E27FC236}">
                <a16:creationId xmlns:a16="http://schemas.microsoft.com/office/drawing/2014/main" id="{315DF991-E61E-4ADA-925E-2AD93831740B}"/>
              </a:ext>
            </a:extLst>
          </p:cNvPr>
          <p:cNvSpPr/>
          <p:nvPr/>
        </p:nvSpPr>
        <p:spPr>
          <a:xfrm>
            <a:off x="2173790" y="2939688"/>
            <a:ext cx="2350130" cy="1137384"/>
          </a:xfrm>
          <a:prstGeom prst="roundRect">
            <a:avLst>
              <a:gd name="adj" fmla="val 7939"/>
            </a:avLst>
          </a:prstGeom>
        </p:spPr>
        <p:style>
          <a:lnRef idx="2">
            <a:schemeClr val="accent4">
              <a:shade val="50000"/>
            </a:schemeClr>
          </a:lnRef>
          <a:fillRef idx="1">
            <a:schemeClr val="accent4"/>
          </a:fillRef>
          <a:effectRef idx="0">
            <a:schemeClr val="accent4"/>
          </a:effectRef>
          <a:fontRef idx="minor">
            <a:schemeClr val="lt1"/>
          </a:fontRef>
        </p:style>
        <p:txBody>
          <a:bodyPr rtlCol="0" anchor="b"/>
          <a:lstStyle/>
          <a:p>
            <a:pPr algn="ctr"/>
            <a:r>
              <a:rPr lang="en-US" sz="1050" dirty="0"/>
              <a:t>encrypted by</a:t>
            </a:r>
            <a:br>
              <a:rPr lang="en-US" sz="1050" dirty="0"/>
            </a:br>
            <a:r>
              <a:rPr lang="en-US" sz="1050" dirty="0"/>
              <a:t>shared key 2 and</a:t>
            </a:r>
          </a:p>
          <a:p>
            <a:pPr algn="ctr"/>
            <a:r>
              <a:rPr lang="en-US" sz="1050" dirty="0"/>
              <a:t>C/TGS key</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#3</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1" name="Arrow: Right 10">
            <a:extLst>
              <a:ext uri="{FF2B5EF4-FFF2-40B4-BE49-F238E27FC236}">
                <a16:creationId xmlns:a16="http://schemas.microsoft.com/office/drawing/2014/main" id="{B2AFF908-D688-4555-996A-48408B851C60}"/>
              </a:ext>
            </a:extLst>
          </p:cNvPr>
          <p:cNvSpPr/>
          <p:nvPr/>
        </p:nvSpPr>
        <p:spPr>
          <a:xfrm rot="14400000">
            <a:off x="965486" y="3733993"/>
            <a:ext cx="3240353"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4" name="Rectangle: Rounded Corners 13">
            <a:extLst>
              <a:ext uri="{FF2B5EF4-FFF2-40B4-BE49-F238E27FC236}">
                <a16:creationId xmlns:a16="http://schemas.microsoft.com/office/drawing/2014/main" id="{6C63AAF4-10EB-4695-80B5-9C653D656D3D}"/>
              </a:ext>
            </a:extLst>
          </p:cNvPr>
          <p:cNvSpPr/>
          <p:nvPr/>
        </p:nvSpPr>
        <p:spPr>
          <a:xfrm>
            <a:off x="431517" y="4365104"/>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5" name="Rectangle: Rounded Corners 14">
            <a:extLst>
              <a:ext uri="{FF2B5EF4-FFF2-40B4-BE49-F238E27FC236}">
                <a16:creationId xmlns:a16="http://schemas.microsoft.com/office/drawing/2014/main" id="{D067E46B-697B-4B1D-9FA5-C461D9BB3EDB}"/>
              </a:ext>
            </a:extLst>
          </p:cNvPr>
          <p:cNvSpPr/>
          <p:nvPr/>
        </p:nvSpPr>
        <p:spPr>
          <a:xfrm>
            <a:off x="1164452" y="4365104"/>
            <a:ext cx="732935"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kamil</a:t>
            </a:r>
            <a:endParaRPr lang="cs-CZ" sz="1050" dirty="0"/>
          </a:p>
        </p:txBody>
      </p:sp>
      <p:sp>
        <p:nvSpPr>
          <p:cNvPr id="16" name="Rectangle: Rounded Corners 15">
            <a:extLst>
              <a:ext uri="{FF2B5EF4-FFF2-40B4-BE49-F238E27FC236}">
                <a16:creationId xmlns:a16="http://schemas.microsoft.com/office/drawing/2014/main" id="{E6BEB038-3CFD-4D30-9747-075E7979E100}"/>
              </a:ext>
            </a:extLst>
          </p:cNvPr>
          <p:cNvSpPr/>
          <p:nvPr/>
        </p:nvSpPr>
        <p:spPr>
          <a:xfrm>
            <a:off x="449517" y="3501008"/>
            <a:ext cx="1450504"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 request for service2</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1" name="Rectangle: Rounded Corners 20">
            <a:extLst>
              <a:ext uri="{FF2B5EF4-FFF2-40B4-BE49-F238E27FC236}">
                <a16:creationId xmlns:a16="http://schemas.microsoft.com/office/drawing/2014/main" id="{7A601825-DC62-4D82-A06C-12A6AE8C95C6}"/>
              </a:ext>
            </a:extLst>
          </p:cNvPr>
          <p:cNvSpPr/>
          <p:nvPr/>
        </p:nvSpPr>
        <p:spPr>
          <a:xfrm>
            <a:off x="224539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2" name="Rectangle: Rounded Corners 21">
            <a:extLst>
              <a:ext uri="{FF2B5EF4-FFF2-40B4-BE49-F238E27FC236}">
                <a16:creationId xmlns:a16="http://schemas.microsoft.com/office/drawing/2014/main" id="{3BE20DB2-217F-4AEE-8878-31DD9A6FB7B9}"/>
              </a:ext>
            </a:extLst>
          </p:cNvPr>
          <p:cNvSpPr/>
          <p:nvPr/>
        </p:nvSpPr>
        <p:spPr>
          <a:xfrm>
            <a:off x="2978330"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3" name="Rectangle: Rounded Corners 22">
            <a:extLst>
              <a:ext uri="{FF2B5EF4-FFF2-40B4-BE49-F238E27FC236}">
                <a16:creationId xmlns:a16="http://schemas.microsoft.com/office/drawing/2014/main" id="{22750550-BDBD-4DB0-8675-4FB74B372A78}"/>
              </a:ext>
            </a:extLst>
          </p:cNvPr>
          <p:cNvSpPr/>
          <p:nvPr/>
        </p:nvSpPr>
        <p:spPr>
          <a:xfrm>
            <a:off x="3711265" y="2996952"/>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4" name="Rectangle: Rounded Corners 23">
            <a:extLst>
              <a:ext uri="{FF2B5EF4-FFF2-40B4-BE49-F238E27FC236}">
                <a16:creationId xmlns:a16="http://schemas.microsoft.com/office/drawing/2014/main" id="{D06EC342-CC12-42A7-A30B-D8AC34AA1962}"/>
              </a:ext>
            </a:extLst>
          </p:cNvPr>
          <p:cNvSpPr/>
          <p:nvPr/>
        </p:nvSpPr>
        <p:spPr>
          <a:xfrm>
            <a:off x="8252241" y="194642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25" name="Rectangle: Rounded Corners 24">
            <a:extLst>
              <a:ext uri="{FF2B5EF4-FFF2-40B4-BE49-F238E27FC236}">
                <a16:creationId xmlns:a16="http://schemas.microsoft.com/office/drawing/2014/main" id="{CA4B31B7-26D4-4CEE-BA34-05F9960100B3}"/>
              </a:ext>
            </a:extLst>
          </p:cNvPr>
          <p:cNvSpPr/>
          <p:nvPr/>
        </p:nvSpPr>
        <p:spPr>
          <a:xfrm>
            <a:off x="7602763" y="433113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
        <p:nvSpPr>
          <p:cNvPr id="26" name="Rectangle: Rounded Corners 25">
            <a:extLst>
              <a:ext uri="{FF2B5EF4-FFF2-40B4-BE49-F238E27FC236}">
                <a16:creationId xmlns:a16="http://schemas.microsoft.com/office/drawing/2014/main" id="{7B086281-BA55-4D55-A756-07CDC2AA52E3}"/>
              </a:ext>
            </a:extLst>
          </p:cNvPr>
          <p:cNvSpPr/>
          <p:nvPr/>
        </p:nvSpPr>
        <p:spPr>
          <a:xfrm>
            <a:off x="6841763" y="3573016"/>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27" name="Rectangle: Rounded Corners 26">
            <a:extLst>
              <a:ext uri="{FF2B5EF4-FFF2-40B4-BE49-F238E27FC236}">
                <a16:creationId xmlns:a16="http://schemas.microsoft.com/office/drawing/2014/main" id="{A2EE2AFA-BF05-464D-B26E-6448EE6BEA82}"/>
              </a:ext>
            </a:extLst>
          </p:cNvPr>
          <p:cNvSpPr/>
          <p:nvPr/>
        </p:nvSpPr>
        <p:spPr>
          <a:xfrm>
            <a:off x="7953865" y="1050549"/>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29" name="Rectangle: Rounded Corners 28">
            <a:extLst>
              <a:ext uri="{FF2B5EF4-FFF2-40B4-BE49-F238E27FC236}">
                <a16:creationId xmlns:a16="http://schemas.microsoft.com/office/drawing/2014/main" id="{9E54A35E-D10B-439A-B69F-0226A7923BBE}"/>
              </a:ext>
            </a:extLst>
          </p:cNvPr>
          <p:cNvSpPr/>
          <p:nvPr/>
        </p:nvSpPr>
        <p:spPr>
          <a:xfrm>
            <a:off x="3790985" y="5241597"/>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1</a:t>
            </a:r>
            <a:endParaRPr lang="cs-CZ" sz="1050" dirty="0"/>
          </a:p>
        </p:txBody>
      </p:sp>
      <p:sp>
        <p:nvSpPr>
          <p:cNvPr id="30" name="Rectangle: Rounded Corners 29">
            <a:extLst>
              <a:ext uri="{FF2B5EF4-FFF2-40B4-BE49-F238E27FC236}">
                <a16:creationId xmlns:a16="http://schemas.microsoft.com/office/drawing/2014/main" id="{55DC6638-4341-4457-8032-1EFB16CE45C4}"/>
              </a:ext>
            </a:extLst>
          </p:cNvPr>
          <p:cNvSpPr/>
          <p:nvPr/>
        </p:nvSpPr>
        <p:spPr>
          <a:xfrm>
            <a:off x="3839065" y="558924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2</a:t>
            </a:r>
            <a:endParaRPr lang="cs-CZ" sz="1050" dirty="0"/>
          </a:p>
        </p:txBody>
      </p:sp>
      <p:sp>
        <p:nvSpPr>
          <p:cNvPr id="31" name="Rectangle: Rounded Corners 30">
            <a:extLst>
              <a:ext uri="{FF2B5EF4-FFF2-40B4-BE49-F238E27FC236}">
                <a16:creationId xmlns:a16="http://schemas.microsoft.com/office/drawing/2014/main" id="{BD7963B1-6A16-43F3-AF60-5845F079F935}"/>
              </a:ext>
            </a:extLst>
          </p:cNvPr>
          <p:cNvSpPr/>
          <p:nvPr/>
        </p:nvSpPr>
        <p:spPr>
          <a:xfrm>
            <a:off x="3911073" y="594928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3</a:t>
            </a:r>
            <a:endParaRPr lang="cs-CZ" sz="1050" dirty="0"/>
          </a:p>
        </p:txBody>
      </p:sp>
      <p:sp>
        <p:nvSpPr>
          <p:cNvPr id="32" name="Rectangle: Rounded Corners 31">
            <a:extLst>
              <a:ext uri="{FF2B5EF4-FFF2-40B4-BE49-F238E27FC236}">
                <a16:creationId xmlns:a16="http://schemas.microsoft.com/office/drawing/2014/main" id="{F9AE502B-40EB-424A-9454-7C5E945A1A69}"/>
              </a:ext>
            </a:extLst>
          </p:cNvPr>
          <p:cNvSpPr/>
          <p:nvPr/>
        </p:nvSpPr>
        <p:spPr>
          <a:xfrm>
            <a:off x="3983081" y="6309320"/>
            <a:ext cx="732935"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shared key 4</a:t>
            </a:r>
            <a:endParaRPr lang="cs-CZ" sz="1050" dirty="0"/>
          </a:p>
        </p:txBody>
      </p:sp>
      <p:sp>
        <p:nvSpPr>
          <p:cNvPr id="35" name="Star: 8 Points 34">
            <a:extLst>
              <a:ext uri="{FF2B5EF4-FFF2-40B4-BE49-F238E27FC236}">
                <a16:creationId xmlns:a16="http://schemas.microsoft.com/office/drawing/2014/main" id="{6A2CC823-50EC-4030-9CA2-1403CF01A938}"/>
              </a:ext>
            </a:extLst>
          </p:cNvPr>
          <p:cNvSpPr/>
          <p:nvPr/>
        </p:nvSpPr>
        <p:spPr>
          <a:xfrm>
            <a:off x="4238186" y="3046165"/>
            <a:ext cx="1008112" cy="1008112"/>
          </a:xfrm>
          <a:prstGeom prst="star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C/SVC session key</a:t>
            </a:r>
            <a:endParaRPr lang="cs-CZ" sz="1100" dirty="0"/>
          </a:p>
        </p:txBody>
      </p:sp>
    </p:spTree>
    <p:extLst>
      <p:ext uri="{BB962C8B-B14F-4D97-AF65-F5344CB8AC3E}">
        <p14:creationId xmlns:p14="http://schemas.microsoft.com/office/powerpoint/2010/main" val="1874967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B2AFF908-D688-4555-996A-48408B851C60}"/>
              </a:ext>
            </a:extLst>
          </p:cNvPr>
          <p:cNvSpPr/>
          <p:nvPr/>
        </p:nvSpPr>
        <p:spPr>
          <a:xfrm rot="317079">
            <a:off x="1828878" y="2155975"/>
            <a:ext cx="5769089"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cs-CZ"/>
          </a:p>
        </p:txBody>
      </p:sp>
      <p:sp>
        <p:nvSpPr>
          <p:cNvPr id="21" name="Rectangle: Rounded Corners 20">
            <a:extLst>
              <a:ext uri="{FF2B5EF4-FFF2-40B4-BE49-F238E27FC236}">
                <a16:creationId xmlns:a16="http://schemas.microsoft.com/office/drawing/2014/main" id="{E37A6C75-C454-4A00-8CCF-542925786EFF}"/>
              </a:ext>
            </a:extLst>
          </p:cNvPr>
          <p:cNvSpPr/>
          <p:nvPr/>
        </p:nvSpPr>
        <p:spPr>
          <a:xfrm>
            <a:off x="3750547" y="1988840"/>
            <a:ext cx="2350130" cy="936104"/>
          </a:xfrm>
          <a:prstGeom prst="roundRect">
            <a:avLst>
              <a:gd name="adj" fmla="val 7939"/>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ctr"/>
            <a:r>
              <a:rPr lang="en-US" sz="1050" dirty="0"/>
              <a:t>encrypted by</a:t>
            </a:r>
            <a:br>
              <a:rPr lang="en-US" sz="1050" dirty="0"/>
            </a:br>
            <a:r>
              <a:rPr lang="en-US" sz="1050" dirty="0"/>
              <a:t>shared key 2</a:t>
            </a:r>
            <a:endParaRPr lang="cs-CZ" sz="1050" dirty="0"/>
          </a:p>
        </p:txBody>
      </p:sp>
      <p:sp>
        <p:nvSpPr>
          <p:cNvPr id="2" name="Title 1">
            <a:extLst>
              <a:ext uri="{FF2B5EF4-FFF2-40B4-BE49-F238E27FC236}">
                <a16:creationId xmlns:a16="http://schemas.microsoft.com/office/drawing/2014/main" id="{2F1D6F6A-4F24-400D-9A1A-386282FC1F9B}"/>
              </a:ext>
            </a:extLst>
          </p:cNvPr>
          <p:cNvSpPr>
            <a:spLocks noGrp="1"/>
          </p:cNvSpPr>
          <p:nvPr>
            <p:ph type="title"/>
          </p:nvPr>
        </p:nvSpPr>
        <p:spPr/>
        <p:txBody>
          <a:bodyPr/>
          <a:lstStyle/>
          <a:p>
            <a:r>
              <a:rPr lang="en-US" dirty="0"/>
              <a:t>Kerberos #3</a:t>
            </a:r>
            <a:endParaRPr lang="cs-CZ" dirty="0"/>
          </a:p>
        </p:txBody>
      </p:sp>
      <p:sp>
        <p:nvSpPr>
          <p:cNvPr id="4" name="Rectangle 3">
            <a:extLst>
              <a:ext uri="{FF2B5EF4-FFF2-40B4-BE49-F238E27FC236}">
                <a16:creationId xmlns:a16="http://schemas.microsoft.com/office/drawing/2014/main" id="{C99F741F-C2B4-4DFE-9A78-184500D9F95B}"/>
              </a:ext>
            </a:extLst>
          </p:cNvPr>
          <p:cNvSpPr/>
          <p:nvPr/>
        </p:nvSpPr>
        <p:spPr>
          <a:xfrm>
            <a:off x="3059832" y="5508104"/>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6" name="Rectangle 5">
            <a:extLst>
              <a:ext uri="{FF2B5EF4-FFF2-40B4-BE49-F238E27FC236}">
                <a16:creationId xmlns:a16="http://schemas.microsoft.com/office/drawing/2014/main" id="{C11D3B77-BE0C-4794-8C02-E302E5091E3C}"/>
              </a:ext>
            </a:extLst>
          </p:cNvPr>
          <p:cNvSpPr/>
          <p:nvPr/>
        </p:nvSpPr>
        <p:spPr>
          <a:xfrm>
            <a:off x="611560" y="1628800"/>
            <a:ext cx="936104"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client</a:t>
            </a:r>
            <a:endParaRPr lang="cs-CZ" sz="1400" dirty="0"/>
          </a:p>
        </p:txBody>
      </p:sp>
      <p:sp>
        <p:nvSpPr>
          <p:cNvPr id="12" name="Rectangle: Rounded Corners 11">
            <a:extLst>
              <a:ext uri="{FF2B5EF4-FFF2-40B4-BE49-F238E27FC236}">
                <a16:creationId xmlns:a16="http://schemas.microsoft.com/office/drawing/2014/main" id="{E9DBA0C6-C585-41DF-9249-4C3A3655EEAA}"/>
              </a:ext>
            </a:extLst>
          </p:cNvPr>
          <p:cNvSpPr/>
          <p:nvPr/>
        </p:nvSpPr>
        <p:spPr>
          <a:xfrm>
            <a:off x="245092"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TGT</a:t>
            </a:r>
            <a:endParaRPr lang="cs-CZ" sz="1050" dirty="0"/>
          </a:p>
        </p:txBody>
      </p:sp>
      <p:sp>
        <p:nvSpPr>
          <p:cNvPr id="13" name="Rectangle: Rounded Corners 12">
            <a:extLst>
              <a:ext uri="{FF2B5EF4-FFF2-40B4-BE49-F238E27FC236}">
                <a16:creationId xmlns:a16="http://schemas.microsoft.com/office/drawing/2014/main" id="{02DB30EB-5732-4D88-8C7F-C8E1FF770B0D}"/>
              </a:ext>
            </a:extLst>
          </p:cNvPr>
          <p:cNvSpPr/>
          <p:nvPr/>
        </p:nvSpPr>
        <p:spPr>
          <a:xfrm>
            <a:off x="978027" y="1376772"/>
            <a:ext cx="732935"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kamil</a:t>
            </a:r>
            <a:endParaRPr lang="cs-CZ" sz="1050" dirty="0"/>
          </a:p>
        </p:txBody>
      </p:sp>
      <p:sp>
        <p:nvSpPr>
          <p:cNvPr id="17" name="Rectangle 16">
            <a:extLst>
              <a:ext uri="{FF2B5EF4-FFF2-40B4-BE49-F238E27FC236}">
                <a16:creationId xmlns:a16="http://schemas.microsoft.com/office/drawing/2014/main" id="{1E9EE83E-A2B5-445D-857C-B8C0554EE299}"/>
              </a:ext>
            </a:extLst>
          </p:cNvPr>
          <p:cNvSpPr/>
          <p:nvPr/>
        </p:nvSpPr>
        <p:spPr>
          <a:xfrm>
            <a:off x="7452320" y="1345141"/>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service1</a:t>
            </a:r>
            <a:endParaRPr lang="cs-CZ" sz="1400" dirty="0"/>
          </a:p>
        </p:txBody>
      </p:sp>
      <p:sp>
        <p:nvSpPr>
          <p:cNvPr id="18" name="Rectangle 17">
            <a:extLst>
              <a:ext uri="{FF2B5EF4-FFF2-40B4-BE49-F238E27FC236}">
                <a16:creationId xmlns:a16="http://schemas.microsoft.com/office/drawing/2014/main" id="{A24BEDF0-375B-4577-B8D8-B3DEB9C8B608}"/>
              </a:ext>
            </a:extLst>
          </p:cNvPr>
          <p:cNvSpPr/>
          <p:nvPr/>
        </p:nvSpPr>
        <p:spPr>
          <a:xfrm>
            <a:off x="7750696" y="2094815"/>
            <a:ext cx="936104" cy="9361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service2</a:t>
            </a:r>
            <a:endParaRPr lang="cs-CZ" sz="1400" dirty="0"/>
          </a:p>
        </p:txBody>
      </p:sp>
      <p:sp>
        <p:nvSpPr>
          <p:cNvPr id="19" name="Rectangle 18">
            <a:extLst>
              <a:ext uri="{FF2B5EF4-FFF2-40B4-BE49-F238E27FC236}">
                <a16:creationId xmlns:a16="http://schemas.microsoft.com/office/drawing/2014/main" id="{9C04F13E-0DBA-489A-BFB6-2D191A5E2039}"/>
              </a:ext>
            </a:extLst>
          </p:cNvPr>
          <p:cNvSpPr/>
          <p:nvPr/>
        </p:nvSpPr>
        <p:spPr>
          <a:xfrm>
            <a:off x="7282644" y="285293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service3</a:t>
            </a:r>
            <a:endParaRPr lang="cs-CZ" sz="1400" dirty="0"/>
          </a:p>
        </p:txBody>
      </p:sp>
      <p:sp>
        <p:nvSpPr>
          <p:cNvPr id="20" name="Rectangle 19">
            <a:extLst>
              <a:ext uri="{FF2B5EF4-FFF2-40B4-BE49-F238E27FC236}">
                <a16:creationId xmlns:a16="http://schemas.microsoft.com/office/drawing/2014/main" id="{276A28B7-CA78-471C-9724-07ABDC4FBC07}"/>
              </a:ext>
            </a:extLst>
          </p:cNvPr>
          <p:cNvSpPr/>
          <p:nvPr/>
        </p:nvSpPr>
        <p:spPr>
          <a:xfrm>
            <a:off x="7920372" y="3573016"/>
            <a:ext cx="936104" cy="9361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dirty="0"/>
              <a:t>service4</a:t>
            </a:r>
            <a:endParaRPr lang="cs-CZ" sz="1400" dirty="0"/>
          </a:p>
        </p:txBody>
      </p:sp>
      <p:sp>
        <p:nvSpPr>
          <p:cNvPr id="24" name="Rectangle: Rounded Corners 23">
            <a:extLst>
              <a:ext uri="{FF2B5EF4-FFF2-40B4-BE49-F238E27FC236}">
                <a16:creationId xmlns:a16="http://schemas.microsoft.com/office/drawing/2014/main" id="{87F1BDC8-782A-433A-A887-CEBEB6F9CF14}"/>
              </a:ext>
            </a:extLst>
          </p:cNvPr>
          <p:cNvSpPr/>
          <p:nvPr/>
        </p:nvSpPr>
        <p:spPr>
          <a:xfrm>
            <a:off x="382621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25" name="Rectangle: Rounded Corners 24">
            <a:extLst>
              <a:ext uri="{FF2B5EF4-FFF2-40B4-BE49-F238E27FC236}">
                <a16:creationId xmlns:a16="http://schemas.microsoft.com/office/drawing/2014/main" id="{62781A8D-794B-437B-9A17-BF18CA75ABAB}"/>
              </a:ext>
            </a:extLst>
          </p:cNvPr>
          <p:cNvSpPr/>
          <p:nvPr/>
        </p:nvSpPr>
        <p:spPr>
          <a:xfrm>
            <a:off x="4559145"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kamil</a:t>
            </a:r>
            <a:endParaRPr lang="cs-CZ" sz="1050" dirty="0"/>
          </a:p>
        </p:txBody>
      </p:sp>
      <p:sp>
        <p:nvSpPr>
          <p:cNvPr id="26" name="Rectangle: Rounded Corners 25">
            <a:extLst>
              <a:ext uri="{FF2B5EF4-FFF2-40B4-BE49-F238E27FC236}">
                <a16:creationId xmlns:a16="http://schemas.microsoft.com/office/drawing/2014/main" id="{0CA04A9F-DECA-473A-975E-31A8CF0ED232}"/>
              </a:ext>
            </a:extLst>
          </p:cNvPr>
          <p:cNvSpPr/>
          <p:nvPr/>
        </p:nvSpPr>
        <p:spPr>
          <a:xfrm>
            <a:off x="5292080" y="2065221"/>
            <a:ext cx="732935" cy="4320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service2</a:t>
            </a:r>
            <a:endParaRPr lang="cs-CZ" sz="1050" dirty="0"/>
          </a:p>
        </p:txBody>
      </p:sp>
      <p:sp>
        <p:nvSpPr>
          <p:cNvPr id="27" name="Rectangle: Rounded Corners 26">
            <a:extLst>
              <a:ext uri="{FF2B5EF4-FFF2-40B4-BE49-F238E27FC236}">
                <a16:creationId xmlns:a16="http://schemas.microsoft.com/office/drawing/2014/main" id="{F21DAA83-83CA-4A53-8376-F259048E4A60}"/>
              </a:ext>
            </a:extLst>
          </p:cNvPr>
          <p:cNvSpPr/>
          <p:nvPr/>
        </p:nvSpPr>
        <p:spPr>
          <a:xfrm>
            <a:off x="43503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TGS</a:t>
            </a:r>
            <a:endParaRPr lang="cs-CZ" sz="1050" dirty="0"/>
          </a:p>
        </p:txBody>
      </p:sp>
      <p:sp>
        <p:nvSpPr>
          <p:cNvPr id="28" name="Rectangle: Rounded Corners 27">
            <a:extLst>
              <a:ext uri="{FF2B5EF4-FFF2-40B4-BE49-F238E27FC236}">
                <a16:creationId xmlns:a16="http://schemas.microsoft.com/office/drawing/2014/main" id="{31316A70-3405-4042-9347-B097DC473675}"/>
              </a:ext>
            </a:extLst>
          </p:cNvPr>
          <p:cNvSpPr/>
          <p:nvPr/>
        </p:nvSpPr>
        <p:spPr>
          <a:xfrm>
            <a:off x="1167968"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kamil</a:t>
            </a:r>
            <a:endParaRPr lang="cs-CZ" sz="1050" dirty="0"/>
          </a:p>
        </p:txBody>
      </p:sp>
      <p:sp>
        <p:nvSpPr>
          <p:cNvPr id="29" name="Rectangle: Rounded Corners 28">
            <a:extLst>
              <a:ext uri="{FF2B5EF4-FFF2-40B4-BE49-F238E27FC236}">
                <a16:creationId xmlns:a16="http://schemas.microsoft.com/office/drawing/2014/main" id="{FCEC7543-D990-4C14-984F-F31EB12B13D3}"/>
              </a:ext>
            </a:extLst>
          </p:cNvPr>
          <p:cNvSpPr/>
          <p:nvPr/>
        </p:nvSpPr>
        <p:spPr>
          <a:xfrm>
            <a:off x="1900903" y="2384884"/>
            <a:ext cx="732935" cy="43204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service2</a:t>
            </a:r>
            <a:endParaRPr lang="cs-CZ" sz="1050" dirty="0"/>
          </a:p>
        </p:txBody>
      </p:sp>
      <p:sp>
        <p:nvSpPr>
          <p:cNvPr id="22" name="Star: 8 Points 21">
            <a:extLst>
              <a:ext uri="{FF2B5EF4-FFF2-40B4-BE49-F238E27FC236}">
                <a16:creationId xmlns:a16="http://schemas.microsoft.com/office/drawing/2014/main" id="{953397AE-BF69-4830-B2AF-DA9B63DAB0AE}"/>
              </a:ext>
            </a:extLst>
          </p:cNvPr>
          <p:cNvSpPr/>
          <p:nvPr/>
        </p:nvSpPr>
        <p:spPr>
          <a:xfrm>
            <a:off x="5568974" y="2276872"/>
            <a:ext cx="1008112" cy="1008112"/>
          </a:xfrm>
          <a:prstGeom prst="star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C/SVC session key</a:t>
            </a:r>
            <a:endParaRPr lang="cs-CZ" sz="1100" dirty="0"/>
          </a:p>
        </p:txBody>
      </p:sp>
    </p:spTree>
    <p:extLst>
      <p:ext uri="{BB962C8B-B14F-4D97-AF65-F5344CB8AC3E}">
        <p14:creationId xmlns:p14="http://schemas.microsoft.com/office/powerpoint/2010/main" val="33966771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délník 4"/>
          <p:cNvSpPr/>
          <p:nvPr/>
        </p:nvSpPr>
        <p:spPr>
          <a:xfrm>
            <a:off x="467544" y="1052736"/>
            <a:ext cx="3240360" cy="156194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400" dirty="0"/>
              <a:t>user primary credentials</a:t>
            </a:r>
          </a:p>
          <a:p>
            <a:pPr algn="ctr"/>
            <a:r>
              <a:rPr lang="en-US" sz="1400" dirty="0"/>
              <a:t>AES-SHA-1(C-</a:t>
            </a:r>
            <a:r>
              <a:rPr lang="en-US" sz="1400" dirty="0" err="1"/>
              <a:t>pwd</a:t>
            </a:r>
            <a:r>
              <a:rPr lang="en-US" sz="1400" dirty="0"/>
              <a:t>)</a:t>
            </a:r>
          </a:p>
          <a:p>
            <a:pPr algn="ctr"/>
            <a:r>
              <a:rPr lang="en-US" sz="1400" dirty="0"/>
              <a:t>RC4-MD4-1(C-</a:t>
            </a:r>
            <a:r>
              <a:rPr lang="en-US" sz="1400" dirty="0" err="1"/>
              <a:t>pwd</a:t>
            </a:r>
            <a:r>
              <a:rPr lang="en-US" sz="1400" dirty="0"/>
              <a:t>)</a:t>
            </a:r>
          </a:p>
          <a:p>
            <a:pPr algn="ctr"/>
            <a:r>
              <a:rPr lang="en-US" sz="1400" dirty="0"/>
              <a:t>RSA encryption(C-cert-pub)</a:t>
            </a:r>
          </a:p>
        </p:txBody>
      </p:sp>
      <p:sp>
        <p:nvSpPr>
          <p:cNvPr id="2" name="Nadpis 1"/>
          <p:cNvSpPr>
            <a:spLocks noGrp="1"/>
          </p:cNvSpPr>
          <p:nvPr>
            <p:ph type="title"/>
          </p:nvPr>
        </p:nvSpPr>
        <p:spPr/>
        <p:txBody>
          <a:bodyPr/>
          <a:lstStyle/>
          <a:p>
            <a:r>
              <a:rPr lang="en-US" dirty="0"/>
              <a:t>Kerberos TGT (initial, not yet renewed)</a:t>
            </a:r>
          </a:p>
        </p:txBody>
      </p:sp>
      <p:sp>
        <p:nvSpPr>
          <p:cNvPr id="4" name="Obdélník 3"/>
          <p:cNvSpPr/>
          <p:nvPr/>
        </p:nvSpPr>
        <p:spPr>
          <a:xfrm>
            <a:off x="611560" y="1174516"/>
            <a:ext cx="2962615" cy="4320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per-ticket session key </a:t>
            </a:r>
            <a:r>
              <a:rPr lang="en-US" sz="1400" b="1" dirty="0"/>
              <a:t>C/</a:t>
            </a:r>
            <a:r>
              <a:rPr lang="en-US" sz="1400" b="1" dirty="0">
                <a:solidFill>
                  <a:schemeClr val="accent5"/>
                </a:solidFill>
              </a:rPr>
              <a:t>TGS</a:t>
            </a:r>
          </a:p>
        </p:txBody>
      </p:sp>
      <p:sp>
        <p:nvSpPr>
          <p:cNvPr id="6" name="Obdélník 5"/>
          <p:cNvSpPr/>
          <p:nvPr/>
        </p:nvSpPr>
        <p:spPr>
          <a:xfrm>
            <a:off x="3851920" y="1052736"/>
            <a:ext cx="3240360" cy="15619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b"/>
          <a:lstStyle/>
          <a:p>
            <a:pPr algn="ctr"/>
            <a:r>
              <a:rPr lang="en-US" sz="1400" dirty="0"/>
              <a:t>krbtgt#</a:t>
            </a:r>
          </a:p>
        </p:txBody>
      </p:sp>
      <p:sp>
        <p:nvSpPr>
          <p:cNvPr id="7" name="Obdélník 6"/>
          <p:cNvSpPr/>
          <p:nvPr/>
        </p:nvSpPr>
        <p:spPr>
          <a:xfrm>
            <a:off x="3981534" y="1174516"/>
            <a:ext cx="2962615" cy="4320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per-ticket session key </a:t>
            </a:r>
            <a:r>
              <a:rPr lang="en-US" sz="1400" b="1" dirty="0"/>
              <a:t>C/</a:t>
            </a:r>
            <a:r>
              <a:rPr lang="en-US" sz="1400" b="1" dirty="0">
                <a:solidFill>
                  <a:schemeClr val="accent5"/>
                </a:solidFill>
              </a:rPr>
              <a:t>TGS</a:t>
            </a:r>
          </a:p>
        </p:txBody>
      </p:sp>
      <p:sp>
        <p:nvSpPr>
          <p:cNvPr id="8" name="Obdélník 7"/>
          <p:cNvSpPr/>
          <p:nvPr/>
        </p:nvSpPr>
        <p:spPr>
          <a:xfrm>
            <a:off x="457200" y="2924944"/>
            <a:ext cx="8229600" cy="331236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US" sz="1400" dirty="0"/>
              <a:t>per-ticket session key </a:t>
            </a:r>
            <a:r>
              <a:rPr lang="en-US" sz="1400" b="1" dirty="0"/>
              <a:t>C/</a:t>
            </a:r>
            <a:r>
              <a:rPr lang="en-US" sz="1400" b="1" dirty="0">
                <a:solidFill>
                  <a:schemeClr val="accent5"/>
                </a:solidFill>
              </a:rPr>
              <a:t>TGS</a:t>
            </a:r>
          </a:p>
        </p:txBody>
      </p:sp>
      <p:sp>
        <p:nvSpPr>
          <p:cNvPr id="9" name="Obdélník 8"/>
          <p:cNvSpPr/>
          <p:nvPr/>
        </p:nvSpPr>
        <p:spPr>
          <a:xfrm>
            <a:off x="580935" y="3429640"/>
            <a:ext cx="2868854"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400" dirty="0"/>
              <a:t>kamil</a:t>
            </a:r>
          </a:p>
        </p:txBody>
      </p:sp>
      <p:sp>
        <p:nvSpPr>
          <p:cNvPr id="10" name="Obdélník 9"/>
          <p:cNvSpPr/>
          <p:nvPr/>
        </p:nvSpPr>
        <p:spPr>
          <a:xfrm>
            <a:off x="577010" y="3991064"/>
            <a:ext cx="2878138"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r"/>
            <a:r>
              <a:rPr lang="en-US" sz="1400" dirty="0" err="1"/>
              <a:t>krbtg</a:t>
            </a:r>
            <a:endParaRPr lang="en-US" sz="1400" dirty="0"/>
          </a:p>
        </p:txBody>
      </p:sp>
      <p:sp>
        <p:nvSpPr>
          <p:cNvPr id="11" name="Obdélník 10"/>
          <p:cNvSpPr/>
          <p:nvPr/>
        </p:nvSpPr>
        <p:spPr>
          <a:xfrm>
            <a:off x="3599892" y="3429640"/>
            <a:ext cx="1620180" cy="432048"/>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t>
            </a:r>
            <a:r>
              <a:rPr lang="en-US" sz="1400" dirty="0" err="1"/>
              <a:t>gopas.virtual</a:t>
            </a:r>
            <a:endParaRPr lang="en-US" sz="1400" dirty="0"/>
          </a:p>
        </p:txBody>
      </p:sp>
      <p:sp>
        <p:nvSpPr>
          <p:cNvPr id="12" name="Obdélník 11"/>
          <p:cNvSpPr/>
          <p:nvPr/>
        </p:nvSpPr>
        <p:spPr>
          <a:xfrm>
            <a:off x="3599528" y="3988716"/>
            <a:ext cx="1620180"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t>@</a:t>
            </a:r>
            <a:r>
              <a:rPr lang="en-US" sz="1400" dirty="0" err="1"/>
              <a:t>gopas.virtual</a:t>
            </a:r>
            <a:endParaRPr lang="en-US" sz="1400" dirty="0"/>
          </a:p>
        </p:txBody>
      </p:sp>
      <p:sp>
        <p:nvSpPr>
          <p:cNvPr id="13" name="Obdélník 12"/>
          <p:cNvSpPr/>
          <p:nvPr/>
        </p:nvSpPr>
        <p:spPr>
          <a:xfrm>
            <a:off x="577010" y="4547792"/>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 hours valid</a:t>
            </a:r>
          </a:p>
        </p:txBody>
      </p:sp>
      <p:sp>
        <p:nvSpPr>
          <p:cNvPr id="14" name="Obdélník 13"/>
          <p:cNvSpPr/>
          <p:nvPr/>
        </p:nvSpPr>
        <p:spPr>
          <a:xfrm>
            <a:off x="577010" y="5104520"/>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 days renewal</a:t>
            </a:r>
          </a:p>
        </p:txBody>
      </p:sp>
      <p:sp>
        <p:nvSpPr>
          <p:cNvPr id="15" name="Obdélník 14"/>
          <p:cNvSpPr/>
          <p:nvPr/>
        </p:nvSpPr>
        <p:spPr>
          <a:xfrm>
            <a:off x="5364088" y="3369036"/>
            <a:ext cx="3168352" cy="2724259"/>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a:t>privileged attribute certificate (PAC)</a:t>
            </a:r>
          </a:p>
        </p:txBody>
      </p:sp>
      <p:sp>
        <p:nvSpPr>
          <p:cNvPr id="16" name="Obdélník 15"/>
          <p:cNvSpPr/>
          <p:nvPr/>
        </p:nvSpPr>
        <p:spPr>
          <a:xfrm>
            <a:off x="577010" y="5661248"/>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 initial</a:t>
            </a:r>
          </a:p>
        </p:txBody>
      </p:sp>
      <p:sp>
        <p:nvSpPr>
          <p:cNvPr id="19" name="Šipka dolů 18"/>
          <p:cNvSpPr/>
          <p:nvPr/>
        </p:nvSpPr>
        <p:spPr>
          <a:xfrm>
            <a:off x="3175045" y="1556792"/>
            <a:ext cx="316835" cy="146239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Šipka dolů 19"/>
          <p:cNvSpPr/>
          <p:nvPr/>
        </p:nvSpPr>
        <p:spPr>
          <a:xfrm>
            <a:off x="3980891" y="1542398"/>
            <a:ext cx="316835" cy="146239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Obdélník 20"/>
          <p:cNvSpPr/>
          <p:nvPr/>
        </p:nvSpPr>
        <p:spPr>
          <a:xfrm>
            <a:off x="5508103" y="3772692"/>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S-1-5-21-GPS-GPS-GPS-kamil</a:t>
            </a:r>
          </a:p>
        </p:txBody>
      </p:sp>
      <p:sp>
        <p:nvSpPr>
          <p:cNvPr id="22" name="Obdélník 21"/>
          <p:cNvSpPr/>
          <p:nvPr/>
        </p:nvSpPr>
        <p:spPr>
          <a:xfrm>
            <a:off x="5508102" y="4298984"/>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S-1-5-21-GPS-GPS-GPS-employees</a:t>
            </a:r>
          </a:p>
        </p:txBody>
      </p:sp>
      <p:sp>
        <p:nvSpPr>
          <p:cNvPr id="23" name="Obdélník 22"/>
          <p:cNvSpPr/>
          <p:nvPr/>
        </p:nvSpPr>
        <p:spPr>
          <a:xfrm>
            <a:off x="5508102" y="4825276"/>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S-1-5-21-GPS-GPS-GPS-allpeople</a:t>
            </a:r>
          </a:p>
        </p:txBody>
      </p:sp>
      <p:sp>
        <p:nvSpPr>
          <p:cNvPr id="24" name="Obdélník 23"/>
          <p:cNvSpPr/>
          <p:nvPr/>
        </p:nvSpPr>
        <p:spPr>
          <a:xfrm>
            <a:off x="7173031" y="5567592"/>
            <a:ext cx="1287401"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HMAC(krbtgt#)</a:t>
            </a:r>
          </a:p>
        </p:txBody>
      </p:sp>
    </p:spTree>
    <p:extLst>
      <p:ext uri="{BB962C8B-B14F-4D97-AF65-F5344CB8AC3E}">
        <p14:creationId xmlns:p14="http://schemas.microsoft.com/office/powerpoint/2010/main" val="36548755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délník 4"/>
          <p:cNvSpPr/>
          <p:nvPr/>
        </p:nvSpPr>
        <p:spPr>
          <a:xfrm>
            <a:off x="467543" y="1052736"/>
            <a:ext cx="3240361" cy="156194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400" dirty="0"/>
              <a:t>per-ticket session key</a:t>
            </a:r>
            <a:br>
              <a:rPr lang="en-US" sz="1400" dirty="0"/>
            </a:br>
            <a:r>
              <a:rPr lang="en-US" sz="1400" b="1" dirty="0"/>
              <a:t>C/</a:t>
            </a:r>
            <a:r>
              <a:rPr lang="en-US" sz="1400" b="1" dirty="0">
                <a:solidFill>
                  <a:schemeClr val="accent5"/>
                </a:solidFill>
              </a:rPr>
              <a:t>TGS</a:t>
            </a:r>
            <a:r>
              <a:rPr lang="en-US" sz="1400" dirty="0"/>
              <a:t> from TGT</a:t>
            </a:r>
          </a:p>
        </p:txBody>
      </p:sp>
      <p:sp>
        <p:nvSpPr>
          <p:cNvPr id="2" name="Nadpis 1"/>
          <p:cNvSpPr>
            <a:spLocks noGrp="1"/>
          </p:cNvSpPr>
          <p:nvPr>
            <p:ph type="title"/>
          </p:nvPr>
        </p:nvSpPr>
        <p:spPr/>
        <p:txBody>
          <a:bodyPr/>
          <a:lstStyle/>
          <a:p>
            <a:r>
              <a:rPr lang="en-US" dirty="0"/>
              <a:t>Kerberos TGS - http/intranet service</a:t>
            </a:r>
          </a:p>
        </p:txBody>
      </p:sp>
      <p:sp>
        <p:nvSpPr>
          <p:cNvPr id="4" name="Obdélník 3"/>
          <p:cNvSpPr/>
          <p:nvPr/>
        </p:nvSpPr>
        <p:spPr>
          <a:xfrm>
            <a:off x="611560" y="1174516"/>
            <a:ext cx="2962615" cy="4320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per-ticket session key </a:t>
            </a:r>
            <a:r>
              <a:rPr lang="en-US" sz="1400" b="1" dirty="0"/>
              <a:t>C/</a:t>
            </a:r>
            <a:r>
              <a:rPr lang="en-US" sz="1400" b="1" dirty="0">
                <a:solidFill>
                  <a:schemeClr val="accent5"/>
                </a:solidFill>
              </a:rPr>
              <a:t>SVC</a:t>
            </a:r>
          </a:p>
        </p:txBody>
      </p:sp>
      <p:sp>
        <p:nvSpPr>
          <p:cNvPr id="6" name="Obdélník 5"/>
          <p:cNvSpPr/>
          <p:nvPr/>
        </p:nvSpPr>
        <p:spPr>
          <a:xfrm>
            <a:off x="3851919" y="1052736"/>
            <a:ext cx="3240361" cy="156194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ctr"/>
            <a:r>
              <a:rPr lang="en-US" sz="1400" dirty="0"/>
              <a:t>SVC shared key</a:t>
            </a:r>
          </a:p>
        </p:txBody>
      </p:sp>
      <p:sp>
        <p:nvSpPr>
          <p:cNvPr id="7" name="Obdélník 6"/>
          <p:cNvSpPr/>
          <p:nvPr/>
        </p:nvSpPr>
        <p:spPr>
          <a:xfrm>
            <a:off x="3981534" y="1174516"/>
            <a:ext cx="2962615" cy="4320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per-ticket session key </a:t>
            </a:r>
            <a:r>
              <a:rPr lang="en-US" sz="1400" b="1" dirty="0"/>
              <a:t>C/</a:t>
            </a:r>
            <a:r>
              <a:rPr lang="en-US" sz="1400" b="1" dirty="0">
                <a:solidFill>
                  <a:schemeClr val="accent5"/>
                </a:solidFill>
              </a:rPr>
              <a:t>SVC</a:t>
            </a:r>
          </a:p>
        </p:txBody>
      </p:sp>
      <p:sp>
        <p:nvSpPr>
          <p:cNvPr id="8" name="Obdélník 7"/>
          <p:cNvSpPr/>
          <p:nvPr/>
        </p:nvSpPr>
        <p:spPr>
          <a:xfrm>
            <a:off x="457200" y="2924944"/>
            <a:ext cx="8229600" cy="374441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US" sz="1400" dirty="0"/>
              <a:t>per-ticket session key </a:t>
            </a:r>
            <a:r>
              <a:rPr lang="en-US" sz="1400" b="1" dirty="0"/>
              <a:t>C/</a:t>
            </a:r>
            <a:r>
              <a:rPr lang="en-US" sz="1400" b="1" dirty="0">
                <a:solidFill>
                  <a:schemeClr val="accent5"/>
                </a:solidFill>
              </a:rPr>
              <a:t>SVC</a:t>
            </a:r>
          </a:p>
        </p:txBody>
      </p:sp>
      <p:sp>
        <p:nvSpPr>
          <p:cNvPr id="9" name="Obdélník 8"/>
          <p:cNvSpPr/>
          <p:nvPr/>
        </p:nvSpPr>
        <p:spPr>
          <a:xfrm>
            <a:off x="580935" y="3429000"/>
            <a:ext cx="2868854"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400" dirty="0"/>
              <a:t>kamil</a:t>
            </a:r>
          </a:p>
        </p:txBody>
      </p:sp>
      <p:sp>
        <p:nvSpPr>
          <p:cNvPr id="10" name="Obdélník 9"/>
          <p:cNvSpPr/>
          <p:nvPr/>
        </p:nvSpPr>
        <p:spPr>
          <a:xfrm>
            <a:off x="577010" y="3990424"/>
            <a:ext cx="2878138" cy="43204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r"/>
            <a:r>
              <a:rPr lang="en-US" sz="1400" dirty="0"/>
              <a:t>http/intranet</a:t>
            </a:r>
          </a:p>
        </p:txBody>
      </p:sp>
      <p:sp>
        <p:nvSpPr>
          <p:cNvPr id="11" name="Obdélník 10"/>
          <p:cNvSpPr/>
          <p:nvPr/>
        </p:nvSpPr>
        <p:spPr>
          <a:xfrm>
            <a:off x="3599892" y="3429000"/>
            <a:ext cx="1620180"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@gopas.virtual</a:t>
            </a:r>
          </a:p>
        </p:txBody>
      </p:sp>
      <p:sp>
        <p:nvSpPr>
          <p:cNvPr id="12" name="Obdélník 11"/>
          <p:cNvSpPr/>
          <p:nvPr/>
        </p:nvSpPr>
        <p:spPr>
          <a:xfrm>
            <a:off x="3599528" y="3988076"/>
            <a:ext cx="1620180" cy="43204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@gopas.virtual</a:t>
            </a:r>
          </a:p>
        </p:txBody>
      </p:sp>
      <p:sp>
        <p:nvSpPr>
          <p:cNvPr id="15" name="Obdélník 14"/>
          <p:cNvSpPr/>
          <p:nvPr/>
        </p:nvSpPr>
        <p:spPr>
          <a:xfrm>
            <a:off x="5364088" y="3368396"/>
            <a:ext cx="3168352" cy="3156948"/>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a:t>privileged attribute certificate (PAC)</a:t>
            </a:r>
          </a:p>
        </p:txBody>
      </p:sp>
      <p:sp>
        <p:nvSpPr>
          <p:cNvPr id="19" name="Šipka dolů 18"/>
          <p:cNvSpPr/>
          <p:nvPr/>
        </p:nvSpPr>
        <p:spPr>
          <a:xfrm>
            <a:off x="3175045" y="1556792"/>
            <a:ext cx="316835" cy="146239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0" name="Šipka dolů 19"/>
          <p:cNvSpPr/>
          <p:nvPr/>
        </p:nvSpPr>
        <p:spPr>
          <a:xfrm>
            <a:off x="3980891" y="1542398"/>
            <a:ext cx="316835" cy="146239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1" name="Obdélník 20"/>
          <p:cNvSpPr/>
          <p:nvPr/>
        </p:nvSpPr>
        <p:spPr>
          <a:xfrm>
            <a:off x="5508103" y="3772052"/>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S-1-5-21-GPS-GPS-GPS-kamil</a:t>
            </a:r>
          </a:p>
        </p:txBody>
      </p:sp>
      <p:sp>
        <p:nvSpPr>
          <p:cNvPr id="22" name="Obdélník 21"/>
          <p:cNvSpPr/>
          <p:nvPr/>
        </p:nvSpPr>
        <p:spPr>
          <a:xfrm>
            <a:off x="5508102" y="4298344"/>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S-1-5-21-GPS-GPS-GPS-employees</a:t>
            </a:r>
          </a:p>
        </p:txBody>
      </p:sp>
      <p:sp>
        <p:nvSpPr>
          <p:cNvPr id="23" name="Obdélník 22"/>
          <p:cNvSpPr/>
          <p:nvPr/>
        </p:nvSpPr>
        <p:spPr>
          <a:xfrm>
            <a:off x="5508102" y="4824636"/>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S-1-5-21-GPS-GPS-GPS-allpeople</a:t>
            </a:r>
          </a:p>
        </p:txBody>
      </p:sp>
      <p:sp>
        <p:nvSpPr>
          <p:cNvPr id="24" name="Obdélník 23"/>
          <p:cNvSpPr/>
          <p:nvPr/>
        </p:nvSpPr>
        <p:spPr>
          <a:xfrm>
            <a:off x="7173031" y="6021288"/>
            <a:ext cx="1287401"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HMAC(krbtgt#)</a:t>
            </a:r>
          </a:p>
        </p:txBody>
      </p:sp>
      <p:sp>
        <p:nvSpPr>
          <p:cNvPr id="25" name="Obdélník 24"/>
          <p:cNvSpPr/>
          <p:nvPr/>
        </p:nvSpPr>
        <p:spPr>
          <a:xfrm>
            <a:off x="577010" y="4547152"/>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9:27 hours valid</a:t>
            </a:r>
          </a:p>
        </p:txBody>
      </p:sp>
      <p:sp>
        <p:nvSpPr>
          <p:cNvPr id="26" name="Obdélník 25"/>
          <p:cNvSpPr/>
          <p:nvPr/>
        </p:nvSpPr>
        <p:spPr>
          <a:xfrm>
            <a:off x="577010" y="5103880"/>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no renewal used</a:t>
            </a:r>
          </a:p>
        </p:txBody>
      </p:sp>
      <p:sp>
        <p:nvSpPr>
          <p:cNvPr id="27" name="Obdélník 26"/>
          <p:cNvSpPr/>
          <p:nvPr/>
        </p:nvSpPr>
        <p:spPr>
          <a:xfrm>
            <a:off x="577010" y="5660608"/>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 -</a:t>
            </a:r>
          </a:p>
        </p:txBody>
      </p:sp>
      <p:sp>
        <p:nvSpPr>
          <p:cNvPr id="28" name="Obdélník 27"/>
          <p:cNvSpPr/>
          <p:nvPr/>
        </p:nvSpPr>
        <p:spPr>
          <a:xfrm>
            <a:off x="5508101" y="5350928"/>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S-1-5-21-GPS-GPS-GPS-crmaccess</a:t>
            </a:r>
          </a:p>
        </p:txBody>
      </p:sp>
    </p:spTree>
    <p:extLst>
      <p:ext uri="{BB962C8B-B14F-4D97-AF65-F5344CB8AC3E}">
        <p14:creationId xmlns:p14="http://schemas.microsoft.com/office/powerpoint/2010/main" val="1336733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9C37-2C06-4153-A099-40F2BDCB6056}"/>
              </a:ext>
            </a:extLst>
          </p:cNvPr>
          <p:cNvSpPr>
            <a:spLocks noGrp="1"/>
          </p:cNvSpPr>
          <p:nvPr>
            <p:ph type="title"/>
          </p:nvPr>
        </p:nvSpPr>
        <p:spPr>
          <a:xfrm>
            <a:off x="457200" y="44624"/>
            <a:ext cx="8229600" cy="782960"/>
          </a:xfrm>
        </p:spPr>
        <p:txBody>
          <a:bodyPr/>
          <a:lstStyle/>
          <a:p>
            <a:r>
              <a:rPr lang="en-US" dirty="0"/>
              <a:t>TGT/TGS renewal</a:t>
            </a:r>
          </a:p>
        </p:txBody>
      </p:sp>
      <p:sp>
        <p:nvSpPr>
          <p:cNvPr id="3" name="Content Placeholder 2">
            <a:extLst>
              <a:ext uri="{FF2B5EF4-FFF2-40B4-BE49-F238E27FC236}">
                <a16:creationId xmlns:a16="http://schemas.microsoft.com/office/drawing/2014/main" id="{21902647-7779-4B37-A3E0-84D7B8A76500}"/>
              </a:ext>
            </a:extLst>
          </p:cNvPr>
          <p:cNvSpPr>
            <a:spLocks noGrp="1"/>
          </p:cNvSpPr>
          <p:nvPr>
            <p:ph idx="1"/>
          </p:nvPr>
        </p:nvSpPr>
        <p:spPr>
          <a:xfrm>
            <a:off x="457200" y="827584"/>
            <a:ext cx="8229600" cy="5409728"/>
          </a:xfrm>
        </p:spPr>
        <p:txBody>
          <a:bodyPr>
            <a:normAutofit/>
          </a:bodyPr>
          <a:lstStyle/>
          <a:p>
            <a:r>
              <a:rPr lang="en-US" sz="1600" dirty="0"/>
              <a:t>yet valid TG</a:t>
            </a:r>
            <a:r>
              <a:rPr lang="en-US" sz="1600" dirty="0">
                <a:solidFill>
                  <a:schemeClr val="accent1"/>
                </a:solidFill>
              </a:rPr>
              <a:t>T</a:t>
            </a:r>
            <a:r>
              <a:rPr lang="en-US" sz="1600" dirty="0"/>
              <a:t> and TG</a:t>
            </a:r>
            <a:r>
              <a:rPr lang="en-US" sz="1600" dirty="0">
                <a:solidFill>
                  <a:schemeClr val="accent1"/>
                </a:solidFill>
              </a:rPr>
              <a:t>S</a:t>
            </a:r>
            <a:r>
              <a:rPr lang="en-US" sz="1600" dirty="0"/>
              <a:t> can be renewed</a:t>
            </a:r>
          </a:p>
          <a:p>
            <a:pPr lvl="1"/>
            <a:r>
              <a:rPr lang="en-US" sz="1400" dirty="0"/>
              <a:t>not using the primary credentials for 7 days (default)</a:t>
            </a:r>
          </a:p>
          <a:p>
            <a:pPr lvl="1"/>
            <a:r>
              <a:rPr lang="en-US" sz="1400" dirty="0"/>
              <a:t>automatically during the last 30 minutes resp. 15 minutes of its lifetime </a:t>
            </a:r>
            <a:r>
              <a:rPr lang="en-US" sz="1400" dirty="0">
                <a:solidFill>
                  <a:schemeClr val="accent5"/>
                </a:solidFill>
              </a:rPr>
              <a:t>if being used</a:t>
            </a:r>
          </a:p>
          <a:p>
            <a:r>
              <a:rPr lang="en-US" sz="1600" dirty="0">
                <a:solidFill>
                  <a:schemeClr val="accent1"/>
                </a:solidFill>
              </a:rPr>
              <a:t>disabled accounts</a:t>
            </a:r>
            <a:r>
              <a:rPr lang="en-US" sz="1600" dirty="0"/>
              <a:t> still renew</a:t>
            </a:r>
          </a:p>
          <a:p>
            <a:r>
              <a:rPr lang="en-US" sz="1600" dirty="0">
                <a:solidFill>
                  <a:schemeClr val="accent1"/>
                </a:solidFill>
              </a:rPr>
              <a:t>group SIDs </a:t>
            </a:r>
            <a:r>
              <a:rPr lang="en-US" sz="1600" dirty="0"/>
              <a:t>kept from the original TGT</a:t>
            </a:r>
          </a:p>
        </p:txBody>
      </p:sp>
      <p:pic>
        <p:nvPicPr>
          <p:cNvPr id="5" name="Picture 4">
            <a:extLst>
              <a:ext uri="{FF2B5EF4-FFF2-40B4-BE49-F238E27FC236}">
                <a16:creationId xmlns:a16="http://schemas.microsoft.com/office/drawing/2014/main" id="{21FC4DAA-FBD3-4509-B919-9F8E2EAFDAE7}"/>
              </a:ext>
            </a:extLst>
          </p:cNvPr>
          <p:cNvPicPr>
            <a:picLocks noChangeAspect="1"/>
          </p:cNvPicPr>
          <p:nvPr/>
        </p:nvPicPr>
        <p:blipFill>
          <a:blip r:embed="rId2"/>
          <a:stretch>
            <a:fillRect/>
          </a:stretch>
        </p:blipFill>
        <p:spPr>
          <a:xfrm>
            <a:off x="2267744" y="2292860"/>
            <a:ext cx="6890319" cy="4565141"/>
          </a:xfrm>
          <a:prstGeom prst="rect">
            <a:avLst/>
          </a:prstGeom>
        </p:spPr>
      </p:pic>
    </p:spTree>
    <p:extLst>
      <p:ext uri="{BB962C8B-B14F-4D97-AF65-F5344CB8AC3E}">
        <p14:creationId xmlns:p14="http://schemas.microsoft.com/office/powerpoint/2010/main" val="2706430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délník 4"/>
          <p:cNvSpPr/>
          <p:nvPr/>
        </p:nvSpPr>
        <p:spPr>
          <a:xfrm>
            <a:off x="467544" y="1052736"/>
            <a:ext cx="3240360" cy="156194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lang="en-US" sz="1400" dirty="0"/>
              <a:t>per-ticket session key</a:t>
            </a:r>
            <a:br>
              <a:rPr lang="en-US" sz="1400" dirty="0"/>
            </a:br>
            <a:r>
              <a:rPr lang="en-US" sz="1400" b="1" dirty="0"/>
              <a:t>C/</a:t>
            </a:r>
            <a:r>
              <a:rPr lang="en-US" sz="1400" b="1" dirty="0">
                <a:solidFill>
                  <a:schemeClr val="accent5"/>
                </a:solidFill>
              </a:rPr>
              <a:t>TGS</a:t>
            </a:r>
            <a:r>
              <a:rPr lang="en-US" sz="1400" b="1" dirty="0"/>
              <a:t> previous</a:t>
            </a:r>
          </a:p>
        </p:txBody>
      </p:sp>
      <p:sp>
        <p:nvSpPr>
          <p:cNvPr id="2" name="Nadpis 1"/>
          <p:cNvSpPr>
            <a:spLocks noGrp="1"/>
          </p:cNvSpPr>
          <p:nvPr>
            <p:ph type="title"/>
          </p:nvPr>
        </p:nvSpPr>
        <p:spPr/>
        <p:txBody>
          <a:bodyPr/>
          <a:lstStyle/>
          <a:p>
            <a:r>
              <a:rPr lang="en-US" dirty="0"/>
              <a:t>Kerberos TGT (renewed)</a:t>
            </a:r>
          </a:p>
        </p:txBody>
      </p:sp>
      <p:sp>
        <p:nvSpPr>
          <p:cNvPr id="4" name="Obdélník 3"/>
          <p:cNvSpPr/>
          <p:nvPr/>
        </p:nvSpPr>
        <p:spPr>
          <a:xfrm>
            <a:off x="611560" y="1174516"/>
            <a:ext cx="2962615" cy="4320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per-ticket session key </a:t>
            </a:r>
            <a:r>
              <a:rPr lang="en-US" sz="1400" b="1" dirty="0"/>
              <a:t>C/</a:t>
            </a:r>
            <a:r>
              <a:rPr lang="en-US" sz="1400" b="1" dirty="0">
                <a:solidFill>
                  <a:schemeClr val="accent5"/>
                </a:solidFill>
              </a:rPr>
              <a:t>TGS new</a:t>
            </a:r>
          </a:p>
        </p:txBody>
      </p:sp>
      <p:sp>
        <p:nvSpPr>
          <p:cNvPr id="6" name="Obdélník 5"/>
          <p:cNvSpPr/>
          <p:nvPr/>
        </p:nvSpPr>
        <p:spPr>
          <a:xfrm>
            <a:off x="3851920" y="1052736"/>
            <a:ext cx="3240360" cy="15619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b"/>
          <a:lstStyle/>
          <a:p>
            <a:pPr algn="ctr"/>
            <a:r>
              <a:rPr lang="en-US" sz="1400" dirty="0"/>
              <a:t>krbtgt#</a:t>
            </a:r>
          </a:p>
        </p:txBody>
      </p:sp>
      <p:sp>
        <p:nvSpPr>
          <p:cNvPr id="7" name="Obdélník 6"/>
          <p:cNvSpPr/>
          <p:nvPr/>
        </p:nvSpPr>
        <p:spPr>
          <a:xfrm>
            <a:off x="3981534" y="1174516"/>
            <a:ext cx="2962615" cy="4320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per-ticket session key </a:t>
            </a:r>
            <a:r>
              <a:rPr lang="en-US" sz="1400" b="1" dirty="0"/>
              <a:t>C/</a:t>
            </a:r>
            <a:r>
              <a:rPr lang="en-US" sz="1400" b="1" dirty="0">
                <a:solidFill>
                  <a:schemeClr val="accent5"/>
                </a:solidFill>
              </a:rPr>
              <a:t>TGS new</a:t>
            </a:r>
          </a:p>
        </p:txBody>
      </p:sp>
      <p:sp>
        <p:nvSpPr>
          <p:cNvPr id="8" name="Obdélník 7"/>
          <p:cNvSpPr/>
          <p:nvPr/>
        </p:nvSpPr>
        <p:spPr>
          <a:xfrm>
            <a:off x="457200" y="2924944"/>
            <a:ext cx="8229600" cy="331236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US" sz="1400" dirty="0"/>
              <a:t>per-ticket session key </a:t>
            </a:r>
            <a:r>
              <a:rPr lang="en-US" sz="1400" b="1" dirty="0"/>
              <a:t>C/</a:t>
            </a:r>
            <a:r>
              <a:rPr lang="en-US" sz="1400" b="1" dirty="0">
                <a:solidFill>
                  <a:schemeClr val="accent5"/>
                </a:solidFill>
              </a:rPr>
              <a:t>TGS</a:t>
            </a:r>
            <a:r>
              <a:rPr lang="en-US" sz="1400" b="1" dirty="0"/>
              <a:t> new</a:t>
            </a:r>
          </a:p>
        </p:txBody>
      </p:sp>
      <p:sp>
        <p:nvSpPr>
          <p:cNvPr id="9" name="Obdélník 8"/>
          <p:cNvSpPr/>
          <p:nvPr/>
        </p:nvSpPr>
        <p:spPr>
          <a:xfrm>
            <a:off x="580935" y="3429640"/>
            <a:ext cx="2868854"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400" dirty="0"/>
              <a:t>kamil</a:t>
            </a:r>
          </a:p>
        </p:txBody>
      </p:sp>
      <p:sp>
        <p:nvSpPr>
          <p:cNvPr id="10" name="Obdélník 9"/>
          <p:cNvSpPr/>
          <p:nvPr/>
        </p:nvSpPr>
        <p:spPr>
          <a:xfrm>
            <a:off x="577010" y="3991064"/>
            <a:ext cx="2878138"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r"/>
            <a:r>
              <a:rPr lang="en-US" sz="1400" dirty="0" err="1"/>
              <a:t>krbtg</a:t>
            </a:r>
            <a:endParaRPr lang="en-US" sz="1400" dirty="0"/>
          </a:p>
        </p:txBody>
      </p:sp>
      <p:sp>
        <p:nvSpPr>
          <p:cNvPr id="11" name="Obdélník 10"/>
          <p:cNvSpPr/>
          <p:nvPr/>
        </p:nvSpPr>
        <p:spPr>
          <a:xfrm>
            <a:off x="3599892" y="3429640"/>
            <a:ext cx="1620180" cy="4320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t>
            </a:r>
            <a:r>
              <a:rPr lang="en-US" sz="1400" dirty="0" err="1"/>
              <a:t>gopas.virtual</a:t>
            </a:r>
            <a:endParaRPr lang="en-US" sz="1400" dirty="0"/>
          </a:p>
        </p:txBody>
      </p:sp>
      <p:sp>
        <p:nvSpPr>
          <p:cNvPr id="12" name="Obdélník 11"/>
          <p:cNvSpPr/>
          <p:nvPr/>
        </p:nvSpPr>
        <p:spPr>
          <a:xfrm>
            <a:off x="3599528" y="3988716"/>
            <a:ext cx="1620180" cy="4320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t>@</a:t>
            </a:r>
            <a:r>
              <a:rPr lang="en-US" sz="1400" dirty="0" err="1"/>
              <a:t>gopas.virtual</a:t>
            </a:r>
            <a:endParaRPr lang="en-US" sz="1400" dirty="0"/>
          </a:p>
        </p:txBody>
      </p:sp>
      <p:sp>
        <p:nvSpPr>
          <p:cNvPr id="13" name="Obdélník 12"/>
          <p:cNvSpPr/>
          <p:nvPr/>
        </p:nvSpPr>
        <p:spPr>
          <a:xfrm>
            <a:off x="577010" y="4547792"/>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 hours valid</a:t>
            </a:r>
          </a:p>
        </p:txBody>
      </p:sp>
      <p:sp>
        <p:nvSpPr>
          <p:cNvPr id="14" name="Obdélník 13"/>
          <p:cNvSpPr/>
          <p:nvPr/>
        </p:nvSpPr>
        <p:spPr>
          <a:xfrm>
            <a:off x="577010" y="5104520"/>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 days renewal</a:t>
            </a:r>
          </a:p>
        </p:txBody>
      </p:sp>
      <p:sp>
        <p:nvSpPr>
          <p:cNvPr id="15" name="Obdélník 14"/>
          <p:cNvSpPr/>
          <p:nvPr/>
        </p:nvSpPr>
        <p:spPr>
          <a:xfrm>
            <a:off x="5364088" y="3369036"/>
            <a:ext cx="3168352" cy="2724259"/>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en-US" sz="1400" dirty="0"/>
              <a:t>privileged attribute certificate (PAC)</a:t>
            </a:r>
          </a:p>
        </p:txBody>
      </p:sp>
      <p:sp>
        <p:nvSpPr>
          <p:cNvPr id="16" name="Obdélník 15"/>
          <p:cNvSpPr/>
          <p:nvPr/>
        </p:nvSpPr>
        <p:spPr>
          <a:xfrm>
            <a:off x="577010" y="5661248"/>
            <a:ext cx="161872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 initial</a:t>
            </a:r>
          </a:p>
        </p:txBody>
      </p:sp>
      <p:sp>
        <p:nvSpPr>
          <p:cNvPr id="19" name="Šipka dolů 18"/>
          <p:cNvSpPr/>
          <p:nvPr/>
        </p:nvSpPr>
        <p:spPr>
          <a:xfrm>
            <a:off x="3031029" y="1556792"/>
            <a:ext cx="316835" cy="146239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Šipka dolů 19"/>
          <p:cNvSpPr/>
          <p:nvPr/>
        </p:nvSpPr>
        <p:spPr>
          <a:xfrm>
            <a:off x="3980891" y="1542398"/>
            <a:ext cx="316835" cy="146239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Obdélník 20"/>
          <p:cNvSpPr/>
          <p:nvPr/>
        </p:nvSpPr>
        <p:spPr>
          <a:xfrm>
            <a:off x="5508103" y="3772692"/>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S-1-5-21-GPS-GPS-GPS-kamil</a:t>
            </a:r>
          </a:p>
        </p:txBody>
      </p:sp>
      <p:sp>
        <p:nvSpPr>
          <p:cNvPr id="22" name="Obdélník 21"/>
          <p:cNvSpPr/>
          <p:nvPr/>
        </p:nvSpPr>
        <p:spPr>
          <a:xfrm>
            <a:off x="5508102" y="4298984"/>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S-1-5-21-GPS-GPS-GPS-employees</a:t>
            </a:r>
          </a:p>
        </p:txBody>
      </p:sp>
      <p:sp>
        <p:nvSpPr>
          <p:cNvPr id="23" name="Obdélník 22"/>
          <p:cNvSpPr/>
          <p:nvPr/>
        </p:nvSpPr>
        <p:spPr>
          <a:xfrm>
            <a:off x="5508102" y="4825276"/>
            <a:ext cx="2848573"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S-1-5-21-GPS-GPS-GPS-allpeople</a:t>
            </a:r>
          </a:p>
        </p:txBody>
      </p:sp>
      <p:sp>
        <p:nvSpPr>
          <p:cNvPr id="24" name="Obdélník 23"/>
          <p:cNvSpPr/>
          <p:nvPr/>
        </p:nvSpPr>
        <p:spPr>
          <a:xfrm>
            <a:off x="7173031" y="5567592"/>
            <a:ext cx="1287401"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HMAC(krbtgt#)</a:t>
            </a:r>
          </a:p>
        </p:txBody>
      </p:sp>
    </p:spTree>
    <p:extLst>
      <p:ext uri="{BB962C8B-B14F-4D97-AF65-F5344CB8AC3E}">
        <p14:creationId xmlns:p14="http://schemas.microsoft.com/office/powerpoint/2010/main" val="146902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row: Up 15">
            <a:extLst>
              <a:ext uri="{FF2B5EF4-FFF2-40B4-BE49-F238E27FC236}">
                <a16:creationId xmlns:a16="http://schemas.microsoft.com/office/drawing/2014/main" id="{3985AEDA-7BBC-4F19-8E2A-C05A1997D8AC}"/>
              </a:ext>
            </a:extLst>
          </p:cNvPr>
          <p:cNvSpPr/>
          <p:nvPr/>
        </p:nvSpPr>
        <p:spPr>
          <a:xfrm rot="18900000">
            <a:off x="2639524" y="2249467"/>
            <a:ext cx="664248" cy="3436201"/>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E4041F6-271C-4447-9BC4-4F75A8A12856}"/>
              </a:ext>
            </a:extLst>
          </p:cNvPr>
          <p:cNvSpPr/>
          <p:nvPr/>
        </p:nvSpPr>
        <p:spPr>
          <a:xfrm>
            <a:off x="3937046" y="2564906"/>
            <a:ext cx="1053040" cy="1903646"/>
          </a:xfrm>
          <a:prstGeom prst="roundRect">
            <a:avLst>
              <a:gd name="adj" fmla="val 9116"/>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US" sz="1050" dirty="0"/>
              <a:t>C/TGS</a:t>
            </a:r>
            <a:endParaRPr lang="cs-CZ" sz="1050" dirty="0"/>
          </a:p>
        </p:txBody>
      </p:sp>
      <p:sp>
        <p:nvSpPr>
          <p:cNvPr id="14" name="Rectangle: Rounded Corners 13">
            <a:extLst>
              <a:ext uri="{FF2B5EF4-FFF2-40B4-BE49-F238E27FC236}">
                <a16:creationId xmlns:a16="http://schemas.microsoft.com/office/drawing/2014/main" id="{174C0918-95A1-47F8-B038-984C98682032}"/>
              </a:ext>
            </a:extLst>
          </p:cNvPr>
          <p:cNvSpPr/>
          <p:nvPr/>
        </p:nvSpPr>
        <p:spPr>
          <a:xfrm>
            <a:off x="2843808" y="3532448"/>
            <a:ext cx="1053041" cy="936104"/>
          </a:xfrm>
          <a:prstGeom prst="roundRect">
            <a:avLst>
              <a:gd name="adj" fmla="val 9027"/>
            </a:avLst>
          </a:prstGeom>
        </p:spPr>
        <p:style>
          <a:lnRef idx="2">
            <a:schemeClr val="dk1">
              <a:shade val="50000"/>
            </a:schemeClr>
          </a:lnRef>
          <a:fillRef idx="1">
            <a:schemeClr val="dk1"/>
          </a:fillRef>
          <a:effectRef idx="0">
            <a:schemeClr val="dk1"/>
          </a:effectRef>
          <a:fontRef idx="minor">
            <a:schemeClr val="lt1"/>
          </a:fontRef>
        </p:style>
        <p:txBody>
          <a:bodyPr rtlCol="0" anchor="b"/>
          <a:lstStyle/>
          <a:p>
            <a:pPr algn="ctr"/>
            <a:r>
              <a:rPr lang="en-US" sz="1050" dirty="0"/>
              <a:t>KDC key</a:t>
            </a:r>
            <a:endParaRPr lang="cs-CZ" sz="1050" dirty="0"/>
          </a:p>
        </p:txBody>
      </p:sp>
      <p:sp>
        <p:nvSpPr>
          <p:cNvPr id="13" name="Rectangle: Rounded Corners 12">
            <a:extLst>
              <a:ext uri="{FF2B5EF4-FFF2-40B4-BE49-F238E27FC236}">
                <a16:creationId xmlns:a16="http://schemas.microsoft.com/office/drawing/2014/main" id="{B7E410E9-8CD8-444B-9D89-7EE6B9D72974}"/>
              </a:ext>
            </a:extLst>
          </p:cNvPr>
          <p:cNvSpPr/>
          <p:nvPr/>
        </p:nvSpPr>
        <p:spPr>
          <a:xfrm>
            <a:off x="2843808" y="2564905"/>
            <a:ext cx="1053041" cy="936104"/>
          </a:xfrm>
          <a:prstGeom prst="roundRect">
            <a:avLst>
              <a:gd name="adj" fmla="val 10443"/>
            </a:avLst>
          </a:prstGeom>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en-US" sz="1050" dirty="0" err="1"/>
              <a:t>pwd</a:t>
            </a:r>
            <a:r>
              <a:rPr lang="en-US" sz="1050" dirty="0"/>
              <a:t>#</a:t>
            </a:r>
            <a:endParaRPr lang="cs-CZ" sz="1050" dirty="0"/>
          </a:p>
        </p:txBody>
      </p:sp>
      <p:sp>
        <p:nvSpPr>
          <p:cNvPr id="9" name="Rectangle 8">
            <a:extLst>
              <a:ext uri="{FF2B5EF4-FFF2-40B4-BE49-F238E27FC236}">
                <a16:creationId xmlns:a16="http://schemas.microsoft.com/office/drawing/2014/main" id="{A9F5BDF5-8A38-478B-BE3C-26A08BCD27B1}"/>
              </a:ext>
            </a:extLst>
          </p:cNvPr>
          <p:cNvSpPr/>
          <p:nvPr/>
        </p:nvSpPr>
        <p:spPr>
          <a:xfrm>
            <a:off x="4355976" y="5476866"/>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8" name="Rectangle 7">
            <a:extLst>
              <a:ext uri="{FF2B5EF4-FFF2-40B4-BE49-F238E27FC236}">
                <a16:creationId xmlns:a16="http://schemas.microsoft.com/office/drawing/2014/main" id="{5DB372D0-DC29-4519-B77D-D550008685C6}"/>
              </a:ext>
            </a:extLst>
          </p:cNvPr>
          <p:cNvSpPr/>
          <p:nvPr/>
        </p:nvSpPr>
        <p:spPr>
          <a:xfrm>
            <a:off x="4552054" y="5229200"/>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2" name="Title 1">
            <a:extLst>
              <a:ext uri="{FF2B5EF4-FFF2-40B4-BE49-F238E27FC236}">
                <a16:creationId xmlns:a16="http://schemas.microsoft.com/office/drawing/2014/main" id="{6485621A-B1BB-4378-9B90-10794CA94987}"/>
              </a:ext>
            </a:extLst>
          </p:cNvPr>
          <p:cNvSpPr>
            <a:spLocks noGrp="1"/>
          </p:cNvSpPr>
          <p:nvPr>
            <p:ph type="title"/>
          </p:nvPr>
        </p:nvSpPr>
        <p:spPr/>
        <p:txBody>
          <a:bodyPr>
            <a:noAutofit/>
          </a:bodyPr>
          <a:lstStyle/>
          <a:p>
            <a:r>
              <a:rPr lang="en-US" sz="2400" dirty="0"/>
              <a:t>Transporting Kerberos TGT encryption vs. KDC key vs. C/TGS session keys - reality in detail :-)</a:t>
            </a:r>
          </a:p>
        </p:txBody>
      </p:sp>
      <p:sp>
        <p:nvSpPr>
          <p:cNvPr id="4" name="Rectangle 3">
            <a:extLst>
              <a:ext uri="{FF2B5EF4-FFF2-40B4-BE49-F238E27FC236}">
                <a16:creationId xmlns:a16="http://schemas.microsoft.com/office/drawing/2014/main" id="{E5C98B05-D4CB-4E92-815D-8BFE9EDE568C}"/>
              </a:ext>
            </a:extLst>
          </p:cNvPr>
          <p:cNvSpPr/>
          <p:nvPr/>
        </p:nvSpPr>
        <p:spPr>
          <a:xfrm>
            <a:off x="4716016" y="5353033"/>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5" name="Rectangle 4">
            <a:extLst>
              <a:ext uri="{FF2B5EF4-FFF2-40B4-BE49-F238E27FC236}">
                <a16:creationId xmlns:a16="http://schemas.microsoft.com/office/drawing/2014/main" id="{E18090B4-75B7-4E6E-8735-7FDDFA153EAB}"/>
              </a:ext>
            </a:extLst>
          </p:cNvPr>
          <p:cNvSpPr/>
          <p:nvPr/>
        </p:nvSpPr>
        <p:spPr>
          <a:xfrm>
            <a:off x="611560" y="1628800"/>
            <a:ext cx="936104" cy="93610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t>client</a:t>
            </a:r>
            <a:endParaRPr lang="cs-CZ" sz="1400" dirty="0"/>
          </a:p>
        </p:txBody>
      </p:sp>
      <p:sp>
        <p:nvSpPr>
          <p:cNvPr id="6" name="Rectangle: Rounded Corners 5">
            <a:extLst>
              <a:ext uri="{FF2B5EF4-FFF2-40B4-BE49-F238E27FC236}">
                <a16:creationId xmlns:a16="http://schemas.microsoft.com/office/drawing/2014/main" id="{C6E79F5D-D9D9-4467-90F6-51F116E7D76B}"/>
              </a:ext>
            </a:extLst>
          </p:cNvPr>
          <p:cNvSpPr/>
          <p:nvPr/>
        </p:nvSpPr>
        <p:spPr>
          <a:xfrm>
            <a:off x="374847" y="2348880"/>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7" name="Rectangle: Rounded Corners 6">
            <a:extLst>
              <a:ext uri="{FF2B5EF4-FFF2-40B4-BE49-F238E27FC236}">
                <a16:creationId xmlns:a16="http://schemas.microsoft.com/office/drawing/2014/main" id="{8C44C701-C55F-4B64-B4B6-4C06FBD8AE28}"/>
              </a:ext>
            </a:extLst>
          </p:cNvPr>
          <p:cNvSpPr/>
          <p:nvPr/>
        </p:nvSpPr>
        <p:spPr>
          <a:xfrm>
            <a:off x="5292081" y="6073113"/>
            <a:ext cx="936103" cy="4320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50" dirty="0"/>
              <a:t>KDC key</a:t>
            </a:r>
            <a:endParaRPr lang="cs-CZ" sz="1050" dirty="0"/>
          </a:p>
        </p:txBody>
      </p:sp>
      <p:sp>
        <p:nvSpPr>
          <p:cNvPr id="10" name="Rectangle: Rounded Corners 9">
            <a:extLst>
              <a:ext uri="{FF2B5EF4-FFF2-40B4-BE49-F238E27FC236}">
                <a16:creationId xmlns:a16="http://schemas.microsoft.com/office/drawing/2014/main" id="{728F0D1D-E3A9-41A6-A50A-C76B7592688E}"/>
              </a:ext>
            </a:extLst>
          </p:cNvPr>
          <p:cNvSpPr/>
          <p:nvPr/>
        </p:nvSpPr>
        <p:spPr>
          <a:xfrm>
            <a:off x="4051878" y="2915749"/>
            <a:ext cx="823376" cy="1440160"/>
          </a:xfrm>
          <a:prstGeom prst="roundRect">
            <a:avLst>
              <a:gd name="adj" fmla="val 92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1" name="Rectangle: Rounded Corners 10">
            <a:extLst>
              <a:ext uri="{FF2B5EF4-FFF2-40B4-BE49-F238E27FC236}">
                <a16:creationId xmlns:a16="http://schemas.microsoft.com/office/drawing/2014/main" id="{93BBCCB2-7F0E-4FA6-9998-21B35CD0C12F}"/>
              </a:ext>
            </a:extLst>
          </p:cNvPr>
          <p:cNvSpPr/>
          <p:nvPr/>
        </p:nvSpPr>
        <p:spPr>
          <a:xfrm>
            <a:off x="2971648" y="2924944"/>
            <a:ext cx="792088"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C/TGS</a:t>
            </a:r>
            <a:endParaRPr lang="cs-CZ" sz="1050" dirty="0"/>
          </a:p>
        </p:txBody>
      </p:sp>
      <p:sp>
        <p:nvSpPr>
          <p:cNvPr id="12" name="Rectangle: Rounded Corners 11">
            <a:extLst>
              <a:ext uri="{FF2B5EF4-FFF2-40B4-BE49-F238E27FC236}">
                <a16:creationId xmlns:a16="http://schemas.microsoft.com/office/drawing/2014/main" id="{4FA46006-A6AA-4EDB-B310-3E57ED7484F6}"/>
              </a:ext>
            </a:extLst>
          </p:cNvPr>
          <p:cNvSpPr/>
          <p:nvPr/>
        </p:nvSpPr>
        <p:spPr>
          <a:xfrm>
            <a:off x="2971648" y="3669754"/>
            <a:ext cx="792088"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C/TGS</a:t>
            </a:r>
            <a:endParaRPr lang="cs-CZ" sz="1050" dirty="0"/>
          </a:p>
        </p:txBody>
      </p:sp>
    </p:spTree>
    <p:extLst>
      <p:ext uri="{BB962C8B-B14F-4D97-AF65-F5344CB8AC3E}">
        <p14:creationId xmlns:p14="http://schemas.microsoft.com/office/powerpoint/2010/main" val="22983300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row: Up 15">
            <a:extLst>
              <a:ext uri="{FF2B5EF4-FFF2-40B4-BE49-F238E27FC236}">
                <a16:creationId xmlns:a16="http://schemas.microsoft.com/office/drawing/2014/main" id="{3985AEDA-7BBC-4F19-8E2A-C05A1997D8AC}"/>
              </a:ext>
            </a:extLst>
          </p:cNvPr>
          <p:cNvSpPr/>
          <p:nvPr/>
        </p:nvSpPr>
        <p:spPr>
          <a:xfrm rot="8100000">
            <a:off x="2639524" y="2249467"/>
            <a:ext cx="664248" cy="3436201"/>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E4041F6-271C-4447-9BC4-4F75A8A12856}"/>
              </a:ext>
            </a:extLst>
          </p:cNvPr>
          <p:cNvSpPr/>
          <p:nvPr/>
        </p:nvSpPr>
        <p:spPr>
          <a:xfrm>
            <a:off x="3937046" y="2564906"/>
            <a:ext cx="1053040" cy="1903646"/>
          </a:xfrm>
          <a:prstGeom prst="roundRect">
            <a:avLst>
              <a:gd name="adj" fmla="val 9116"/>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US" sz="1050" dirty="0"/>
              <a:t>C/TGS</a:t>
            </a:r>
            <a:endParaRPr lang="cs-CZ" sz="1050" dirty="0"/>
          </a:p>
        </p:txBody>
      </p:sp>
      <p:sp>
        <p:nvSpPr>
          <p:cNvPr id="14" name="Rectangle: Rounded Corners 13">
            <a:extLst>
              <a:ext uri="{FF2B5EF4-FFF2-40B4-BE49-F238E27FC236}">
                <a16:creationId xmlns:a16="http://schemas.microsoft.com/office/drawing/2014/main" id="{174C0918-95A1-47F8-B038-984C98682032}"/>
              </a:ext>
            </a:extLst>
          </p:cNvPr>
          <p:cNvSpPr/>
          <p:nvPr/>
        </p:nvSpPr>
        <p:spPr>
          <a:xfrm>
            <a:off x="2843808" y="3532448"/>
            <a:ext cx="1053041" cy="936104"/>
          </a:xfrm>
          <a:prstGeom prst="roundRect">
            <a:avLst>
              <a:gd name="adj" fmla="val 9027"/>
            </a:avLst>
          </a:prstGeom>
        </p:spPr>
        <p:style>
          <a:lnRef idx="2">
            <a:schemeClr val="dk1">
              <a:shade val="50000"/>
            </a:schemeClr>
          </a:lnRef>
          <a:fillRef idx="1">
            <a:schemeClr val="dk1"/>
          </a:fillRef>
          <a:effectRef idx="0">
            <a:schemeClr val="dk1"/>
          </a:effectRef>
          <a:fontRef idx="minor">
            <a:schemeClr val="lt1"/>
          </a:fontRef>
        </p:style>
        <p:txBody>
          <a:bodyPr rtlCol="0" anchor="b"/>
          <a:lstStyle/>
          <a:p>
            <a:pPr algn="ctr"/>
            <a:r>
              <a:rPr lang="en-US" sz="1050" dirty="0"/>
              <a:t>KDC key</a:t>
            </a:r>
            <a:endParaRPr lang="cs-CZ" sz="1050" dirty="0"/>
          </a:p>
        </p:txBody>
      </p:sp>
      <p:sp>
        <p:nvSpPr>
          <p:cNvPr id="9" name="Rectangle 8">
            <a:extLst>
              <a:ext uri="{FF2B5EF4-FFF2-40B4-BE49-F238E27FC236}">
                <a16:creationId xmlns:a16="http://schemas.microsoft.com/office/drawing/2014/main" id="{A9F5BDF5-8A38-478B-BE3C-26A08BCD27B1}"/>
              </a:ext>
            </a:extLst>
          </p:cNvPr>
          <p:cNvSpPr/>
          <p:nvPr/>
        </p:nvSpPr>
        <p:spPr>
          <a:xfrm>
            <a:off x="4355976" y="5476866"/>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8" name="Rectangle 7">
            <a:extLst>
              <a:ext uri="{FF2B5EF4-FFF2-40B4-BE49-F238E27FC236}">
                <a16:creationId xmlns:a16="http://schemas.microsoft.com/office/drawing/2014/main" id="{5DB372D0-DC29-4519-B77D-D550008685C6}"/>
              </a:ext>
            </a:extLst>
          </p:cNvPr>
          <p:cNvSpPr/>
          <p:nvPr/>
        </p:nvSpPr>
        <p:spPr>
          <a:xfrm>
            <a:off x="4552054" y="5229200"/>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2" name="Title 1">
            <a:extLst>
              <a:ext uri="{FF2B5EF4-FFF2-40B4-BE49-F238E27FC236}">
                <a16:creationId xmlns:a16="http://schemas.microsoft.com/office/drawing/2014/main" id="{6485621A-B1BB-4378-9B90-10794CA94987}"/>
              </a:ext>
            </a:extLst>
          </p:cNvPr>
          <p:cNvSpPr>
            <a:spLocks noGrp="1"/>
          </p:cNvSpPr>
          <p:nvPr>
            <p:ph type="title"/>
          </p:nvPr>
        </p:nvSpPr>
        <p:spPr/>
        <p:txBody>
          <a:bodyPr>
            <a:noAutofit/>
          </a:bodyPr>
          <a:lstStyle/>
          <a:p>
            <a:r>
              <a:rPr lang="en-US" sz="2400" dirty="0"/>
              <a:t>Transporting Kerberos TGT encryption vs. KDC key vs. C/TGS session keys - reality in detail :-)</a:t>
            </a:r>
          </a:p>
        </p:txBody>
      </p:sp>
      <p:sp>
        <p:nvSpPr>
          <p:cNvPr id="4" name="Rectangle 3">
            <a:extLst>
              <a:ext uri="{FF2B5EF4-FFF2-40B4-BE49-F238E27FC236}">
                <a16:creationId xmlns:a16="http://schemas.microsoft.com/office/drawing/2014/main" id="{E5C98B05-D4CB-4E92-815D-8BFE9EDE568C}"/>
              </a:ext>
            </a:extLst>
          </p:cNvPr>
          <p:cNvSpPr/>
          <p:nvPr/>
        </p:nvSpPr>
        <p:spPr>
          <a:xfrm>
            <a:off x="4716016" y="5353033"/>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5" name="Rectangle 4">
            <a:extLst>
              <a:ext uri="{FF2B5EF4-FFF2-40B4-BE49-F238E27FC236}">
                <a16:creationId xmlns:a16="http://schemas.microsoft.com/office/drawing/2014/main" id="{E18090B4-75B7-4E6E-8735-7FDDFA153EAB}"/>
              </a:ext>
            </a:extLst>
          </p:cNvPr>
          <p:cNvSpPr/>
          <p:nvPr/>
        </p:nvSpPr>
        <p:spPr>
          <a:xfrm>
            <a:off x="611560" y="1628800"/>
            <a:ext cx="936104" cy="93610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t>client</a:t>
            </a:r>
            <a:endParaRPr lang="cs-CZ" sz="1400" dirty="0"/>
          </a:p>
        </p:txBody>
      </p:sp>
      <p:sp>
        <p:nvSpPr>
          <p:cNvPr id="6" name="Rectangle: Rounded Corners 5">
            <a:extLst>
              <a:ext uri="{FF2B5EF4-FFF2-40B4-BE49-F238E27FC236}">
                <a16:creationId xmlns:a16="http://schemas.microsoft.com/office/drawing/2014/main" id="{C6E79F5D-D9D9-4467-90F6-51F116E7D76B}"/>
              </a:ext>
            </a:extLst>
          </p:cNvPr>
          <p:cNvSpPr/>
          <p:nvPr/>
        </p:nvSpPr>
        <p:spPr>
          <a:xfrm>
            <a:off x="374846" y="2348880"/>
            <a:ext cx="93610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7" name="Rectangle: Rounded Corners 6">
            <a:extLst>
              <a:ext uri="{FF2B5EF4-FFF2-40B4-BE49-F238E27FC236}">
                <a16:creationId xmlns:a16="http://schemas.microsoft.com/office/drawing/2014/main" id="{8C44C701-C55F-4B64-B4B6-4C06FBD8AE28}"/>
              </a:ext>
            </a:extLst>
          </p:cNvPr>
          <p:cNvSpPr/>
          <p:nvPr/>
        </p:nvSpPr>
        <p:spPr>
          <a:xfrm>
            <a:off x="5292081" y="6073113"/>
            <a:ext cx="936103" cy="4320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50" dirty="0"/>
              <a:t>KDC key</a:t>
            </a:r>
            <a:endParaRPr lang="cs-CZ" sz="1050" dirty="0"/>
          </a:p>
        </p:txBody>
      </p:sp>
      <p:sp>
        <p:nvSpPr>
          <p:cNvPr id="10" name="Rectangle: Rounded Corners 9">
            <a:extLst>
              <a:ext uri="{FF2B5EF4-FFF2-40B4-BE49-F238E27FC236}">
                <a16:creationId xmlns:a16="http://schemas.microsoft.com/office/drawing/2014/main" id="{728F0D1D-E3A9-41A6-A50A-C76B7592688E}"/>
              </a:ext>
            </a:extLst>
          </p:cNvPr>
          <p:cNvSpPr/>
          <p:nvPr/>
        </p:nvSpPr>
        <p:spPr>
          <a:xfrm>
            <a:off x="4051878" y="2915749"/>
            <a:ext cx="823376" cy="1440160"/>
          </a:xfrm>
          <a:prstGeom prst="roundRect">
            <a:avLst>
              <a:gd name="adj" fmla="val 92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TGT</a:t>
            </a:r>
            <a:endParaRPr lang="cs-CZ" sz="1050" dirty="0"/>
          </a:p>
        </p:txBody>
      </p:sp>
      <p:sp>
        <p:nvSpPr>
          <p:cNvPr id="12" name="Rectangle: Rounded Corners 11">
            <a:extLst>
              <a:ext uri="{FF2B5EF4-FFF2-40B4-BE49-F238E27FC236}">
                <a16:creationId xmlns:a16="http://schemas.microsoft.com/office/drawing/2014/main" id="{4FA46006-A6AA-4EDB-B310-3E57ED7484F6}"/>
              </a:ext>
            </a:extLst>
          </p:cNvPr>
          <p:cNvSpPr/>
          <p:nvPr/>
        </p:nvSpPr>
        <p:spPr>
          <a:xfrm>
            <a:off x="2971648" y="3669754"/>
            <a:ext cx="792088"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C/TGS</a:t>
            </a:r>
            <a:endParaRPr lang="cs-CZ" sz="1050" dirty="0"/>
          </a:p>
        </p:txBody>
      </p:sp>
      <p:sp>
        <p:nvSpPr>
          <p:cNvPr id="18" name="Rectangle: Rounded Corners 17">
            <a:extLst>
              <a:ext uri="{FF2B5EF4-FFF2-40B4-BE49-F238E27FC236}">
                <a16:creationId xmlns:a16="http://schemas.microsoft.com/office/drawing/2014/main" id="{13DF4BEF-C5E3-42C3-9323-2788301B1F09}"/>
              </a:ext>
            </a:extLst>
          </p:cNvPr>
          <p:cNvSpPr/>
          <p:nvPr/>
        </p:nvSpPr>
        <p:spPr>
          <a:xfrm>
            <a:off x="369073" y="2780928"/>
            <a:ext cx="936104" cy="4320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50" dirty="0"/>
              <a:t>KDC protector</a:t>
            </a:r>
            <a:endParaRPr lang="cs-CZ" sz="1050" dirty="0"/>
          </a:p>
        </p:txBody>
      </p:sp>
    </p:spTree>
    <p:extLst>
      <p:ext uri="{BB962C8B-B14F-4D97-AF65-F5344CB8AC3E}">
        <p14:creationId xmlns:p14="http://schemas.microsoft.com/office/powerpoint/2010/main" val="2528611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row: Up 15">
            <a:extLst>
              <a:ext uri="{FF2B5EF4-FFF2-40B4-BE49-F238E27FC236}">
                <a16:creationId xmlns:a16="http://schemas.microsoft.com/office/drawing/2014/main" id="{3985AEDA-7BBC-4F19-8E2A-C05A1997D8AC}"/>
              </a:ext>
            </a:extLst>
          </p:cNvPr>
          <p:cNvSpPr/>
          <p:nvPr/>
        </p:nvSpPr>
        <p:spPr>
          <a:xfrm rot="18900000">
            <a:off x="2639524" y="2249467"/>
            <a:ext cx="664248" cy="3436201"/>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E4041F6-271C-4447-9BC4-4F75A8A12856}"/>
              </a:ext>
            </a:extLst>
          </p:cNvPr>
          <p:cNvSpPr/>
          <p:nvPr/>
        </p:nvSpPr>
        <p:spPr>
          <a:xfrm>
            <a:off x="3937046" y="2564906"/>
            <a:ext cx="1053040" cy="1903646"/>
          </a:xfrm>
          <a:prstGeom prst="roundRect">
            <a:avLst>
              <a:gd name="adj" fmla="val 9116"/>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sz="1050" dirty="0"/>
              <a:t>C/SVC</a:t>
            </a:r>
            <a:endParaRPr lang="cs-CZ" sz="1050" dirty="0"/>
          </a:p>
        </p:txBody>
      </p:sp>
      <p:sp>
        <p:nvSpPr>
          <p:cNvPr id="14" name="Rectangle: Rounded Corners 13">
            <a:extLst>
              <a:ext uri="{FF2B5EF4-FFF2-40B4-BE49-F238E27FC236}">
                <a16:creationId xmlns:a16="http://schemas.microsoft.com/office/drawing/2014/main" id="{174C0918-95A1-47F8-B038-984C98682032}"/>
              </a:ext>
            </a:extLst>
          </p:cNvPr>
          <p:cNvSpPr/>
          <p:nvPr/>
        </p:nvSpPr>
        <p:spPr>
          <a:xfrm>
            <a:off x="2843808" y="3532448"/>
            <a:ext cx="1053041" cy="936104"/>
          </a:xfrm>
          <a:prstGeom prst="roundRect">
            <a:avLst>
              <a:gd name="adj" fmla="val 9027"/>
            </a:avLst>
          </a:prstGeom>
        </p:spPr>
        <p:style>
          <a:lnRef idx="2">
            <a:schemeClr val="accent6">
              <a:shade val="50000"/>
            </a:schemeClr>
          </a:lnRef>
          <a:fillRef idx="1">
            <a:schemeClr val="accent6"/>
          </a:fillRef>
          <a:effectRef idx="0">
            <a:schemeClr val="accent6"/>
          </a:effectRef>
          <a:fontRef idx="minor">
            <a:schemeClr val="lt1"/>
          </a:fontRef>
        </p:style>
        <p:txBody>
          <a:bodyPr rtlCol="0" anchor="b"/>
          <a:lstStyle/>
          <a:p>
            <a:pPr algn="ctr"/>
            <a:r>
              <a:rPr lang="en-US" sz="1050" dirty="0"/>
              <a:t>SVC key</a:t>
            </a:r>
            <a:endParaRPr lang="cs-CZ" sz="1050" dirty="0"/>
          </a:p>
        </p:txBody>
      </p:sp>
      <p:sp>
        <p:nvSpPr>
          <p:cNvPr id="13" name="Rectangle: Rounded Corners 12">
            <a:extLst>
              <a:ext uri="{FF2B5EF4-FFF2-40B4-BE49-F238E27FC236}">
                <a16:creationId xmlns:a16="http://schemas.microsoft.com/office/drawing/2014/main" id="{B7E410E9-8CD8-444B-9D89-7EE6B9D72974}"/>
              </a:ext>
            </a:extLst>
          </p:cNvPr>
          <p:cNvSpPr/>
          <p:nvPr/>
        </p:nvSpPr>
        <p:spPr>
          <a:xfrm>
            <a:off x="2843808" y="2564905"/>
            <a:ext cx="1053041" cy="936104"/>
          </a:xfrm>
          <a:prstGeom prst="roundRect">
            <a:avLst>
              <a:gd name="adj" fmla="val 10443"/>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US" sz="1050" dirty="0"/>
              <a:t>C/TGS</a:t>
            </a:r>
            <a:endParaRPr lang="cs-CZ" sz="1050" dirty="0"/>
          </a:p>
        </p:txBody>
      </p:sp>
      <p:sp>
        <p:nvSpPr>
          <p:cNvPr id="9" name="Rectangle 8">
            <a:extLst>
              <a:ext uri="{FF2B5EF4-FFF2-40B4-BE49-F238E27FC236}">
                <a16:creationId xmlns:a16="http://schemas.microsoft.com/office/drawing/2014/main" id="{A9F5BDF5-8A38-478B-BE3C-26A08BCD27B1}"/>
              </a:ext>
            </a:extLst>
          </p:cNvPr>
          <p:cNvSpPr/>
          <p:nvPr/>
        </p:nvSpPr>
        <p:spPr>
          <a:xfrm>
            <a:off x="4355976" y="5476866"/>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8" name="Rectangle 7">
            <a:extLst>
              <a:ext uri="{FF2B5EF4-FFF2-40B4-BE49-F238E27FC236}">
                <a16:creationId xmlns:a16="http://schemas.microsoft.com/office/drawing/2014/main" id="{5DB372D0-DC29-4519-B77D-D550008685C6}"/>
              </a:ext>
            </a:extLst>
          </p:cNvPr>
          <p:cNvSpPr/>
          <p:nvPr/>
        </p:nvSpPr>
        <p:spPr>
          <a:xfrm>
            <a:off x="4552054" y="5229200"/>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2" name="Title 1">
            <a:extLst>
              <a:ext uri="{FF2B5EF4-FFF2-40B4-BE49-F238E27FC236}">
                <a16:creationId xmlns:a16="http://schemas.microsoft.com/office/drawing/2014/main" id="{6485621A-B1BB-4378-9B90-10794CA94987}"/>
              </a:ext>
            </a:extLst>
          </p:cNvPr>
          <p:cNvSpPr>
            <a:spLocks noGrp="1"/>
          </p:cNvSpPr>
          <p:nvPr>
            <p:ph type="title"/>
          </p:nvPr>
        </p:nvSpPr>
        <p:spPr/>
        <p:txBody>
          <a:bodyPr>
            <a:noAutofit/>
          </a:bodyPr>
          <a:lstStyle/>
          <a:p>
            <a:r>
              <a:rPr lang="en-US" sz="2400" dirty="0"/>
              <a:t>Transporting Kerberos TGS encryption vs. SVC key vs. C/SVC session keys - reality in detail :-)</a:t>
            </a:r>
          </a:p>
        </p:txBody>
      </p:sp>
      <p:sp>
        <p:nvSpPr>
          <p:cNvPr id="4" name="Rectangle 3">
            <a:extLst>
              <a:ext uri="{FF2B5EF4-FFF2-40B4-BE49-F238E27FC236}">
                <a16:creationId xmlns:a16="http://schemas.microsoft.com/office/drawing/2014/main" id="{E5C98B05-D4CB-4E92-815D-8BFE9EDE568C}"/>
              </a:ext>
            </a:extLst>
          </p:cNvPr>
          <p:cNvSpPr/>
          <p:nvPr/>
        </p:nvSpPr>
        <p:spPr>
          <a:xfrm>
            <a:off x="4716016" y="5353033"/>
            <a:ext cx="936104" cy="936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KDC</a:t>
            </a:r>
            <a:endParaRPr lang="cs-CZ" sz="1400" dirty="0"/>
          </a:p>
        </p:txBody>
      </p:sp>
      <p:sp>
        <p:nvSpPr>
          <p:cNvPr id="5" name="Rectangle 4">
            <a:extLst>
              <a:ext uri="{FF2B5EF4-FFF2-40B4-BE49-F238E27FC236}">
                <a16:creationId xmlns:a16="http://schemas.microsoft.com/office/drawing/2014/main" id="{E18090B4-75B7-4E6E-8735-7FDDFA153EAB}"/>
              </a:ext>
            </a:extLst>
          </p:cNvPr>
          <p:cNvSpPr/>
          <p:nvPr/>
        </p:nvSpPr>
        <p:spPr>
          <a:xfrm>
            <a:off x="611560" y="1628800"/>
            <a:ext cx="936104" cy="93610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t>client</a:t>
            </a:r>
            <a:endParaRPr lang="cs-CZ" sz="1400" dirty="0"/>
          </a:p>
        </p:txBody>
      </p:sp>
      <p:sp>
        <p:nvSpPr>
          <p:cNvPr id="6" name="Rectangle: Rounded Corners 5">
            <a:extLst>
              <a:ext uri="{FF2B5EF4-FFF2-40B4-BE49-F238E27FC236}">
                <a16:creationId xmlns:a16="http://schemas.microsoft.com/office/drawing/2014/main" id="{C6E79F5D-D9D9-4467-90F6-51F116E7D76B}"/>
              </a:ext>
            </a:extLst>
          </p:cNvPr>
          <p:cNvSpPr/>
          <p:nvPr/>
        </p:nvSpPr>
        <p:spPr>
          <a:xfrm>
            <a:off x="304504" y="1880828"/>
            <a:ext cx="495672" cy="43204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err="1"/>
              <a:t>pwd</a:t>
            </a:r>
            <a:endParaRPr lang="cs-CZ" sz="1050" dirty="0"/>
          </a:p>
        </p:txBody>
      </p:sp>
      <p:sp>
        <p:nvSpPr>
          <p:cNvPr id="7" name="Rectangle: Rounded Corners 6">
            <a:extLst>
              <a:ext uri="{FF2B5EF4-FFF2-40B4-BE49-F238E27FC236}">
                <a16:creationId xmlns:a16="http://schemas.microsoft.com/office/drawing/2014/main" id="{8C44C701-C55F-4B64-B4B6-4C06FBD8AE28}"/>
              </a:ext>
            </a:extLst>
          </p:cNvPr>
          <p:cNvSpPr/>
          <p:nvPr/>
        </p:nvSpPr>
        <p:spPr>
          <a:xfrm>
            <a:off x="5292081" y="6073113"/>
            <a:ext cx="936103" cy="4320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50" dirty="0"/>
              <a:t>KDC key</a:t>
            </a:r>
            <a:endParaRPr lang="cs-CZ" sz="1050" dirty="0"/>
          </a:p>
        </p:txBody>
      </p:sp>
      <p:sp>
        <p:nvSpPr>
          <p:cNvPr id="10" name="Rectangle: Rounded Corners 9">
            <a:extLst>
              <a:ext uri="{FF2B5EF4-FFF2-40B4-BE49-F238E27FC236}">
                <a16:creationId xmlns:a16="http://schemas.microsoft.com/office/drawing/2014/main" id="{728F0D1D-E3A9-41A6-A50A-C76B7592688E}"/>
              </a:ext>
            </a:extLst>
          </p:cNvPr>
          <p:cNvSpPr/>
          <p:nvPr/>
        </p:nvSpPr>
        <p:spPr>
          <a:xfrm>
            <a:off x="4051878" y="2915749"/>
            <a:ext cx="823376" cy="1440160"/>
          </a:xfrm>
          <a:prstGeom prst="roundRect">
            <a:avLst>
              <a:gd name="adj" fmla="val 9263"/>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dirty="0"/>
              <a:t>TGS</a:t>
            </a:r>
            <a:endParaRPr lang="cs-CZ" sz="1050" dirty="0"/>
          </a:p>
        </p:txBody>
      </p:sp>
      <p:sp>
        <p:nvSpPr>
          <p:cNvPr id="11" name="Rectangle: Rounded Corners 10">
            <a:extLst>
              <a:ext uri="{FF2B5EF4-FFF2-40B4-BE49-F238E27FC236}">
                <a16:creationId xmlns:a16="http://schemas.microsoft.com/office/drawing/2014/main" id="{93BBCCB2-7F0E-4FA6-9998-21B35CD0C12F}"/>
              </a:ext>
            </a:extLst>
          </p:cNvPr>
          <p:cNvSpPr/>
          <p:nvPr/>
        </p:nvSpPr>
        <p:spPr>
          <a:xfrm>
            <a:off x="2971648" y="2924944"/>
            <a:ext cx="792088"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C/SVC</a:t>
            </a:r>
            <a:endParaRPr lang="cs-CZ" sz="1050" dirty="0"/>
          </a:p>
        </p:txBody>
      </p:sp>
      <p:sp>
        <p:nvSpPr>
          <p:cNvPr id="12" name="Rectangle: Rounded Corners 11">
            <a:extLst>
              <a:ext uri="{FF2B5EF4-FFF2-40B4-BE49-F238E27FC236}">
                <a16:creationId xmlns:a16="http://schemas.microsoft.com/office/drawing/2014/main" id="{4FA46006-A6AA-4EDB-B310-3E57ED7484F6}"/>
              </a:ext>
            </a:extLst>
          </p:cNvPr>
          <p:cNvSpPr/>
          <p:nvPr/>
        </p:nvSpPr>
        <p:spPr>
          <a:xfrm>
            <a:off x="2971648" y="3669754"/>
            <a:ext cx="792088" cy="4320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050" dirty="0"/>
              <a:t>C/SVC</a:t>
            </a:r>
            <a:endParaRPr lang="cs-CZ" sz="1050" dirty="0"/>
          </a:p>
        </p:txBody>
      </p:sp>
      <p:sp>
        <p:nvSpPr>
          <p:cNvPr id="17" name="Rectangle: Rounded Corners 16">
            <a:extLst>
              <a:ext uri="{FF2B5EF4-FFF2-40B4-BE49-F238E27FC236}">
                <a16:creationId xmlns:a16="http://schemas.microsoft.com/office/drawing/2014/main" id="{1B17D72D-7079-4DF1-84C4-6A3C82F601E5}"/>
              </a:ext>
            </a:extLst>
          </p:cNvPr>
          <p:cNvSpPr/>
          <p:nvPr/>
        </p:nvSpPr>
        <p:spPr>
          <a:xfrm>
            <a:off x="310335" y="2383309"/>
            <a:ext cx="792088" cy="43204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t>C/TGS</a:t>
            </a:r>
            <a:endParaRPr lang="cs-CZ" sz="1050" dirty="0"/>
          </a:p>
        </p:txBody>
      </p:sp>
      <p:sp>
        <p:nvSpPr>
          <p:cNvPr id="18" name="Rectangle: Rounded Corners 17">
            <a:extLst>
              <a:ext uri="{FF2B5EF4-FFF2-40B4-BE49-F238E27FC236}">
                <a16:creationId xmlns:a16="http://schemas.microsoft.com/office/drawing/2014/main" id="{0CCC8BC3-0C49-42BD-97B4-0F0ABAC6CFE8}"/>
              </a:ext>
            </a:extLst>
          </p:cNvPr>
          <p:cNvSpPr/>
          <p:nvPr/>
        </p:nvSpPr>
        <p:spPr>
          <a:xfrm>
            <a:off x="7596336" y="1848306"/>
            <a:ext cx="792088"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SVC key</a:t>
            </a:r>
            <a:endParaRPr lang="cs-CZ" sz="1050" dirty="0"/>
          </a:p>
        </p:txBody>
      </p:sp>
      <p:sp>
        <p:nvSpPr>
          <p:cNvPr id="20" name="Rectangle: Rounded Corners 19">
            <a:extLst>
              <a:ext uri="{FF2B5EF4-FFF2-40B4-BE49-F238E27FC236}">
                <a16:creationId xmlns:a16="http://schemas.microsoft.com/office/drawing/2014/main" id="{4E3FD7C8-6C2E-475E-B0B5-50976EBCA5D1}"/>
              </a:ext>
            </a:extLst>
          </p:cNvPr>
          <p:cNvSpPr/>
          <p:nvPr/>
        </p:nvSpPr>
        <p:spPr>
          <a:xfrm>
            <a:off x="5436096" y="5569209"/>
            <a:ext cx="792088" cy="43204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050" dirty="0"/>
              <a:t>SVC key</a:t>
            </a:r>
            <a:endParaRPr lang="cs-CZ" sz="1050" dirty="0"/>
          </a:p>
        </p:txBody>
      </p:sp>
    </p:spTree>
    <p:extLst>
      <p:ext uri="{BB962C8B-B14F-4D97-AF65-F5344CB8AC3E}">
        <p14:creationId xmlns:p14="http://schemas.microsoft.com/office/powerpoint/2010/main" val="1881099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2C899B-A0F3-42D8-B04F-A4E928981AD4}"/>
              </a:ext>
            </a:extLst>
          </p:cNvPr>
          <p:cNvSpPr>
            <a:spLocks noGrp="1"/>
          </p:cNvSpPr>
          <p:nvPr>
            <p:ph type="ctrTitle"/>
          </p:nvPr>
        </p:nvSpPr>
        <p:spPr/>
        <p:txBody>
          <a:bodyPr/>
          <a:lstStyle/>
          <a:p>
            <a:r>
              <a:rPr lang="en-US" dirty="0"/>
              <a:t>Service Principal Names</a:t>
            </a:r>
          </a:p>
        </p:txBody>
      </p:sp>
      <p:sp>
        <p:nvSpPr>
          <p:cNvPr id="5" name="Subtitle 4">
            <a:extLst>
              <a:ext uri="{FF2B5EF4-FFF2-40B4-BE49-F238E27FC236}">
                <a16:creationId xmlns:a16="http://schemas.microsoft.com/office/drawing/2014/main" id="{5DC0C829-5A56-408E-84BB-614DC02DFC9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773780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4204-0A9B-D1CC-A3F0-65E7DA45EC20}"/>
              </a:ext>
            </a:extLst>
          </p:cNvPr>
          <p:cNvSpPr>
            <a:spLocks noGrp="1"/>
          </p:cNvSpPr>
          <p:nvPr>
            <p:ph type="title"/>
          </p:nvPr>
        </p:nvSpPr>
        <p:spPr/>
        <p:txBody>
          <a:bodyPr/>
          <a:lstStyle/>
          <a:p>
            <a:r>
              <a:rPr lang="en-US" dirty="0"/>
              <a:t>Service principal names (SPNs)</a:t>
            </a:r>
          </a:p>
        </p:txBody>
      </p:sp>
      <p:sp>
        <p:nvSpPr>
          <p:cNvPr id="3" name="Content Placeholder 2">
            <a:extLst>
              <a:ext uri="{FF2B5EF4-FFF2-40B4-BE49-F238E27FC236}">
                <a16:creationId xmlns:a16="http://schemas.microsoft.com/office/drawing/2014/main" id="{51FDBE3F-E35A-65B7-EB64-BE027ABE23F5}"/>
              </a:ext>
            </a:extLst>
          </p:cNvPr>
          <p:cNvSpPr>
            <a:spLocks noGrp="1"/>
          </p:cNvSpPr>
          <p:nvPr>
            <p:ph idx="1"/>
          </p:nvPr>
        </p:nvSpPr>
        <p:spPr/>
        <p:txBody>
          <a:bodyPr>
            <a:normAutofit fontScale="62500" lnSpcReduction="20000"/>
          </a:bodyPr>
          <a:lstStyle/>
          <a:p>
            <a:r>
              <a:rPr lang="en-US" dirty="0"/>
              <a:t>case-insensitive</a:t>
            </a:r>
          </a:p>
          <a:p>
            <a:r>
              <a:rPr lang="en-US" dirty="0"/>
              <a:t>strict format</a:t>
            </a:r>
          </a:p>
          <a:p>
            <a:pPr lvl="1"/>
            <a:r>
              <a:rPr lang="en-US" dirty="0">
                <a:solidFill>
                  <a:schemeClr val="accent1"/>
                </a:solidFill>
              </a:rPr>
              <a:t>service</a:t>
            </a:r>
            <a:r>
              <a:rPr lang="en-US" dirty="0"/>
              <a:t>/</a:t>
            </a:r>
            <a:r>
              <a:rPr lang="en-US" dirty="0" err="1">
                <a:solidFill>
                  <a:schemeClr val="accent5"/>
                </a:solidFill>
              </a:rPr>
              <a:t>hostname</a:t>
            </a:r>
            <a:r>
              <a:rPr lang="en-US" dirty="0" err="1"/>
              <a:t>:</a:t>
            </a:r>
            <a:r>
              <a:rPr lang="en-US" dirty="0" err="1">
                <a:solidFill>
                  <a:schemeClr val="accent2"/>
                </a:solidFill>
              </a:rPr>
              <a:t>port</a:t>
            </a:r>
            <a:r>
              <a:rPr lang="en-US" dirty="0"/>
              <a:t>/</a:t>
            </a:r>
            <a:r>
              <a:rPr lang="en-US" dirty="0">
                <a:solidFill>
                  <a:schemeClr val="accent4"/>
                </a:solidFill>
              </a:rPr>
              <a:t>spec</a:t>
            </a:r>
          </a:p>
          <a:p>
            <a:endParaRPr lang="en-US" dirty="0"/>
          </a:p>
          <a:p>
            <a:r>
              <a:rPr lang="en-US" dirty="0"/>
              <a:t>host/gps-client10.gopas.virtual</a:t>
            </a:r>
          </a:p>
          <a:p>
            <a:pPr lvl="1"/>
            <a:r>
              <a:rPr lang="en-US" dirty="0"/>
              <a:t>interactive and RDP logon, does not cache</a:t>
            </a:r>
          </a:p>
          <a:p>
            <a:pPr lvl="1"/>
            <a:r>
              <a:rPr lang="en-US" dirty="0"/>
              <a:t>WMI access</a:t>
            </a:r>
          </a:p>
          <a:p>
            <a:pPr lvl="1"/>
            <a:r>
              <a:rPr lang="en-US" dirty="0"/>
              <a:t>* named wildcard resolution</a:t>
            </a:r>
          </a:p>
          <a:p>
            <a:r>
              <a:rPr lang="en-US" dirty="0" err="1"/>
              <a:t>cifs</a:t>
            </a:r>
            <a:r>
              <a:rPr lang="en-US" dirty="0"/>
              <a:t>/</a:t>
            </a:r>
            <a:r>
              <a:rPr lang="en-US" dirty="0" err="1"/>
              <a:t>gps</a:t>
            </a:r>
            <a:r>
              <a:rPr lang="en-US" dirty="0"/>
              <a:t>-data</a:t>
            </a:r>
          </a:p>
          <a:p>
            <a:pPr lvl="1"/>
            <a:r>
              <a:rPr lang="en-US" dirty="0"/>
              <a:t>SMB access, DFSN resolution</a:t>
            </a:r>
          </a:p>
          <a:p>
            <a:r>
              <a:rPr lang="en-US" dirty="0"/>
              <a:t>http/</a:t>
            </a:r>
            <a:r>
              <a:rPr lang="en-US" dirty="0" err="1"/>
              <a:t>portal.gopas.virtual</a:t>
            </a:r>
            <a:endParaRPr lang="en-US" dirty="0"/>
          </a:p>
          <a:p>
            <a:pPr lvl="1"/>
            <a:r>
              <a:rPr lang="en-US" dirty="0"/>
              <a:t>HTTP or HTTPS or </a:t>
            </a:r>
            <a:r>
              <a:rPr lang="en-US" dirty="0" err="1"/>
              <a:t>WinRM</a:t>
            </a:r>
            <a:r>
              <a:rPr lang="en-US" dirty="0"/>
              <a:t> or SQL reporting services</a:t>
            </a:r>
          </a:p>
          <a:p>
            <a:r>
              <a:rPr lang="en-US" dirty="0" err="1"/>
              <a:t>rpcss</a:t>
            </a:r>
            <a:r>
              <a:rPr lang="en-US" dirty="0"/>
              <a:t>/gps-client7.gopas.virtual</a:t>
            </a:r>
          </a:p>
          <a:p>
            <a:pPr lvl="1"/>
            <a:r>
              <a:rPr lang="en-US" dirty="0"/>
              <a:t>RPC and DCOM access</a:t>
            </a:r>
          </a:p>
          <a:p>
            <a:r>
              <a:rPr lang="en-US" dirty="0" err="1"/>
              <a:t>ldap</a:t>
            </a:r>
            <a:r>
              <a:rPr lang="en-US" dirty="0"/>
              <a:t>/</a:t>
            </a:r>
          </a:p>
          <a:p>
            <a:r>
              <a:rPr lang="en-US" dirty="0" err="1"/>
              <a:t>termsrv</a:t>
            </a:r>
            <a:r>
              <a:rPr lang="en-US" dirty="0"/>
              <a:t>/</a:t>
            </a:r>
          </a:p>
          <a:p>
            <a:r>
              <a:rPr lang="en-US" dirty="0" err="1"/>
              <a:t>mssqlsvc</a:t>
            </a:r>
            <a:r>
              <a:rPr lang="en-US" dirty="0"/>
              <a:t>/</a:t>
            </a:r>
          </a:p>
          <a:p>
            <a:r>
              <a:rPr lang="en-US" dirty="0"/>
              <a:t>msolapsvc.3/</a:t>
            </a:r>
          </a:p>
          <a:p>
            <a:r>
              <a:rPr lang="en-US" dirty="0" err="1"/>
              <a:t>exchangeab</a:t>
            </a:r>
            <a:r>
              <a:rPr lang="en-US" dirty="0"/>
              <a:t>/, </a:t>
            </a:r>
            <a:r>
              <a:rPr lang="en-US" dirty="0" err="1"/>
              <a:t>exchangerfr</a:t>
            </a:r>
            <a:r>
              <a:rPr lang="en-US" dirty="0"/>
              <a:t>/</a:t>
            </a:r>
          </a:p>
          <a:p>
            <a:r>
              <a:rPr lang="en-US" dirty="0" err="1"/>
              <a:t>dns</a:t>
            </a:r>
            <a:r>
              <a:rPr lang="en-US" dirty="0"/>
              <a:t>/</a:t>
            </a:r>
          </a:p>
          <a:p>
            <a:pPr marL="0" indent="0">
              <a:buNone/>
            </a:pPr>
            <a:endParaRPr lang="en-US" dirty="0"/>
          </a:p>
        </p:txBody>
      </p:sp>
    </p:spTree>
    <p:extLst>
      <p:ext uri="{BB962C8B-B14F-4D97-AF65-F5344CB8AC3E}">
        <p14:creationId xmlns:p14="http://schemas.microsoft.com/office/powerpoint/2010/main" val="10561446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90647-02A0-4F86-9984-8BE334276EBF}"/>
              </a:ext>
            </a:extLst>
          </p:cNvPr>
          <p:cNvSpPr>
            <a:spLocks noGrp="1"/>
          </p:cNvSpPr>
          <p:nvPr>
            <p:ph type="title"/>
          </p:nvPr>
        </p:nvSpPr>
        <p:spPr>
          <a:xfrm>
            <a:off x="457200" y="116632"/>
            <a:ext cx="8229600" cy="782960"/>
          </a:xfrm>
        </p:spPr>
        <p:txBody>
          <a:bodyPr>
            <a:normAutofit/>
          </a:bodyPr>
          <a:lstStyle/>
          <a:p>
            <a:r>
              <a:rPr lang="en-US" sz="2400" dirty="0" err="1"/>
              <a:t>sPNMappings</a:t>
            </a:r>
            <a:r>
              <a:rPr lang="en-US" sz="2400" dirty="0"/>
              <a:t> - CN=Directory </a:t>
            </a:r>
            <a:r>
              <a:rPr lang="en-US" sz="2400" dirty="0" err="1"/>
              <a:t>Services,CN</a:t>
            </a:r>
            <a:r>
              <a:rPr lang="en-US" sz="2400" dirty="0"/>
              <a:t>=Windows NT,...</a:t>
            </a:r>
          </a:p>
        </p:txBody>
      </p:sp>
      <p:pic>
        <p:nvPicPr>
          <p:cNvPr id="5" name="Picture 4">
            <a:extLst>
              <a:ext uri="{FF2B5EF4-FFF2-40B4-BE49-F238E27FC236}">
                <a16:creationId xmlns:a16="http://schemas.microsoft.com/office/drawing/2014/main" id="{BAC9A020-4961-4F28-BC93-A4BAECD0F5E1}"/>
              </a:ext>
            </a:extLst>
          </p:cNvPr>
          <p:cNvPicPr>
            <a:picLocks noChangeAspect="1"/>
          </p:cNvPicPr>
          <p:nvPr/>
        </p:nvPicPr>
        <p:blipFill>
          <a:blip r:embed="rId2"/>
          <a:stretch>
            <a:fillRect/>
          </a:stretch>
        </p:blipFill>
        <p:spPr>
          <a:xfrm>
            <a:off x="1907704" y="972179"/>
            <a:ext cx="7236297" cy="5885822"/>
          </a:xfrm>
          <a:prstGeom prst="rect">
            <a:avLst/>
          </a:prstGeom>
        </p:spPr>
      </p:pic>
    </p:spTree>
    <p:extLst>
      <p:ext uri="{BB962C8B-B14F-4D97-AF65-F5344CB8AC3E}">
        <p14:creationId xmlns:p14="http://schemas.microsoft.com/office/powerpoint/2010/main" val="2372883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0972-D11A-426E-B4F1-98667865527D}"/>
              </a:ext>
            </a:extLst>
          </p:cNvPr>
          <p:cNvSpPr>
            <a:spLocks noGrp="1"/>
          </p:cNvSpPr>
          <p:nvPr>
            <p:ph type="title"/>
          </p:nvPr>
        </p:nvSpPr>
        <p:spPr/>
        <p:txBody>
          <a:bodyPr/>
          <a:lstStyle/>
          <a:p>
            <a:r>
              <a:rPr lang="en-US" dirty="0"/>
              <a:t>DNS TGS for dynamic update</a:t>
            </a:r>
          </a:p>
        </p:txBody>
      </p:sp>
      <p:sp>
        <p:nvSpPr>
          <p:cNvPr id="3" name="Content Placeholder 2">
            <a:extLst>
              <a:ext uri="{FF2B5EF4-FFF2-40B4-BE49-F238E27FC236}">
                <a16:creationId xmlns:a16="http://schemas.microsoft.com/office/drawing/2014/main" id="{FC05E9F4-A32D-44E1-BCD1-68A2CC9809D5}"/>
              </a:ext>
            </a:extLst>
          </p:cNvPr>
          <p:cNvSpPr>
            <a:spLocks noGrp="1"/>
          </p:cNvSpPr>
          <p:nvPr>
            <p:ph idx="1"/>
          </p:nvPr>
        </p:nvSpPr>
        <p:spPr/>
        <p:txBody>
          <a:bodyPr>
            <a:normAutofit/>
          </a:bodyPr>
          <a:lstStyle/>
          <a:p>
            <a:pPr marL="0" indent="0">
              <a:buNone/>
            </a:pPr>
            <a:r>
              <a:rPr lang="en-US" sz="1600" dirty="0">
                <a:latin typeface="Courier New" panose="02070309020205020404" pitchFamily="49" charset="0"/>
                <a:cs typeface="Courier New" panose="02070309020205020404" pitchFamily="49" charset="0"/>
              </a:rPr>
              <a:t># first delete the GPS-Client10 DNS A record from DNS server</a:t>
            </a:r>
          </a:p>
          <a:p>
            <a:pPr marL="0" indent="0">
              <a:buNone/>
            </a:pPr>
            <a:r>
              <a:rPr lang="en-US" sz="1600" dirty="0">
                <a:latin typeface="Courier New" panose="02070309020205020404" pitchFamily="49" charset="0"/>
                <a:cs typeface="Courier New" panose="02070309020205020404" pitchFamily="49" charset="0"/>
              </a:rPr>
              <a:t># re-registration does happen only when the records needs updating</a:t>
            </a:r>
          </a:p>
          <a:p>
            <a:pPr marL="0" indent="0">
              <a:buNone/>
            </a:pPr>
            <a:r>
              <a:rPr lang="en-US" sz="1600" dirty="0" err="1">
                <a:latin typeface="Courier New" panose="02070309020205020404" pitchFamily="49" charset="0"/>
                <a:cs typeface="Courier New" panose="02070309020205020404" pitchFamily="49" charset="0"/>
              </a:rPr>
              <a:t>klist</a:t>
            </a:r>
            <a:r>
              <a:rPr lang="en-US" sz="1600" dirty="0">
                <a:latin typeface="Courier New" panose="02070309020205020404" pitchFamily="49" charset="0"/>
                <a:cs typeface="Courier New" panose="02070309020205020404" pitchFamily="49" charset="0"/>
              </a:rPr>
              <a:t> purge -li </a:t>
            </a:r>
            <a:r>
              <a:rPr lang="en-US" sz="1600" dirty="0">
                <a:solidFill>
                  <a:schemeClr val="accent1"/>
                </a:solidFill>
                <a:latin typeface="Courier New" panose="02070309020205020404" pitchFamily="49" charset="0"/>
                <a:cs typeface="Courier New" panose="02070309020205020404" pitchFamily="49" charset="0"/>
              </a:rPr>
              <a:t>3e4</a:t>
            </a:r>
          </a:p>
          <a:p>
            <a:pPr marL="0" indent="0">
              <a:buNone/>
            </a:pPr>
            <a:r>
              <a:rPr lang="en-US" sz="1600" dirty="0" err="1">
                <a:latin typeface="Courier New" panose="02070309020205020404" pitchFamily="49" charset="0"/>
                <a:cs typeface="Courier New" panose="02070309020205020404" pitchFamily="49" charset="0"/>
              </a:rPr>
              <a:t>klist</a:t>
            </a:r>
            <a:r>
              <a:rPr lang="en-US" sz="1600" dirty="0">
                <a:latin typeface="Courier New" panose="02070309020205020404" pitchFamily="49" charset="0"/>
                <a:cs typeface="Courier New" panose="02070309020205020404" pitchFamily="49" charset="0"/>
              </a:rPr>
              <a:t> purge -li 3e5</a:t>
            </a:r>
          </a:p>
          <a:p>
            <a:pPr marL="0" indent="0">
              <a:buNone/>
            </a:pPr>
            <a:r>
              <a:rPr lang="en-US" sz="1600" dirty="0" err="1">
                <a:latin typeface="Courier New" panose="02070309020205020404" pitchFamily="49" charset="0"/>
                <a:cs typeface="Courier New" panose="02070309020205020404" pitchFamily="49" charset="0"/>
              </a:rPr>
              <a:t>klist</a:t>
            </a:r>
            <a:r>
              <a:rPr lang="en-US" sz="1600" dirty="0">
                <a:latin typeface="Courier New" panose="02070309020205020404" pitchFamily="49" charset="0"/>
                <a:cs typeface="Courier New" panose="02070309020205020404" pitchFamily="49" charset="0"/>
              </a:rPr>
              <a:t> purge -li 3e7</a:t>
            </a:r>
          </a:p>
          <a:p>
            <a:pPr marL="0" indent="0">
              <a:buNone/>
            </a:pPr>
            <a:r>
              <a:rPr lang="en-US" sz="1600" dirty="0">
                <a:solidFill>
                  <a:schemeClr val="accent1"/>
                </a:solidFill>
                <a:latin typeface="Courier New" panose="02070309020205020404" pitchFamily="49" charset="0"/>
                <a:cs typeface="Courier New" panose="02070309020205020404" pitchFamily="49" charset="0"/>
              </a:rPr>
              <a:t>ipconfig /</a:t>
            </a:r>
            <a:r>
              <a:rPr lang="en-US" sz="1600" dirty="0" err="1">
                <a:solidFill>
                  <a:schemeClr val="accent1"/>
                </a:solidFill>
                <a:latin typeface="Courier New" panose="02070309020205020404" pitchFamily="49" charset="0"/>
                <a:cs typeface="Courier New" panose="02070309020205020404" pitchFamily="49" charset="0"/>
              </a:rPr>
              <a:t>registerdns</a:t>
            </a:r>
            <a:endParaRPr lang="en-US" sz="1600" dirty="0">
              <a:solidFill>
                <a:schemeClr val="accent1"/>
              </a:solidFill>
              <a:latin typeface="Courier New" panose="02070309020205020404" pitchFamily="49" charset="0"/>
              <a:cs typeface="Courier New" panose="02070309020205020404" pitchFamily="49" charset="0"/>
            </a:endParaRPr>
          </a:p>
          <a:p>
            <a:pPr marL="0" indent="0">
              <a:buNone/>
            </a:pPr>
            <a:r>
              <a:rPr lang="en-US" sz="1600" dirty="0" err="1">
                <a:latin typeface="Courier New" panose="02070309020205020404" pitchFamily="49" charset="0"/>
                <a:cs typeface="Courier New" panose="02070309020205020404" pitchFamily="49" charset="0"/>
              </a:rPr>
              <a:t>klist</a:t>
            </a:r>
            <a:r>
              <a:rPr lang="en-US" sz="1600" dirty="0">
                <a:latin typeface="Courier New" panose="02070309020205020404" pitchFamily="49" charset="0"/>
                <a:cs typeface="Courier New" panose="02070309020205020404" pitchFamily="49" charset="0"/>
              </a:rPr>
              <a:t> -li </a:t>
            </a:r>
            <a:r>
              <a:rPr lang="en-US" sz="1600" dirty="0">
                <a:solidFill>
                  <a:schemeClr val="accent1"/>
                </a:solidFill>
                <a:latin typeface="Courier New" panose="02070309020205020404" pitchFamily="49" charset="0"/>
                <a:cs typeface="Courier New" panose="02070309020205020404" pitchFamily="49" charset="0"/>
              </a:rPr>
              <a:t>3e4</a:t>
            </a:r>
          </a:p>
        </p:txBody>
      </p:sp>
      <p:pic>
        <p:nvPicPr>
          <p:cNvPr id="5" name="Picture 4">
            <a:extLst>
              <a:ext uri="{FF2B5EF4-FFF2-40B4-BE49-F238E27FC236}">
                <a16:creationId xmlns:a16="http://schemas.microsoft.com/office/drawing/2014/main" id="{00AA6885-4862-4912-BECF-710FAD6BAA9D}"/>
              </a:ext>
            </a:extLst>
          </p:cNvPr>
          <p:cNvPicPr>
            <a:picLocks noChangeAspect="1"/>
          </p:cNvPicPr>
          <p:nvPr/>
        </p:nvPicPr>
        <p:blipFill>
          <a:blip r:embed="rId2"/>
          <a:stretch>
            <a:fillRect/>
          </a:stretch>
        </p:blipFill>
        <p:spPr>
          <a:xfrm>
            <a:off x="914400" y="3739865"/>
            <a:ext cx="8229600" cy="3118136"/>
          </a:xfrm>
          <a:prstGeom prst="rect">
            <a:avLst/>
          </a:prstGeom>
        </p:spPr>
      </p:pic>
    </p:spTree>
    <p:extLst>
      <p:ext uri="{BB962C8B-B14F-4D97-AF65-F5344CB8AC3E}">
        <p14:creationId xmlns:p14="http://schemas.microsoft.com/office/powerpoint/2010/main" val="35534451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FAD35-BC54-474B-90E4-CCBE919854DC}"/>
              </a:ext>
            </a:extLst>
          </p:cNvPr>
          <p:cNvSpPr>
            <a:spLocks noGrp="1"/>
          </p:cNvSpPr>
          <p:nvPr>
            <p:ph type="title"/>
          </p:nvPr>
        </p:nvSpPr>
        <p:spPr/>
        <p:txBody>
          <a:bodyPr/>
          <a:lstStyle/>
          <a:p>
            <a:r>
              <a:rPr lang="en-US" dirty="0" err="1"/>
              <a:t>klist</a:t>
            </a:r>
            <a:r>
              <a:rPr lang="en-US" dirty="0"/>
              <a:t> get</a:t>
            </a:r>
          </a:p>
        </p:txBody>
      </p:sp>
      <p:pic>
        <p:nvPicPr>
          <p:cNvPr id="5" name="Picture 4">
            <a:extLst>
              <a:ext uri="{FF2B5EF4-FFF2-40B4-BE49-F238E27FC236}">
                <a16:creationId xmlns:a16="http://schemas.microsoft.com/office/drawing/2014/main" id="{3CD08AA0-92B8-420C-8F36-043894060D4B}"/>
              </a:ext>
            </a:extLst>
          </p:cNvPr>
          <p:cNvPicPr>
            <a:picLocks noChangeAspect="1"/>
          </p:cNvPicPr>
          <p:nvPr/>
        </p:nvPicPr>
        <p:blipFill>
          <a:blip r:embed="rId2"/>
          <a:stretch>
            <a:fillRect/>
          </a:stretch>
        </p:blipFill>
        <p:spPr>
          <a:xfrm>
            <a:off x="2424063" y="332657"/>
            <a:ext cx="6719937" cy="6525344"/>
          </a:xfrm>
          <a:prstGeom prst="rect">
            <a:avLst/>
          </a:prstGeom>
        </p:spPr>
      </p:pic>
    </p:spTree>
    <p:extLst>
      <p:ext uri="{BB962C8B-B14F-4D97-AF65-F5344CB8AC3E}">
        <p14:creationId xmlns:p14="http://schemas.microsoft.com/office/powerpoint/2010/main" val="3365255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en-US" dirty="0"/>
              <a:t>Basic Kerberos requirements</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lstStyle/>
          <a:p>
            <a:r>
              <a:rPr lang="en-US" dirty="0"/>
              <a:t>does it work?</a:t>
            </a:r>
          </a:p>
          <a:p>
            <a:r>
              <a:rPr lang="en-US" dirty="0"/>
              <a:t>is it SSO already?</a:t>
            </a:r>
          </a:p>
          <a:p>
            <a:pPr lvl="1"/>
            <a:r>
              <a:rPr lang="en-US" dirty="0">
                <a:solidFill>
                  <a:schemeClr val="accent1"/>
                </a:solidFill>
              </a:rPr>
              <a:t>local intranet </a:t>
            </a:r>
            <a:r>
              <a:rPr lang="en-US" dirty="0"/>
              <a:t>(or maybe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p:txBody>
      </p:sp>
    </p:spTree>
    <p:extLst>
      <p:ext uri="{BB962C8B-B14F-4D97-AF65-F5344CB8AC3E}">
        <p14:creationId xmlns:p14="http://schemas.microsoft.com/office/powerpoint/2010/main" val="2638140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81781-A1EE-67C5-5CFA-21F39A80D854}"/>
              </a:ext>
            </a:extLst>
          </p:cNvPr>
          <p:cNvSpPr>
            <a:spLocks noGrp="1"/>
          </p:cNvSpPr>
          <p:nvPr>
            <p:ph type="title"/>
          </p:nvPr>
        </p:nvSpPr>
        <p:spPr/>
        <p:txBody>
          <a:bodyPr/>
          <a:lstStyle/>
          <a:p>
            <a:r>
              <a:rPr lang="en-US" dirty="0"/>
              <a:t>Local intranet sites (</a:t>
            </a:r>
            <a:r>
              <a:rPr lang="en-US" dirty="0" err="1">
                <a:solidFill>
                  <a:schemeClr val="accent1"/>
                </a:solidFill>
              </a:rPr>
              <a:t>inetcpl.cpl</a:t>
            </a:r>
            <a:r>
              <a:rPr lang="en-US" dirty="0"/>
              <a:t>)</a:t>
            </a:r>
            <a:br>
              <a:rPr lang="en-US" dirty="0"/>
            </a:br>
            <a:r>
              <a:rPr lang="en-US" dirty="0"/>
              <a:t>IE + Edge + Chrome + WebDAV + </a:t>
            </a:r>
            <a:r>
              <a:rPr lang="en-US" dirty="0" err="1"/>
              <a:t>WinHTTP</a:t>
            </a:r>
            <a:r>
              <a:rPr lang="en-US" dirty="0"/>
              <a:t> + </a:t>
            </a:r>
            <a:r>
              <a:rPr lang="en-US" dirty="0" err="1"/>
              <a:t>NetFX</a:t>
            </a:r>
            <a:r>
              <a:rPr lang="en-US" dirty="0"/>
              <a:t> + ...</a:t>
            </a:r>
          </a:p>
        </p:txBody>
      </p:sp>
      <p:graphicFrame>
        <p:nvGraphicFramePr>
          <p:cNvPr id="4" name="Object 3">
            <a:extLst>
              <a:ext uri="{FF2B5EF4-FFF2-40B4-BE49-F238E27FC236}">
                <a16:creationId xmlns:a16="http://schemas.microsoft.com/office/drawing/2014/main" id="{7DB49D33-8103-68B2-18D1-1C12358C681E}"/>
              </a:ext>
            </a:extLst>
          </p:cNvPr>
          <p:cNvGraphicFramePr>
            <a:graphicFrameLocks noChangeAspect="1"/>
          </p:cNvGraphicFramePr>
          <p:nvPr>
            <p:extLst>
              <p:ext uri="{D42A27DB-BD31-4B8C-83A1-F6EECF244321}">
                <p14:modId xmlns:p14="http://schemas.microsoft.com/office/powerpoint/2010/main" val="668034657"/>
              </p:ext>
            </p:extLst>
          </p:nvPr>
        </p:nvGraphicFramePr>
        <p:xfrm>
          <a:off x="0" y="1538545"/>
          <a:ext cx="9144000" cy="3978687"/>
        </p:xfrm>
        <a:graphic>
          <a:graphicData uri="http://schemas.openxmlformats.org/presentationml/2006/ole">
            <mc:AlternateContent xmlns:mc="http://schemas.openxmlformats.org/markup-compatibility/2006">
              <mc:Choice xmlns:v="urn:schemas-microsoft-com:vml" Requires="v">
                <p:oleObj r:id="rId2" imgW="7486560" imgH="3257640" progId="">
                  <p:embed/>
                </p:oleObj>
              </mc:Choice>
              <mc:Fallback>
                <p:oleObj r:id="rId2" imgW="7486560" imgH="3257640" progId="">
                  <p:embed/>
                  <p:pic>
                    <p:nvPicPr>
                      <p:cNvPr id="0" name=""/>
                      <p:cNvPicPr/>
                      <p:nvPr/>
                    </p:nvPicPr>
                    <p:blipFill>
                      <a:blip r:embed="rId3"/>
                      <a:stretch>
                        <a:fillRect/>
                      </a:stretch>
                    </p:blipFill>
                    <p:spPr>
                      <a:xfrm>
                        <a:off x="0" y="1538545"/>
                        <a:ext cx="9144000" cy="3978687"/>
                      </a:xfrm>
                      <a:prstGeom prst="rect">
                        <a:avLst/>
                      </a:prstGeom>
                    </p:spPr>
                  </p:pic>
                </p:oleObj>
              </mc:Fallback>
            </mc:AlternateContent>
          </a:graphicData>
        </a:graphic>
      </p:graphicFrame>
    </p:spTree>
    <p:extLst>
      <p:ext uri="{BB962C8B-B14F-4D97-AF65-F5344CB8AC3E}">
        <p14:creationId xmlns:p14="http://schemas.microsoft.com/office/powerpoint/2010/main" val="32950234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221F3198-62E2-01E4-73A8-A2A63F1BC8FB}"/>
              </a:ext>
            </a:extLst>
          </p:cNvPr>
          <p:cNvGraphicFramePr>
            <a:graphicFrameLocks noChangeAspect="1"/>
          </p:cNvGraphicFramePr>
          <p:nvPr>
            <p:extLst>
              <p:ext uri="{D42A27DB-BD31-4B8C-83A1-F6EECF244321}">
                <p14:modId xmlns:p14="http://schemas.microsoft.com/office/powerpoint/2010/main" val="3181378598"/>
              </p:ext>
            </p:extLst>
          </p:nvPr>
        </p:nvGraphicFramePr>
        <p:xfrm>
          <a:off x="1933951" y="4365103"/>
          <a:ext cx="7210050" cy="2505465"/>
        </p:xfrm>
        <a:graphic>
          <a:graphicData uri="http://schemas.openxmlformats.org/presentationml/2006/ole">
            <mc:AlternateContent xmlns:mc="http://schemas.openxmlformats.org/markup-compatibility/2006">
              <mc:Choice xmlns:v="urn:schemas-microsoft-com:vml" Requires="v">
                <p:oleObj r:id="rId2" imgW="6276960" imgH="2181240" progId="">
                  <p:embed/>
                </p:oleObj>
              </mc:Choice>
              <mc:Fallback>
                <p:oleObj r:id="rId2" imgW="6276960" imgH="2181240" progId="">
                  <p:embed/>
                  <p:pic>
                    <p:nvPicPr>
                      <p:cNvPr id="0" name=""/>
                      <p:cNvPicPr/>
                      <p:nvPr/>
                    </p:nvPicPr>
                    <p:blipFill>
                      <a:blip r:embed="rId3"/>
                      <a:stretch>
                        <a:fillRect/>
                      </a:stretch>
                    </p:blipFill>
                    <p:spPr>
                      <a:xfrm>
                        <a:off x="1933951" y="4365103"/>
                        <a:ext cx="7210050" cy="2505465"/>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A4FD51-939D-5640-8706-8793E3ABC4D2}"/>
              </a:ext>
            </a:extLst>
          </p:cNvPr>
          <p:cNvSpPr>
            <a:spLocks noGrp="1"/>
          </p:cNvSpPr>
          <p:nvPr>
            <p:ph type="title"/>
          </p:nvPr>
        </p:nvSpPr>
        <p:spPr/>
        <p:txBody>
          <a:bodyPr/>
          <a:lstStyle/>
          <a:p>
            <a:r>
              <a:rPr lang="en-US" dirty="0" err="1"/>
              <a:t>network.negotiate</a:t>
            </a:r>
            <a:r>
              <a:rPr lang="en-US" dirty="0"/>
              <a:t>-auth: trusted-</a:t>
            </a:r>
            <a:r>
              <a:rPr lang="en-US" dirty="0" err="1"/>
              <a:t>uris</a:t>
            </a:r>
            <a:r>
              <a:rPr lang="en-US" dirty="0"/>
              <a:t>, allow-non-</a:t>
            </a:r>
            <a:r>
              <a:rPr lang="en-US" dirty="0" err="1"/>
              <a:t>fqdn</a:t>
            </a:r>
            <a:br>
              <a:rPr lang="en-US" dirty="0"/>
            </a:br>
            <a:r>
              <a:rPr lang="en-US" dirty="0"/>
              <a:t>Firefox</a:t>
            </a:r>
          </a:p>
        </p:txBody>
      </p:sp>
      <p:sp>
        <p:nvSpPr>
          <p:cNvPr id="3" name="Content Placeholder 2">
            <a:extLst>
              <a:ext uri="{FF2B5EF4-FFF2-40B4-BE49-F238E27FC236}">
                <a16:creationId xmlns:a16="http://schemas.microsoft.com/office/drawing/2014/main" id="{EA8866BC-0D0E-0539-CF6E-B668E03E0CD7}"/>
              </a:ext>
            </a:extLst>
          </p:cNvPr>
          <p:cNvSpPr>
            <a:spLocks noGrp="1"/>
          </p:cNvSpPr>
          <p:nvPr>
            <p:ph idx="1"/>
          </p:nvPr>
        </p:nvSpPr>
        <p:spPr/>
        <p:txBody>
          <a:bodyPr/>
          <a:lstStyle/>
          <a:p>
            <a:endParaRPr lang="en-US" dirty="0"/>
          </a:p>
        </p:txBody>
      </p:sp>
      <p:graphicFrame>
        <p:nvGraphicFramePr>
          <p:cNvPr id="6" name="Object 5">
            <a:extLst>
              <a:ext uri="{FF2B5EF4-FFF2-40B4-BE49-F238E27FC236}">
                <a16:creationId xmlns:a16="http://schemas.microsoft.com/office/drawing/2014/main" id="{8A5F4CC6-81FF-FBE4-40EA-C4D68C750F8E}"/>
              </a:ext>
            </a:extLst>
          </p:cNvPr>
          <p:cNvGraphicFramePr>
            <a:graphicFrameLocks noChangeAspect="1"/>
          </p:cNvGraphicFramePr>
          <p:nvPr>
            <p:extLst>
              <p:ext uri="{D42A27DB-BD31-4B8C-83A1-F6EECF244321}">
                <p14:modId xmlns:p14="http://schemas.microsoft.com/office/powerpoint/2010/main" val="273423091"/>
              </p:ext>
            </p:extLst>
          </p:nvPr>
        </p:nvGraphicFramePr>
        <p:xfrm>
          <a:off x="-1" y="1025823"/>
          <a:ext cx="8407891" cy="4275385"/>
        </p:xfrm>
        <a:graphic>
          <a:graphicData uri="http://schemas.openxmlformats.org/presentationml/2006/ole">
            <mc:AlternateContent xmlns:mc="http://schemas.openxmlformats.org/markup-compatibility/2006">
              <mc:Choice xmlns:v="urn:schemas-microsoft-com:vml" Requires="v">
                <p:oleObj r:id="rId4" imgW="7286760" imgH="3705120" progId="">
                  <p:embed/>
                </p:oleObj>
              </mc:Choice>
              <mc:Fallback>
                <p:oleObj r:id="rId4" imgW="7286760" imgH="3705120" progId="">
                  <p:embed/>
                  <p:pic>
                    <p:nvPicPr>
                      <p:cNvPr id="0" name=""/>
                      <p:cNvPicPr/>
                      <p:nvPr/>
                    </p:nvPicPr>
                    <p:blipFill>
                      <a:blip r:embed="rId5"/>
                      <a:stretch>
                        <a:fillRect/>
                      </a:stretch>
                    </p:blipFill>
                    <p:spPr>
                      <a:xfrm>
                        <a:off x="-1" y="1025823"/>
                        <a:ext cx="8407891" cy="4275385"/>
                      </a:xfrm>
                      <a:prstGeom prst="rect">
                        <a:avLst/>
                      </a:prstGeom>
                    </p:spPr>
                  </p:pic>
                </p:oleObj>
              </mc:Fallback>
            </mc:AlternateContent>
          </a:graphicData>
        </a:graphic>
      </p:graphicFrame>
    </p:spTree>
    <p:extLst>
      <p:ext uri="{BB962C8B-B14F-4D97-AF65-F5344CB8AC3E}">
        <p14:creationId xmlns:p14="http://schemas.microsoft.com/office/powerpoint/2010/main" val="15586329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5C8C26D-ED39-4432-B9B0-A6DBCB8C8D5A}"/>
              </a:ext>
            </a:extLst>
          </p:cNvPr>
          <p:cNvPicPr>
            <a:picLocks noChangeAspect="1"/>
          </p:cNvPicPr>
          <p:nvPr/>
        </p:nvPicPr>
        <p:blipFill>
          <a:blip r:embed="rId2"/>
          <a:stretch>
            <a:fillRect/>
          </a:stretch>
        </p:blipFill>
        <p:spPr>
          <a:xfrm>
            <a:off x="0" y="3645024"/>
            <a:ext cx="4355976" cy="3187576"/>
          </a:xfrm>
          <a:prstGeom prst="rect">
            <a:avLst/>
          </a:prstGeom>
        </p:spPr>
      </p:pic>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en-US" dirty="0"/>
              <a:t>DNS A vs. CNAME vs. short name vs. FQDN</a:t>
            </a:r>
          </a:p>
        </p:txBody>
      </p:sp>
      <p:sp>
        <p:nvSpPr>
          <p:cNvPr id="6" name="Content Placeholder 5">
            <a:extLst>
              <a:ext uri="{FF2B5EF4-FFF2-40B4-BE49-F238E27FC236}">
                <a16:creationId xmlns:a16="http://schemas.microsoft.com/office/drawing/2014/main" id="{954B0BE6-CDBA-846A-8EA4-02A6E45A244A}"/>
              </a:ext>
            </a:extLst>
          </p:cNvPr>
          <p:cNvSpPr>
            <a:spLocks noGrp="1"/>
          </p:cNvSpPr>
          <p:nvPr>
            <p:ph idx="1"/>
          </p:nvPr>
        </p:nvSpPr>
        <p:spPr>
          <a:xfrm>
            <a:off x="107504" y="971600"/>
            <a:ext cx="8579296" cy="5265712"/>
          </a:xfrm>
        </p:spPr>
        <p:txBody>
          <a:bodyPr>
            <a:normAutofit/>
          </a:bodyPr>
          <a:lstStyle/>
          <a:p>
            <a:r>
              <a:rPr lang="en-US" sz="1800" dirty="0"/>
              <a:t>with CNAME you never know :-)</a:t>
            </a:r>
          </a:p>
          <a:p>
            <a:pPr lvl="1"/>
            <a:r>
              <a:rPr lang="en-US" sz="1600" dirty="0"/>
              <a:t>http://warehouse</a:t>
            </a:r>
          </a:p>
          <a:p>
            <a:pPr lvl="1"/>
            <a:r>
              <a:rPr lang="en-US" sz="1600" dirty="0" err="1"/>
              <a:t>mstsc</a:t>
            </a:r>
            <a:r>
              <a:rPr lang="en-US" sz="1600" dirty="0"/>
              <a:t> /</a:t>
            </a:r>
            <a:r>
              <a:rPr lang="en-US" sz="1600" dirty="0" err="1"/>
              <a:t>v:warehouse</a:t>
            </a:r>
            <a:endParaRPr lang="cs-CZ" sz="1600" dirty="0"/>
          </a:p>
          <a:p>
            <a:pPr lvl="1"/>
            <a:r>
              <a:rPr lang="en-US" sz="1600" dirty="0"/>
              <a:t>net view \\warehouse</a:t>
            </a:r>
          </a:p>
          <a:p>
            <a:r>
              <a:rPr lang="en-US" sz="1800" dirty="0"/>
              <a:t>A FQDN depends :-)</a:t>
            </a:r>
          </a:p>
          <a:p>
            <a:pPr lvl="1"/>
            <a:r>
              <a:rPr lang="en-US" sz="1600" dirty="0"/>
              <a:t>net view \\gps-data</a:t>
            </a:r>
          </a:p>
          <a:p>
            <a:pPr lvl="1"/>
            <a:r>
              <a:rPr lang="en-US" sz="1600" dirty="0"/>
              <a:t>net view \\books-dc (books-client81)</a:t>
            </a:r>
          </a:p>
          <a:p>
            <a:pPr lvl="1"/>
            <a:r>
              <a:rPr lang="en-US" sz="1600" dirty="0"/>
              <a:t>Enter-</a:t>
            </a:r>
            <a:r>
              <a:rPr lang="en-US" sz="1600" dirty="0" err="1"/>
              <a:t>PSSession</a:t>
            </a:r>
            <a:r>
              <a:rPr lang="en-US" sz="1600" dirty="0"/>
              <a:t> </a:t>
            </a:r>
            <a:r>
              <a:rPr lang="en-US" sz="1600" dirty="0" err="1"/>
              <a:t>gps</a:t>
            </a:r>
            <a:r>
              <a:rPr lang="en-US" sz="1600" dirty="0"/>
              <a:t>-web</a:t>
            </a:r>
          </a:p>
        </p:txBody>
      </p:sp>
      <p:graphicFrame>
        <p:nvGraphicFramePr>
          <p:cNvPr id="7" name="Object 6">
            <a:extLst>
              <a:ext uri="{FF2B5EF4-FFF2-40B4-BE49-F238E27FC236}">
                <a16:creationId xmlns:a16="http://schemas.microsoft.com/office/drawing/2014/main" id="{FEE236E5-35BB-ED69-3FA9-D6B6E49730EA}"/>
              </a:ext>
            </a:extLst>
          </p:cNvPr>
          <p:cNvGraphicFramePr>
            <a:graphicFrameLocks noChangeAspect="1"/>
          </p:cNvGraphicFramePr>
          <p:nvPr>
            <p:extLst>
              <p:ext uri="{D42A27DB-BD31-4B8C-83A1-F6EECF244321}">
                <p14:modId xmlns:p14="http://schemas.microsoft.com/office/powerpoint/2010/main" val="3616842568"/>
              </p:ext>
            </p:extLst>
          </p:nvPr>
        </p:nvGraphicFramePr>
        <p:xfrm>
          <a:off x="4327268" y="2060848"/>
          <a:ext cx="4816732" cy="4787976"/>
        </p:xfrm>
        <a:graphic>
          <a:graphicData uri="http://schemas.openxmlformats.org/presentationml/2006/ole">
            <mc:AlternateContent xmlns:mc="http://schemas.openxmlformats.org/markup-compatibility/2006">
              <mc:Choice xmlns:v="urn:schemas-microsoft-com:vml" Requires="v">
                <p:oleObj r:id="rId3" imgW="3191040" imgH="3171960" progId="">
                  <p:embed/>
                </p:oleObj>
              </mc:Choice>
              <mc:Fallback>
                <p:oleObj r:id="rId3" imgW="3191040" imgH="3171960" progId="">
                  <p:embed/>
                  <p:pic>
                    <p:nvPicPr>
                      <p:cNvPr id="0" name=""/>
                      <p:cNvPicPr/>
                      <p:nvPr/>
                    </p:nvPicPr>
                    <p:blipFill>
                      <a:blip r:embed="rId4"/>
                      <a:stretch>
                        <a:fillRect/>
                      </a:stretch>
                    </p:blipFill>
                    <p:spPr>
                      <a:xfrm>
                        <a:off x="4327268" y="2060848"/>
                        <a:ext cx="4816732" cy="4787976"/>
                      </a:xfrm>
                      <a:prstGeom prst="rect">
                        <a:avLst/>
                      </a:prstGeom>
                    </p:spPr>
                  </p:pic>
                </p:oleObj>
              </mc:Fallback>
            </mc:AlternateContent>
          </a:graphicData>
        </a:graphic>
      </p:graphicFrame>
    </p:spTree>
    <p:extLst>
      <p:ext uri="{BB962C8B-B14F-4D97-AF65-F5344CB8AC3E}">
        <p14:creationId xmlns:p14="http://schemas.microsoft.com/office/powerpoint/2010/main" val="22705515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2E1C4-DF7F-46AE-A37E-CDDA7B50B245}"/>
              </a:ext>
            </a:extLst>
          </p:cNvPr>
          <p:cNvSpPr>
            <a:spLocks noGrp="1"/>
          </p:cNvSpPr>
          <p:nvPr>
            <p:ph type="title"/>
          </p:nvPr>
        </p:nvSpPr>
        <p:spPr/>
        <p:txBody>
          <a:bodyPr/>
          <a:lstStyle/>
          <a:p>
            <a:r>
              <a:rPr lang="en-US" dirty="0"/>
              <a:t>DNS vs. CNAME vs. various clients</a:t>
            </a:r>
          </a:p>
        </p:txBody>
      </p:sp>
      <p:pic>
        <p:nvPicPr>
          <p:cNvPr id="7" name="Picture 6">
            <a:extLst>
              <a:ext uri="{FF2B5EF4-FFF2-40B4-BE49-F238E27FC236}">
                <a16:creationId xmlns:a16="http://schemas.microsoft.com/office/drawing/2014/main" id="{FD25825B-C247-47BC-97B8-6F40386A2058}"/>
              </a:ext>
            </a:extLst>
          </p:cNvPr>
          <p:cNvPicPr>
            <a:picLocks noChangeAspect="1"/>
          </p:cNvPicPr>
          <p:nvPr/>
        </p:nvPicPr>
        <p:blipFill>
          <a:blip r:embed="rId2"/>
          <a:stretch>
            <a:fillRect/>
          </a:stretch>
        </p:blipFill>
        <p:spPr>
          <a:xfrm>
            <a:off x="0" y="1858803"/>
            <a:ext cx="9144000" cy="2074253"/>
          </a:xfrm>
          <a:prstGeom prst="rect">
            <a:avLst/>
          </a:prstGeom>
        </p:spPr>
      </p:pic>
      <p:pic>
        <p:nvPicPr>
          <p:cNvPr id="9" name="Picture 8">
            <a:extLst>
              <a:ext uri="{FF2B5EF4-FFF2-40B4-BE49-F238E27FC236}">
                <a16:creationId xmlns:a16="http://schemas.microsoft.com/office/drawing/2014/main" id="{3D14F3B3-055A-40E9-B660-3127979CAA73}"/>
              </a:ext>
            </a:extLst>
          </p:cNvPr>
          <p:cNvPicPr>
            <a:picLocks noChangeAspect="1"/>
          </p:cNvPicPr>
          <p:nvPr/>
        </p:nvPicPr>
        <p:blipFill>
          <a:blip r:embed="rId3"/>
          <a:stretch>
            <a:fillRect/>
          </a:stretch>
        </p:blipFill>
        <p:spPr>
          <a:xfrm>
            <a:off x="0" y="4036631"/>
            <a:ext cx="9144000" cy="1048553"/>
          </a:xfrm>
          <a:prstGeom prst="rect">
            <a:avLst/>
          </a:prstGeom>
        </p:spPr>
      </p:pic>
    </p:spTree>
    <p:extLst>
      <p:ext uri="{BB962C8B-B14F-4D97-AF65-F5344CB8AC3E}">
        <p14:creationId xmlns:p14="http://schemas.microsoft.com/office/powerpoint/2010/main" val="25776700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 muster</a:t>
            </a:r>
            <a:br>
              <a:rPr lang="cs-CZ" dirty="0"/>
            </a:br>
            <a:r>
              <a:rPr lang="cs-CZ" dirty="0"/>
              <a:t>http</a:t>
            </a:r>
            <a:r>
              <a:rPr lang="en-US" dirty="0"/>
              <a:t>://</a:t>
            </a:r>
            <a:r>
              <a:rPr lang="en-US" dirty="0">
                <a:solidFill>
                  <a:schemeClr val="accent1"/>
                </a:solidFill>
              </a:rPr>
              <a:t>intranet</a:t>
            </a:r>
            <a:r>
              <a:rPr lang="en-US" dirty="0"/>
              <a:t>, http://intranet.</a:t>
            </a:r>
            <a:r>
              <a:rPr lang="en-US" dirty="0">
                <a:solidFill>
                  <a:schemeClr val="accent1"/>
                </a:solidFill>
              </a:rPr>
              <a:t>gopas.virtual</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92500" lnSpcReduction="1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A or CNAME</a:t>
            </a:r>
          </a:p>
          <a:p>
            <a:pPr lvl="1"/>
            <a:r>
              <a:rPr lang="en-US" dirty="0">
                <a:solidFill>
                  <a:schemeClr val="accent1"/>
                </a:solidFill>
              </a:rPr>
              <a:t>A</a:t>
            </a:r>
          </a:p>
          <a:p>
            <a:r>
              <a:rPr lang="en-US" dirty="0"/>
              <a:t>machine</a:t>
            </a:r>
          </a:p>
          <a:p>
            <a:pPr lvl="1"/>
            <a:r>
              <a:rPr lang="en-US" dirty="0">
                <a:solidFill>
                  <a:schemeClr val="accent1"/>
                </a:solidFill>
              </a:rPr>
              <a:t>GPS-WEB</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q</a:t>
            </a:r>
            <a:r>
              <a:rPr lang="en-US" dirty="0">
                <a:latin typeface="Courier New" panose="02070309020205020404" pitchFamily="49" charset="0"/>
                <a:cs typeface="Courier New" panose="02070309020205020404" pitchFamily="49" charset="0"/>
              </a:rPr>
              <a:t> "http/</a:t>
            </a:r>
            <a:r>
              <a:rPr lang="en-US" dirty="0" err="1">
                <a:latin typeface="Courier New" panose="02070309020205020404" pitchFamily="49" charset="0"/>
                <a:cs typeface="Courier New" panose="02070309020205020404" pitchFamily="49" charset="0"/>
              </a:rPr>
              <a:t>intran</a:t>
            </a:r>
            <a:r>
              <a:rPr lang="en-US" dirty="0">
                <a:latin typeface="Courier New" panose="02070309020205020404" pitchFamily="49" charset="0"/>
                <a:cs typeface="Courier New" panose="02070309020205020404" pitchFamily="49" charset="0"/>
              </a:rPr>
              <a:t>*"</a:t>
            </a:r>
          </a:p>
          <a:p>
            <a:pPr lvl="1"/>
            <a:endParaRPr lang="en-US" dirty="0"/>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t>
            </a:r>
            <a:r>
              <a:rPr lang="en-US" sz="1800" dirty="0">
                <a:solidFill>
                  <a:schemeClr val="accent1"/>
                </a:solidFill>
                <a:latin typeface="Courier New" panose="02070309020205020404" pitchFamily="49" charset="0"/>
                <a:cs typeface="Courier New" panose="02070309020205020404" pitchFamily="49" charset="0"/>
              </a:rPr>
              <a:t>a</a:t>
            </a:r>
            <a:r>
              <a:rPr lang="en-US" sz="1800" dirty="0">
                <a:latin typeface="Courier New" panose="02070309020205020404" pitchFamily="49" charset="0"/>
                <a:cs typeface="Courier New" panose="02070309020205020404" pitchFamily="49" charset="0"/>
              </a:rPr>
              <a:t> "http/intranet" </a:t>
            </a:r>
            <a:r>
              <a:rPr lang="en-US" sz="1800" dirty="0" err="1">
                <a:latin typeface="Courier New" panose="02070309020205020404" pitchFamily="49" charset="0"/>
                <a:cs typeface="Courier New" panose="02070309020205020404" pitchFamily="49" charset="0"/>
              </a:rPr>
              <a:t>gps</a:t>
            </a:r>
            <a:r>
              <a:rPr lang="en-US" sz="1800" dirty="0">
                <a:latin typeface="Courier New" panose="02070309020205020404" pitchFamily="49" charset="0"/>
                <a:cs typeface="Courier New" panose="02070309020205020404" pitchFamily="49" charset="0"/>
              </a:rPr>
              <a:t>-web</a:t>
            </a:r>
            <a:r>
              <a:rPr lang="en-US" sz="1800" dirty="0">
                <a:solidFill>
                  <a:schemeClr val="accent1"/>
                </a:solidFill>
                <a:latin typeface="Courier New" panose="02070309020205020404" pitchFamily="49" charset="0"/>
                <a:cs typeface="Courier New" panose="02070309020205020404" pitchFamily="49" charset="0"/>
              </a:rPr>
              <a:t>$</a:t>
            </a:r>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t>
            </a:r>
            <a:r>
              <a:rPr lang="en-US" sz="1800" dirty="0">
                <a:solidFill>
                  <a:schemeClr val="accent1"/>
                </a:solidFill>
                <a:latin typeface="Courier New" panose="02070309020205020404" pitchFamily="49" charset="0"/>
                <a:cs typeface="Courier New" panose="02070309020205020404" pitchFamily="49" charset="0"/>
              </a:rPr>
              <a:t>a</a:t>
            </a:r>
            <a:r>
              <a:rPr lang="en-US" sz="1800" dirty="0">
                <a:latin typeface="Courier New" panose="02070309020205020404" pitchFamily="49" charset="0"/>
                <a:cs typeface="Courier New" panose="02070309020205020404" pitchFamily="49" charset="0"/>
              </a:rPr>
              <a:t> "http/</a:t>
            </a:r>
            <a:r>
              <a:rPr lang="en-US" sz="1800" dirty="0" err="1">
                <a:latin typeface="Courier New" panose="02070309020205020404" pitchFamily="49" charset="0"/>
                <a:cs typeface="Courier New" panose="02070309020205020404" pitchFamily="49" charset="0"/>
              </a:rPr>
              <a:t>intranet</a:t>
            </a:r>
            <a:r>
              <a:rPr lang="en-US" sz="1800" dirty="0" err="1">
                <a:solidFill>
                  <a:schemeClr val="accent1"/>
                </a:solidFill>
                <a:latin typeface="Courier New" panose="02070309020205020404" pitchFamily="49" charset="0"/>
                <a:cs typeface="Courier New" panose="02070309020205020404" pitchFamily="49" charset="0"/>
              </a:rPr>
              <a:t>.gopas.virtual</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gps</a:t>
            </a:r>
            <a:r>
              <a:rPr lang="en-US" sz="1800" dirty="0">
                <a:latin typeface="Courier New" panose="02070309020205020404" pitchFamily="49" charset="0"/>
                <a:cs typeface="Courier New" panose="02070309020205020404" pitchFamily="49" charset="0"/>
              </a:rPr>
              <a:t>-web</a:t>
            </a:r>
            <a:r>
              <a:rPr lang="en-US" sz="1800" dirty="0">
                <a:solidFill>
                  <a:schemeClr val="accent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628327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 muster</a:t>
            </a:r>
            <a:br>
              <a:rPr lang="cs-CZ" dirty="0"/>
            </a:br>
            <a:r>
              <a:rPr lang="cs-CZ" dirty="0"/>
              <a:t>http</a:t>
            </a:r>
            <a:r>
              <a:rPr lang="en-US" dirty="0"/>
              <a:t>://</a:t>
            </a:r>
            <a:r>
              <a:rPr lang="en-US" dirty="0">
                <a:solidFill>
                  <a:schemeClr val="accent1"/>
                </a:solidFill>
              </a:rPr>
              <a:t>warehouse</a:t>
            </a:r>
            <a:r>
              <a:rPr lang="en-US" dirty="0"/>
              <a:t>, http://warehouse.</a:t>
            </a:r>
            <a:r>
              <a:rPr lang="en-US" dirty="0">
                <a:solidFill>
                  <a:schemeClr val="accent1"/>
                </a:solidFill>
              </a:rPr>
              <a:t>gopas.virtual</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A or CNAME</a:t>
            </a:r>
          </a:p>
          <a:p>
            <a:pPr lvl="1"/>
            <a:r>
              <a:rPr lang="en-US" dirty="0">
                <a:solidFill>
                  <a:schemeClr val="accent1"/>
                </a:solidFill>
              </a:rPr>
              <a:t>CNAME</a:t>
            </a:r>
          </a:p>
          <a:p>
            <a:r>
              <a:rPr lang="en-US" dirty="0"/>
              <a:t>machine</a:t>
            </a:r>
          </a:p>
          <a:p>
            <a:pPr lvl="1"/>
            <a:r>
              <a:rPr lang="en-US" dirty="0"/>
              <a:t>GPS-WEB</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"http/</a:t>
            </a:r>
            <a:r>
              <a:rPr lang="en-US" dirty="0" err="1">
                <a:solidFill>
                  <a:schemeClr val="accent1"/>
                </a:solidFill>
                <a:latin typeface="Courier New" panose="02070309020205020404" pitchFamily="49" charset="0"/>
                <a:cs typeface="Courier New" panose="02070309020205020404" pitchFamily="49" charset="0"/>
              </a:rPr>
              <a:t>gps</a:t>
            </a:r>
            <a:r>
              <a:rPr lang="en-US" dirty="0">
                <a:solidFill>
                  <a:schemeClr val="accent1"/>
                </a:solidFill>
                <a:latin typeface="Courier New" panose="02070309020205020404" pitchFamily="49" charset="0"/>
                <a:cs typeface="Courier New" panose="02070309020205020404" pitchFamily="49" charset="0"/>
              </a:rPr>
              <a:t>-web</a:t>
            </a:r>
            <a:r>
              <a:rPr lang="en-US" dirty="0">
                <a:latin typeface="Courier New" panose="02070309020205020404" pitchFamily="49" charset="0"/>
                <a:cs typeface="Courier New" panose="02070309020205020404" pitchFamily="49" charset="0"/>
              </a:rPr>
              <a:t>*"</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a:t>
            </a:r>
            <a:r>
              <a:rPr lang="en-US" dirty="0">
                <a:solidFill>
                  <a:schemeClr val="accent1"/>
                </a:solidFill>
                <a:latin typeface="Courier New" panose="02070309020205020404" pitchFamily="49" charset="0"/>
                <a:cs typeface="Courier New" panose="02070309020205020404" pitchFamily="49" charset="0"/>
              </a:rPr>
              <a:t>host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gps</a:t>
            </a:r>
            <a:r>
              <a:rPr lang="en-US" dirty="0">
                <a:latin typeface="Courier New" panose="02070309020205020404" pitchFamily="49" charset="0"/>
                <a:cs typeface="Courier New" panose="02070309020205020404" pitchFamily="49" charset="0"/>
              </a:rPr>
              <a:t>-web*"</a:t>
            </a:r>
          </a:p>
          <a:p>
            <a:endParaRPr lang="en-US" dirty="0"/>
          </a:p>
        </p:txBody>
      </p:sp>
      <p:sp>
        <p:nvSpPr>
          <p:cNvPr id="3" name="TextBox 2">
            <a:extLst>
              <a:ext uri="{FF2B5EF4-FFF2-40B4-BE49-F238E27FC236}">
                <a16:creationId xmlns:a16="http://schemas.microsoft.com/office/drawing/2014/main" id="{99AB9D7B-5052-4ADF-AA02-B495A7BC2AF2}"/>
              </a:ext>
            </a:extLst>
          </p:cNvPr>
          <p:cNvSpPr txBox="1"/>
          <p:nvPr/>
        </p:nvSpPr>
        <p:spPr>
          <a:xfrm>
            <a:off x="5216661" y="5373216"/>
            <a:ext cx="3470139" cy="646331"/>
          </a:xfrm>
          <a:prstGeom prst="rect">
            <a:avLst/>
          </a:prstGeom>
          <a:noFill/>
        </p:spPr>
        <p:txBody>
          <a:bodyPr wrap="square" rtlCol="0">
            <a:spAutoFit/>
          </a:bodyPr>
          <a:lstStyle/>
          <a:p>
            <a:r>
              <a:rPr lang="en-US" dirty="0">
                <a:solidFill>
                  <a:schemeClr val="accent4"/>
                </a:solidFill>
              </a:rPr>
              <a:t>add</a:t>
            </a:r>
            <a:r>
              <a:rPr lang="en-US" dirty="0">
                <a:solidFill>
                  <a:schemeClr val="accent2"/>
                </a:solidFill>
              </a:rPr>
              <a:t> http/</a:t>
            </a:r>
            <a:r>
              <a:rPr lang="en-US" dirty="0" err="1">
                <a:solidFill>
                  <a:schemeClr val="accent2"/>
                </a:solidFill>
              </a:rPr>
              <a:t>gps-web.gopas.virtual</a:t>
            </a:r>
            <a:r>
              <a:rPr lang="en-US" dirty="0">
                <a:solidFill>
                  <a:schemeClr val="accent4"/>
                </a:solidFill>
              </a:rPr>
              <a:t> and </a:t>
            </a:r>
            <a:r>
              <a:rPr lang="en-US" dirty="0">
                <a:solidFill>
                  <a:schemeClr val="accent2"/>
                </a:solidFill>
              </a:rPr>
              <a:t>http/</a:t>
            </a:r>
            <a:r>
              <a:rPr lang="en-US" dirty="0" err="1">
                <a:solidFill>
                  <a:schemeClr val="accent2"/>
                </a:solidFill>
              </a:rPr>
              <a:t>gps</a:t>
            </a:r>
            <a:r>
              <a:rPr lang="en-US" dirty="0">
                <a:solidFill>
                  <a:schemeClr val="accent2"/>
                </a:solidFill>
              </a:rPr>
              <a:t>-web </a:t>
            </a:r>
            <a:r>
              <a:rPr lang="en-US" dirty="0">
                <a:solidFill>
                  <a:schemeClr val="accent4"/>
                </a:solidFill>
              </a:rPr>
              <a:t>anyway</a:t>
            </a:r>
          </a:p>
        </p:txBody>
      </p:sp>
    </p:spTree>
    <p:extLst>
      <p:ext uri="{BB962C8B-B14F-4D97-AF65-F5344CB8AC3E}">
        <p14:creationId xmlns:p14="http://schemas.microsoft.com/office/powerpoint/2010/main" val="32113264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F192A-F20A-0641-FF88-CB367057B030}"/>
              </a:ext>
            </a:extLst>
          </p:cNvPr>
          <p:cNvSpPr>
            <a:spLocks noGrp="1"/>
          </p:cNvSpPr>
          <p:nvPr>
            <p:ph type="title"/>
          </p:nvPr>
        </p:nvSpPr>
        <p:spPr/>
        <p:txBody>
          <a:bodyPr/>
          <a:lstStyle/>
          <a:p>
            <a:r>
              <a:rPr lang="en-US" dirty="0"/>
              <a:t>HOST/ SPN "wildcard"</a:t>
            </a:r>
          </a:p>
        </p:txBody>
      </p:sp>
      <p:sp>
        <p:nvSpPr>
          <p:cNvPr id="3" name="Content Placeholder 2">
            <a:extLst>
              <a:ext uri="{FF2B5EF4-FFF2-40B4-BE49-F238E27FC236}">
                <a16:creationId xmlns:a16="http://schemas.microsoft.com/office/drawing/2014/main" id="{B2AC0BFC-8C45-EFEC-892E-D1ED3E1FCB98}"/>
              </a:ext>
            </a:extLst>
          </p:cNvPr>
          <p:cNvSpPr>
            <a:spLocks noGrp="1"/>
          </p:cNvSpPr>
          <p:nvPr>
            <p:ph idx="1"/>
          </p:nvPr>
        </p:nvSpPr>
        <p:spPr/>
        <p:txBody>
          <a:bodyPr>
            <a:normAutofit/>
          </a:bodyPr>
          <a:lstStyle/>
          <a:p>
            <a:r>
              <a:rPr lang="en-US" sz="1400" dirty="0"/>
              <a:t>CN=Directory </a:t>
            </a:r>
            <a:r>
              <a:rPr lang="en-US" sz="1400" dirty="0" err="1"/>
              <a:t>Service,CN</a:t>
            </a:r>
            <a:r>
              <a:rPr lang="en-US" sz="1400" dirty="0"/>
              <a:t>=Windows NT,CN=</a:t>
            </a:r>
            <a:r>
              <a:rPr lang="en-US" sz="1400" dirty="0" err="1"/>
              <a:t>Services,CN</a:t>
            </a:r>
            <a:r>
              <a:rPr lang="en-US" sz="1400" dirty="0"/>
              <a:t>=</a:t>
            </a:r>
            <a:r>
              <a:rPr lang="en-US" sz="1400" dirty="0" err="1"/>
              <a:t>Configuration,DC</a:t>
            </a:r>
            <a:r>
              <a:rPr lang="en-US" sz="1400" dirty="0"/>
              <a:t>=x</a:t>
            </a:r>
          </a:p>
          <a:p>
            <a:r>
              <a:rPr lang="en-US" sz="1400" dirty="0" err="1"/>
              <a:t>sPNMappings</a:t>
            </a:r>
            <a:endParaRPr lang="en-US" sz="1400" dirty="0"/>
          </a:p>
          <a:p>
            <a:endParaRPr lang="en-US" sz="1400" dirty="0"/>
          </a:p>
          <a:p>
            <a:r>
              <a:rPr lang="en-US" sz="1400" dirty="0"/>
              <a:t>does not contain</a:t>
            </a:r>
          </a:p>
          <a:p>
            <a:pPr lvl="1"/>
            <a:r>
              <a:rPr lang="en-US" sz="1200" dirty="0"/>
              <a:t>TERMSRV/</a:t>
            </a:r>
          </a:p>
          <a:p>
            <a:pPr lvl="1"/>
            <a:r>
              <a:rPr lang="en-US" sz="1200" dirty="0" err="1"/>
              <a:t>MSSqlSvc</a:t>
            </a:r>
            <a:r>
              <a:rPr lang="en-US" sz="1200" dirty="0"/>
              <a:t>/</a:t>
            </a:r>
          </a:p>
        </p:txBody>
      </p:sp>
      <p:graphicFrame>
        <p:nvGraphicFramePr>
          <p:cNvPr id="4" name="Object 3">
            <a:extLst>
              <a:ext uri="{FF2B5EF4-FFF2-40B4-BE49-F238E27FC236}">
                <a16:creationId xmlns:a16="http://schemas.microsoft.com/office/drawing/2014/main" id="{3936D8D7-D3F6-5394-766E-58ECD0C2B5BC}"/>
              </a:ext>
            </a:extLst>
          </p:cNvPr>
          <p:cNvGraphicFramePr>
            <a:graphicFrameLocks noChangeAspect="1"/>
          </p:cNvGraphicFramePr>
          <p:nvPr>
            <p:extLst>
              <p:ext uri="{D42A27DB-BD31-4B8C-83A1-F6EECF244321}">
                <p14:modId xmlns:p14="http://schemas.microsoft.com/office/powerpoint/2010/main" val="406385792"/>
              </p:ext>
            </p:extLst>
          </p:nvPr>
        </p:nvGraphicFramePr>
        <p:xfrm>
          <a:off x="2276475" y="1695450"/>
          <a:ext cx="6867525" cy="5162550"/>
        </p:xfrm>
        <a:graphic>
          <a:graphicData uri="http://schemas.openxmlformats.org/presentationml/2006/ole">
            <mc:AlternateContent xmlns:mc="http://schemas.openxmlformats.org/markup-compatibility/2006">
              <mc:Choice xmlns:v="urn:schemas-microsoft-com:vml" Requires="v">
                <p:oleObj r:id="rId2" imgW="6867360" imgH="5162400" progId="">
                  <p:embed/>
                </p:oleObj>
              </mc:Choice>
              <mc:Fallback>
                <p:oleObj r:id="rId2" imgW="6867360" imgH="5162400" progId="">
                  <p:embed/>
                  <p:pic>
                    <p:nvPicPr>
                      <p:cNvPr id="0" name=""/>
                      <p:cNvPicPr/>
                      <p:nvPr/>
                    </p:nvPicPr>
                    <p:blipFill>
                      <a:blip r:embed="rId3"/>
                      <a:stretch>
                        <a:fillRect/>
                      </a:stretch>
                    </p:blipFill>
                    <p:spPr>
                      <a:xfrm>
                        <a:off x="2276475" y="1695450"/>
                        <a:ext cx="6867525" cy="5162550"/>
                      </a:xfrm>
                      <a:prstGeom prst="rect">
                        <a:avLst/>
                      </a:prstGeom>
                    </p:spPr>
                  </p:pic>
                </p:oleObj>
              </mc:Fallback>
            </mc:AlternateContent>
          </a:graphicData>
        </a:graphic>
      </p:graphicFrame>
    </p:spTree>
    <p:extLst>
      <p:ext uri="{BB962C8B-B14F-4D97-AF65-F5344CB8AC3E}">
        <p14:creationId xmlns:p14="http://schemas.microsoft.com/office/powerpoint/2010/main" val="3036312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 muster</a:t>
            </a:r>
            <a:br>
              <a:rPr lang="cs-CZ" dirty="0"/>
            </a:br>
            <a:r>
              <a:rPr lang="cs-CZ" dirty="0"/>
              <a:t>http</a:t>
            </a:r>
            <a:r>
              <a:rPr lang="en-US" dirty="0">
                <a:solidFill>
                  <a:schemeClr val="accent1"/>
                </a:solidFill>
              </a:rPr>
              <a:t>s</a:t>
            </a:r>
            <a:r>
              <a:rPr lang="en-US" dirty="0"/>
              <a:t>://</a:t>
            </a:r>
            <a:r>
              <a:rPr lang="en-US" dirty="0">
                <a:solidFill>
                  <a:schemeClr val="accent1"/>
                </a:solidFill>
              </a:rPr>
              <a:t>finance.gopas.cz</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92500" lnSpcReduction="2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A or CNAME</a:t>
            </a:r>
          </a:p>
          <a:p>
            <a:pPr lvl="1"/>
            <a:r>
              <a:rPr lang="en-US" dirty="0"/>
              <a:t>A</a:t>
            </a:r>
          </a:p>
          <a:p>
            <a:r>
              <a:rPr lang="en-US" dirty="0"/>
              <a:t>machine</a:t>
            </a:r>
          </a:p>
          <a:p>
            <a:pPr lvl="1"/>
            <a:r>
              <a:rPr lang="en-US" dirty="0"/>
              <a:t>GPS-WEB</a:t>
            </a:r>
          </a:p>
          <a:p>
            <a:r>
              <a:rPr lang="en-US" dirty="0"/>
              <a:t>service account</a:t>
            </a:r>
          </a:p>
          <a:p>
            <a:pPr lvl="1"/>
            <a:r>
              <a:rPr lang="en-US" dirty="0" err="1"/>
              <a:t>gps</a:t>
            </a:r>
            <a:r>
              <a:rPr lang="en-US" dirty="0"/>
              <a:t>\</a:t>
            </a:r>
            <a:r>
              <a:rPr lang="en-US" dirty="0">
                <a:solidFill>
                  <a:schemeClr val="accent1"/>
                </a:solidFill>
              </a:rPr>
              <a:t>svc-</a:t>
            </a:r>
            <a:r>
              <a:rPr lang="en-US" dirty="0" err="1">
                <a:solidFill>
                  <a:schemeClr val="accent1"/>
                </a:solidFill>
              </a:rPr>
              <a:t>iis</a:t>
            </a:r>
            <a:r>
              <a:rPr lang="en-US" dirty="0">
                <a:solidFill>
                  <a:schemeClr val="accent1"/>
                </a:solidFill>
              </a:rPr>
              <a:t>-finance</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"http/</a:t>
            </a:r>
            <a:r>
              <a:rPr lang="en-US" dirty="0">
                <a:solidFill>
                  <a:schemeClr val="accent1"/>
                </a:solidFill>
                <a:latin typeface="Courier New" panose="02070309020205020404" pitchFamily="49" charset="0"/>
                <a:cs typeface="Courier New" panose="02070309020205020404" pitchFamily="49" charset="0"/>
              </a:rPr>
              <a:t>fin</a:t>
            </a:r>
            <a:r>
              <a:rPr lang="en-US" dirty="0">
                <a:latin typeface="Courier New" panose="02070309020205020404" pitchFamily="49" charset="0"/>
                <a:cs typeface="Courier New" panose="02070309020205020404" pitchFamily="49" charset="0"/>
              </a:rPr>
              <a:t>*"</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a:t>
            </a:r>
            <a:r>
              <a:rPr lang="en-US" dirty="0">
                <a:solidFill>
                  <a:schemeClr val="accent1"/>
                </a:solidFill>
                <a:latin typeface="Courier New" panose="02070309020205020404" pitchFamily="49" charset="0"/>
                <a:cs typeface="Courier New" panose="02070309020205020404" pitchFamily="49" charset="0"/>
              </a:rPr>
              <a:t>host</a:t>
            </a:r>
            <a:r>
              <a:rPr lang="en-US" dirty="0">
                <a:latin typeface="Courier New" panose="02070309020205020404" pitchFamily="49" charset="0"/>
                <a:cs typeface="Courier New" panose="02070309020205020404" pitchFamily="49" charset="0"/>
              </a:rPr>
              <a:t>/fin*"</a:t>
            </a:r>
          </a:p>
          <a:p>
            <a:pPr lvl="1"/>
            <a:endParaRPr lang="en-US" dirty="0"/>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a:t>
            </a:r>
            <a:r>
              <a:rPr lang="en-US" sz="1800" dirty="0">
                <a:solidFill>
                  <a:schemeClr val="accent1"/>
                </a:solidFill>
                <a:latin typeface="Courier New" panose="02070309020205020404" pitchFamily="49" charset="0"/>
                <a:cs typeface="Courier New" panose="02070309020205020404" pitchFamily="49" charset="0"/>
              </a:rPr>
              <a:t>http/</a:t>
            </a:r>
            <a:r>
              <a:rPr lang="en-US" sz="1800" dirty="0">
                <a:latin typeface="Courier New" panose="02070309020205020404" pitchFamily="49" charset="0"/>
                <a:cs typeface="Courier New" panose="02070309020205020404" pitchFamily="49" charset="0"/>
              </a:rPr>
              <a:t>finance</a:t>
            </a:r>
            <a:r>
              <a:rPr lang="en-US" sz="1800" dirty="0">
                <a:solidFill>
                  <a:schemeClr val="accent1"/>
                </a:solidFill>
                <a:latin typeface="Courier New" panose="02070309020205020404" pitchFamily="49" charset="0"/>
                <a:cs typeface="Courier New" panose="02070309020205020404" pitchFamily="49" charset="0"/>
              </a:rPr>
              <a:t>.gopas.cz</a:t>
            </a:r>
            <a:r>
              <a:rPr lang="en-US" sz="1800" dirty="0">
                <a:latin typeface="Courier New" panose="02070309020205020404" pitchFamily="49" charset="0"/>
                <a:cs typeface="Courier New" panose="02070309020205020404" pitchFamily="49" charset="0"/>
              </a:rPr>
              <a:t>" </a:t>
            </a:r>
            <a:r>
              <a:rPr lang="en-US" sz="1800" dirty="0">
                <a:solidFill>
                  <a:schemeClr val="accent1"/>
                </a:solidFill>
                <a:latin typeface="Courier New" panose="02070309020205020404" pitchFamily="49" charset="0"/>
                <a:cs typeface="Courier New" panose="02070309020205020404" pitchFamily="49" charset="0"/>
              </a:rPr>
              <a:t>svc-</a:t>
            </a:r>
            <a:r>
              <a:rPr lang="en-US" sz="1800" dirty="0" err="1">
                <a:solidFill>
                  <a:schemeClr val="accent1"/>
                </a:solidFill>
                <a:latin typeface="Courier New" panose="02070309020205020404" pitchFamily="49" charset="0"/>
                <a:cs typeface="Courier New" panose="02070309020205020404" pitchFamily="49" charset="0"/>
              </a:rPr>
              <a:t>iis</a:t>
            </a:r>
            <a:r>
              <a:rPr lang="en-US" sz="1800" dirty="0">
                <a:solidFill>
                  <a:schemeClr val="accent1"/>
                </a:solidFill>
                <a:latin typeface="Courier New" panose="02070309020205020404" pitchFamily="49" charset="0"/>
                <a:cs typeface="Courier New" panose="02070309020205020404" pitchFamily="49" charset="0"/>
              </a:rPr>
              <a:t>-finance</a:t>
            </a:r>
          </a:p>
        </p:txBody>
      </p:sp>
    </p:spTree>
    <p:extLst>
      <p:ext uri="{BB962C8B-B14F-4D97-AF65-F5344CB8AC3E}">
        <p14:creationId xmlns:p14="http://schemas.microsoft.com/office/powerpoint/2010/main" val="40084311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9349-181A-B91C-4362-72773CEBA2F5}"/>
              </a:ext>
            </a:extLst>
          </p:cNvPr>
          <p:cNvSpPr>
            <a:spLocks noGrp="1"/>
          </p:cNvSpPr>
          <p:nvPr>
            <p:ph type="title"/>
          </p:nvPr>
        </p:nvSpPr>
        <p:spPr/>
        <p:txBody>
          <a:bodyPr/>
          <a:lstStyle/>
          <a:p>
            <a:r>
              <a:rPr lang="en-US" dirty="0"/>
              <a:t>Alternative UPN and SPN suffixes</a:t>
            </a:r>
          </a:p>
        </p:txBody>
      </p:sp>
      <p:sp>
        <p:nvSpPr>
          <p:cNvPr id="3" name="Content Placeholder 2">
            <a:extLst>
              <a:ext uri="{FF2B5EF4-FFF2-40B4-BE49-F238E27FC236}">
                <a16:creationId xmlns:a16="http://schemas.microsoft.com/office/drawing/2014/main" id="{5EC26691-02D4-D981-DAEB-7B095D79A9DB}"/>
              </a:ext>
            </a:extLst>
          </p:cNvPr>
          <p:cNvSpPr>
            <a:spLocks noGrp="1"/>
          </p:cNvSpPr>
          <p:nvPr>
            <p:ph idx="1"/>
          </p:nvPr>
        </p:nvSpPr>
        <p:spPr/>
        <p:txBody>
          <a:bodyPr/>
          <a:lstStyle/>
          <a:p>
            <a:r>
              <a:rPr lang="en-US" dirty="0"/>
              <a:t>CN=</a:t>
            </a:r>
            <a:r>
              <a:rPr lang="en-US" dirty="0" err="1"/>
              <a:t>Partitions,CN</a:t>
            </a:r>
            <a:r>
              <a:rPr lang="en-US" dirty="0"/>
              <a:t>=</a:t>
            </a:r>
            <a:r>
              <a:rPr lang="en-US" dirty="0" err="1"/>
              <a:t>Configuration,DC</a:t>
            </a:r>
            <a:r>
              <a:rPr lang="en-US" dirty="0"/>
              <a:t>=x</a:t>
            </a:r>
          </a:p>
          <a:p>
            <a:r>
              <a:rPr lang="en-US" dirty="0" err="1"/>
              <a:t>uPNSuffixes</a:t>
            </a:r>
            <a:endParaRPr lang="en-US" dirty="0"/>
          </a:p>
        </p:txBody>
      </p:sp>
      <p:graphicFrame>
        <p:nvGraphicFramePr>
          <p:cNvPr id="4" name="Object 3">
            <a:extLst>
              <a:ext uri="{FF2B5EF4-FFF2-40B4-BE49-F238E27FC236}">
                <a16:creationId xmlns:a16="http://schemas.microsoft.com/office/drawing/2014/main" id="{4FE3F7EA-BD11-06F7-D89D-D373ED607477}"/>
              </a:ext>
            </a:extLst>
          </p:cNvPr>
          <p:cNvGraphicFramePr>
            <a:graphicFrameLocks noChangeAspect="1"/>
          </p:cNvGraphicFramePr>
          <p:nvPr>
            <p:extLst>
              <p:ext uri="{D42A27DB-BD31-4B8C-83A1-F6EECF244321}">
                <p14:modId xmlns:p14="http://schemas.microsoft.com/office/powerpoint/2010/main" val="4274805925"/>
              </p:ext>
            </p:extLst>
          </p:nvPr>
        </p:nvGraphicFramePr>
        <p:xfrm>
          <a:off x="457201" y="2053843"/>
          <a:ext cx="8686800" cy="4804157"/>
        </p:xfrm>
        <a:graphic>
          <a:graphicData uri="http://schemas.openxmlformats.org/presentationml/2006/ole">
            <mc:AlternateContent xmlns:mc="http://schemas.openxmlformats.org/markup-compatibility/2006">
              <mc:Choice xmlns:v="urn:schemas-microsoft-com:vml" Requires="v">
                <p:oleObj r:id="rId2" imgW="6734160" imgH="3724200" progId="">
                  <p:embed/>
                </p:oleObj>
              </mc:Choice>
              <mc:Fallback>
                <p:oleObj r:id="rId2" imgW="6734160" imgH="3724200" progId="">
                  <p:embed/>
                  <p:pic>
                    <p:nvPicPr>
                      <p:cNvPr id="0" name=""/>
                      <p:cNvPicPr/>
                      <p:nvPr/>
                    </p:nvPicPr>
                    <p:blipFill>
                      <a:blip r:embed="rId3"/>
                      <a:stretch>
                        <a:fillRect/>
                      </a:stretch>
                    </p:blipFill>
                    <p:spPr>
                      <a:xfrm>
                        <a:off x="457201" y="2053843"/>
                        <a:ext cx="8686800" cy="4804157"/>
                      </a:xfrm>
                      <a:prstGeom prst="rect">
                        <a:avLst/>
                      </a:prstGeom>
                    </p:spPr>
                  </p:pic>
                </p:oleObj>
              </mc:Fallback>
            </mc:AlternateContent>
          </a:graphicData>
        </a:graphic>
      </p:graphicFrame>
    </p:spTree>
    <p:extLst>
      <p:ext uri="{BB962C8B-B14F-4D97-AF65-F5344CB8AC3E}">
        <p14:creationId xmlns:p14="http://schemas.microsoft.com/office/powerpoint/2010/main" val="38610866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ED16-1C63-46F9-A9CD-97EE0E5947DF}"/>
              </a:ext>
            </a:extLst>
          </p:cNvPr>
          <p:cNvSpPr>
            <a:spLocks noGrp="1"/>
          </p:cNvSpPr>
          <p:nvPr>
            <p:ph type="title"/>
          </p:nvPr>
        </p:nvSpPr>
        <p:spPr/>
        <p:txBody>
          <a:bodyPr/>
          <a:lstStyle/>
          <a:p>
            <a:r>
              <a:rPr lang="en-US" dirty="0"/>
              <a:t>Dynamic SQL server SPN (de)registration</a:t>
            </a:r>
          </a:p>
        </p:txBody>
      </p:sp>
      <p:sp>
        <p:nvSpPr>
          <p:cNvPr id="3" name="Content Placeholder 2">
            <a:extLst>
              <a:ext uri="{FF2B5EF4-FFF2-40B4-BE49-F238E27FC236}">
                <a16:creationId xmlns:a16="http://schemas.microsoft.com/office/drawing/2014/main" id="{CEF16724-1669-4ECF-87D2-89A9EC59557B}"/>
              </a:ext>
            </a:extLst>
          </p:cNvPr>
          <p:cNvSpPr>
            <a:spLocks noGrp="1"/>
          </p:cNvSpPr>
          <p:nvPr>
            <p:ph idx="1"/>
          </p:nvPr>
        </p:nvSpPr>
        <p:spPr/>
        <p:txBody>
          <a:bodyPr>
            <a:normAutofit/>
          </a:bodyPr>
          <a:lstStyle/>
          <a:p>
            <a:r>
              <a:rPr lang="en-US" sz="1600" dirty="0"/>
              <a:t>SQL server default instance (TCP port 1433)</a:t>
            </a:r>
          </a:p>
          <a:p>
            <a:pPr lvl="1"/>
            <a:r>
              <a:rPr lang="en-US" sz="1400" dirty="0" err="1">
                <a:solidFill>
                  <a:schemeClr val="accent1"/>
                </a:solidFill>
              </a:rPr>
              <a:t>mssqlsvc</a:t>
            </a:r>
            <a:r>
              <a:rPr lang="en-US" sz="1400" dirty="0"/>
              <a:t>/hostname</a:t>
            </a:r>
          </a:p>
          <a:p>
            <a:r>
              <a:rPr lang="en-US" sz="1600" dirty="0"/>
              <a:t>SQL server named instance (TCP port ???)</a:t>
            </a:r>
          </a:p>
          <a:p>
            <a:pPr lvl="1"/>
            <a:r>
              <a:rPr lang="en-US" sz="1400" dirty="0" err="1"/>
              <a:t>mssqlsvc</a:t>
            </a:r>
            <a:r>
              <a:rPr lang="en-US" sz="1400" dirty="0"/>
              <a:t>/</a:t>
            </a:r>
            <a:r>
              <a:rPr lang="en-US" sz="1400" dirty="0" err="1"/>
              <a:t>hostname:</a:t>
            </a:r>
            <a:r>
              <a:rPr lang="en-US" sz="1400" dirty="0" err="1">
                <a:solidFill>
                  <a:schemeClr val="accent1"/>
                </a:solidFill>
              </a:rPr>
              <a:t>port</a:t>
            </a:r>
            <a:endParaRPr lang="en-US" sz="1400" dirty="0">
              <a:solidFill>
                <a:schemeClr val="accent1"/>
              </a:solidFill>
            </a:endParaRPr>
          </a:p>
          <a:p>
            <a:pPr lvl="1"/>
            <a:r>
              <a:rPr lang="en-US" sz="1400" dirty="0" err="1"/>
              <a:t>mssqlsvc</a:t>
            </a:r>
            <a:r>
              <a:rPr lang="en-US" sz="1400" dirty="0"/>
              <a:t>/</a:t>
            </a:r>
            <a:r>
              <a:rPr lang="en-US" sz="1400" dirty="0" err="1"/>
              <a:t>hostname:</a:t>
            </a:r>
            <a:r>
              <a:rPr lang="en-US" sz="1400" dirty="0" err="1">
                <a:solidFill>
                  <a:schemeClr val="accent1"/>
                </a:solidFill>
              </a:rPr>
              <a:t>INSTANCENAME</a:t>
            </a:r>
            <a:endParaRPr lang="en-US" sz="1400" dirty="0">
              <a:solidFill>
                <a:schemeClr val="accent1"/>
              </a:solidFill>
            </a:endParaRPr>
          </a:p>
          <a:p>
            <a:pPr lvl="1"/>
            <a:endParaRPr lang="en-US" sz="1400" dirty="0">
              <a:solidFill>
                <a:schemeClr val="accent1"/>
              </a:solidFill>
            </a:endParaRPr>
          </a:p>
          <a:p>
            <a:pPr marL="0" indent="0">
              <a:buNone/>
            </a:pPr>
            <a:r>
              <a:rPr lang="en-US" sz="1600" dirty="0" err="1">
                <a:latin typeface="Courier New" panose="02070309020205020404" pitchFamily="49" charset="0"/>
                <a:cs typeface="Courier New" panose="02070309020205020404" pitchFamily="49" charset="0"/>
              </a:rPr>
              <a:t>dsacls</a:t>
            </a:r>
            <a:r>
              <a:rPr lang="en-US" sz="1600" dirty="0">
                <a:latin typeface="Courier New" panose="02070309020205020404" pitchFamily="49" charset="0"/>
                <a:cs typeface="Courier New" panose="02070309020205020404" pitchFamily="49" charset="0"/>
              </a:rPr>
              <a:t> "CN=account..." /grant "</a:t>
            </a:r>
            <a:r>
              <a:rPr lang="en-US" sz="1600" dirty="0" err="1">
                <a:solidFill>
                  <a:schemeClr val="accent1"/>
                </a:solidFill>
                <a:latin typeface="Courier New" panose="02070309020205020404" pitchFamily="49" charset="0"/>
                <a:cs typeface="Courier New" panose="02070309020205020404" pitchFamily="49" charset="0"/>
              </a:rPr>
              <a:t>SELF</a:t>
            </a:r>
            <a:r>
              <a:rPr lang="en-US" sz="1600" dirty="0" err="1">
                <a:latin typeface="Courier New" panose="02070309020205020404" pitchFamily="49" charset="0"/>
                <a:cs typeface="Courier New" panose="02070309020205020404" pitchFamily="49" charset="0"/>
              </a:rPr>
              <a:t>:RP</a:t>
            </a:r>
            <a:r>
              <a:rPr lang="en-US" sz="1600" dirty="0" err="1">
                <a:solidFill>
                  <a:schemeClr val="accent1"/>
                </a:solidFill>
                <a:latin typeface="Courier New" panose="02070309020205020404" pitchFamily="49" charset="0"/>
                <a:cs typeface="Courier New" panose="02070309020205020404" pitchFamily="49" charset="0"/>
              </a:rPr>
              <a:t>WP</a:t>
            </a:r>
            <a:r>
              <a:rPr lang="en-US" sz="1600" dirty="0" err="1">
                <a:latin typeface="Courier New" panose="02070309020205020404" pitchFamily="49" charset="0"/>
                <a:cs typeface="Courier New" panose="02070309020205020404" pitchFamily="49" charset="0"/>
              </a:rPr>
              <a:t>;servicePrincipalName</a:t>
            </a:r>
            <a:r>
              <a:rPr lang="en-US" sz="1600" dirty="0">
                <a:latin typeface="Courier New" panose="02070309020205020404" pitchFamily="49" charset="0"/>
                <a:cs typeface="Courier New" panose="02070309020205020404" pitchFamily="49" charset="0"/>
              </a:rPr>
              <a:t>"</a:t>
            </a:r>
          </a:p>
        </p:txBody>
      </p:sp>
      <p:pic>
        <p:nvPicPr>
          <p:cNvPr id="5" name="Picture 4">
            <a:extLst>
              <a:ext uri="{FF2B5EF4-FFF2-40B4-BE49-F238E27FC236}">
                <a16:creationId xmlns:a16="http://schemas.microsoft.com/office/drawing/2014/main" id="{6C3A0AFB-12C4-46A2-931A-7BA6B7FCD240}"/>
              </a:ext>
            </a:extLst>
          </p:cNvPr>
          <p:cNvPicPr>
            <a:picLocks noChangeAspect="1"/>
          </p:cNvPicPr>
          <p:nvPr/>
        </p:nvPicPr>
        <p:blipFill>
          <a:blip r:embed="rId2"/>
          <a:stretch>
            <a:fillRect/>
          </a:stretch>
        </p:blipFill>
        <p:spPr>
          <a:xfrm>
            <a:off x="0" y="3212976"/>
            <a:ext cx="9144000" cy="1158658"/>
          </a:xfrm>
          <a:prstGeom prst="rect">
            <a:avLst/>
          </a:prstGeom>
        </p:spPr>
      </p:pic>
      <p:pic>
        <p:nvPicPr>
          <p:cNvPr id="7" name="Picture 6">
            <a:extLst>
              <a:ext uri="{FF2B5EF4-FFF2-40B4-BE49-F238E27FC236}">
                <a16:creationId xmlns:a16="http://schemas.microsoft.com/office/drawing/2014/main" id="{28F4B2E5-EF71-4570-9DD3-A9E722C89B80}"/>
              </a:ext>
            </a:extLst>
          </p:cNvPr>
          <p:cNvPicPr>
            <a:picLocks noChangeAspect="1"/>
          </p:cNvPicPr>
          <p:nvPr/>
        </p:nvPicPr>
        <p:blipFill>
          <a:blip r:embed="rId3"/>
          <a:stretch>
            <a:fillRect/>
          </a:stretch>
        </p:blipFill>
        <p:spPr>
          <a:xfrm>
            <a:off x="3563888" y="4137694"/>
            <a:ext cx="5580112" cy="2720305"/>
          </a:xfrm>
          <a:prstGeom prst="rect">
            <a:avLst/>
          </a:prstGeom>
        </p:spPr>
      </p:pic>
    </p:spTree>
    <p:extLst>
      <p:ext uri="{BB962C8B-B14F-4D97-AF65-F5344CB8AC3E}">
        <p14:creationId xmlns:p14="http://schemas.microsoft.com/office/powerpoint/2010/main" val="39051163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2847-E53F-A517-0B0D-CAB28745AB72}"/>
              </a:ext>
            </a:extLst>
          </p:cNvPr>
          <p:cNvSpPr>
            <a:spLocks noGrp="1"/>
          </p:cNvSpPr>
          <p:nvPr>
            <p:ph type="title"/>
          </p:nvPr>
        </p:nvSpPr>
        <p:spPr>
          <a:xfrm>
            <a:off x="457200" y="197768"/>
            <a:ext cx="8229600" cy="782960"/>
          </a:xfrm>
        </p:spPr>
        <p:txBody>
          <a:bodyPr>
            <a:normAutofit/>
          </a:bodyPr>
          <a:lstStyle/>
          <a:p>
            <a:r>
              <a:rPr lang="en-US" sz="1800" dirty="0"/>
              <a:t>Listing SQL connections/sessions for logins and Kerberos/NTLM</a:t>
            </a:r>
          </a:p>
        </p:txBody>
      </p:sp>
      <p:sp>
        <p:nvSpPr>
          <p:cNvPr id="3" name="Content Placeholder 2">
            <a:extLst>
              <a:ext uri="{FF2B5EF4-FFF2-40B4-BE49-F238E27FC236}">
                <a16:creationId xmlns:a16="http://schemas.microsoft.com/office/drawing/2014/main" id="{23046F3A-2DE5-179D-DFFB-A99DEB96C4AD}"/>
              </a:ext>
            </a:extLst>
          </p:cNvPr>
          <p:cNvSpPr>
            <a:spLocks noGrp="1"/>
          </p:cNvSpPr>
          <p:nvPr>
            <p:ph idx="1"/>
          </p:nvPr>
        </p:nvSpPr>
        <p:spPr>
          <a:xfrm>
            <a:off x="457200" y="1052736"/>
            <a:ext cx="8229600" cy="5184576"/>
          </a:xfrm>
        </p:spPr>
        <p:txBody>
          <a:bodyPr>
            <a:normAutofit/>
          </a:bodyPr>
          <a:lstStyle/>
          <a:p>
            <a:pPr marL="0" indent="0">
              <a:buNone/>
            </a:pPr>
            <a:r>
              <a:rPr lang="en-US" sz="1400" dirty="0">
                <a:solidFill>
                  <a:srgbClr val="0000FF"/>
                </a:solidFill>
                <a:latin typeface="Courier New" panose="02070309020205020404" pitchFamily="49" charset="0"/>
                <a:cs typeface="Courier New" panose="02070309020205020404" pitchFamily="49" charset="0"/>
              </a:rPr>
              <a:t>SELECT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sess</a:t>
            </a:r>
            <a:r>
              <a:rPr lang="en-US" sz="1400" dirty="0" err="1">
                <a:latin typeface="Courier New" panose="02070309020205020404" pitchFamily="49" charset="0"/>
                <a:cs typeface="Courier New" panose="02070309020205020404" pitchFamily="49" charset="0"/>
              </a:rPr>
              <a:t>.program_name</a:t>
            </a:r>
            <a:r>
              <a:rPr lang="en-US" sz="1400" dirty="0">
                <a:solidFill>
                  <a:srgbClr val="808080"/>
                </a:solidFill>
                <a:latin typeface="Courier New" panose="02070309020205020404" pitchFamily="49" charset="0"/>
                <a:cs typeface="Courier New" panose="02070309020205020404" pitchFamily="49" charset="0"/>
              </a:rPr>
              <a: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sess</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client_interface_name</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conn</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client_net_address</a:t>
            </a:r>
            <a:r>
              <a:rPr lang="en-US" sz="1400" dirty="0">
                <a:solidFill>
                  <a:srgbClr val="808080"/>
                </a:solidFill>
                <a:latin typeface="Courier New" panose="02070309020205020404" pitchFamily="49" charset="0"/>
                <a:cs typeface="Courier New" panose="02070309020205020404" pitchFamily="49" charset="0"/>
              </a:rPr>
              <a: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conn</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client_tcp_port</a:t>
            </a:r>
            <a:r>
              <a:rPr lang="en-US" sz="1400" dirty="0">
                <a:solidFill>
                  <a:srgbClr val="808080"/>
                </a:solidFill>
                <a:latin typeface="Courier New" panose="02070309020205020404" pitchFamily="49" charset="0"/>
                <a:cs typeface="Courier New" panose="02070309020205020404" pitchFamily="49" charset="0"/>
              </a:rPr>
              <a: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conn</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encrypt_option</a:t>
            </a:r>
            <a:r>
              <a:rPr lang="en-US" sz="1400" dirty="0">
                <a:solidFill>
                  <a:srgbClr val="808080"/>
                </a:solidFill>
                <a:latin typeface="Courier New" panose="02070309020205020404" pitchFamily="49" charset="0"/>
                <a:cs typeface="Courier New" panose="02070309020205020404" pitchFamily="49" charset="0"/>
              </a:rPr>
              <a: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sess</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login_name</a:t>
            </a:r>
            <a:r>
              <a:rPr lang="en-US" sz="1400" dirty="0">
                <a:solidFill>
                  <a:srgbClr val="808080"/>
                </a:solidFill>
                <a:latin typeface="Courier New" panose="02070309020205020404" pitchFamily="49" charset="0"/>
                <a:cs typeface="Courier New" panose="02070309020205020404" pitchFamily="49" charset="0"/>
              </a:rPr>
              <a: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conn</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auth_scheme</a:t>
            </a:r>
            <a:endParaRPr lang="en-US" sz="1400" dirty="0">
              <a:solidFill>
                <a:prstClr val="black"/>
              </a:solidFill>
              <a:latin typeface="Courier New" panose="02070309020205020404" pitchFamily="49" charset="0"/>
              <a:cs typeface="Courier New" panose="02070309020205020404" pitchFamily="49" charset="0"/>
            </a:endParaRPr>
          </a:p>
          <a:p>
            <a:pPr marL="0" indent="0">
              <a:buNone/>
            </a:pPr>
            <a:r>
              <a:rPr lang="en-US" sz="1400" dirty="0">
                <a:solidFill>
                  <a:srgbClr val="0000FF"/>
                </a:solidFill>
                <a:latin typeface="Courier New" panose="02070309020205020404" pitchFamily="49" charset="0"/>
                <a:cs typeface="Courier New" panose="02070309020205020404" pitchFamily="49" charset="0"/>
              </a:rPr>
              <a:t>FROM</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srgbClr val="008000"/>
                </a:solidFill>
                <a:latin typeface="Courier New" panose="02070309020205020404" pitchFamily="49" charset="0"/>
                <a:cs typeface="Courier New" panose="02070309020205020404" pitchFamily="49" charset="0"/>
              </a:rPr>
              <a:t>sys</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srgbClr val="008000"/>
                </a:solidFill>
                <a:latin typeface="Courier New" panose="02070309020205020404" pitchFamily="49" charset="0"/>
                <a:cs typeface="Courier New" panose="02070309020205020404" pitchFamily="49" charset="0"/>
              </a:rPr>
              <a:t>dm_exec_connections</a:t>
            </a:r>
            <a:r>
              <a:rPr lang="en-US" sz="1400" dirty="0">
                <a:solidFill>
                  <a:prstClr val="black"/>
                </a:solidFill>
                <a:latin typeface="Courier New" panose="02070309020205020404" pitchFamily="49" charset="0"/>
                <a:cs typeface="Courier New" panose="02070309020205020404" pitchFamily="49" charset="0"/>
              </a:rPr>
              <a:t> </a:t>
            </a:r>
            <a:r>
              <a:rPr lang="en-US" sz="1400" dirty="0">
                <a:solidFill>
                  <a:srgbClr val="0000FF"/>
                </a:solidFill>
                <a:latin typeface="Courier New" panose="02070309020205020404" pitchFamily="49" charset="0"/>
                <a:cs typeface="Courier New" panose="02070309020205020404" pitchFamily="49" charset="0"/>
              </a:rPr>
              <a:t>AS</a:t>
            </a:r>
            <a:r>
              <a:rPr lang="en-US" sz="1400" dirty="0">
                <a:solidFill>
                  <a:prstClr val="black"/>
                </a:solidFill>
                <a:latin typeface="Courier New" panose="02070309020205020404" pitchFamily="49" charset="0"/>
                <a:cs typeface="Courier New" panose="02070309020205020404" pitchFamily="49" charset="0"/>
              </a:rPr>
              <a:t> conn </a:t>
            </a:r>
          </a:p>
          <a:p>
            <a:pPr marL="0" indent="0">
              <a:buNone/>
            </a:pPr>
            <a:r>
              <a:rPr lang="en-US" sz="1400" dirty="0">
                <a:solidFill>
                  <a:srgbClr val="808080"/>
                </a:solidFill>
                <a:latin typeface="Courier New" panose="02070309020205020404" pitchFamily="49" charset="0"/>
                <a:cs typeface="Courier New" panose="02070309020205020404" pitchFamily="49" charset="0"/>
              </a:rPr>
              <a:t>JOIN</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srgbClr val="008000"/>
                </a:solidFill>
                <a:latin typeface="Courier New" panose="02070309020205020404" pitchFamily="49" charset="0"/>
                <a:cs typeface="Courier New" panose="02070309020205020404" pitchFamily="49" charset="0"/>
              </a:rPr>
              <a:t>sys</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srgbClr val="008000"/>
                </a:solidFill>
                <a:latin typeface="Courier New" panose="02070309020205020404" pitchFamily="49" charset="0"/>
                <a:cs typeface="Courier New" panose="02070309020205020404" pitchFamily="49" charset="0"/>
              </a:rPr>
              <a:t>dm_exec_sessions</a:t>
            </a:r>
            <a:r>
              <a:rPr lang="en-US" sz="1400" dirty="0">
                <a:solidFill>
                  <a:prstClr val="black"/>
                </a:solidFill>
                <a:latin typeface="Courier New" panose="02070309020205020404" pitchFamily="49" charset="0"/>
                <a:cs typeface="Courier New" panose="02070309020205020404" pitchFamily="49" charset="0"/>
              </a:rPr>
              <a:t> </a:t>
            </a:r>
            <a:r>
              <a:rPr lang="en-US" sz="1400" dirty="0">
                <a:solidFill>
                  <a:srgbClr val="0000FF"/>
                </a:solidFill>
                <a:latin typeface="Courier New" panose="02070309020205020404" pitchFamily="49" charset="0"/>
                <a:cs typeface="Courier New" panose="02070309020205020404" pitchFamily="49" charset="0"/>
              </a:rPr>
              <a:t>AS</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sess</a:t>
            </a:r>
            <a:endParaRPr lang="en-US" sz="1400" dirty="0">
              <a:solidFill>
                <a:prstClr val="black"/>
              </a:solidFill>
              <a:latin typeface="Courier New" panose="02070309020205020404" pitchFamily="49" charset="0"/>
              <a:cs typeface="Courier New" panose="02070309020205020404" pitchFamily="49" charset="0"/>
            </a:endParaRPr>
          </a:p>
          <a:p>
            <a:pPr marL="0" indent="0">
              <a:buNone/>
            </a:pPr>
            <a:r>
              <a:rPr lang="en-US" sz="1400" dirty="0">
                <a:solidFill>
                  <a:srgbClr val="0000FF"/>
                </a:solidFill>
                <a:latin typeface="Courier New" panose="02070309020205020404" pitchFamily="49" charset="0"/>
                <a:cs typeface="Courier New" panose="02070309020205020404" pitchFamily="49" charset="0"/>
              </a:rPr>
              <a:t>ON</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conn</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session_id</a:t>
            </a:r>
            <a:r>
              <a:rPr lang="en-US" sz="1400" dirty="0">
                <a:solidFill>
                  <a:prstClr val="black"/>
                </a:solidFill>
                <a:latin typeface="Courier New" panose="02070309020205020404" pitchFamily="49" charset="0"/>
                <a:cs typeface="Courier New" panose="02070309020205020404" pitchFamily="49" charset="0"/>
              </a:rPr>
              <a:t> </a:t>
            </a:r>
            <a:r>
              <a:rPr lang="en-US" sz="1400" dirty="0">
                <a:solidFill>
                  <a:srgbClr val="808080"/>
                </a:solidFill>
                <a:latin typeface="Courier New" panose="02070309020205020404" pitchFamily="49" charset="0"/>
                <a:cs typeface="Courier New" panose="02070309020205020404" pitchFamily="49" charset="0"/>
              </a:rPr>
              <a:t>=</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sess</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session_id</a:t>
            </a:r>
            <a:endParaRPr lang="en-US" sz="1400" dirty="0">
              <a:solidFill>
                <a:prstClr val="black"/>
              </a:solidFill>
              <a:latin typeface="Courier New" panose="02070309020205020404" pitchFamily="49" charset="0"/>
              <a:cs typeface="Courier New" panose="02070309020205020404" pitchFamily="49" charset="0"/>
            </a:endParaRPr>
          </a:p>
          <a:p>
            <a:pPr marL="0" indent="0">
              <a:buNone/>
            </a:pPr>
            <a:r>
              <a:rPr lang="en-US" sz="1400" dirty="0">
                <a:solidFill>
                  <a:srgbClr val="0000FF"/>
                </a:solidFill>
                <a:latin typeface="Courier New" panose="02070309020205020404" pitchFamily="49" charset="0"/>
                <a:cs typeface="Courier New" panose="02070309020205020404" pitchFamily="49" charset="0"/>
              </a:rPr>
              <a:t>WHERE</a:t>
            </a:r>
            <a:r>
              <a:rPr lang="en-US" sz="1400" dirty="0">
                <a:solidFill>
                  <a:prstClr val="black"/>
                </a:solidFill>
                <a:latin typeface="Courier New" panose="02070309020205020404" pitchFamily="49" charset="0"/>
                <a:cs typeface="Courier New" panose="02070309020205020404" pitchFamily="49" charset="0"/>
              </a:rPr>
              <a:t> </a:t>
            </a:r>
            <a:r>
              <a:rPr lang="en-US" sz="1400" dirty="0" err="1">
                <a:solidFill>
                  <a:prstClr val="black"/>
                </a:solidFill>
                <a:latin typeface="Courier New" panose="02070309020205020404" pitchFamily="49" charset="0"/>
                <a:cs typeface="Courier New" panose="02070309020205020404" pitchFamily="49" charset="0"/>
              </a:rPr>
              <a:t>conn</a:t>
            </a:r>
            <a:r>
              <a:rPr lang="en-US" sz="1400" dirty="0" err="1">
                <a:solidFill>
                  <a:srgbClr val="808080"/>
                </a:solidFill>
                <a:latin typeface="Courier New" panose="02070309020205020404" pitchFamily="49" charset="0"/>
                <a:cs typeface="Courier New" panose="02070309020205020404" pitchFamily="49" charset="0"/>
              </a:rPr>
              <a:t>.</a:t>
            </a:r>
            <a:r>
              <a:rPr lang="en-US" sz="1400" dirty="0" err="1">
                <a:solidFill>
                  <a:prstClr val="black"/>
                </a:solidFill>
                <a:latin typeface="Courier New" panose="02070309020205020404" pitchFamily="49" charset="0"/>
                <a:cs typeface="Courier New" panose="02070309020205020404" pitchFamily="49" charset="0"/>
              </a:rPr>
              <a:t>net_transport</a:t>
            </a:r>
            <a:r>
              <a:rPr lang="en-US" sz="1400" dirty="0">
                <a:solidFill>
                  <a:prstClr val="black"/>
                </a:solidFill>
                <a:latin typeface="Courier New" panose="02070309020205020404" pitchFamily="49" charset="0"/>
                <a:cs typeface="Courier New" panose="02070309020205020404" pitchFamily="49" charset="0"/>
              </a:rPr>
              <a:t> </a:t>
            </a:r>
            <a:r>
              <a:rPr lang="en-US" sz="1400" dirty="0">
                <a:solidFill>
                  <a:srgbClr val="808080"/>
                </a:solidFill>
                <a:latin typeface="Courier New" panose="02070309020205020404" pitchFamily="49" charset="0"/>
                <a:cs typeface="Courier New" panose="02070309020205020404" pitchFamily="49" charset="0"/>
              </a:rPr>
              <a:t>&lt;&gt;</a:t>
            </a:r>
            <a:r>
              <a:rPr lang="en-US" sz="1400" dirty="0">
                <a:solidFill>
                  <a:prstClr val="black"/>
                </a:solidFill>
                <a:latin typeface="Courier New" panose="02070309020205020404" pitchFamily="49" charset="0"/>
                <a:cs typeface="Courier New" panose="02070309020205020404" pitchFamily="49" charset="0"/>
              </a:rPr>
              <a:t> </a:t>
            </a:r>
            <a:r>
              <a:rPr lang="en-US" sz="1400" dirty="0">
                <a:solidFill>
                  <a:srgbClr val="FF0000"/>
                </a:solidFill>
                <a:latin typeface="Courier New" panose="02070309020205020404" pitchFamily="49" charset="0"/>
                <a:cs typeface="Courier New" panose="02070309020205020404" pitchFamily="49" charset="0"/>
              </a:rPr>
              <a:t>'Shared memory'</a:t>
            </a:r>
          </a:p>
          <a:p>
            <a:pPr marL="0" indent="0">
              <a:buNone/>
            </a:pPr>
            <a:endParaRPr lang="en-US" sz="1600" dirty="0">
              <a:latin typeface="Courier New" panose="02070309020205020404" pitchFamily="49" charset="0"/>
              <a:cs typeface="Courier New" panose="02070309020205020404" pitchFamily="49" charset="0"/>
            </a:endParaRPr>
          </a:p>
        </p:txBody>
      </p:sp>
      <p:pic>
        <p:nvPicPr>
          <p:cNvPr id="7" name="Picture 6">
            <a:extLst>
              <a:ext uri="{FF2B5EF4-FFF2-40B4-BE49-F238E27FC236}">
                <a16:creationId xmlns:a16="http://schemas.microsoft.com/office/drawing/2014/main" id="{BAE5C375-A380-A8FE-32B4-EDC02CFEF754}"/>
              </a:ext>
            </a:extLst>
          </p:cNvPr>
          <p:cNvPicPr>
            <a:picLocks noChangeAspect="1"/>
          </p:cNvPicPr>
          <p:nvPr/>
        </p:nvPicPr>
        <p:blipFill>
          <a:blip r:embed="rId2"/>
          <a:stretch>
            <a:fillRect/>
          </a:stretch>
        </p:blipFill>
        <p:spPr>
          <a:xfrm>
            <a:off x="0" y="2883377"/>
            <a:ext cx="9144000" cy="3785983"/>
          </a:xfrm>
          <a:prstGeom prst="rect">
            <a:avLst/>
          </a:prstGeom>
        </p:spPr>
      </p:pic>
    </p:spTree>
    <p:extLst>
      <p:ext uri="{BB962C8B-B14F-4D97-AF65-F5344CB8AC3E}">
        <p14:creationId xmlns:p14="http://schemas.microsoft.com/office/powerpoint/2010/main" val="33321345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 muster</a:t>
            </a:r>
            <a:br>
              <a:rPr lang="cs-CZ" dirty="0"/>
            </a:br>
            <a:r>
              <a:rPr lang="en-US" dirty="0" err="1">
                <a:solidFill>
                  <a:schemeClr val="accent1"/>
                </a:solidFill>
              </a:rPr>
              <a:t>mstsc</a:t>
            </a:r>
            <a:r>
              <a:rPr lang="en-US" dirty="0"/>
              <a:t> /</a:t>
            </a:r>
            <a:r>
              <a:rPr lang="en-US" dirty="0" err="1"/>
              <a:t>v:</a:t>
            </a:r>
            <a:r>
              <a:rPr lang="en-US" dirty="0" err="1">
                <a:solidFill>
                  <a:schemeClr val="accent1"/>
                </a:solidFill>
              </a:rPr>
              <a:t>rdp.gopas.cz</a:t>
            </a:r>
            <a:endParaRPr lang="en-US" dirty="0">
              <a:solidFill>
                <a:schemeClr val="accent1"/>
              </a:solidFill>
            </a:endParaRP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92500" lnSpcReduction="20000"/>
          </a:bodyPr>
          <a:lstStyle/>
          <a:p>
            <a:r>
              <a:rPr lang="en-US" dirty="0"/>
              <a:t>does it work?</a:t>
            </a:r>
          </a:p>
          <a:p>
            <a:r>
              <a:rPr lang="en-US" dirty="0">
                <a:solidFill>
                  <a:schemeClr val="bg1">
                    <a:lumMod val="75000"/>
                  </a:schemeClr>
                </a:solidFill>
              </a:rPr>
              <a:t>is it SSO already?</a:t>
            </a:r>
          </a:p>
          <a:p>
            <a:pPr lvl="1"/>
            <a:r>
              <a:rPr lang="en-US" dirty="0">
                <a:solidFill>
                  <a:schemeClr val="bg1">
                    <a:lumMod val="75000"/>
                  </a:schemeClr>
                </a:solidFill>
              </a:rPr>
              <a:t>local intranet or trusted sites zones</a:t>
            </a:r>
          </a:p>
          <a:p>
            <a:pPr lvl="1"/>
            <a:r>
              <a:rPr lang="en-US" dirty="0" err="1">
                <a:solidFill>
                  <a:schemeClr val="bg1">
                    <a:lumMod val="75000"/>
                  </a:schemeClr>
                </a:solidFill>
              </a:rPr>
              <a:t>about:config</a:t>
            </a:r>
            <a:r>
              <a:rPr lang="en-US" dirty="0">
                <a:solidFill>
                  <a:schemeClr val="bg1">
                    <a:lumMod val="75000"/>
                  </a:schemeClr>
                </a:solidFill>
              </a:rPr>
              <a:t> -&gt; </a:t>
            </a:r>
            <a:r>
              <a:rPr lang="en-US" dirty="0" err="1">
                <a:solidFill>
                  <a:schemeClr val="bg1">
                    <a:lumMod val="75000"/>
                  </a:schemeClr>
                </a:solidFill>
              </a:rPr>
              <a:t>network.negotiate</a:t>
            </a:r>
            <a:r>
              <a:rPr lang="en-US" dirty="0">
                <a:solidFill>
                  <a:schemeClr val="bg1">
                    <a:lumMod val="75000"/>
                  </a:schemeClr>
                </a:solidFill>
              </a:rPr>
              <a:t>-auth: trusted-</a:t>
            </a:r>
            <a:r>
              <a:rPr lang="en-US" dirty="0" err="1">
                <a:solidFill>
                  <a:schemeClr val="bg1">
                    <a:lumMod val="75000"/>
                  </a:schemeClr>
                </a:solidFill>
              </a:rPr>
              <a:t>uris</a:t>
            </a:r>
            <a:r>
              <a:rPr lang="en-US" dirty="0">
                <a:solidFill>
                  <a:schemeClr val="bg1">
                    <a:lumMod val="75000"/>
                  </a:schemeClr>
                </a:solidFill>
              </a:rPr>
              <a:t>, allow-non-</a:t>
            </a:r>
            <a:r>
              <a:rPr lang="en-US" dirty="0" err="1">
                <a:solidFill>
                  <a:schemeClr val="bg1">
                    <a:lumMod val="75000"/>
                  </a:schemeClr>
                </a:solidFill>
              </a:rPr>
              <a:t>fqdn</a:t>
            </a:r>
            <a:endParaRPr lang="en-US" dirty="0">
              <a:solidFill>
                <a:schemeClr val="bg1">
                  <a:lumMod val="75000"/>
                </a:schemeClr>
              </a:solidFill>
            </a:endParaRPr>
          </a:p>
          <a:p>
            <a:r>
              <a:rPr lang="en-US" dirty="0">
                <a:solidFill>
                  <a:schemeClr val="bg1">
                    <a:lumMod val="75000"/>
                  </a:schemeClr>
                </a:solidFill>
              </a:rPr>
              <a:t>is it in the local intranet zone?</a:t>
            </a:r>
          </a:p>
          <a:p>
            <a:endParaRPr lang="en-US" dirty="0"/>
          </a:p>
          <a:p>
            <a:r>
              <a:rPr lang="en-US"/>
              <a:t>DNS A or </a:t>
            </a:r>
            <a:r>
              <a:rPr lang="en-US" dirty="0"/>
              <a:t>CNAME</a:t>
            </a:r>
          </a:p>
          <a:p>
            <a:pPr lvl="1"/>
            <a:r>
              <a:rPr lang="en-US" dirty="0"/>
              <a:t>A</a:t>
            </a:r>
          </a:p>
          <a:p>
            <a:r>
              <a:rPr lang="en-US" dirty="0"/>
              <a:t>machine</a:t>
            </a:r>
          </a:p>
          <a:p>
            <a:pPr lvl="1"/>
            <a:r>
              <a:rPr lang="en-US" dirty="0">
                <a:solidFill>
                  <a:schemeClr val="accent1"/>
                </a:solidFill>
              </a:rPr>
              <a:t>GPS-RDP</a:t>
            </a:r>
          </a:p>
          <a:p>
            <a:r>
              <a:rPr lang="en-US" dirty="0"/>
              <a:t>service account</a:t>
            </a:r>
          </a:p>
          <a:p>
            <a:pPr lvl="1"/>
            <a:r>
              <a:rPr lang="en-US" dirty="0">
                <a:solidFill>
                  <a:schemeClr val="accent1"/>
                </a:solidFill>
              </a:rPr>
              <a:t>NT AUTHORITY\Network Service = </a:t>
            </a:r>
            <a:r>
              <a:rPr lang="en-US" dirty="0" err="1">
                <a:solidFill>
                  <a:schemeClr val="accent1"/>
                </a:solidFill>
              </a:rPr>
              <a:t>gps-rdp</a:t>
            </a:r>
            <a:r>
              <a:rPr lang="en-US" dirty="0">
                <a:solidFill>
                  <a:schemeClr val="accent1"/>
                </a:solidFill>
              </a:rPr>
              <a:t>$</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a:t>
            </a:r>
            <a:r>
              <a:rPr lang="en-US" dirty="0" err="1">
                <a:latin typeface="Courier New" panose="02070309020205020404" pitchFamily="49" charset="0"/>
                <a:cs typeface="Courier New" panose="02070309020205020404" pitchFamily="49" charset="0"/>
              </a:rPr>
              <a:t>termsrv</a:t>
            </a:r>
            <a:r>
              <a:rPr lang="en-US" dirty="0">
                <a:latin typeface="Courier New" panose="02070309020205020404" pitchFamily="49" charset="0"/>
                <a:cs typeface="Courier New" panose="02070309020205020404" pitchFamily="49" charset="0"/>
              </a:rPr>
              <a:t>/rdp.gopas.cz"</a:t>
            </a:r>
          </a:p>
          <a:p>
            <a:pPr lvl="1"/>
            <a:endParaRPr lang="en-US" dirty="0"/>
          </a:p>
          <a:p>
            <a:pPr lvl="1"/>
            <a:endParaRPr lang="en-US" dirty="0"/>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a:t>
            </a:r>
            <a:r>
              <a:rPr lang="en-US" sz="1800" dirty="0" err="1">
                <a:solidFill>
                  <a:schemeClr val="accent1"/>
                </a:solidFill>
                <a:latin typeface="Courier New" panose="02070309020205020404" pitchFamily="49" charset="0"/>
                <a:cs typeface="Courier New" panose="02070309020205020404" pitchFamily="49" charset="0"/>
              </a:rPr>
              <a:t>termsrv</a:t>
            </a:r>
            <a:r>
              <a:rPr lang="en-US" sz="1800" dirty="0">
                <a:solidFill>
                  <a:schemeClr val="accent1"/>
                </a:solidFill>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rdp</a:t>
            </a:r>
            <a:r>
              <a:rPr lang="en-US" sz="1800" dirty="0">
                <a:solidFill>
                  <a:schemeClr val="accent1"/>
                </a:solidFill>
                <a:latin typeface="Courier New" panose="02070309020205020404" pitchFamily="49" charset="0"/>
                <a:cs typeface="Courier New" panose="02070309020205020404" pitchFamily="49" charset="0"/>
              </a:rPr>
              <a:t>.gopas.cz</a:t>
            </a:r>
            <a:r>
              <a:rPr lang="en-US" sz="1800" dirty="0">
                <a:latin typeface="Courier New" panose="02070309020205020404" pitchFamily="49" charset="0"/>
                <a:cs typeface="Courier New" panose="02070309020205020404" pitchFamily="49" charset="0"/>
              </a:rPr>
              <a:t>" </a:t>
            </a:r>
            <a:r>
              <a:rPr lang="en-US" sz="1800" dirty="0" err="1">
                <a:solidFill>
                  <a:schemeClr val="accent1"/>
                </a:solidFill>
                <a:latin typeface="Courier New" panose="02070309020205020404" pitchFamily="49" charset="0"/>
                <a:cs typeface="Courier New" panose="02070309020205020404" pitchFamily="49" charset="0"/>
              </a:rPr>
              <a:t>gps-rdp</a:t>
            </a:r>
            <a:r>
              <a:rPr lang="en-US" sz="1800" dirty="0">
                <a:solidFill>
                  <a:schemeClr val="accent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897240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en-US" dirty="0"/>
              <a:t>RDP </a:t>
            </a:r>
            <a:r>
              <a:rPr lang="en-US" dirty="0">
                <a:solidFill>
                  <a:schemeClr val="accent1"/>
                </a:solidFill>
              </a:rPr>
              <a:t>server</a:t>
            </a:r>
            <a:r>
              <a:rPr lang="en-US" dirty="0"/>
              <a:t> identity verified by Kerberos TGS</a:t>
            </a:r>
            <a:endParaRPr lang="en-US" dirty="0">
              <a:solidFill>
                <a:schemeClr val="accent1"/>
              </a:solidFill>
            </a:endParaRPr>
          </a:p>
        </p:txBody>
      </p:sp>
      <p:pic>
        <p:nvPicPr>
          <p:cNvPr id="5" name="Picture 4">
            <a:extLst>
              <a:ext uri="{FF2B5EF4-FFF2-40B4-BE49-F238E27FC236}">
                <a16:creationId xmlns:a16="http://schemas.microsoft.com/office/drawing/2014/main" id="{6721314F-BC01-4CBD-BF8A-694B4744B3CD}"/>
              </a:ext>
            </a:extLst>
          </p:cNvPr>
          <p:cNvPicPr>
            <a:picLocks noChangeAspect="1"/>
          </p:cNvPicPr>
          <p:nvPr/>
        </p:nvPicPr>
        <p:blipFill>
          <a:blip r:embed="rId2"/>
          <a:stretch>
            <a:fillRect/>
          </a:stretch>
        </p:blipFill>
        <p:spPr>
          <a:xfrm>
            <a:off x="1" y="1829521"/>
            <a:ext cx="9144000" cy="3543695"/>
          </a:xfrm>
          <a:prstGeom prst="rect">
            <a:avLst/>
          </a:prstGeom>
        </p:spPr>
      </p:pic>
    </p:spTree>
    <p:extLst>
      <p:ext uri="{BB962C8B-B14F-4D97-AF65-F5344CB8AC3E}">
        <p14:creationId xmlns:p14="http://schemas.microsoft.com/office/powerpoint/2010/main" val="14441293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BCC38B-9772-4E0C-A75F-EE0703AF4BF3}"/>
              </a:ext>
            </a:extLst>
          </p:cNvPr>
          <p:cNvSpPr>
            <a:spLocks noGrp="1"/>
          </p:cNvSpPr>
          <p:nvPr>
            <p:ph type="ctrTitle"/>
          </p:nvPr>
        </p:nvSpPr>
        <p:spPr/>
        <p:txBody>
          <a:bodyPr/>
          <a:lstStyle/>
          <a:p>
            <a:r>
              <a:rPr lang="en-US" dirty="0"/>
              <a:t>SPN errors</a:t>
            </a:r>
          </a:p>
        </p:txBody>
      </p:sp>
      <p:sp>
        <p:nvSpPr>
          <p:cNvPr id="5" name="Subtitle 4">
            <a:extLst>
              <a:ext uri="{FF2B5EF4-FFF2-40B4-BE49-F238E27FC236}">
                <a16:creationId xmlns:a16="http://schemas.microsoft.com/office/drawing/2014/main" id="{F92A1BAE-22B4-4CDD-A683-36872539F90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904639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0410-CAF6-417D-BE0F-1227DC61F2DC}"/>
              </a:ext>
            </a:extLst>
          </p:cNvPr>
          <p:cNvSpPr>
            <a:spLocks noGrp="1"/>
          </p:cNvSpPr>
          <p:nvPr>
            <p:ph type="title"/>
          </p:nvPr>
        </p:nvSpPr>
        <p:spPr/>
        <p:txBody>
          <a:bodyPr/>
          <a:lstStyle/>
          <a:p>
            <a:r>
              <a:rPr lang="en-US" dirty="0"/>
              <a:t>SPN does not exist</a:t>
            </a:r>
          </a:p>
        </p:txBody>
      </p:sp>
      <p:sp>
        <p:nvSpPr>
          <p:cNvPr id="3" name="Content Placeholder 2">
            <a:extLst>
              <a:ext uri="{FF2B5EF4-FFF2-40B4-BE49-F238E27FC236}">
                <a16:creationId xmlns:a16="http://schemas.microsoft.com/office/drawing/2014/main" id="{94DB4D99-E026-445F-A8FE-93C835C6C372}"/>
              </a:ext>
            </a:extLst>
          </p:cNvPr>
          <p:cNvSpPr>
            <a:spLocks noGrp="1"/>
          </p:cNvSpPr>
          <p:nvPr>
            <p:ph idx="1"/>
          </p:nvPr>
        </p:nvSpPr>
        <p:spPr/>
        <p:txBody>
          <a:bodyPr/>
          <a:lstStyle/>
          <a:p>
            <a:r>
              <a:rPr lang="en-US" dirty="0"/>
              <a:t>no ticket issued</a:t>
            </a:r>
          </a:p>
          <a:p>
            <a:r>
              <a:rPr lang="en-US" dirty="0"/>
              <a:t>KDC_ERR_S_PRINCIPAL_UNKNOWN = 0x7</a:t>
            </a:r>
          </a:p>
          <a:p>
            <a:r>
              <a:rPr lang="en-US" dirty="0"/>
              <a:t>no audit event in Security log</a:t>
            </a:r>
          </a:p>
          <a:p>
            <a:pPr lvl="1"/>
            <a:r>
              <a:rPr lang="en-US" dirty="0"/>
              <a:t>normal situation :-)</a:t>
            </a:r>
          </a:p>
          <a:p>
            <a:r>
              <a:rPr lang="en-US" dirty="0">
                <a:solidFill>
                  <a:schemeClr val="accent5"/>
                </a:solidFill>
              </a:rPr>
              <a:t>fallback to NTLM</a:t>
            </a:r>
          </a:p>
        </p:txBody>
      </p:sp>
      <p:pic>
        <p:nvPicPr>
          <p:cNvPr id="5" name="Picture 4">
            <a:extLst>
              <a:ext uri="{FF2B5EF4-FFF2-40B4-BE49-F238E27FC236}">
                <a16:creationId xmlns:a16="http://schemas.microsoft.com/office/drawing/2014/main" id="{F960A24B-2E9E-4899-BBD6-618799F4C59B}"/>
              </a:ext>
            </a:extLst>
          </p:cNvPr>
          <p:cNvPicPr>
            <a:picLocks noChangeAspect="1"/>
          </p:cNvPicPr>
          <p:nvPr/>
        </p:nvPicPr>
        <p:blipFill>
          <a:blip r:embed="rId2"/>
          <a:stretch>
            <a:fillRect/>
          </a:stretch>
        </p:blipFill>
        <p:spPr>
          <a:xfrm>
            <a:off x="1187624" y="3263649"/>
            <a:ext cx="7956376" cy="669407"/>
          </a:xfrm>
          <a:prstGeom prst="rect">
            <a:avLst/>
          </a:prstGeom>
        </p:spPr>
      </p:pic>
    </p:spTree>
    <p:extLst>
      <p:ext uri="{BB962C8B-B14F-4D97-AF65-F5344CB8AC3E}">
        <p14:creationId xmlns:p14="http://schemas.microsoft.com/office/powerpoint/2010/main" val="20353814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B1BB0-73C3-4DDA-9B5D-AFD969E4C683}"/>
              </a:ext>
            </a:extLst>
          </p:cNvPr>
          <p:cNvSpPr>
            <a:spLocks noGrp="1"/>
          </p:cNvSpPr>
          <p:nvPr>
            <p:ph type="title"/>
          </p:nvPr>
        </p:nvSpPr>
        <p:spPr/>
        <p:txBody>
          <a:bodyPr/>
          <a:lstStyle/>
          <a:p>
            <a:r>
              <a:rPr lang="en-US" dirty="0"/>
              <a:t>SPN on a wrong account</a:t>
            </a:r>
          </a:p>
        </p:txBody>
      </p:sp>
      <p:sp>
        <p:nvSpPr>
          <p:cNvPr id="3" name="Content Placeholder 2">
            <a:extLst>
              <a:ext uri="{FF2B5EF4-FFF2-40B4-BE49-F238E27FC236}">
                <a16:creationId xmlns:a16="http://schemas.microsoft.com/office/drawing/2014/main" id="{42FC9EAB-A38B-4058-A1B2-FD794928AD88}"/>
              </a:ext>
            </a:extLst>
          </p:cNvPr>
          <p:cNvSpPr>
            <a:spLocks noGrp="1"/>
          </p:cNvSpPr>
          <p:nvPr>
            <p:ph idx="1"/>
          </p:nvPr>
        </p:nvSpPr>
        <p:spPr/>
        <p:txBody>
          <a:bodyPr/>
          <a:lstStyle/>
          <a:p>
            <a:r>
              <a:rPr lang="en-US" dirty="0"/>
              <a:t>ticket issued</a:t>
            </a:r>
          </a:p>
          <a:p>
            <a:r>
              <a:rPr lang="en-US" dirty="0"/>
              <a:t>encrypted with an incorrect password</a:t>
            </a:r>
          </a:p>
          <a:p>
            <a:r>
              <a:rPr lang="en-US" dirty="0"/>
              <a:t>usually a stubborn </a:t>
            </a:r>
            <a:r>
              <a:rPr lang="en-US" dirty="0">
                <a:solidFill>
                  <a:schemeClr val="accent2"/>
                </a:solidFill>
              </a:rPr>
              <a:t>failure</a:t>
            </a:r>
            <a:r>
              <a:rPr lang="en-US" dirty="0"/>
              <a:t> on the client</a:t>
            </a:r>
          </a:p>
          <a:p>
            <a:endParaRPr lang="en-US" dirty="0"/>
          </a:p>
        </p:txBody>
      </p:sp>
    </p:spTree>
    <p:extLst>
      <p:ext uri="{BB962C8B-B14F-4D97-AF65-F5344CB8AC3E}">
        <p14:creationId xmlns:p14="http://schemas.microsoft.com/office/powerpoint/2010/main" val="36198196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B8F56-1180-4366-AEA6-20895F9947EE}"/>
              </a:ext>
            </a:extLst>
          </p:cNvPr>
          <p:cNvSpPr>
            <a:spLocks noGrp="1"/>
          </p:cNvSpPr>
          <p:nvPr>
            <p:ph type="title"/>
          </p:nvPr>
        </p:nvSpPr>
        <p:spPr/>
        <p:txBody>
          <a:bodyPr/>
          <a:lstStyle/>
          <a:p>
            <a:r>
              <a:rPr lang="en-US" dirty="0"/>
              <a:t>SPN on more than a single account</a:t>
            </a:r>
          </a:p>
        </p:txBody>
      </p:sp>
      <p:sp>
        <p:nvSpPr>
          <p:cNvPr id="3" name="Content Placeholder 2">
            <a:extLst>
              <a:ext uri="{FF2B5EF4-FFF2-40B4-BE49-F238E27FC236}">
                <a16:creationId xmlns:a16="http://schemas.microsoft.com/office/drawing/2014/main" id="{52A9CCAA-62A4-4BDB-90AD-1171712DCAE4}"/>
              </a:ext>
            </a:extLst>
          </p:cNvPr>
          <p:cNvSpPr>
            <a:spLocks noGrp="1"/>
          </p:cNvSpPr>
          <p:nvPr>
            <p:ph idx="1"/>
          </p:nvPr>
        </p:nvSpPr>
        <p:spPr/>
        <p:txBody>
          <a:bodyPr/>
          <a:lstStyle/>
          <a:p>
            <a:r>
              <a:rPr lang="en-US" dirty="0"/>
              <a:t>DCs 2012R2+ check duplicity when writing </a:t>
            </a:r>
            <a:r>
              <a:rPr lang="en-US" dirty="0" err="1"/>
              <a:t>servicePrincipalName</a:t>
            </a:r>
            <a:r>
              <a:rPr lang="en-US" dirty="0"/>
              <a:t> attribute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 ticket issued</a:t>
            </a:r>
          </a:p>
          <a:p>
            <a:r>
              <a:rPr lang="en-US" dirty="0"/>
              <a:t>KDC_ERR_S_PRINCIPAL_UNKNOWN = 0x7</a:t>
            </a:r>
          </a:p>
          <a:p>
            <a:r>
              <a:rPr lang="en-US" dirty="0"/>
              <a:t>failure event in Security log with </a:t>
            </a:r>
            <a:r>
              <a:rPr lang="en-US" dirty="0" err="1"/>
              <a:t>EventId</a:t>
            </a:r>
            <a:r>
              <a:rPr lang="en-US" dirty="0"/>
              <a:t> = 4769</a:t>
            </a:r>
          </a:p>
          <a:p>
            <a:r>
              <a:rPr lang="en-US" dirty="0">
                <a:solidFill>
                  <a:schemeClr val="accent5"/>
                </a:solidFill>
              </a:rPr>
              <a:t>fallback to NTLM</a:t>
            </a:r>
          </a:p>
          <a:p>
            <a:endParaRPr lang="en-US" dirty="0"/>
          </a:p>
        </p:txBody>
      </p:sp>
      <p:pic>
        <p:nvPicPr>
          <p:cNvPr id="10" name="Picture 9">
            <a:extLst>
              <a:ext uri="{FF2B5EF4-FFF2-40B4-BE49-F238E27FC236}">
                <a16:creationId xmlns:a16="http://schemas.microsoft.com/office/drawing/2014/main" id="{075B7FF3-05EB-41F0-B0BE-15672A46FE88}"/>
              </a:ext>
            </a:extLst>
          </p:cNvPr>
          <p:cNvPicPr>
            <a:picLocks noChangeAspect="1"/>
          </p:cNvPicPr>
          <p:nvPr/>
        </p:nvPicPr>
        <p:blipFill>
          <a:blip r:embed="rId2"/>
          <a:stretch>
            <a:fillRect/>
          </a:stretch>
        </p:blipFill>
        <p:spPr>
          <a:xfrm>
            <a:off x="2102595" y="1779265"/>
            <a:ext cx="7041405" cy="2657847"/>
          </a:xfrm>
          <a:prstGeom prst="rect">
            <a:avLst/>
          </a:prstGeom>
        </p:spPr>
      </p:pic>
    </p:spTree>
    <p:extLst>
      <p:ext uri="{BB962C8B-B14F-4D97-AF65-F5344CB8AC3E}">
        <p14:creationId xmlns:p14="http://schemas.microsoft.com/office/powerpoint/2010/main" val="6887060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 muster</a:t>
            </a:r>
            <a:r>
              <a:rPr lang="en-US" dirty="0"/>
              <a:t> (</a:t>
            </a:r>
            <a:r>
              <a:rPr lang="en-US" dirty="0">
                <a:solidFill>
                  <a:schemeClr val="accent2"/>
                </a:solidFill>
              </a:rPr>
              <a:t>duplicate SPN already existing</a:t>
            </a:r>
            <a:r>
              <a:rPr lang="en-US" dirty="0"/>
              <a:t>)</a:t>
            </a:r>
            <a:br>
              <a:rPr lang="cs-CZ" dirty="0"/>
            </a:br>
            <a:r>
              <a:rPr lang="cs-CZ" dirty="0"/>
              <a:t>http</a:t>
            </a:r>
            <a:r>
              <a:rPr lang="en-US" dirty="0">
                <a:solidFill>
                  <a:schemeClr val="accent1"/>
                </a:solidFill>
              </a:rPr>
              <a:t>s</a:t>
            </a:r>
            <a:r>
              <a:rPr lang="en-US" dirty="0"/>
              <a:t>://</a:t>
            </a:r>
            <a:r>
              <a:rPr lang="en-US" dirty="0">
                <a:solidFill>
                  <a:schemeClr val="accent1"/>
                </a:solidFill>
              </a:rPr>
              <a:t>orders.gopas.cz</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85000" lnSpcReduction="2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or CNAME</a:t>
            </a:r>
          </a:p>
          <a:p>
            <a:pPr lvl="1"/>
            <a:r>
              <a:rPr lang="en-US" dirty="0"/>
              <a:t>A</a:t>
            </a:r>
          </a:p>
          <a:p>
            <a:r>
              <a:rPr lang="en-US" dirty="0"/>
              <a:t>machine</a:t>
            </a:r>
          </a:p>
          <a:p>
            <a:pPr lvl="1"/>
            <a:r>
              <a:rPr lang="en-US" dirty="0"/>
              <a:t>GPS-</a:t>
            </a:r>
            <a:r>
              <a:rPr lang="en-US" dirty="0">
                <a:solidFill>
                  <a:schemeClr val="accent1"/>
                </a:solidFill>
              </a:rPr>
              <a:t>SPRDP</a:t>
            </a:r>
          </a:p>
          <a:p>
            <a:r>
              <a:rPr lang="en-US" dirty="0"/>
              <a:t>service account</a:t>
            </a:r>
          </a:p>
          <a:p>
            <a:pPr lvl="1"/>
            <a:r>
              <a:rPr lang="en-US" dirty="0" err="1"/>
              <a:t>gps</a:t>
            </a:r>
            <a:r>
              <a:rPr lang="en-US" dirty="0"/>
              <a:t>\</a:t>
            </a:r>
            <a:r>
              <a:rPr lang="en-US" dirty="0">
                <a:solidFill>
                  <a:schemeClr val="accent1"/>
                </a:solidFill>
              </a:rPr>
              <a:t>svc-</a:t>
            </a:r>
            <a:r>
              <a:rPr lang="en-US" dirty="0" err="1">
                <a:solidFill>
                  <a:schemeClr val="accent1"/>
                </a:solidFill>
              </a:rPr>
              <a:t>iis</a:t>
            </a:r>
            <a:r>
              <a:rPr lang="en-US" dirty="0">
                <a:solidFill>
                  <a:schemeClr val="accent1"/>
                </a:solidFill>
              </a:rPr>
              <a:t>-orders</a:t>
            </a:r>
          </a:p>
          <a:p>
            <a:endParaRPr lang="en-US" dirty="0"/>
          </a:p>
          <a:p>
            <a:r>
              <a:rPr lang="en-US" dirty="0"/>
              <a:t>already an existing SPN?</a:t>
            </a:r>
          </a:p>
          <a:p>
            <a:pPr marL="457200" lvl="1" indent="0">
              <a:buNone/>
            </a:pPr>
            <a:r>
              <a:rPr lang="en-US" dirty="0" err="1">
                <a:solidFill>
                  <a:schemeClr val="accent2"/>
                </a:solidFill>
                <a:latin typeface="Courier New" panose="02070309020205020404" pitchFamily="49" charset="0"/>
                <a:cs typeface="Courier New" panose="02070309020205020404" pitchFamily="49" charset="0"/>
              </a:rPr>
              <a:t>setspn</a:t>
            </a:r>
            <a:r>
              <a:rPr lang="en-US" dirty="0">
                <a:solidFill>
                  <a:schemeClr val="accent2"/>
                </a:solidFill>
                <a:latin typeface="Courier New" panose="02070309020205020404" pitchFamily="49" charset="0"/>
                <a:cs typeface="Courier New" panose="02070309020205020404" pitchFamily="49" charset="0"/>
              </a:rPr>
              <a:t> -q</a:t>
            </a:r>
            <a:r>
              <a:rPr lang="en-US" dirty="0">
                <a:latin typeface="Courier New" panose="02070309020205020404" pitchFamily="49" charset="0"/>
                <a:cs typeface="Courier New" panose="02070309020205020404" pitchFamily="49" charset="0"/>
              </a:rPr>
              <a:t> "http/</a:t>
            </a:r>
            <a:r>
              <a:rPr lang="en-US" dirty="0">
                <a:solidFill>
                  <a:schemeClr val="accent1"/>
                </a:solidFill>
                <a:latin typeface="Courier New" panose="02070309020205020404" pitchFamily="49" charset="0"/>
                <a:cs typeface="Courier New" panose="02070309020205020404" pitchFamily="49" charset="0"/>
              </a:rPr>
              <a:t>orders</a:t>
            </a:r>
            <a:r>
              <a:rPr lang="en-US" dirty="0">
                <a:latin typeface="Courier New" panose="02070309020205020404" pitchFamily="49" charset="0"/>
                <a:cs typeface="Courier New" panose="02070309020205020404" pitchFamily="49" charset="0"/>
              </a:rPr>
              <a:t>*"</a:t>
            </a:r>
          </a:p>
          <a:p>
            <a:pPr marL="457200" lvl="1" indent="0">
              <a:buNone/>
            </a:pPr>
            <a:r>
              <a:rPr lang="en-US" dirty="0" err="1">
                <a:solidFill>
                  <a:schemeClr val="accent2"/>
                </a:solidFill>
                <a:latin typeface="Courier New" panose="02070309020205020404" pitchFamily="49" charset="0"/>
                <a:cs typeface="Courier New" panose="02070309020205020404" pitchFamily="49" charset="0"/>
              </a:rPr>
              <a:t>setspn</a:t>
            </a:r>
            <a:r>
              <a:rPr lang="en-US" dirty="0">
                <a:solidFill>
                  <a:schemeClr val="accent2"/>
                </a:solidFill>
                <a:latin typeface="Courier New" panose="02070309020205020404" pitchFamily="49" charset="0"/>
                <a:cs typeface="Courier New" panose="02070309020205020404" pitchFamily="49" charset="0"/>
              </a:rPr>
              <a:t> -q</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host</a:t>
            </a:r>
            <a:r>
              <a:rPr lang="en-US" dirty="0">
                <a:latin typeface="Courier New" panose="02070309020205020404" pitchFamily="49" charset="0"/>
                <a:cs typeface="Courier New" panose="02070309020205020404" pitchFamily="49" charset="0"/>
              </a:rPr>
              <a:t>/orders*"</a:t>
            </a:r>
          </a:p>
          <a:p>
            <a:pPr marL="457200" lvl="1" indent="0">
              <a:buNone/>
            </a:pPr>
            <a:r>
              <a:rPr lang="en-US" dirty="0" err="1">
                <a:solidFill>
                  <a:schemeClr val="accent2"/>
                </a:solidFill>
                <a:latin typeface="Courier New" panose="02070309020205020404" pitchFamily="49" charset="0"/>
                <a:cs typeface="Courier New" panose="02070309020205020404" pitchFamily="49" charset="0"/>
              </a:rPr>
              <a:t>setspn</a:t>
            </a:r>
            <a:r>
              <a:rPr lang="en-US" dirty="0">
                <a:solidFill>
                  <a:schemeClr val="accent2"/>
                </a:solidFill>
                <a:latin typeface="Courier New" panose="02070309020205020404" pitchFamily="49" charset="0"/>
                <a:cs typeface="Courier New" panose="02070309020205020404" pitchFamily="49" charset="0"/>
              </a:rPr>
              <a:t> -x </a:t>
            </a:r>
            <a:r>
              <a:rPr lang="en-US" dirty="0">
                <a:solidFill>
                  <a:schemeClr val="accent4"/>
                </a:solidFill>
                <a:latin typeface="Courier New" panose="02070309020205020404" pitchFamily="49" charset="0"/>
                <a:cs typeface="Courier New" panose="02070309020205020404" pitchFamily="49" charset="0"/>
              </a:rPr>
              <a:t>-f</a:t>
            </a:r>
          </a:p>
          <a:p>
            <a:pPr lvl="1"/>
            <a:endParaRPr lang="en-US" dirty="0"/>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t>
            </a:r>
            <a:r>
              <a:rPr lang="en-US" sz="1800" dirty="0">
                <a:solidFill>
                  <a:schemeClr val="accent2"/>
                </a:solidFill>
                <a:latin typeface="Courier New" panose="02070309020205020404" pitchFamily="49" charset="0"/>
                <a:cs typeface="Courier New" panose="02070309020205020404" pitchFamily="49" charset="0"/>
              </a:rPr>
              <a:t>-d</a:t>
            </a:r>
            <a:r>
              <a:rPr lang="en-US" sz="1800" dirty="0">
                <a:latin typeface="Courier New" panose="02070309020205020404" pitchFamily="49" charset="0"/>
                <a:cs typeface="Courier New" panose="02070309020205020404" pitchFamily="49" charset="0"/>
              </a:rPr>
              <a:t> "http/orders.gopas.cz" </a:t>
            </a:r>
            <a:r>
              <a:rPr lang="en-US" sz="1800" dirty="0">
                <a:solidFill>
                  <a:schemeClr val="accent2"/>
                </a:solidFill>
                <a:latin typeface="Courier New" panose="02070309020205020404" pitchFamily="49" charset="0"/>
                <a:cs typeface="Courier New" panose="02070309020205020404" pitchFamily="49" charset="0"/>
              </a:rPr>
              <a:t>GPS-SPRDP$</a:t>
            </a:r>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a:t>
            </a:r>
            <a:r>
              <a:rPr lang="en-US" sz="1800" dirty="0">
                <a:solidFill>
                  <a:schemeClr val="accent1"/>
                </a:solidFill>
                <a:latin typeface="Courier New" panose="02070309020205020404" pitchFamily="49" charset="0"/>
                <a:cs typeface="Courier New" panose="02070309020205020404" pitchFamily="49" charset="0"/>
              </a:rPr>
              <a:t>http/</a:t>
            </a:r>
            <a:r>
              <a:rPr lang="en-US" sz="1800" dirty="0">
                <a:latin typeface="Courier New" panose="02070309020205020404" pitchFamily="49" charset="0"/>
                <a:cs typeface="Courier New" panose="02070309020205020404" pitchFamily="49" charset="0"/>
              </a:rPr>
              <a:t>orders</a:t>
            </a:r>
            <a:r>
              <a:rPr lang="en-US" sz="1800" dirty="0">
                <a:solidFill>
                  <a:schemeClr val="accent1"/>
                </a:solidFill>
                <a:latin typeface="Courier New" panose="02070309020205020404" pitchFamily="49" charset="0"/>
                <a:cs typeface="Courier New" panose="02070309020205020404" pitchFamily="49" charset="0"/>
              </a:rPr>
              <a:t>.gopas.cz</a:t>
            </a:r>
            <a:r>
              <a:rPr lang="en-US" sz="1800" dirty="0">
                <a:latin typeface="Courier New" panose="02070309020205020404" pitchFamily="49" charset="0"/>
                <a:cs typeface="Courier New" panose="02070309020205020404" pitchFamily="49" charset="0"/>
              </a:rPr>
              <a:t>" </a:t>
            </a:r>
            <a:r>
              <a:rPr lang="en-US" sz="1800" dirty="0">
                <a:solidFill>
                  <a:schemeClr val="accent1"/>
                </a:solidFill>
                <a:latin typeface="Courier New" panose="02070309020205020404" pitchFamily="49" charset="0"/>
                <a:cs typeface="Courier New" panose="02070309020205020404" pitchFamily="49" charset="0"/>
              </a:rPr>
              <a:t>svc-</a:t>
            </a:r>
            <a:r>
              <a:rPr lang="en-US" sz="1800" dirty="0" err="1">
                <a:solidFill>
                  <a:schemeClr val="accent1"/>
                </a:solidFill>
                <a:latin typeface="Courier New" panose="02070309020205020404" pitchFamily="49" charset="0"/>
                <a:cs typeface="Courier New" panose="02070309020205020404" pitchFamily="49" charset="0"/>
              </a:rPr>
              <a:t>iis</a:t>
            </a:r>
            <a:r>
              <a:rPr lang="en-US" sz="1800" dirty="0">
                <a:solidFill>
                  <a:schemeClr val="accent1"/>
                </a:solidFill>
                <a:latin typeface="Courier New" panose="02070309020205020404" pitchFamily="49" charset="0"/>
                <a:cs typeface="Courier New" panose="02070309020205020404" pitchFamily="49" charset="0"/>
              </a:rPr>
              <a:t>-orders</a:t>
            </a:r>
          </a:p>
          <a:p>
            <a:pPr marL="0" indent="0">
              <a:buNone/>
            </a:pPr>
            <a:endParaRPr lang="en-US" sz="1800" dirty="0">
              <a:solidFill>
                <a:schemeClr val="accent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446068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B8F56-1180-4366-AEA6-20895F9947EE}"/>
              </a:ext>
            </a:extLst>
          </p:cNvPr>
          <p:cNvSpPr>
            <a:spLocks noGrp="1"/>
          </p:cNvSpPr>
          <p:nvPr>
            <p:ph type="title"/>
          </p:nvPr>
        </p:nvSpPr>
        <p:spPr/>
        <p:txBody>
          <a:bodyPr/>
          <a:lstStyle/>
          <a:p>
            <a:r>
              <a:rPr lang="en-US" dirty="0"/>
              <a:t>SPN on more than a single account</a:t>
            </a:r>
          </a:p>
        </p:txBody>
      </p:sp>
      <p:sp>
        <p:nvSpPr>
          <p:cNvPr id="3" name="Content Placeholder 2">
            <a:extLst>
              <a:ext uri="{FF2B5EF4-FFF2-40B4-BE49-F238E27FC236}">
                <a16:creationId xmlns:a16="http://schemas.microsoft.com/office/drawing/2014/main" id="{52A9CCAA-62A4-4BDB-90AD-1171712DCAE4}"/>
              </a:ext>
            </a:extLst>
          </p:cNvPr>
          <p:cNvSpPr>
            <a:spLocks noGrp="1"/>
          </p:cNvSpPr>
          <p:nvPr>
            <p:ph idx="1"/>
          </p:nvPr>
        </p:nvSpPr>
        <p:spPr>
          <a:xfrm>
            <a:off x="457200" y="971600"/>
            <a:ext cx="8229600" cy="5265712"/>
          </a:xfrm>
        </p:spPr>
        <p:txBody>
          <a:bodyPr>
            <a:normAutofit/>
          </a:bodyPr>
          <a:lstStyle/>
          <a:p>
            <a:r>
              <a:rPr lang="en-US" sz="1400" dirty="0"/>
              <a:t>log: Security</a:t>
            </a:r>
          </a:p>
          <a:p>
            <a:r>
              <a:rPr lang="en-US" sz="1400" dirty="0"/>
              <a:t>source: Microsoft Windows Security Auditing.</a:t>
            </a:r>
          </a:p>
          <a:p>
            <a:r>
              <a:rPr lang="en-US" sz="1400" dirty="0"/>
              <a:t>event id: 4769</a:t>
            </a:r>
          </a:p>
          <a:p>
            <a:r>
              <a:rPr lang="en-US" sz="1400" dirty="0"/>
              <a:t>event type: audit failure</a:t>
            </a:r>
          </a:p>
        </p:txBody>
      </p:sp>
      <p:pic>
        <p:nvPicPr>
          <p:cNvPr id="8" name="Picture 7">
            <a:extLst>
              <a:ext uri="{FF2B5EF4-FFF2-40B4-BE49-F238E27FC236}">
                <a16:creationId xmlns:a16="http://schemas.microsoft.com/office/drawing/2014/main" id="{8C328CA0-6D94-4E2A-BB38-71F659A18977}"/>
              </a:ext>
            </a:extLst>
          </p:cNvPr>
          <p:cNvPicPr>
            <a:picLocks noChangeAspect="1"/>
          </p:cNvPicPr>
          <p:nvPr/>
        </p:nvPicPr>
        <p:blipFill>
          <a:blip r:embed="rId2"/>
          <a:stretch>
            <a:fillRect/>
          </a:stretch>
        </p:blipFill>
        <p:spPr>
          <a:xfrm>
            <a:off x="3100472" y="1817440"/>
            <a:ext cx="6043528" cy="5040560"/>
          </a:xfrm>
          <a:prstGeom prst="rect">
            <a:avLst/>
          </a:prstGeom>
        </p:spPr>
      </p:pic>
    </p:spTree>
    <p:extLst>
      <p:ext uri="{BB962C8B-B14F-4D97-AF65-F5344CB8AC3E}">
        <p14:creationId xmlns:p14="http://schemas.microsoft.com/office/powerpoint/2010/main" val="6477348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B8F56-1180-4366-AEA6-20895F9947EE}"/>
              </a:ext>
            </a:extLst>
          </p:cNvPr>
          <p:cNvSpPr>
            <a:spLocks noGrp="1"/>
          </p:cNvSpPr>
          <p:nvPr>
            <p:ph type="title"/>
          </p:nvPr>
        </p:nvSpPr>
        <p:spPr/>
        <p:txBody>
          <a:bodyPr/>
          <a:lstStyle/>
          <a:p>
            <a:r>
              <a:rPr lang="en-US" dirty="0"/>
              <a:t>SPN on more than a single account</a:t>
            </a:r>
          </a:p>
        </p:txBody>
      </p:sp>
      <p:sp>
        <p:nvSpPr>
          <p:cNvPr id="5" name="Content Placeholder 4">
            <a:extLst>
              <a:ext uri="{FF2B5EF4-FFF2-40B4-BE49-F238E27FC236}">
                <a16:creationId xmlns:a16="http://schemas.microsoft.com/office/drawing/2014/main" id="{58D74913-4F3C-4CC9-935C-9A4BDCDD90F9}"/>
              </a:ext>
            </a:extLst>
          </p:cNvPr>
          <p:cNvSpPr>
            <a:spLocks noGrp="1"/>
          </p:cNvSpPr>
          <p:nvPr>
            <p:ph idx="1"/>
          </p:nvPr>
        </p:nvSpPr>
        <p:spPr>
          <a:xfrm>
            <a:off x="457200" y="971600"/>
            <a:ext cx="8229600" cy="5265712"/>
          </a:xfrm>
        </p:spPr>
        <p:txBody>
          <a:bodyPr>
            <a:normAutofit/>
          </a:bodyPr>
          <a:lstStyle/>
          <a:p>
            <a:r>
              <a:rPr lang="en-US" sz="1400" dirty="0"/>
              <a:t>log: System</a:t>
            </a:r>
          </a:p>
          <a:p>
            <a:r>
              <a:rPr lang="en-US" sz="1400" dirty="0"/>
              <a:t>source: Kerberos-Key-Distribution-Center</a:t>
            </a:r>
          </a:p>
          <a:p>
            <a:r>
              <a:rPr lang="en-US" sz="1400" dirty="0"/>
              <a:t>event id: 11</a:t>
            </a:r>
          </a:p>
          <a:p>
            <a:r>
              <a:rPr lang="en-US" sz="1400" dirty="0"/>
              <a:t>event type: error</a:t>
            </a:r>
          </a:p>
          <a:p>
            <a:r>
              <a:rPr lang="en-US" sz="1400" dirty="0"/>
              <a:t>message: KDC encountered duplicate names while processing a Kerberos authentication request</a:t>
            </a:r>
          </a:p>
          <a:p>
            <a:endParaRPr lang="en-US" sz="1400" dirty="0"/>
          </a:p>
        </p:txBody>
      </p:sp>
      <p:pic>
        <p:nvPicPr>
          <p:cNvPr id="7" name="Picture 6">
            <a:extLst>
              <a:ext uri="{FF2B5EF4-FFF2-40B4-BE49-F238E27FC236}">
                <a16:creationId xmlns:a16="http://schemas.microsoft.com/office/drawing/2014/main" id="{26DDAF2D-7FF8-47ED-9635-ED49CC59A531}"/>
              </a:ext>
            </a:extLst>
          </p:cNvPr>
          <p:cNvPicPr>
            <a:picLocks noChangeAspect="1"/>
          </p:cNvPicPr>
          <p:nvPr/>
        </p:nvPicPr>
        <p:blipFill>
          <a:blip r:embed="rId2"/>
          <a:stretch>
            <a:fillRect/>
          </a:stretch>
        </p:blipFill>
        <p:spPr>
          <a:xfrm>
            <a:off x="0" y="2394305"/>
            <a:ext cx="9140349" cy="4446656"/>
          </a:xfrm>
          <a:prstGeom prst="rect">
            <a:avLst/>
          </a:prstGeom>
        </p:spPr>
      </p:pic>
    </p:spTree>
    <p:extLst>
      <p:ext uri="{BB962C8B-B14F-4D97-AF65-F5344CB8AC3E}">
        <p14:creationId xmlns:p14="http://schemas.microsoft.com/office/powerpoint/2010/main" val="11248454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FE43AC-FCC9-4840-B799-0D3051D75D06}"/>
              </a:ext>
            </a:extLst>
          </p:cNvPr>
          <p:cNvSpPr>
            <a:spLocks noGrp="1"/>
          </p:cNvSpPr>
          <p:nvPr>
            <p:ph type="ctrTitle"/>
          </p:nvPr>
        </p:nvSpPr>
        <p:spPr/>
        <p:txBody>
          <a:bodyPr/>
          <a:lstStyle/>
          <a:p>
            <a:r>
              <a:rPr lang="en-US" dirty="0"/>
              <a:t>Encryption types (</a:t>
            </a:r>
            <a:r>
              <a:rPr lang="en-US" dirty="0" err="1"/>
              <a:t>etypes</a:t>
            </a:r>
            <a:r>
              <a:rPr lang="en-US" dirty="0"/>
              <a:t>)</a:t>
            </a:r>
          </a:p>
        </p:txBody>
      </p:sp>
      <p:sp>
        <p:nvSpPr>
          <p:cNvPr id="5" name="Subtitle 4">
            <a:extLst>
              <a:ext uri="{FF2B5EF4-FFF2-40B4-BE49-F238E27FC236}">
                <a16:creationId xmlns:a16="http://schemas.microsoft.com/office/drawing/2014/main" id="{318DF9F3-5756-4660-AE1A-15D4897DD2B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570315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E373C14-C71B-40BE-8E4E-1D7DF1D975F0}"/>
              </a:ext>
            </a:extLst>
          </p:cNvPr>
          <p:cNvSpPr/>
          <p:nvPr/>
        </p:nvSpPr>
        <p:spPr>
          <a:xfrm>
            <a:off x="1041648" y="490033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17" name="Rectangle 16">
            <a:extLst>
              <a:ext uri="{FF2B5EF4-FFF2-40B4-BE49-F238E27FC236}">
                <a16:creationId xmlns:a16="http://schemas.microsoft.com/office/drawing/2014/main" id="{83BB48B7-5E94-4DEF-A7BC-A427EDF221FB}"/>
              </a:ext>
            </a:extLst>
          </p:cNvPr>
          <p:cNvSpPr/>
          <p:nvPr/>
        </p:nvSpPr>
        <p:spPr>
          <a:xfrm>
            <a:off x="1194048" y="505273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2" name="Title 1"/>
          <p:cNvSpPr>
            <a:spLocks noGrp="1"/>
          </p:cNvSpPr>
          <p:nvPr>
            <p:ph type="title"/>
          </p:nvPr>
        </p:nvSpPr>
        <p:spPr>
          <a:xfrm>
            <a:off x="457200" y="44624"/>
            <a:ext cx="8229600" cy="782960"/>
          </a:xfrm>
        </p:spPr>
        <p:txBody>
          <a:bodyPr>
            <a:normAutofit/>
          </a:bodyPr>
          <a:lstStyle/>
          <a:p>
            <a:r>
              <a:rPr lang="en-US" sz="2400" dirty="0"/>
              <a:t>Encryption types</a:t>
            </a:r>
          </a:p>
        </p:txBody>
      </p:sp>
      <p:sp>
        <p:nvSpPr>
          <p:cNvPr id="4" name="Rectangle 3"/>
          <p:cNvSpPr/>
          <p:nvPr/>
        </p:nvSpPr>
        <p:spPr>
          <a:xfrm>
            <a:off x="899592" y="1373900"/>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p:cNvSpPr/>
          <p:nvPr/>
        </p:nvSpPr>
        <p:spPr>
          <a:xfrm>
            <a:off x="6454552" y="1373900"/>
            <a:ext cx="1090464" cy="10904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Service</a:t>
            </a:r>
          </a:p>
        </p:txBody>
      </p:sp>
      <p:sp>
        <p:nvSpPr>
          <p:cNvPr id="6" name="Rectangle 5"/>
          <p:cNvSpPr/>
          <p:nvPr/>
        </p:nvSpPr>
        <p:spPr>
          <a:xfrm>
            <a:off x="889248" y="4747932"/>
            <a:ext cx="1090464" cy="1090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DC</a:t>
            </a:r>
          </a:p>
        </p:txBody>
      </p:sp>
      <p:sp>
        <p:nvSpPr>
          <p:cNvPr id="3" name="Left-Right Arrow 2"/>
          <p:cNvSpPr/>
          <p:nvPr/>
        </p:nvSpPr>
        <p:spPr>
          <a:xfrm>
            <a:off x="2134072" y="1523088"/>
            <a:ext cx="4176464"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5" name="Left-Right Arrow 24"/>
          <p:cNvSpPr/>
          <p:nvPr/>
        </p:nvSpPr>
        <p:spPr>
          <a:xfrm rot="16200000">
            <a:off x="516403" y="3209403"/>
            <a:ext cx="1918506" cy="792088"/>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912C10DA-E585-4C46-8F69-0871C3A64284}"/>
              </a:ext>
            </a:extLst>
          </p:cNvPr>
          <p:cNvSpPr/>
          <p:nvPr/>
        </p:nvSpPr>
        <p:spPr>
          <a:xfrm>
            <a:off x="457200" y="974543"/>
            <a:ext cx="792089" cy="340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AES ?</a:t>
            </a:r>
          </a:p>
        </p:txBody>
      </p:sp>
      <p:sp>
        <p:nvSpPr>
          <p:cNvPr id="18" name="Rectangle 17">
            <a:extLst>
              <a:ext uri="{FF2B5EF4-FFF2-40B4-BE49-F238E27FC236}">
                <a16:creationId xmlns:a16="http://schemas.microsoft.com/office/drawing/2014/main" id="{E4C5261C-C597-47A2-AF00-80C7AA9A2F41}"/>
              </a:ext>
            </a:extLst>
          </p:cNvPr>
          <p:cNvSpPr/>
          <p:nvPr/>
        </p:nvSpPr>
        <p:spPr>
          <a:xfrm>
            <a:off x="529208" y="1249356"/>
            <a:ext cx="792089" cy="340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RC4 ?</a:t>
            </a:r>
          </a:p>
        </p:txBody>
      </p:sp>
      <p:sp>
        <p:nvSpPr>
          <p:cNvPr id="19" name="Rectangle 18">
            <a:extLst>
              <a:ext uri="{FF2B5EF4-FFF2-40B4-BE49-F238E27FC236}">
                <a16:creationId xmlns:a16="http://schemas.microsoft.com/office/drawing/2014/main" id="{9F7ED79E-0DF9-48E6-AEEF-3B6697F37923}"/>
              </a:ext>
            </a:extLst>
          </p:cNvPr>
          <p:cNvSpPr/>
          <p:nvPr/>
        </p:nvSpPr>
        <p:spPr>
          <a:xfrm>
            <a:off x="7148971" y="908720"/>
            <a:ext cx="792089" cy="340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AES ?</a:t>
            </a:r>
          </a:p>
        </p:txBody>
      </p:sp>
      <p:sp>
        <p:nvSpPr>
          <p:cNvPr id="20" name="Rectangle 19">
            <a:extLst>
              <a:ext uri="{FF2B5EF4-FFF2-40B4-BE49-F238E27FC236}">
                <a16:creationId xmlns:a16="http://schemas.microsoft.com/office/drawing/2014/main" id="{CED8DF3D-484D-45DB-A2A5-74F73D942095}"/>
              </a:ext>
            </a:extLst>
          </p:cNvPr>
          <p:cNvSpPr/>
          <p:nvPr/>
        </p:nvSpPr>
        <p:spPr>
          <a:xfrm>
            <a:off x="7220979" y="1183533"/>
            <a:ext cx="792089" cy="340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RC4 ?</a:t>
            </a:r>
          </a:p>
        </p:txBody>
      </p:sp>
      <p:sp>
        <p:nvSpPr>
          <p:cNvPr id="21" name="Rectangle 20">
            <a:extLst>
              <a:ext uri="{FF2B5EF4-FFF2-40B4-BE49-F238E27FC236}">
                <a16:creationId xmlns:a16="http://schemas.microsoft.com/office/drawing/2014/main" id="{E58740EC-67F3-4817-96E8-60B722CDB498}"/>
              </a:ext>
            </a:extLst>
          </p:cNvPr>
          <p:cNvSpPr/>
          <p:nvPr/>
        </p:nvSpPr>
        <p:spPr>
          <a:xfrm>
            <a:off x="1738027" y="4546782"/>
            <a:ext cx="792089" cy="340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AES ?</a:t>
            </a:r>
          </a:p>
        </p:txBody>
      </p:sp>
      <p:sp>
        <p:nvSpPr>
          <p:cNvPr id="22" name="Rectangle 21">
            <a:extLst>
              <a:ext uri="{FF2B5EF4-FFF2-40B4-BE49-F238E27FC236}">
                <a16:creationId xmlns:a16="http://schemas.microsoft.com/office/drawing/2014/main" id="{F1C60981-5A48-42C6-8DF3-13A4D8238ADF}"/>
              </a:ext>
            </a:extLst>
          </p:cNvPr>
          <p:cNvSpPr/>
          <p:nvPr/>
        </p:nvSpPr>
        <p:spPr>
          <a:xfrm>
            <a:off x="1810035" y="4821595"/>
            <a:ext cx="792089" cy="340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RC4 ?</a:t>
            </a:r>
          </a:p>
        </p:txBody>
      </p:sp>
      <p:sp>
        <p:nvSpPr>
          <p:cNvPr id="10" name="Oval 9">
            <a:extLst>
              <a:ext uri="{FF2B5EF4-FFF2-40B4-BE49-F238E27FC236}">
                <a16:creationId xmlns:a16="http://schemas.microsoft.com/office/drawing/2014/main" id="{B26AA628-B7AA-4887-9510-5D4251B56C75}"/>
              </a:ext>
            </a:extLst>
          </p:cNvPr>
          <p:cNvSpPr/>
          <p:nvPr/>
        </p:nvSpPr>
        <p:spPr>
          <a:xfrm>
            <a:off x="1738027" y="5535862"/>
            <a:ext cx="2185901" cy="5781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t>service#SHA1 ?</a:t>
            </a:r>
          </a:p>
        </p:txBody>
      </p:sp>
      <p:sp>
        <p:nvSpPr>
          <p:cNvPr id="24" name="Oval 23">
            <a:extLst>
              <a:ext uri="{FF2B5EF4-FFF2-40B4-BE49-F238E27FC236}">
                <a16:creationId xmlns:a16="http://schemas.microsoft.com/office/drawing/2014/main" id="{7D92FF63-11A8-414A-9E37-F105081CEC02}"/>
              </a:ext>
            </a:extLst>
          </p:cNvPr>
          <p:cNvSpPr/>
          <p:nvPr/>
        </p:nvSpPr>
        <p:spPr>
          <a:xfrm>
            <a:off x="1738027" y="5980317"/>
            <a:ext cx="2185901" cy="5781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t>service#MD4 ?</a:t>
            </a:r>
          </a:p>
        </p:txBody>
      </p:sp>
    </p:spTree>
    <p:extLst>
      <p:ext uri="{BB962C8B-B14F-4D97-AF65-F5344CB8AC3E}">
        <p14:creationId xmlns:p14="http://schemas.microsoft.com/office/powerpoint/2010/main" val="21916798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A201B-3BB3-4643-B4B7-C5901CAF0F0E}"/>
              </a:ext>
            </a:extLst>
          </p:cNvPr>
          <p:cNvSpPr>
            <a:spLocks noGrp="1"/>
          </p:cNvSpPr>
          <p:nvPr>
            <p:ph type="title"/>
          </p:nvPr>
        </p:nvSpPr>
        <p:spPr/>
        <p:txBody>
          <a:bodyPr>
            <a:noAutofit/>
          </a:bodyPr>
          <a:lstStyle/>
          <a:p>
            <a:r>
              <a:rPr lang="en-US" sz="2000" dirty="0" err="1"/>
              <a:t>msDS-SupportedEncryptionTypes</a:t>
            </a:r>
            <a:r>
              <a:rPr lang="en-US" sz="2000" dirty="0"/>
              <a:t> vs. AS/TGS events and </a:t>
            </a:r>
            <a:r>
              <a:rPr lang="en-US" sz="2000" dirty="0" err="1"/>
              <a:t>etypes</a:t>
            </a:r>
            <a:r>
              <a:rPr lang="en-US" sz="2000" dirty="0"/>
              <a:t> in tickets</a:t>
            </a:r>
          </a:p>
        </p:txBody>
      </p:sp>
      <p:sp>
        <p:nvSpPr>
          <p:cNvPr id="5" name="Content Placeholder 4">
            <a:extLst>
              <a:ext uri="{FF2B5EF4-FFF2-40B4-BE49-F238E27FC236}">
                <a16:creationId xmlns:a16="http://schemas.microsoft.com/office/drawing/2014/main" id="{7565BE90-490C-497C-ABC2-C71409C024F0}"/>
              </a:ext>
            </a:extLst>
          </p:cNvPr>
          <p:cNvSpPr>
            <a:spLocks noGrp="1"/>
          </p:cNvSpPr>
          <p:nvPr>
            <p:ph idx="1"/>
          </p:nvPr>
        </p:nvSpPr>
        <p:spPr/>
        <p:txBody>
          <a:bodyPr>
            <a:normAutofit fontScale="92500" lnSpcReduction="10000"/>
          </a:bodyPr>
          <a:lstStyle/>
          <a:p>
            <a:r>
              <a:rPr lang="en-US" sz="1800" dirty="0" err="1"/>
              <a:t>msDS-SupportedEncryptionTypes</a:t>
            </a:r>
            <a:r>
              <a:rPr lang="en-US" sz="1800" dirty="0"/>
              <a:t> (flags)</a:t>
            </a:r>
          </a:p>
          <a:p>
            <a:pPr lvl="1"/>
            <a:r>
              <a:rPr lang="en-US" sz="1600" dirty="0"/>
              <a:t>DES_CRC = 1 = 0x01</a:t>
            </a:r>
          </a:p>
          <a:p>
            <a:pPr lvl="1"/>
            <a:r>
              <a:rPr lang="en-US" sz="1600" dirty="0"/>
              <a:t>DES_MD5 = 2 = 0x02</a:t>
            </a:r>
          </a:p>
          <a:p>
            <a:pPr lvl="1"/>
            <a:r>
              <a:rPr lang="en-US" sz="1600" dirty="0"/>
              <a:t>RC4_HMAC_MD5 = 4 = 0x04</a:t>
            </a:r>
          </a:p>
          <a:p>
            <a:pPr lvl="1"/>
            <a:r>
              <a:rPr lang="en-US" sz="1600" dirty="0"/>
              <a:t>AES128_HMAC_SHA1 = 8 = 0x08</a:t>
            </a:r>
          </a:p>
          <a:p>
            <a:pPr lvl="1"/>
            <a:r>
              <a:rPr lang="en-US" sz="1600" dirty="0"/>
              <a:t>AES256_HMAC_SHA1 = 16 = 0x10</a:t>
            </a:r>
          </a:p>
          <a:p>
            <a:pPr lvl="1"/>
            <a:r>
              <a:rPr lang="en-US" sz="1600" dirty="0"/>
              <a:t>AES256_CTS_HMAC_SHA1_96_SK = 32 = 0x20 (enforces AES whenever it would use RC4 by default for session keys, but leaves RC4 for TGS itself)</a:t>
            </a:r>
          </a:p>
          <a:p>
            <a:endParaRPr lang="en-US" sz="1800" dirty="0"/>
          </a:p>
          <a:p>
            <a:r>
              <a:rPr lang="en-US" sz="1800" dirty="0"/>
              <a:t>RFC4121 </a:t>
            </a:r>
            <a:r>
              <a:rPr lang="en-US" sz="1800" dirty="0" err="1"/>
              <a:t>etypes</a:t>
            </a:r>
            <a:endParaRPr lang="en-US" sz="1800" dirty="0"/>
          </a:p>
          <a:p>
            <a:pPr lvl="1"/>
            <a:r>
              <a:rPr lang="fr-FR" sz="1600" dirty="0"/>
              <a:t>0x01 = 1 = DES-CBC-CRC</a:t>
            </a:r>
          </a:p>
          <a:p>
            <a:pPr lvl="1"/>
            <a:r>
              <a:rPr lang="fr-FR" sz="1600" dirty="0"/>
              <a:t>0x02 = 2 = DES-CBC-MD4</a:t>
            </a:r>
          </a:p>
          <a:p>
            <a:pPr lvl="1"/>
            <a:r>
              <a:rPr lang="fr-FR" sz="1600" dirty="0"/>
              <a:t>0x03 = 3 = DES-CBC-MD5</a:t>
            </a:r>
          </a:p>
          <a:p>
            <a:pPr lvl="1"/>
            <a:r>
              <a:rPr lang="fr-FR" sz="1600" dirty="0"/>
              <a:t>0x11 = 17 = AES128-CTS-HMAC-SHA1-96</a:t>
            </a:r>
          </a:p>
          <a:p>
            <a:pPr lvl="1"/>
            <a:r>
              <a:rPr lang="fr-FR" sz="1600" dirty="0"/>
              <a:t>0x12 = 18 = AES256-CTS-HMAC-SHA1-96 (</a:t>
            </a:r>
            <a:r>
              <a:rPr lang="en-US" sz="1600" dirty="0">
                <a:solidFill>
                  <a:schemeClr val="accent1"/>
                </a:solidFill>
              </a:rPr>
              <a:t>default SK since 2022/11 update</a:t>
            </a:r>
            <a:r>
              <a:rPr lang="fr-FR" sz="1600" dirty="0"/>
              <a:t>)</a:t>
            </a:r>
          </a:p>
          <a:p>
            <a:pPr lvl="1"/>
            <a:r>
              <a:rPr lang="fr-FR" sz="1600" dirty="0"/>
              <a:t>0x17 = 23 = RC4-HMAC-MD5 (</a:t>
            </a:r>
            <a:r>
              <a:rPr lang="en-US" sz="1600" dirty="0">
                <a:solidFill>
                  <a:schemeClr val="accent2"/>
                </a:solidFill>
              </a:rPr>
              <a:t>default SK/TGS until 2022/11 update</a:t>
            </a:r>
            <a:r>
              <a:rPr lang="en-US" sz="1600" dirty="0"/>
              <a:t>, </a:t>
            </a:r>
            <a:r>
              <a:rPr lang="en-US" sz="1600" dirty="0">
                <a:solidFill>
                  <a:schemeClr val="accent1"/>
                </a:solidFill>
              </a:rPr>
              <a:t>default TGS since 2022/11 update</a:t>
            </a:r>
            <a:r>
              <a:rPr lang="en-US" sz="1600" dirty="0"/>
              <a:t>)</a:t>
            </a:r>
          </a:p>
          <a:p>
            <a:pPr lvl="1"/>
            <a:r>
              <a:rPr lang="en-US" sz="1600" dirty="0"/>
              <a:t>0x18 = 24 = RC4-HMAC-EXP (export strength 40bit)</a:t>
            </a:r>
          </a:p>
          <a:p>
            <a:pPr lvl="1"/>
            <a:r>
              <a:rPr lang="fr-FR" sz="1600" dirty="0"/>
              <a:t>0x80 = 128 = RC4-MD4</a:t>
            </a:r>
          </a:p>
        </p:txBody>
      </p:sp>
    </p:spTree>
    <p:extLst>
      <p:ext uri="{BB962C8B-B14F-4D97-AF65-F5344CB8AC3E}">
        <p14:creationId xmlns:p14="http://schemas.microsoft.com/office/powerpoint/2010/main" val="37906211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a:t>
            </a:r>
            <a:r>
              <a:rPr lang="en-US" dirty="0"/>
              <a:t>+</a:t>
            </a:r>
            <a:r>
              <a:rPr lang="en-US" dirty="0">
                <a:solidFill>
                  <a:schemeClr val="accent1"/>
                </a:solidFill>
              </a:rPr>
              <a:t>ETYPE</a:t>
            </a:r>
            <a:r>
              <a:rPr lang="cs-CZ" dirty="0"/>
              <a:t> muster</a:t>
            </a:r>
            <a:br>
              <a:rPr lang="cs-CZ" dirty="0"/>
            </a:br>
            <a:r>
              <a:rPr lang="cs-CZ" dirty="0"/>
              <a:t>http</a:t>
            </a:r>
            <a:r>
              <a:rPr lang="en-US" dirty="0">
                <a:solidFill>
                  <a:schemeClr val="accent1"/>
                </a:solidFill>
              </a:rPr>
              <a:t>s</a:t>
            </a:r>
            <a:r>
              <a:rPr lang="en-US" dirty="0"/>
              <a:t>://</a:t>
            </a:r>
            <a:r>
              <a:rPr lang="en-US" dirty="0">
                <a:solidFill>
                  <a:schemeClr val="accent1"/>
                </a:solidFill>
              </a:rPr>
              <a:t>finance.gopas.cz</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85000" lnSpcReduction="2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or CNAME</a:t>
            </a:r>
          </a:p>
          <a:p>
            <a:pPr lvl="1"/>
            <a:r>
              <a:rPr lang="en-US" dirty="0"/>
              <a:t>A</a:t>
            </a:r>
          </a:p>
          <a:p>
            <a:r>
              <a:rPr lang="en-US" dirty="0"/>
              <a:t>machine</a:t>
            </a:r>
          </a:p>
          <a:p>
            <a:pPr lvl="1"/>
            <a:r>
              <a:rPr lang="en-US" dirty="0"/>
              <a:t>GPS-WEB</a:t>
            </a:r>
          </a:p>
          <a:p>
            <a:r>
              <a:rPr lang="en-US" dirty="0"/>
              <a:t>service account</a:t>
            </a:r>
          </a:p>
          <a:p>
            <a:pPr lvl="1"/>
            <a:r>
              <a:rPr lang="en-US" dirty="0" err="1"/>
              <a:t>gps</a:t>
            </a:r>
            <a:r>
              <a:rPr lang="en-US" dirty="0"/>
              <a:t>\</a:t>
            </a:r>
            <a:r>
              <a:rPr lang="en-US" dirty="0">
                <a:solidFill>
                  <a:schemeClr val="accent1"/>
                </a:solidFill>
              </a:rPr>
              <a:t>svc-</a:t>
            </a:r>
            <a:r>
              <a:rPr lang="en-US" dirty="0" err="1">
                <a:solidFill>
                  <a:schemeClr val="accent1"/>
                </a:solidFill>
              </a:rPr>
              <a:t>iis</a:t>
            </a:r>
            <a:r>
              <a:rPr lang="en-US" dirty="0">
                <a:solidFill>
                  <a:schemeClr val="accent1"/>
                </a:solidFill>
              </a:rPr>
              <a:t>-finance</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"http/fin*"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"host/fin*"</a:t>
            </a:r>
          </a:p>
          <a:p>
            <a:pPr lvl="1"/>
            <a:endParaRPr lang="en-US" dirty="0"/>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"http/finance.gopas.cz" svc-</a:t>
            </a:r>
            <a:r>
              <a:rPr lang="en-US" sz="1800" dirty="0" err="1">
                <a:latin typeface="Courier New" panose="02070309020205020404" pitchFamily="49" charset="0"/>
                <a:cs typeface="Courier New" panose="02070309020205020404" pitchFamily="49" charset="0"/>
              </a:rPr>
              <a:t>iis</a:t>
            </a:r>
            <a:r>
              <a:rPr lang="en-US" sz="1800" dirty="0">
                <a:latin typeface="Courier New" panose="02070309020205020404" pitchFamily="49" charset="0"/>
                <a:cs typeface="Courier New" panose="02070309020205020404" pitchFamily="49" charset="0"/>
              </a:rPr>
              <a:t>-finance</a:t>
            </a:r>
          </a:p>
          <a:p>
            <a:pPr marL="0" indent="0">
              <a:buNone/>
            </a:pPr>
            <a:r>
              <a:rPr lang="en-US" sz="1800" dirty="0" err="1">
                <a:solidFill>
                  <a:schemeClr val="accent1"/>
                </a:solidFill>
                <a:latin typeface="Courier New" panose="02070309020205020404" pitchFamily="49" charset="0"/>
                <a:cs typeface="Courier New" panose="02070309020205020404" pitchFamily="49" charset="0"/>
              </a:rPr>
              <a:t>msDS-SupportedEncryptionTypes</a:t>
            </a:r>
            <a:r>
              <a:rPr lang="en-US" sz="1800" dirty="0">
                <a:solidFill>
                  <a:schemeClr val="accent1"/>
                </a:solidFill>
                <a:latin typeface="Courier New" panose="02070309020205020404" pitchFamily="49" charset="0"/>
                <a:cs typeface="Courier New" panose="02070309020205020404" pitchFamily="49" charset="0"/>
              </a:rPr>
              <a:t> = 24 = 0x18</a:t>
            </a:r>
            <a:r>
              <a:rPr lang="en-US" sz="1800" dirty="0">
                <a:latin typeface="Courier New" panose="02070309020205020404" pitchFamily="49" charset="0"/>
                <a:cs typeface="Courier New" panose="02070309020205020404" pitchFamily="49" charset="0"/>
              </a:rPr>
              <a:t> (AES128+AES256)</a:t>
            </a:r>
            <a:br>
              <a:rPr lang="en-US" sz="1800" dirty="0">
                <a:latin typeface="Courier New" panose="02070309020205020404" pitchFamily="49" charset="0"/>
                <a:cs typeface="Courier New" panose="02070309020205020404" pitchFamily="49" charset="0"/>
              </a:rPr>
            </a:br>
            <a:r>
              <a:rPr lang="en-US" sz="1800" dirty="0" err="1">
                <a:latin typeface="Courier New" panose="02070309020205020404" pitchFamily="49" charset="0"/>
                <a:cs typeface="Courier New" panose="02070309020205020404" pitchFamily="49" charset="0"/>
              </a:rPr>
              <a:t>msDS-SupportedEncryptiontypes</a:t>
            </a:r>
            <a:r>
              <a:rPr lang="en-US" sz="1800" dirty="0">
                <a:latin typeface="Courier New" panose="02070309020205020404" pitchFamily="49" charset="0"/>
                <a:cs typeface="Courier New" panose="02070309020205020404" pitchFamily="49" charset="0"/>
              </a:rPr>
              <a:t> = 28 = 0x1C (RC4+AES128+AES256)</a:t>
            </a:r>
            <a:endParaRPr lang="en-US" sz="1800" dirty="0">
              <a:solidFill>
                <a:schemeClr val="accent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857383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a:t>
            </a:r>
            <a:r>
              <a:rPr lang="en-US" dirty="0"/>
              <a:t>+</a:t>
            </a:r>
            <a:r>
              <a:rPr lang="en-US" dirty="0">
                <a:solidFill>
                  <a:schemeClr val="accent1"/>
                </a:solidFill>
              </a:rPr>
              <a:t>ETYPE</a:t>
            </a:r>
            <a:r>
              <a:rPr lang="cs-CZ" dirty="0"/>
              <a:t> muster</a:t>
            </a:r>
            <a:r>
              <a:rPr lang="en-US" dirty="0"/>
              <a:t> (</a:t>
            </a:r>
            <a:r>
              <a:rPr lang="en-US" dirty="0">
                <a:solidFill>
                  <a:schemeClr val="accent2"/>
                </a:solidFill>
              </a:rPr>
              <a:t>backward compatible with RC4</a:t>
            </a:r>
            <a:r>
              <a:rPr lang="en-US" dirty="0"/>
              <a:t>)</a:t>
            </a:r>
            <a:br>
              <a:rPr lang="cs-CZ" dirty="0"/>
            </a:br>
            <a:r>
              <a:rPr lang="cs-CZ" dirty="0"/>
              <a:t>http</a:t>
            </a:r>
            <a:r>
              <a:rPr lang="en-US" dirty="0">
                <a:solidFill>
                  <a:schemeClr val="accent1"/>
                </a:solidFill>
              </a:rPr>
              <a:t>s</a:t>
            </a:r>
            <a:r>
              <a:rPr lang="en-US" dirty="0"/>
              <a:t>://</a:t>
            </a:r>
            <a:r>
              <a:rPr lang="en-US" dirty="0">
                <a:solidFill>
                  <a:schemeClr val="accent1"/>
                </a:solidFill>
              </a:rPr>
              <a:t>orders.gopas.cz</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85000" lnSpcReduction="2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or CNAME</a:t>
            </a:r>
          </a:p>
          <a:p>
            <a:pPr lvl="1"/>
            <a:r>
              <a:rPr lang="en-US" dirty="0"/>
              <a:t>A</a:t>
            </a:r>
          </a:p>
          <a:p>
            <a:r>
              <a:rPr lang="en-US" dirty="0"/>
              <a:t>machine</a:t>
            </a:r>
          </a:p>
          <a:p>
            <a:pPr lvl="1"/>
            <a:r>
              <a:rPr lang="en-US" dirty="0"/>
              <a:t>GPS-SPRDP</a:t>
            </a:r>
          </a:p>
          <a:p>
            <a:r>
              <a:rPr lang="en-US" dirty="0"/>
              <a:t>service account</a:t>
            </a:r>
          </a:p>
          <a:p>
            <a:pPr lvl="1"/>
            <a:r>
              <a:rPr lang="en-US" dirty="0" err="1"/>
              <a:t>gps</a:t>
            </a:r>
            <a:r>
              <a:rPr lang="en-US" dirty="0"/>
              <a:t>\</a:t>
            </a:r>
            <a:r>
              <a:rPr lang="en-US" dirty="0">
                <a:solidFill>
                  <a:schemeClr val="accent1"/>
                </a:solidFill>
              </a:rPr>
              <a:t>svc-</a:t>
            </a:r>
            <a:r>
              <a:rPr lang="en-US" dirty="0" err="1">
                <a:solidFill>
                  <a:schemeClr val="accent1"/>
                </a:solidFill>
              </a:rPr>
              <a:t>iis</a:t>
            </a:r>
            <a:r>
              <a:rPr lang="en-US" dirty="0">
                <a:solidFill>
                  <a:schemeClr val="accent1"/>
                </a:solidFill>
              </a:rPr>
              <a:t>-orders</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"http/orders*"</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"host/orders*"</a:t>
            </a:r>
          </a:p>
          <a:p>
            <a:pPr lvl="1"/>
            <a:endParaRPr lang="en-US" dirty="0"/>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"http/orders.gopas.cz" svc-</a:t>
            </a:r>
            <a:r>
              <a:rPr lang="en-US" sz="1800" dirty="0" err="1">
                <a:latin typeface="Courier New" panose="02070309020205020404" pitchFamily="49" charset="0"/>
                <a:cs typeface="Courier New" panose="02070309020205020404" pitchFamily="49" charset="0"/>
              </a:rPr>
              <a:t>iis</a:t>
            </a:r>
            <a:r>
              <a:rPr lang="en-US" sz="1800" dirty="0">
                <a:latin typeface="Courier New" panose="02070309020205020404" pitchFamily="49" charset="0"/>
                <a:cs typeface="Courier New" panose="02070309020205020404" pitchFamily="49" charset="0"/>
              </a:rPr>
              <a:t>-orders</a:t>
            </a:r>
          </a:p>
          <a:p>
            <a:pPr marL="0" indent="0">
              <a:buNone/>
            </a:pPr>
            <a:r>
              <a:rPr lang="en-US" sz="1800" dirty="0" err="1">
                <a:solidFill>
                  <a:schemeClr val="accent1"/>
                </a:solidFill>
                <a:latin typeface="Courier New" panose="02070309020205020404" pitchFamily="49" charset="0"/>
                <a:cs typeface="Courier New" panose="02070309020205020404" pitchFamily="49" charset="0"/>
              </a:rPr>
              <a:t>msDS-SupportedEncryptionTypes</a:t>
            </a:r>
            <a:r>
              <a:rPr lang="en-US" sz="1800" dirty="0">
                <a:solidFill>
                  <a:schemeClr val="accent1"/>
                </a:solidFill>
                <a:latin typeface="Courier New" panose="02070309020205020404" pitchFamily="49" charset="0"/>
                <a:cs typeface="Courier New" panose="02070309020205020404" pitchFamily="49" charset="0"/>
              </a:rPr>
              <a:t> = </a:t>
            </a:r>
            <a:r>
              <a:rPr lang="en-US" sz="1800" dirty="0">
                <a:solidFill>
                  <a:schemeClr val="accent2"/>
                </a:solidFill>
                <a:latin typeface="Courier New" panose="02070309020205020404" pitchFamily="49" charset="0"/>
                <a:cs typeface="Courier New" panose="02070309020205020404" pitchFamily="49" charset="0"/>
              </a:rPr>
              <a:t>4</a:t>
            </a:r>
            <a:r>
              <a:rPr lang="en-US" sz="1800" dirty="0">
                <a:solidFill>
                  <a:schemeClr val="accent1"/>
                </a:solidFill>
                <a:latin typeface="Courier New" panose="02070309020205020404" pitchFamily="49" charset="0"/>
                <a:cs typeface="Courier New" panose="02070309020205020404" pitchFamily="49" charset="0"/>
              </a:rPr>
              <a:t> = </a:t>
            </a:r>
            <a:r>
              <a:rPr lang="en-US" sz="1800" dirty="0">
                <a:solidFill>
                  <a:schemeClr val="accent2"/>
                </a:solidFill>
                <a:latin typeface="Courier New" panose="02070309020205020404" pitchFamily="49" charset="0"/>
                <a:cs typeface="Courier New" panose="02070309020205020404" pitchFamily="49" charset="0"/>
              </a:rPr>
              <a:t>0x4</a:t>
            </a:r>
            <a:r>
              <a:rPr lang="en-US" sz="1800" dirty="0">
                <a:latin typeface="Courier New" panose="02070309020205020404" pitchFamily="49" charset="0"/>
                <a:cs typeface="Courier New" panose="02070309020205020404" pitchFamily="49" charset="0"/>
              </a:rPr>
              <a:t> (</a:t>
            </a:r>
            <a:r>
              <a:rPr lang="en-US" sz="1800" dirty="0">
                <a:solidFill>
                  <a:schemeClr val="accent2"/>
                </a:solidFill>
                <a:latin typeface="Courier New" panose="02070309020205020404" pitchFamily="49" charset="0"/>
                <a:cs typeface="Courier New" panose="02070309020205020404" pitchFamily="49" charset="0"/>
              </a:rPr>
              <a:t>RC4</a:t>
            </a:r>
            <a:r>
              <a:rPr lang="en-US" sz="1800" dirty="0">
                <a:latin typeface="Courier New" panose="02070309020205020404" pitchFamily="49" charset="0"/>
                <a:cs typeface="Courier New" panose="02070309020205020404" pitchFamily="49" charset="0"/>
              </a:rPr>
              <a:t>)</a:t>
            </a:r>
            <a:endParaRPr lang="en-US" sz="1800" dirty="0">
              <a:solidFill>
                <a:schemeClr val="accent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225411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59AD8-BAD8-44A0-810A-E9A0B413F3A4}"/>
              </a:ext>
            </a:extLst>
          </p:cNvPr>
          <p:cNvSpPr>
            <a:spLocks noGrp="1"/>
          </p:cNvSpPr>
          <p:nvPr>
            <p:ph type="title"/>
          </p:nvPr>
        </p:nvSpPr>
        <p:spPr/>
        <p:txBody>
          <a:bodyPr/>
          <a:lstStyle/>
          <a:p>
            <a:r>
              <a:rPr lang="en-US" dirty="0"/>
              <a:t>GPS-RDP + </a:t>
            </a:r>
            <a:r>
              <a:rPr lang="en-US" dirty="0" err="1"/>
              <a:t>mstsc</a:t>
            </a:r>
            <a:r>
              <a:rPr lang="en-US" dirty="0"/>
              <a:t> /</a:t>
            </a:r>
            <a:r>
              <a:rPr lang="en-US" dirty="0" err="1"/>
              <a:t>v:</a:t>
            </a:r>
            <a:r>
              <a:rPr lang="en-US" dirty="0" err="1">
                <a:solidFill>
                  <a:schemeClr val="accent1"/>
                </a:solidFill>
              </a:rPr>
              <a:t>rdp.gopas.cz</a:t>
            </a:r>
            <a:r>
              <a:rPr lang="en-US" dirty="0"/>
              <a:t> + </a:t>
            </a:r>
            <a:r>
              <a:rPr lang="en-US" dirty="0">
                <a:solidFill>
                  <a:schemeClr val="accent1"/>
                </a:solidFill>
              </a:rPr>
              <a:t>AES</a:t>
            </a:r>
          </a:p>
        </p:txBody>
      </p:sp>
      <p:sp>
        <p:nvSpPr>
          <p:cNvPr id="3" name="Content Placeholder 2">
            <a:extLst>
              <a:ext uri="{FF2B5EF4-FFF2-40B4-BE49-F238E27FC236}">
                <a16:creationId xmlns:a16="http://schemas.microsoft.com/office/drawing/2014/main" id="{97D41090-C380-469C-992E-883673A7988A}"/>
              </a:ext>
            </a:extLst>
          </p:cNvPr>
          <p:cNvSpPr>
            <a:spLocks noGrp="1"/>
          </p:cNvSpPr>
          <p:nvPr>
            <p:ph idx="1"/>
          </p:nvPr>
        </p:nvSpPr>
        <p:spPr>
          <a:xfrm>
            <a:off x="457200" y="971600"/>
            <a:ext cx="8229600" cy="5265712"/>
          </a:xfrm>
        </p:spPr>
        <p:txBody>
          <a:bodyPr>
            <a:normAutofit/>
          </a:bodyPr>
          <a:lstStyle/>
          <a:p>
            <a:pPr marL="0" indent="0">
              <a:buNone/>
            </a:pPr>
            <a:r>
              <a:rPr lang="en-US" sz="1400" dirty="0">
                <a:latin typeface="Courier New" panose="02070309020205020404" pitchFamily="49" charset="0"/>
                <a:cs typeface="Courier New" panose="02070309020205020404" pitchFamily="49" charset="0"/>
              </a:rPr>
              <a:t># Note: reset the </a:t>
            </a:r>
            <a:r>
              <a:rPr lang="en-US" sz="1400" dirty="0">
                <a:solidFill>
                  <a:schemeClr val="accent4"/>
                </a:solidFill>
                <a:latin typeface="Courier New" panose="02070309020205020404" pitchFamily="49" charset="0"/>
                <a:cs typeface="Courier New" panose="02070309020205020404" pitchFamily="49" charset="0"/>
              </a:rPr>
              <a:t>password 2x </a:t>
            </a:r>
            <a:r>
              <a:rPr lang="en-US" sz="1400" dirty="0">
                <a:latin typeface="Courier New" panose="02070309020205020404" pitchFamily="49" charset="0"/>
                <a:cs typeface="Courier New" panose="02070309020205020404" pitchFamily="49" charset="0"/>
              </a:rPr>
              <a:t>and restart (a bug probably)</a:t>
            </a:r>
          </a:p>
          <a:p>
            <a:pPr marL="0" indent="0">
              <a:buNone/>
            </a:pPr>
            <a:r>
              <a:rPr lang="en-US" sz="1400" dirty="0" err="1">
                <a:latin typeface="Courier New" panose="02070309020205020404" pitchFamily="49" charset="0"/>
                <a:cs typeface="Courier New" panose="02070309020205020404" pitchFamily="49" charset="0"/>
              </a:rPr>
              <a:t>netdom</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resetpwd</a:t>
            </a:r>
            <a:r>
              <a:rPr lang="en-US" sz="1400" dirty="0">
                <a:latin typeface="Courier New" panose="02070309020205020404" pitchFamily="49" charset="0"/>
                <a:cs typeface="Courier New" panose="02070309020205020404" pitchFamily="49" charset="0"/>
              </a:rPr>
              <a:t> /server:gps-dc1 /</a:t>
            </a:r>
            <a:r>
              <a:rPr lang="en-US" sz="1400" dirty="0" err="1">
                <a:latin typeface="Courier New" panose="02070309020205020404" pitchFamily="49" charset="0"/>
                <a:cs typeface="Courier New" panose="02070309020205020404" pitchFamily="49" charset="0"/>
              </a:rPr>
              <a:t>userD:gps</a:t>
            </a:r>
            <a:r>
              <a:rPr lang="en-US" sz="1400" dirty="0">
                <a:latin typeface="Courier New" panose="02070309020205020404" pitchFamily="49" charset="0"/>
                <a:cs typeface="Courier New" panose="02070309020205020404" pitchFamily="49" charset="0"/>
              </a:rPr>
              <a:t>\domain-admin /</a:t>
            </a:r>
            <a:r>
              <a:rPr lang="en-US" sz="1400" dirty="0" err="1">
                <a:latin typeface="Courier New" panose="02070309020205020404" pitchFamily="49" charset="0"/>
                <a:cs typeface="Courier New" panose="02070309020205020404" pitchFamily="49" charset="0"/>
              </a:rPr>
              <a:t>passwordD:Pa</a:t>
            </a:r>
            <a:r>
              <a:rPr lang="en-US" sz="1400" dirty="0">
                <a:latin typeface="Courier New" panose="02070309020205020404" pitchFamily="49" charset="0"/>
                <a:cs typeface="Courier New" panose="02070309020205020404" pitchFamily="49" charset="0"/>
              </a:rPr>
              <a:t>$$w0rd</a:t>
            </a:r>
          </a:p>
          <a:p>
            <a:pPr marL="0" indent="0">
              <a:buNone/>
            </a:pPr>
            <a:r>
              <a:rPr lang="en-US" sz="1400" dirty="0">
                <a:latin typeface="Courier New" panose="02070309020205020404" pitchFamily="49" charset="0"/>
                <a:cs typeface="Courier New" panose="02070309020205020404" pitchFamily="49" charset="0"/>
              </a:rPr>
              <a:t>shutdown /r /t 0 /f</a:t>
            </a:r>
          </a:p>
          <a:p>
            <a:pPr marL="0" indent="0">
              <a:buNone/>
            </a:pPr>
            <a:endParaRPr lang="en-US" sz="1400" dirty="0">
              <a:latin typeface="Courier New" panose="02070309020205020404" pitchFamily="49" charset="0"/>
              <a:cs typeface="Courier New" panose="02070309020205020404" pitchFamily="49" charset="0"/>
            </a:endParaRPr>
          </a:p>
          <a:p>
            <a:pPr marL="0" indent="0">
              <a:buNone/>
            </a:pPr>
            <a:r>
              <a:rPr lang="en-US" sz="1400" dirty="0" err="1">
                <a:latin typeface="Courier New" panose="02070309020205020404" pitchFamily="49" charset="0"/>
                <a:cs typeface="Courier New" panose="02070309020205020404" pitchFamily="49" charset="0"/>
              </a:rPr>
              <a:t>klist</a:t>
            </a:r>
            <a:r>
              <a:rPr lang="en-US" sz="1400" dirty="0">
                <a:latin typeface="Courier New" panose="02070309020205020404" pitchFamily="49" charset="0"/>
                <a:cs typeface="Courier New" panose="02070309020205020404" pitchFamily="49" charset="0"/>
              </a:rPr>
              <a:t> get termsrv/rdp.gopas.cz</a:t>
            </a:r>
          </a:p>
        </p:txBody>
      </p:sp>
      <p:pic>
        <p:nvPicPr>
          <p:cNvPr id="7" name="Picture 6">
            <a:extLst>
              <a:ext uri="{FF2B5EF4-FFF2-40B4-BE49-F238E27FC236}">
                <a16:creationId xmlns:a16="http://schemas.microsoft.com/office/drawing/2014/main" id="{749D3378-A49F-4EFA-81FF-F78250761D2F}"/>
              </a:ext>
            </a:extLst>
          </p:cNvPr>
          <p:cNvPicPr>
            <a:picLocks noChangeAspect="1"/>
          </p:cNvPicPr>
          <p:nvPr/>
        </p:nvPicPr>
        <p:blipFill>
          <a:blip r:embed="rId2"/>
          <a:stretch>
            <a:fillRect/>
          </a:stretch>
        </p:blipFill>
        <p:spPr>
          <a:xfrm>
            <a:off x="315519" y="2420889"/>
            <a:ext cx="8828481" cy="4437112"/>
          </a:xfrm>
          <a:prstGeom prst="rect">
            <a:avLst/>
          </a:prstGeom>
        </p:spPr>
      </p:pic>
    </p:spTree>
    <p:extLst>
      <p:ext uri="{BB962C8B-B14F-4D97-AF65-F5344CB8AC3E}">
        <p14:creationId xmlns:p14="http://schemas.microsoft.com/office/powerpoint/2010/main" val="38265245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B8EBF-98C5-2879-E361-0B5B4A0B97C6}"/>
              </a:ext>
            </a:extLst>
          </p:cNvPr>
          <p:cNvSpPr>
            <a:spLocks noGrp="1"/>
          </p:cNvSpPr>
          <p:nvPr>
            <p:ph type="title"/>
          </p:nvPr>
        </p:nvSpPr>
        <p:spPr>
          <a:xfrm>
            <a:off x="457200" y="44624"/>
            <a:ext cx="8229600" cy="782960"/>
          </a:xfrm>
        </p:spPr>
        <p:txBody>
          <a:bodyPr/>
          <a:lstStyle/>
          <a:p>
            <a:r>
              <a:rPr lang="en-US" dirty="0"/>
              <a:t>KDC_ERR_ETYPE_NOSUPP</a:t>
            </a:r>
          </a:p>
        </p:txBody>
      </p:sp>
      <p:sp>
        <p:nvSpPr>
          <p:cNvPr id="3" name="Content Placeholder 2">
            <a:extLst>
              <a:ext uri="{FF2B5EF4-FFF2-40B4-BE49-F238E27FC236}">
                <a16:creationId xmlns:a16="http://schemas.microsoft.com/office/drawing/2014/main" id="{F4975A19-F05F-6E61-EFC2-891B562ED1E8}"/>
              </a:ext>
            </a:extLst>
          </p:cNvPr>
          <p:cNvSpPr>
            <a:spLocks noGrp="1"/>
          </p:cNvSpPr>
          <p:nvPr>
            <p:ph idx="1"/>
          </p:nvPr>
        </p:nvSpPr>
        <p:spPr/>
        <p:txBody>
          <a:bodyPr>
            <a:normAutofit/>
          </a:bodyPr>
          <a:lstStyle/>
          <a:p>
            <a:pPr marL="0" indent="0">
              <a:buNone/>
            </a:pPr>
            <a:endParaRPr lang="en-US" sz="1050" dirty="0">
              <a:latin typeface="Courier New" panose="02070309020205020404" pitchFamily="49" charset="0"/>
              <a:cs typeface="Courier New" panose="02070309020205020404" pitchFamily="49" charset="0"/>
            </a:endParaRPr>
          </a:p>
          <a:p>
            <a:pPr marL="0" indent="0">
              <a:buNone/>
            </a:pPr>
            <a:endParaRPr lang="en-US" sz="1050" dirty="0">
              <a:latin typeface="Courier New" panose="02070309020205020404" pitchFamily="49" charset="0"/>
              <a:cs typeface="Courier New" panose="02070309020205020404" pitchFamily="49" charset="0"/>
            </a:endParaRPr>
          </a:p>
          <a:p>
            <a:pPr marL="0" indent="0">
              <a:buNone/>
            </a:pPr>
            <a:endParaRPr lang="en-US" sz="1050" dirty="0">
              <a:latin typeface="Courier New" panose="02070309020205020404" pitchFamily="49" charset="0"/>
              <a:cs typeface="Courier New" panose="02070309020205020404" pitchFamily="49" charset="0"/>
            </a:endParaRPr>
          </a:p>
          <a:p>
            <a:pPr marL="0" indent="0">
              <a:buNone/>
            </a:pPr>
            <a:endParaRPr lang="en-US" sz="1050" dirty="0">
              <a:latin typeface="Courier New" panose="02070309020205020404" pitchFamily="49" charset="0"/>
              <a:cs typeface="Courier New" panose="02070309020205020404" pitchFamily="49" charset="0"/>
            </a:endParaRPr>
          </a:p>
          <a:p>
            <a:pPr marL="0" indent="0">
              <a:buNone/>
            </a:pPr>
            <a:endParaRPr lang="en-US" sz="1050" dirty="0">
              <a:latin typeface="Courier New" panose="02070309020205020404" pitchFamily="49" charset="0"/>
              <a:cs typeface="Courier New" panose="02070309020205020404" pitchFamily="49" charset="0"/>
            </a:endParaRPr>
          </a:p>
          <a:p>
            <a:pPr marL="0" indent="0">
              <a:buNone/>
            </a:pPr>
            <a:endParaRPr lang="en-US" sz="1050" dirty="0">
              <a:latin typeface="Courier New" panose="02070309020205020404" pitchFamily="49" charset="0"/>
              <a:cs typeface="Courier New" panose="02070309020205020404" pitchFamily="49" charset="0"/>
            </a:endParaRPr>
          </a:p>
          <a:p>
            <a:pPr marL="0" indent="0">
              <a:buNone/>
            </a:pPr>
            <a:endParaRPr lang="en-US" sz="1050" dirty="0">
              <a:latin typeface="Courier New" panose="02070309020205020404" pitchFamily="49" charset="0"/>
              <a:cs typeface="Courier New" panose="02070309020205020404" pitchFamily="49" charset="0"/>
            </a:endParaRPr>
          </a:p>
          <a:p>
            <a:pPr marL="0" indent="0">
              <a:buNone/>
            </a:pPr>
            <a:r>
              <a:rPr lang="en-US" sz="1050" dirty="0" err="1">
                <a:latin typeface="Courier New" panose="02070309020205020404" pitchFamily="49" charset="0"/>
                <a:cs typeface="Courier New" panose="02070309020205020404" pitchFamily="49" charset="0"/>
              </a:rPr>
              <a:t>EventLog</a:t>
            </a:r>
            <a:r>
              <a:rPr lang="en-US" sz="1050" dirty="0">
                <a:latin typeface="Courier New" panose="02070309020205020404" pitchFamily="49" charset="0"/>
                <a:cs typeface="Courier New" panose="02070309020205020404" pitchFamily="49" charset="0"/>
              </a:rPr>
              <a:t>: System</a:t>
            </a:r>
          </a:p>
          <a:p>
            <a:pPr marL="0" indent="0">
              <a:buNone/>
            </a:pPr>
            <a:r>
              <a:rPr lang="en-US" sz="1050" dirty="0" err="1">
                <a:latin typeface="Courier New" panose="02070309020205020404" pitchFamily="49" charset="0"/>
                <a:cs typeface="Courier New" panose="02070309020205020404" pitchFamily="49" charset="0"/>
              </a:rPr>
              <a:t>EventId</a:t>
            </a:r>
            <a:r>
              <a:rPr lang="en-US" sz="1050" dirty="0">
                <a:latin typeface="Courier New" panose="02070309020205020404" pitchFamily="49" charset="0"/>
                <a:cs typeface="Courier New" panose="02070309020205020404" pitchFamily="49" charset="0"/>
              </a:rPr>
              <a:t>: 27</a:t>
            </a:r>
          </a:p>
          <a:p>
            <a:pPr marL="0" indent="0">
              <a:buNone/>
            </a:pPr>
            <a:r>
              <a:rPr lang="en-US" sz="1050" dirty="0">
                <a:latin typeface="Courier New" panose="02070309020205020404" pitchFamily="49" charset="0"/>
                <a:cs typeface="Courier New" panose="02070309020205020404" pitchFamily="49" charset="0"/>
              </a:rPr>
              <a:t>Source: Kerberos-Key-Distribution-Center</a:t>
            </a:r>
          </a:p>
          <a:p>
            <a:pPr marL="0" indent="0">
              <a:buNone/>
            </a:pPr>
            <a:r>
              <a:rPr lang="en-US" sz="1050" dirty="0">
                <a:latin typeface="Courier New" panose="02070309020205020404" pitchFamily="49" charset="0"/>
                <a:cs typeface="Courier New" panose="02070309020205020404" pitchFamily="49" charset="0"/>
              </a:rPr>
              <a:t>Message: While processing a TGS request for the target server, the account did not have a suitable key for generating a Kerberos ticket</a:t>
            </a:r>
          </a:p>
        </p:txBody>
      </p:sp>
      <p:graphicFrame>
        <p:nvGraphicFramePr>
          <p:cNvPr id="4" name="Object 3">
            <a:extLst>
              <a:ext uri="{FF2B5EF4-FFF2-40B4-BE49-F238E27FC236}">
                <a16:creationId xmlns:a16="http://schemas.microsoft.com/office/drawing/2014/main" id="{BA690C5F-6EE2-D51C-ABB3-4574E89BDA93}"/>
              </a:ext>
            </a:extLst>
          </p:cNvPr>
          <p:cNvGraphicFramePr>
            <a:graphicFrameLocks noChangeAspect="1"/>
          </p:cNvGraphicFramePr>
          <p:nvPr>
            <p:extLst>
              <p:ext uri="{D42A27DB-BD31-4B8C-83A1-F6EECF244321}">
                <p14:modId xmlns:p14="http://schemas.microsoft.com/office/powerpoint/2010/main" val="1120542899"/>
              </p:ext>
            </p:extLst>
          </p:nvPr>
        </p:nvGraphicFramePr>
        <p:xfrm>
          <a:off x="107504" y="764704"/>
          <a:ext cx="8928992" cy="1719870"/>
        </p:xfrm>
        <a:graphic>
          <a:graphicData uri="http://schemas.openxmlformats.org/presentationml/2006/ole">
            <mc:AlternateContent xmlns:mc="http://schemas.openxmlformats.org/markup-compatibility/2006">
              <mc:Choice xmlns:v="urn:schemas-microsoft-com:vml" Requires="v">
                <p:oleObj r:id="rId2" imgW="5934240" imgH="1143000" progId="">
                  <p:embed/>
                </p:oleObj>
              </mc:Choice>
              <mc:Fallback>
                <p:oleObj r:id="rId2" imgW="5934240" imgH="1143000" progId="">
                  <p:embed/>
                  <p:pic>
                    <p:nvPicPr>
                      <p:cNvPr id="0" name=""/>
                      <p:cNvPicPr/>
                      <p:nvPr/>
                    </p:nvPicPr>
                    <p:blipFill>
                      <a:blip r:embed="rId3"/>
                      <a:stretch>
                        <a:fillRect/>
                      </a:stretch>
                    </p:blipFill>
                    <p:spPr>
                      <a:xfrm>
                        <a:off x="107504" y="764704"/>
                        <a:ext cx="8928992" cy="171987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83A6E020-D861-614A-6B17-44AE3669D375}"/>
              </a:ext>
            </a:extLst>
          </p:cNvPr>
          <p:cNvGraphicFramePr>
            <a:graphicFrameLocks noChangeAspect="1"/>
          </p:cNvGraphicFramePr>
          <p:nvPr>
            <p:extLst>
              <p:ext uri="{D42A27DB-BD31-4B8C-83A1-F6EECF244321}">
                <p14:modId xmlns:p14="http://schemas.microsoft.com/office/powerpoint/2010/main" val="1613478778"/>
              </p:ext>
            </p:extLst>
          </p:nvPr>
        </p:nvGraphicFramePr>
        <p:xfrm>
          <a:off x="3203848" y="3518670"/>
          <a:ext cx="5940152" cy="3339329"/>
        </p:xfrm>
        <a:graphic>
          <a:graphicData uri="http://schemas.openxmlformats.org/presentationml/2006/ole">
            <mc:AlternateContent xmlns:mc="http://schemas.openxmlformats.org/markup-compatibility/2006">
              <mc:Choice xmlns:v="urn:schemas-microsoft-com:vml" Requires="v">
                <p:oleObj r:id="rId4" imgW="5286240" imgH="2971800" progId="">
                  <p:embed/>
                </p:oleObj>
              </mc:Choice>
              <mc:Fallback>
                <p:oleObj r:id="rId4" imgW="5286240" imgH="2971800" progId="">
                  <p:embed/>
                  <p:pic>
                    <p:nvPicPr>
                      <p:cNvPr id="0" name=""/>
                      <p:cNvPicPr/>
                      <p:nvPr/>
                    </p:nvPicPr>
                    <p:blipFill>
                      <a:blip r:embed="rId5"/>
                      <a:stretch>
                        <a:fillRect/>
                      </a:stretch>
                    </p:blipFill>
                    <p:spPr>
                      <a:xfrm>
                        <a:off x="3203848" y="3518670"/>
                        <a:ext cx="5940152" cy="3339329"/>
                      </a:xfrm>
                      <a:prstGeom prst="rect">
                        <a:avLst/>
                      </a:prstGeom>
                    </p:spPr>
                  </p:pic>
                </p:oleObj>
              </mc:Fallback>
            </mc:AlternateContent>
          </a:graphicData>
        </a:graphic>
      </p:graphicFrame>
    </p:spTree>
    <p:extLst>
      <p:ext uri="{BB962C8B-B14F-4D97-AF65-F5344CB8AC3E}">
        <p14:creationId xmlns:p14="http://schemas.microsoft.com/office/powerpoint/2010/main" val="30485860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C850A-470F-D78F-F1CA-1DD93B2F0D4F}"/>
              </a:ext>
            </a:extLst>
          </p:cNvPr>
          <p:cNvSpPr>
            <a:spLocks noGrp="1"/>
          </p:cNvSpPr>
          <p:nvPr>
            <p:ph type="title"/>
          </p:nvPr>
        </p:nvSpPr>
        <p:spPr/>
        <p:txBody>
          <a:bodyPr>
            <a:normAutofit/>
          </a:bodyPr>
          <a:lstStyle/>
          <a:p>
            <a:r>
              <a:rPr lang="en-US" sz="2000" dirty="0"/>
              <a:t>2022/11 update KB5021131 </a:t>
            </a:r>
            <a:r>
              <a:rPr lang="en-US" sz="2000" dirty="0">
                <a:solidFill>
                  <a:schemeClr val="accent1"/>
                </a:solidFill>
              </a:rPr>
              <a:t>default</a:t>
            </a:r>
            <a:r>
              <a:rPr lang="en-US" sz="2000" dirty="0"/>
              <a:t> </a:t>
            </a:r>
            <a:r>
              <a:rPr lang="en-US" sz="2000" dirty="0" err="1"/>
              <a:t>msDS-SupportedEncryptionTypes</a:t>
            </a:r>
            <a:endParaRPr lang="en-US" sz="2000" dirty="0"/>
          </a:p>
        </p:txBody>
      </p:sp>
      <p:sp>
        <p:nvSpPr>
          <p:cNvPr id="7" name="Content Placeholder 6">
            <a:extLst>
              <a:ext uri="{FF2B5EF4-FFF2-40B4-BE49-F238E27FC236}">
                <a16:creationId xmlns:a16="http://schemas.microsoft.com/office/drawing/2014/main" id="{81FD09DF-9879-BB25-A954-11063A469A1C}"/>
              </a:ext>
            </a:extLst>
          </p:cNvPr>
          <p:cNvSpPr>
            <a:spLocks noGrp="1"/>
          </p:cNvSpPr>
          <p:nvPr>
            <p:ph idx="1"/>
          </p:nvPr>
        </p:nvSpPr>
        <p:spPr/>
        <p:txBody>
          <a:bodyPr>
            <a:normAutofit fontScale="92500" lnSpcReduction="10000"/>
          </a:bodyPr>
          <a:lstStyle/>
          <a:p>
            <a:r>
              <a:rPr lang="en-US" dirty="0"/>
              <a:t>HKLM\SYSTEM\</a:t>
            </a:r>
            <a:r>
              <a:rPr lang="en-US" dirty="0" err="1"/>
              <a:t>CurrentControlSet</a:t>
            </a:r>
            <a:r>
              <a:rPr lang="en-US" dirty="0"/>
              <a:t>\Services\KDC</a:t>
            </a:r>
          </a:p>
          <a:p>
            <a:pPr lvl="1"/>
            <a:r>
              <a:rPr lang="en-US" sz="1800" dirty="0" err="1"/>
              <a:t>DefaultDomainSupportedEncTypes</a:t>
            </a:r>
            <a:r>
              <a:rPr lang="en-US" sz="1800" dirty="0"/>
              <a:t> = DWORD = </a:t>
            </a:r>
            <a:r>
              <a:rPr lang="en-US" sz="1800" dirty="0">
                <a:solidFill>
                  <a:schemeClr val="accent1"/>
                </a:solidFill>
              </a:rPr>
              <a:t>default</a:t>
            </a:r>
            <a:r>
              <a:rPr lang="en-US" sz="1800" dirty="0"/>
              <a:t> = 0x27</a:t>
            </a:r>
          </a:p>
          <a:p>
            <a:pPr lvl="2"/>
            <a:r>
              <a:rPr lang="en-US" dirty="0"/>
              <a:t>DES + RC4 + AES256</a:t>
            </a:r>
            <a:r>
              <a:rPr lang="en-US" dirty="0">
                <a:solidFill>
                  <a:schemeClr val="accent1"/>
                </a:solidFill>
              </a:rPr>
              <a:t>-SK</a:t>
            </a:r>
          </a:p>
          <a:p>
            <a:pPr lvl="1"/>
            <a:r>
              <a:rPr lang="en-US" sz="1800" dirty="0" err="1"/>
              <a:t>DefaultDomainSupportedEncTypes</a:t>
            </a:r>
            <a:r>
              <a:rPr lang="en-US" sz="1800" dirty="0"/>
              <a:t> = DWORD = </a:t>
            </a:r>
            <a:r>
              <a:rPr lang="en-US" sz="1800" dirty="0">
                <a:solidFill>
                  <a:schemeClr val="accent1"/>
                </a:solidFill>
              </a:rPr>
              <a:t>pre 2022/11 </a:t>
            </a:r>
            <a:r>
              <a:rPr lang="en-US" sz="1800" dirty="0"/>
              <a:t>= 0x7</a:t>
            </a:r>
          </a:p>
          <a:p>
            <a:endParaRPr lang="en-US" dirty="0"/>
          </a:p>
          <a:p>
            <a:r>
              <a:rPr lang="en-US" dirty="0"/>
              <a:t>without update before 2022/11</a:t>
            </a:r>
          </a:p>
          <a:p>
            <a:pPr lvl="1"/>
            <a:r>
              <a:rPr lang="en-US" dirty="0" err="1"/>
              <a:t>msDS-SupportedEncryptionTypes</a:t>
            </a:r>
            <a:r>
              <a:rPr lang="en-US" dirty="0"/>
              <a:t> = 0 or &lt;NULL&gt;</a:t>
            </a:r>
          </a:p>
          <a:p>
            <a:pPr lvl="1"/>
            <a:r>
              <a:rPr lang="en-US" dirty="0"/>
              <a:t>resulting TGS</a:t>
            </a:r>
          </a:p>
          <a:p>
            <a:pPr lvl="2"/>
            <a:r>
              <a:rPr lang="en-US" dirty="0"/>
              <a:t>SK: RC4_HMAC_MD5</a:t>
            </a:r>
          </a:p>
          <a:p>
            <a:pPr lvl="2"/>
            <a:r>
              <a:rPr lang="en-US" dirty="0"/>
              <a:t>TGS: RC4_MHAC_MD5</a:t>
            </a:r>
          </a:p>
          <a:p>
            <a:endParaRPr lang="en-US" dirty="0"/>
          </a:p>
          <a:p>
            <a:r>
              <a:rPr lang="en-US" dirty="0"/>
              <a:t>with update after 2022/11</a:t>
            </a:r>
          </a:p>
          <a:p>
            <a:pPr lvl="1"/>
            <a:r>
              <a:rPr lang="en-US" dirty="0" err="1"/>
              <a:t>msDS-SupportedEncryptionTypes</a:t>
            </a:r>
            <a:r>
              <a:rPr lang="en-US" dirty="0"/>
              <a:t> = 0 or &lt;NULL&gt;</a:t>
            </a:r>
          </a:p>
          <a:p>
            <a:pPr lvl="1"/>
            <a:r>
              <a:rPr lang="en-US" sz="1800" dirty="0" err="1"/>
              <a:t>DefaultDomainSupportedEncTypes</a:t>
            </a:r>
            <a:r>
              <a:rPr lang="en-US" sz="1800" dirty="0"/>
              <a:t> = &lt;does not exist&gt;</a:t>
            </a:r>
            <a:endParaRPr lang="en-US" dirty="0"/>
          </a:p>
          <a:p>
            <a:pPr lvl="1"/>
            <a:r>
              <a:rPr lang="en-US" dirty="0"/>
              <a:t>resulting TGS</a:t>
            </a:r>
          </a:p>
          <a:p>
            <a:pPr lvl="2"/>
            <a:r>
              <a:rPr lang="en-US" dirty="0"/>
              <a:t>SK: AES256_CTS_HMAC_SHA1_96</a:t>
            </a:r>
          </a:p>
          <a:p>
            <a:pPr lvl="2"/>
            <a:r>
              <a:rPr lang="en-US" dirty="0"/>
              <a:t>TGS: RC4_MHAC_MD5</a:t>
            </a:r>
          </a:p>
          <a:p>
            <a:pPr lvl="1"/>
            <a:endParaRPr lang="en-US" dirty="0"/>
          </a:p>
        </p:txBody>
      </p:sp>
    </p:spTree>
    <p:extLst>
      <p:ext uri="{BB962C8B-B14F-4D97-AF65-F5344CB8AC3E}">
        <p14:creationId xmlns:p14="http://schemas.microsoft.com/office/powerpoint/2010/main" val="34427796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FE43AC-FCC9-4840-B799-0D3051D75D06}"/>
              </a:ext>
            </a:extLst>
          </p:cNvPr>
          <p:cNvSpPr>
            <a:spLocks noGrp="1"/>
          </p:cNvSpPr>
          <p:nvPr>
            <p:ph type="ctrTitle"/>
          </p:nvPr>
        </p:nvSpPr>
        <p:spPr/>
        <p:txBody>
          <a:bodyPr/>
          <a:lstStyle/>
          <a:p>
            <a:r>
              <a:rPr lang="en-US" dirty="0"/>
              <a:t>IIS kernel mode</a:t>
            </a:r>
          </a:p>
        </p:txBody>
      </p:sp>
      <p:sp>
        <p:nvSpPr>
          <p:cNvPr id="5" name="Subtitle 4">
            <a:extLst>
              <a:ext uri="{FF2B5EF4-FFF2-40B4-BE49-F238E27FC236}">
                <a16:creationId xmlns:a16="http://schemas.microsoft.com/office/drawing/2014/main" id="{318DF9F3-5756-4660-AE1A-15D4897DD2B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851518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normAutofit/>
          </a:bodyPr>
          <a:lstStyle/>
          <a:p>
            <a:r>
              <a:rPr lang="en-US" sz="2800" dirty="0"/>
              <a:t>IIS and HTTP.SYS</a:t>
            </a:r>
            <a:endParaRPr lang="cs-CZ" sz="2800" dirty="0"/>
          </a:p>
        </p:txBody>
      </p:sp>
      <p:sp>
        <p:nvSpPr>
          <p:cNvPr id="4" name="Rounded Rectangle 3"/>
          <p:cNvSpPr/>
          <p:nvPr/>
        </p:nvSpPr>
        <p:spPr>
          <a:xfrm>
            <a:off x="522740" y="4517237"/>
            <a:ext cx="8490383" cy="2177295"/>
          </a:xfrm>
          <a:prstGeom prst="roundRect">
            <a:avLst>
              <a:gd name="adj" fmla="val 3178"/>
            </a:avLst>
          </a:prstGeom>
        </p:spPr>
        <p:style>
          <a:lnRef idx="2">
            <a:schemeClr val="accent1"/>
          </a:lnRef>
          <a:fillRef idx="1">
            <a:schemeClr val="lt1"/>
          </a:fillRef>
          <a:effectRef idx="0">
            <a:schemeClr val="accent1"/>
          </a:effectRef>
          <a:fontRef idx="minor">
            <a:schemeClr val="dk1"/>
          </a:fontRef>
        </p:style>
        <p:txBody>
          <a:bodyPr rtlCol="0" anchor="b"/>
          <a:lstStyle/>
          <a:p>
            <a:r>
              <a:rPr lang="en-US" sz="1633" dirty="0"/>
              <a:t>Kernel Mode</a:t>
            </a:r>
            <a:endParaRPr lang="cs-CZ" sz="1633" dirty="0"/>
          </a:p>
        </p:txBody>
      </p:sp>
      <p:sp>
        <p:nvSpPr>
          <p:cNvPr id="5" name="Rounded Rectangle 4"/>
          <p:cNvSpPr/>
          <p:nvPr/>
        </p:nvSpPr>
        <p:spPr>
          <a:xfrm>
            <a:off x="522740" y="1187625"/>
            <a:ext cx="8490383" cy="3221036"/>
          </a:xfrm>
          <a:prstGeom prst="roundRect">
            <a:avLst>
              <a:gd name="adj" fmla="val 2006"/>
            </a:avLst>
          </a:prstGeom>
        </p:spPr>
        <p:style>
          <a:lnRef idx="2">
            <a:schemeClr val="accent1"/>
          </a:lnRef>
          <a:fillRef idx="1">
            <a:schemeClr val="lt1"/>
          </a:fillRef>
          <a:effectRef idx="0">
            <a:schemeClr val="accent1"/>
          </a:effectRef>
          <a:fontRef idx="minor">
            <a:schemeClr val="dk1"/>
          </a:fontRef>
        </p:style>
        <p:txBody>
          <a:bodyPr rtlCol="0" anchor="t"/>
          <a:lstStyle/>
          <a:p>
            <a:r>
              <a:rPr lang="en-US" sz="1633" dirty="0"/>
              <a:t>User Mode</a:t>
            </a:r>
            <a:endParaRPr lang="cs-CZ" sz="1633" dirty="0"/>
          </a:p>
        </p:txBody>
      </p:sp>
      <p:sp>
        <p:nvSpPr>
          <p:cNvPr id="7" name="Rounded Rectangle 6"/>
          <p:cNvSpPr/>
          <p:nvPr/>
        </p:nvSpPr>
        <p:spPr>
          <a:xfrm>
            <a:off x="4762124" y="4952778"/>
            <a:ext cx="2808357" cy="1306213"/>
          </a:xfrm>
          <a:prstGeom prst="roundRect">
            <a:avLst>
              <a:gd name="adj" fmla="val 5922"/>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633" dirty="0"/>
              <a:t>HTTP.SYS</a:t>
            </a:r>
            <a:endParaRPr lang="cs-CZ" sz="1633" dirty="0"/>
          </a:p>
        </p:txBody>
      </p:sp>
      <p:sp>
        <p:nvSpPr>
          <p:cNvPr id="8" name="Rounded Rectangle 7"/>
          <p:cNvSpPr/>
          <p:nvPr/>
        </p:nvSpPr>
        <p:spPr>
          <a:xfrm>
            <a:off x="3691204" y="4952778"/>
            <a:ext cx="977864" cy="1306213"/>
          </a:xfrm>
          <a:prstGeom prst="roundRect">
            <a:avLst>
              <a:gd name="adj" fmla="val 5922"/>
            </a:avLst>
          </a:prstGeom>
        </p:spPr>
        <p:style>
          <a:lnRef idx="2">
            <a:schemeClr val="accent3"/>
          </a:lnRef>
          <a:fillRef idx="1">
            <a:schemeClr val="lt1"/>
          </a:fillRef>
          <a:effectRef idx="0">
            <a:schemeClr val="accent3"/>
          </a:effectRef>
          <a:fontRef idx="minor">
            <a:schemeClr val="dk1"/>
          </a:fontRef>
        </p:style>
        <p:txBody>
          <a:bodyPr vert="vert270" rtlCol="0" anchor="ctr"/>
          <a:lstStyle/>
          <a:p>
            <a:pPr algn="ctr"/>
            <a:r>
              <a:rPr lang="en-US" sz="1633" dirty="0"/>
              <a:t>Certificate</a:t>
            </a:r>
            <a:endParaRPr lang="cs-CZ" sz="1633" dirty="0"/>
          </a:p>
        </p:txBody>
      </p:sp>
      <p:sp>
        <p:nvSpPr>
          <p:cNvPr id="9" name="Rounded Rectangle 8"/>
          <p:cNvSpPr/>
          <p:nvPr/>
        </p:nvSpPr>
        <p:spPr>
          <a:xfrm>
            <a:off x="7698592" y="1861548"/>
            <a:ext cx="977864" cy="2239791"/>
          </a:xfrm>
          <a:prstGeom prst="roundRect">
            <a:avLst>
              <a:gd name="adj" fmla="val 5922"/>
            </a:avLst>
          </a:prstGeom>
        </p:spPr>
        <p:style>
          <a:lnRef idx="2">
            <a:schemeClr val="accent2">
              <a:shade val="50000"/>
            </a:schemeClr>
          </a:lnRef>
          <a:fillRef idx="1">
            <a:schemeClr val="accent2"/>
          </a:fillRef>
          <a:effectRef idx="0">
            <a:schemeClr val="accent2"/>
          </a:effectRef>
          <a:fontRef idx="minor">
            <a:schemeClr val="lt1"/>
          </a:fontRef>
        </p:style>
        <p:txBody>
          <a:bodyPr vert="vert270" rtlCol="0" anchor="ctr"/>
          <a:lstStyle/>
          <a:p>
            <a:pPr algn="ctr"/>
            <a:r>
              <a:rPr lang="en-US" sz="1633" dirty="0"/>
              <a:t>IIS</a:t>
            </a:r>
            <a:endParaRPr lang="cs-CZ" sz="1633" dirty="0"/>
          </a:p>
        </p:txBody>
      </p:sp>
      <p:sp>
        <p:nvSpPr>
          <p:cNvPr id="10" name="Rounded Rectangle 9"/>
          <p:cNvSpPr/>
          <p:nvPr/>
        </p:nvSpPr>
        <p:spPr>
          <a:xfrm>
            <a:off x="6567929" y="1861550"/>
            <a:ext cx="977864" cy="2239791"/>
          </a:xfrm>
          <a:prstGeom prst="roundRect">
            <a:avLst>
              <a:gd name="adj" fmla="val 5922"/>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633" dirty="0"/>
              <a:t>Reporting Services</a:t>
            </a:r>
            <a:endParaRPr lang="cs-CZ" sz="1633" dirty="0"/>
          </a:p>
        </p:txBody>
      </p:sp>
      <p:sp>
        <p:nvSpPr>
          <p:cNvPr id="11" name="Rounded Rectangle 10"/>
          <p:cNvSpPr/>
          <p:nvPr/>
        </p:nvSpPr>
        <p:spPr>
          <a:xfrm>
            <a:off x="4306599" y="1861549"/>
            <a:ext cx="977864" cy="2239791"/>
          </a:xfrm>
          <a:prstGeom prst="roundRect">
            <a:avLst>
              <a:gd name="adj" fmla="val 5922"/>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633" dirty="0"/>
              <a:t>Hyper-V Replication</a:t>
            </a:r>
            <a:endParaRPr lang="cs-CZ" sz="1633" dirty="0"/>
          </a:p>
        </p:txBody>
      </p:sp>
      <p:sp>
        <p:nvSpPr>
          <p:cNvPr id="12" name="Rounded Rectangle 11"/>
          <p:cNvSpPr/>
          <p:nvPr/>
        </p:nvSpPr>
        <p:spPr>
          <a:xfrm>
            <a:off x="3175934" y="1861547"/>
            <a:ext cx="977864" cy="2239791"/>
          </a:xfrm>
          <a:prstGeom prst="roundRect">
            <a:avLst>
              <a:gd name="adj" fmla="val 5922"/>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633" dirty="0"/>
              <a:t>IPHTTPS</a:t>
            </a:r>
            <a:endParaRPr lang="cs-CZ" sz="1633" dirty="0"/>
          </a:p>
        </p:txBody>
      </p:sp>
      <p:sp>
        <p:nvSpPr>
          <p:cNvPr id="13" name="Rounded Rectangle 12"/>
          <p:cNvSpPr/>
          <p:nvPr/>
        </p:nvSpPr>
        <p:spPr>
          <a:xfrm>
            <a:off x="2045269" y="1861546"/>
            <a:ext cx="977864" cy="2239791"/>
          </a:xfrm>
          <a:prstGeom prst="roundRect">
            <a:avLst>
              <a:gd name="adj" fmla="val 5922"/>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633" dirty="0" err="1"/>
              <a:t>WinRM</a:t>
            </a:r>
            <a:endParaRPr lang="cs-CZ" sz="1633" dirty="0"/>
          </a:p>
        </p:txBody>
      </p:sp>
      <p:sp>
        <p:nvSpPr>
          <p:cNvPr id="14" name="Rounded Rectangle 13"/>
          <p:cNvSpPr/>
          <p:nvPr/>
        </p:nvSpPr>
        <p:spPr>
          <a:xfrm>
            <a:off x="914604" y="1861545"/>
            <a:ext cx="977864" cy="2239791"/>
          </a:xfrm>
          <a:prstGeom prst="roundRect">
            <a:avLst>
              <a:gd name="adj" fmla="val 5922"/>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633" dirty="0"/>
              <a:t>SSTP</a:t>
            </a:r>
            <a:endParaRPr lang="cs-CZ" sz="1633" dirty="0"/>
          </a:p>
        </p:txBody>
      </p:sp>
      <p:sp>
        <p:nvSpPr>
          <p:cNvPr id="16" name="Up Arrow 15"/>
          <p:cNvSpPr/>
          <p:nvPr/>
        </p:nvSpPr>
        <p:spPr>
          <a:xfrm rot="1335284">
            <a:off x="7651036" y="3592686"/>
            <a:ext cx="526077" cy="1570944"/>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cs-CZ" sz="1633"/>
          </a:p>
        </p:txBody>
      </p:sp>
      <p:sp>
        <p:nvSpPr>
          <p:cNvPr id="15" name="Rounded Rectangle 10">
            <a:extLst>
              <a:ext uri="{FF2B5EF4-FFF2-40B4-BE49-F238E27FC236}">
                <a16:creationId xmlns:a16="http://schemas.microsoft.com/office/drawing/2014/main" id="{DEE19D61-A0AB-4079-A2E8-47DC9BDCD86A}"/>
              </a:ext>
            </a:extLst>
          </p:cNvPr>
          <p:cNvSpPr/>
          <p:nvPr/>
        </p:nvSpPr>
        <p:spPr>
          <a:xfrm>
            <a:off x="5437264" y="1861545"/>
            <a:ext cx="977864" cy="2239791"/>
          </a:xfrm>
          <a:prstGeom prst="roundRect">
            <a:avLst>
              <a:gd name="adj" fmla="val 5922"/>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633" dirty="0"/>
              <a:t>ADFS</a:t>
            </a:r>
            <a:endParaRPr lang="cs-CZ" sz="1633" dirty="0"/>
          </a:p>
        </p:txBody>
      </p:sp>
      <p:sp>
        <p:nvSpPr>
          <p:cNvPr id="3" name="Star: 5 Points 2">
            <a:extLst>
              <a:ext uri="{FF2B5EF4-FFF2-40B4-BE49-F238E27FC236}">
                <a16:creationId xmlns:a16="http://schemas.microsoft.com/office/drawing/2014/main" id="{37291018-69BF-497B-8FF8-DE43AF33867A}"/>
              </a:ext>
            </a:extLst>
          </p:cNvPr>
          <p:cNvSpPr/>
          <p:nvPr/>
        </p:nvSpPr>
        <p:spPr>
          <a:xfrm>
            <a:off x="6642514" y="4768996"/>
            <a:ext cx="1306766" cy="1306766"/>
          </a:xfrm>
          <a:prstGeom prst="star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http auth</a:t>
            </a:r>
          </a:p>
        </p:txBody>
      </p:sp>
      <p:sp>
        <p:nvSpPr>
          <p:cNvPr id="6" name="Right Arrow 5"/>
          <p:cNvSpPr/>
          <p:nvPr/>
        </p:nvSpPr>
        <p:spPr>
          <a:xfrm>
            <a:off x="217402" y="5377297"/>
            <a:ext cx="3655733" cy="45717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cs-CZ" sz="1633"/>
          </a:p>
        </p:txBody>
      </p:sp>
    </p:spTree>
    <p:extLst>
      <p:ext uri="{BB962C8B-B14F-4D97-AF65-F5344CB8AC3E}">
        <p14:creationId xmlns:p14="http://schemas.microsoft.com/office/powerpoint/2010/main" val="12771230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a:t>
            </a:r>
            <a:r>
              <a:rPr lang="en-US" dirty="0"/>
              <a:t>+ETYPE</a:t>
            </a:r>
            <a:r>
              <a:rPr lang="cs-CZ" dirty="0"/>
              <a:t> muster</a:t>
            </a:r>
            <a:br>
              <a:rPr lang="cs-CZ" dirty="0"/>
            </a:br>
            <a:r>
              <a:rPr lang="cs-CZ" dirty="0"/>
              <a:t>http</a:t>
            </a:r>
            <a:r>
              <a:rPr lang="en-US" dirty="0">
                <a:solidFill>
                  <a:schemeClr val="accent1"/>
                </a:solidFill>
              </a:rPr>
              <a:t>s</a:t>
            </a:r>
            <a:r>
              <a:rPr lang="en-US" dirty="0"/>
              <a:t>://</a:t>
            </a:r>
            <a:r>
              <a:rPr lang="en-US" dirty="0">
                <a:solidFill>
                  <a:schemeClr val="accent1"/>
                </a:solidFill>
              </a:rPr>
              <a:t>canteen.</a:t>
            </a:r>
            <a:r>
              <a:rPr lang="en-US" dirty="0"/>
              <a:t>gopas.</a:t>
            </a:r>
            <a:r>
              <a:rPr lang="en-US" dirty="0">
                <a:solidFill>
                  <a:schemeClr val="accent1"/>
                </a:solidFill>
              </a:rPr>
              <a:t>virtual</a:t>
            </a: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77500" lnSpcReduction="2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a:t>DNS A or </a:t>
            </a:r>
            <a:r>
              <a:rPr lang="en-US" dirty="0"/>
              <a:t>CNAME</a:t>
            </a:r>
          </a:p>
          <a:p>
            <a:pPr lvl="1"/>
            <a:r>
              <a:rPr lang="en-US" dirty="0"/>
              <a:t>A</a:t>
            </a:r>
          </a:p>
          <a:p>
            <a:r>
              <a:rPr lang="en-US" dirty="0"/>
              <a:t>machine</a:t>
            </a:r>
          </a:p>
          <a:p>
            <a:pPr lvl="1"/>
            <a:r>
              <a:rPr lang="en-US" dirty="0"/>
              <a:t>GPS-WEB</a:t>
            </a:r>
          </a:p>
          <a:p>
            <a:r>
              <a:rPr lang="en-US" dirty="0"/>
              <a:t>service account</a:t>
            </a:r>
          </a:p>
          <a:p>
            <a:pPr lvl="1"/>
            <a:r>
              <a:rPr lang="en-US" dirty="0" err="1"/>
              <a:t>gps</a:t>
            </a:r>
            <a:r>
              <a:rPr lang="en-US" dirty="0"/>
              <a:t>\</a:t>
            </a:r>
            <a:r>
              <a:rPr lang="en-US" dirty="0">
                <a:solidFill>
                  <a:schemeClr val="accent1"/>
                </a:solidFill>
              </a:rPr>
              <a:t>svc-</a:t>
            </a:r>
            <a:r>
              <a:rPr lang="en-US" dirty="0" err="1">
                <a:solidFill>
                  <a:schemeClr val="accent1"/>
                </a:solidFill>
              </a:rPr>
              <a:t>iis</a:t>
            </a:r>
            <a:r>
              <a:rPr lang="en-US" dirty="0">
                <a:solidFill>
                  <a:schemeClr val="accent1"/>
                </a:solidFill>
              </a:rPr>
              <a:t>-canteen</a:t>
            </a:r>
          </a:p>
          <a:p>
            <a:r>
              <a:rPr lang="en-US" dirty="0"/>
              <a:t>IIS Kernel Mode Authentication</a:t>
            </a:r>
          </a:p>
          <a:p>
            <a:pPr lvl="1"/>
            <a:r>
              <a:rPr lang="en-US" dirty="0">
                <a:solidFill>
                  <a:schemeClr val="accent1"/>
                </a:solidFill>
              </a:rPr>
              <a:t>yes</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"http/</a:t>
            </a:r>
            <a:r>
              <a:rPr lang="en-US" dirty="0" err="1">
                <a:latin typeface="Courier New" panose="02070309020205020404" pitchFamily="49" charset="0"/>
                <a:cs typeface="Courier New" panose="02070309020205020404" pitchFamily="49" charset="0"/>
              </a:rPr>
              <a:t>canteen.gopas.virtual</a:t>
            </a:r>
            <a:r>
              <a:rPr lang="en-US" dirty="0">
                <a:latin typeface="Courier New" panose="02070309020205020404" pitchFamily="49" charset="0"/>
                <a:cs typeface="Courier New" panose="02070309020205020404" pitchFamily="49" charset="0"/>
              </a:rPr>
              <a:t>"</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"host/</a:t>
            </a:r>
            <a:r>
              <a:rPr lang="en-US" dirty="0" err="1">
                <a:latin typeface="Courier New" panose="02070309020205020404" pitchFamily="49" charset="0"/>
                <a:cs typeface="Courier New" panose="02070309020205020404" pitchFamily="49" charset="0"/>
              </a:rPr>
              <a:t>canteen.gopas.virtual</a:t>
            </a:r>
            <a:r>
              <a:rPr lang="en-US" dirty="0">
                <a:latin typeface="Courier New" panose="02070309020205020404" pitchFamily="49" charset="0"/>
                <a:cs typeface="Courier New" panose="02070309020205020404" pitchFamily="49" charset="0"/>
              </a:rPr>
              <a:t>"</a:t>
            </a:r>
          </a:p>
          <a:p>
            <a:pPr lvl="1"/>
            <a:endParaRPr lang="en-US" dirty="0"/>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"http/</a:t>
            </a:r>
            <a:r>
              <a:rPr lang="en-US" sz="1800" dirty="0" err="1">
                <a:latin typeface="Courier New" panose="02070309020205020404" pitchFamily="49" charset="0"/>
                <a:cs typeface="Courier New" panose="02070309020205020404" pitchFamily="49" charset="0"/>
              </a:rPr>
              <a:t>canteen.gopas.virtual</a:t>
            </a:r>
            <a:r>
              <a:rPr lang="en-US" sz="1800" dirty="0">
                <a:latin typeface="Courier New" panose="02070309020205020404" pitchFamily="49" charset="0"/>
                <a:cs typeface="Courier New" panose="02070309020205020404" pitchFamily="49" charset="0"/>
              </a:rPr>
              <a:t>" </a:t>
            </a:r>
            <a:r>
              <a:rPr lang="en-US" sz="1800" dirty="0" err="1">
                <a:solidFill>
                  <a:schemeClr val="accent1"/>
                </a:solidFill>
                <a:latin typeface="Courier New" panose="02070309020205020404" pitchFamily="49" charset="0"/>
                <a:cs typeface="Courier New" panose="02070309020205020404" pitchFamily="49" charset="0"/>
              </a:rPr>
              <a:t>gps</a:t>
            </a:r>
            <a:r>
              <a:rPr lang="en-US" sz="1800" dirty="0">
                <a:solidFill>
                  <a:schemeClr val="accent1"/>
                </a:solidFill>
                <a:latin typeface="Courier New" panose="02070309020205020404" pitchFamily="49" charset="0"/>
                <a:cs typeface="Courier New" panose="02070309020205020404" pitchFamily="49" charset="0"/>
              </a:rPr>
              <a:t>-web$</a:t>
            </a:r>
          </a:p>
          <a:p>
            <a:pPr marL="0" indent="0">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msDS-SupportedEncryptionTypes</a:t>
            </a:r>
            <a:r>
              <a:rPr lang="en-US" sz="1800" dirty="0">
                <a:latin typeface="Courier New" panose="02070309020205020404" pitchFamily="49" charset="0"/>
                <a:cs typeface="Courier New" panose="02070309020205020404" pitchFamily="49" charset="0"/>
              </a:rPr>
              <a:t> = 24 = 0x18 (AES128+AES256) ]</a:t>
            </a:r>
          </a:p>
        </p:txBody>
      </p:sp>
    </p:spTree>
    <p:extLst>
      <p:ext uri="{BB962C8B-B14F-4D97-AF65-F5344CB8AC3E}">
        <p14:creationId xmlns:p14="http://schemas.microsoft.com/office/powerpoint/2010/main" val="17800417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01A0-7728-84C6-D327-990EF9EA6B0E}"/>
              </a:ext>
            </a:extLst>
          </p:cNvPr>
          <p:cNvSpPr>
            <a:spLocks noGrp="1"/>
          </p:cNvSpPr>
          <p:nvPr>
            <p:ph type="title"/>
          </p:nvPr>
        </p:nvSpPr>
        <p:spPr/>
        <p:txBody>
          <a:bodyPr/>
          <a:lstStyle/>
          <a:p>
            <a:r>
              <a:rPr lang="cs-CZ" dirty="0"/>
              <a:t>SPN</a:t>
            </a:r>
            <a:r>
              <a:rPr lang="en-US" dirty="0"/>
              <a:t>+ETYPE</a:t>
            </a:r>
            <a:r>
              <a:rPr lang="cs-CZ" dirty="0"/>
              <a:t> muster</a:t>
            </a:r>
            <a:br>
              <a:rPr lang="cs-CZ" dirty="0"/>
            </a:br>
            <a:r>
              <a:rPr lang="cs-CZ" dirty="0"/>
              <a:t>http</a:t>
            </a:r>
            <a:r>
              <a:rPr lang="en-US" dirty="0"/>
              <a:t>://</a:t>
            </a:r>
            <a:r>
              <a:rPr lang="en-US" dirty="0" err="1">
                <a:solidFill>
                  <a:schemeClr val="accent1"/>
                </a:solidFill>
              </a:rPr>
              <a:t>research.</a:t>
            </a:r>
            <a:r>
              <a:rPr lang="en-US" dirty="0" err="1"/>
              <a:t>gopas.</a:t>
            </a:r>
            <a:r>
              <a:rPr lang="en-US" dirty="0" err="1">
                <a:solidFill>
                  <a:schemeClr val="accent1"/>
                </a:solidFill>
              </a:rPr>
              <a:t>virtual</a:t>
            </a:r>
            <a:endParaRPr lang="en-US" dirty="0">
              <a:solidFill>
                <a:schemeClr val="accent1"/>
              </a:solidFill>
            </a:endParaRPr>
          </a:p>
        </p:txBody>
      </p:sp>
      <p:sp>
        <p:nvSpPr>
          <p:cNvPr id="4" name="Content Placeholder 3">
            <a:extLst>
              <a:ext uri="{FF2B5EF4-FFF2-40B4-BE49-F238E27FC236}">
                <a16:creationId xmlns:a16="http://schemas.microsoft.com/office/drawing/2014/main" id="{FA6B30E4-C9CE-A07D-FC46-F04E7B76E00B}"/>
              </a:ext>
            </a:extLst>
          </p:cNvPr>
          <p:cNvSpPr>
            <a:spLocks noGrp="1"/>
          </p:cNvSpPr>
          <p:nvPr>
            <p:ph idx="1"/>
          </p:nvPr>
        </p:nvSpPr>
        <p:spPr/>
        <p:txBody>
          <a:bodyPr>
            <a:normAutofit fontScale="70000" lnSpcReduction="20000"/>
          </a:bodyPr>
          <a:lstStyle/>
          <a:p>
            <a:r>
              <a:rPr lang="en-US" dirty="0"/>
              <a:t>does it work?</a:t>
            </a:r>
          </a:p>
          <a:p>
            <a:r>
              <a:rPr lang="en-US" dirty="0"/>
              <a:t>is it SSO already?</a:t>
            </a:r>
          </a:p>
          <a:p>
            <a:pPr lvl="1"/>
            <a:r>
              <a:rPr lang="en-US" dirty="0"/>
              <a:t>local intranet or trusted sites zones</a:t>
            </a:r>
          </a:p>
          <a:p>
            <a:pPr lvl="1"/>
            <a:r>
              <a:rPr lang="en-US" dirty="0" err="1"/>
              <a:t>about:config</a:t>
            </a:r>
            <a:r>
              <a:rPr lang="en-US" dirty="0"/>
              <a:t> -&gt; </a:t>
            </a:r>
            <a:r>
              <a:rPr lang="en-US" dirty="0" err="1"/>
              <a:t>network.negotiate</a:t>
            </a:r>
            <a:r>
              <a:rPr lang="en-US" dirty="0"/>
              <a:t>-auth: trusted-</a:t>
            </a:r>
            <a:r>
              <a:rPr lang="en-US" dirty="0" err="1"/>
              <a:t>uris</a:t>
            </a:r>
            <a:r>
              <a:rPr lang="en-US" dirty="0"/>
              <a:t>, allow-non-</a:t>
            </a:r>
            <a:r>
              <a:rPr lang="en-US" dirty="0" err="1"/>
              <a:t>fqdn</a:t>
            </a:r>
            <a:endParaRPr lang="en-US" dirty="0"/>
          </a:p>
          <a:p>
            <a:r>
              <a:rPr lang="en-US" dirty="0"/>
              <a:t>is it in the local intranet zone?</a:t>
            </a:r>
          </a:p>
          <a:p>
            <a:endParaRPr lang="en-US" dirty="0"/>
          </a:p>
          <a:p>
            <a:r>
              <a:rPr lang="en-US" dirty="0"/>
              <a:t>DNS or CNAME</a:t>
            </a:r>
          </a:p>
          <a:p>
            <a:pPr lvl="1"/>
            <a:r>
              <a:rPr lang="en-US" dirty="0"/>
              <a:t>A</a:t>
            </a:r>
          </a:p>
          <a:p>
            <a:r>
              <a:rPr lang="en-US" dirty="0"/>
              <a:t>machine</a:t>
            </a:r>
          </a:p>
          <a:p>
            <a:pPr lvl="1"/>
            <a:r>
              <a:rPr lang="en-US" dirty="0"/>
              <a:t>GPS-WEB</a:t>
            </a:r>
          </a:p>
          <a:p>
            <a:r>
              <a:rPr lang="en-US" dirty="0"/>
              <a:t>service account</a:t>
            </a:r>
          </a:p>
          <a:p>
            <a:pPr lvl="1"/>
            <a:r>
              <a:rPr lang="en-US" dirty="0" err="1"/>
              <a:t>gps</a:t>
            </a:r>
            <a:r>
              <a:rPr lang="en-US" dirty="0"/>
              <a:t>\</a:t>
            </a:r>
            <a:r>
              <a:rPr lang="en-US" dirty="0">
                <a:solidFill>
                  <a:schemeClr val="accent1"/>
                </a:solidFill>
              </a:rPr>
              <a:t>svc-</a:t>
            </a:r>
            <a:r>
              <a:rPr lang="en-US" dirty="0" err="1">
                <a:solidFill>
                  <a:schemeClr val="accent1"/>
                </a:solidFill>
              </a:rPr>
              <a:t>iis</a:t>
            </a:r>
            <a:r>
              <a:rPr lang="en-US" dirty="0">
                <a:solidFill>
                  <a:schemeClr val="accent1"/>
                </a:solidFill>
              </a:rPr>
              <a:t>-research</a:t>
            </a:r>
          </a:p>
          <a:p>
            <a:r>
              <a:rPr lang="en-US" dirty="0"/>
              <a:t>IIS Kernel Mode Authentication</a:t>
            </a:r>
          </a:p>
          <a:p>
            <a:pPr lvl="1"/>
            <a:r>
              <a:rPr lang="en-US" dirty="0">
                <a:solidFill>
                  <a:schemeClr val="accent1"/>
                </a:solidFill>
              </a:rPr>
              <a:t>yes</a:t>
            </a:r>
          </a:p>
          <a:p>
            <a:r>
              <a:rPr lang="en-US" dirty="0" err="1"/>
              <a:t>useAppPoolCredentials</a:t>
            </a:r>
            <a:endParaRPr lang="en-US" dirty="0"/>
          </a:p>
          <a:p>
            <a:pPr lvl="1"/>
            <a:r>
              <a:rPr lang="en-US" dirty="0">
                <a:solidFill>
                  <a:schemeClr val="accent1"/>
                </a:solidFill>
              </a:rPr>
              <a:t>yes</a:t>
            </a:r>
          </a:p>
          <a:p>
            <a:endParaRPr lang="en-US" dirty="0"/>
          </a:p>
          <a:p>
            <a:r>
              <a:rPr lang="en-US" dirty="0"/>
              <a:t>already an existing SPN?</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"http/</a:t>
            </a:r>
            <a:r>
              <a:rPr lang="en-US" dirty="0" err="1">
                <a:latin typeface="Courier New" panose="02070309020205020404" pitchFamily="49" charset="0"/>
                <a:cs typeface="Courier New" panose="02070309020205020404" pitchFamily="49" charset="0"/>
              </a:rPr>
              <a:t>research.gopas.virtual</a:t>
            </a:r>
            <a:r>
              <a:rPr lang="en-US" dirty="0">
                <a:latin typeface="Courier New" panose="02070309020205020404" pitchFamily="49" charset="0"/>
                <a:cs typeface="Courier New" panose="02070309020205020404" pitchFamily="49" charset="0"/>
              </a:rPr>
              <a:t>"</a:t>
            </a:r>
          </a:p>
          <a:p>
            <a:pPr marL="457200" lvl="1" indent="0">
              <a:buNone/>
            </a:pPr>
            <a:r>
              <a:rPr lang="en-US" dirty="0" err="1">
                <a:latin typeface="Courier New" panose="02070309020205020404" pitchFamily="49" charset="0"/>
                <a:cs typeface="Courier New" panose="02070309020205020404" pitchFamily="49" charset="0"/>
              </a:rPr>
              <a:t>setspn</a:t>
            </a:r>
            <a:r>
              <a:rPr lang="en-US" dirty="0">
                <a:latin typeface="Courier New" panose="02070309020205020404" pitchFamily="49" charset="0"/>
                <a:cs typeface="Courier New" panose="02070309020205020404" pitchFamily="49" charset="0"/>
              </a:rPr>
              <a:t> -q "host/</a:t>
            </a:r>
            <a:r>
              <a:rPr lang="en-US" dirty="0" err="1">
                <a:latin typeface="Courier New" panose="02070309020205020404" pitchFamily="49" charset="0"/>
                <a:cs typeface="Courier New" panose="02070309020205020404" pitchFamily="49" charset="0"/>
              </a:rPr>
              <a:t>research.gopas.virtual</a:t>
            </a:r>
            <a:r>
              <a:rPr lang="en-US" dirty="0">
                <a:latin typeface="Courier New" panose="02070309020205020404" pitchFamily="49" charset="0"/>
                <a:cs typeface="Courier New" panose="02070309020205020404" pitchFamily="49" charset="0"/>
              </a:rPr>
              <a:t>"</a:t>
            </a:r>
          </a:p>
          <a:p>
            <a:pPr lvl="1"/>
            <a:endParaRPr lang="en-US" dirty="0"/>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err="1">
                <a:latin typeface="Courier New" panose="02070309020205020404" pitchFamily="49" charset="0"/>
                <a:cs typeface="Courier New" panose="02070309020205020404" pitchFamily="49" charset="0"/>
              </a:rPr>
              <a:t>setspn</a:t>
            </a:r>
            <a:r>
              <a:rPr lang="en-US" sz="1800" dirty="0">
                <a:latin typeface="Courier New" panose="02070309020205020404" pitchFamily="49" charset="0"/>
                <a:cs typeface="Courier New" panose="02070309020205020404" pitchFamily="49" charset="0"/>
              </a:rPr>
              <a:t> -a "http/</a:t>
            </a:r>
            <a:r>
              <a:rPr lang="en-US" sz="1800" dirty="0" err="1">
                <a:latin typeface="Courier New" panose="02070309020205020404" pitchFamily="49" charset="0"/>
                <a:cs typeface="Courier New" panose="02070309020205020404" pitchFamily="49" charset="0"/>
              </a:rPr>
              <a:t>research.gopas.virtual</a:t>
            </a:r>
            <a:r>
              <a:rPr lang="en-US" sz="1800" dirty="0">
                <a:latin typeface="Courier New" panose="02070309020205020404" pitchFamily="49" charset="0"/>
                <a:cs typeface="Courier New" panose="02070309020205020404" pitchFamily="49" charset="0"/>
              </a:rPr>
              <a:t>" </a:t>
            </a:r>
            <a:r>
              <a:rPr lang="en-US" sz="1800" dirty="0">
                <a:solidFill>
                  <a:schemeClr val="accent1"/>
                </a:solidFill>
                <a:latin typeface="Courier New" panose="02070309020205020404" pitchFamily="49" charset="0"/>
                <a:cs typeface="Courier New" panose="02070309020205020404" pitchFamily="49" charset="0"/>
              </a:rPr>
              <a:t>svc-</a:t>
            </a:r>
            <a:r>
              <a:rPr lang="en-US" sz="1800" dirty="0" err="1">
                <a:solidFill>
                  <a:schemeClr val="accent1"/>
                </a:solidFill>
                <a:latin typeface="Courier New" panose="02070309020205020404" pitchFamily="49" charset="0"/>
                <a:cs typeface="Courier New" panose="02070309020205020404" pitchFamily="49" charset="0"/>
              </a:rPr>
              <a:t>iis</a:t>
            </a:r>
            <a:r>
              <a:rPr lang="en-US" sz="1800" dirty="0">
                <a:solidFill>
                  <a:schemeClr val="accent1"/>
                </a:solidFill>
                <a:latin typeface="Courier New" panose="02070309020205020404" pitchFamily="49" charset="0"/>
                <a:cs typeface="Courier New" panose="02070309020205020404" pitchFamily="49" charset="0"/>
              </a:rPr>
              <a:t>-research</a:t>
            </a:r>
          </a:p>
          <a:p>
            <a:pPr marL="0" indent="0">
              <a:buNone/>
            </a:pPr>
            <a:r>
              <a:rPr lang="en-US" sz="1800" dirty="0" err="1">
                <a:latin typeface="Courier New" panose="02070309020205020404" pitchFamily="49" charset="0"/>
                <a:cs typeface="Courier New" panose="02070309020205020404" pitchFamily="49" charset="0"/>
              </a:rPr>
              <a:t>msDS-SupportedEncryptionTypes</a:t>
            </a:r>
            <a:r>
              <a:rPr lang="en-US" sz="1800" dirty="0">
                <a:latin typeface="Courier New" panose="02070309020205020404" pitchFamily="49" charset="0"/>
                <a:cs typeface="Courier New" panose="02070309020205020404" pitchFamily="49" charset="0"/>
              </a:rPr>
              <a:t> = 24 = 0x18 (AES128+AES256) (+4 = 28 = 0x1C RC4)</a:t>
            </a:r>
          </a:p>
        </p:txBody>
      </p:sp>
    </p:spTree>
    <p:extLst>
      <p:ext uri="{BB962C8B-B14F-4D97-AF65-F5344CB8AC3E}">
        <p14:creationId xmlns:p14="http://schemas.microsoft.com/office/powerpoint/2010/main" val="14533310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B086-058E-46FC-B63D-D74F1045C0A8}"/>
              </a:ext>
            </a:extLst>
          </p:cNvPr>
          <p:cNvSpPr>
            <a:spLocks noGrp="1"/>
          </p:cNvSpPr>
          <p:nvPr>
            <p:ph type="title"/>
          </p:nvPr>
        </p:nvSpPr>
        <p:spPr>
          <a:xfrm>
            <a:off x="457200" y="44624"/>
            <a:ext cx="8229600" cy="782960"/>
          </a:xfrm>
        </p:spPr>
        <p:txBody>
          <a:bodyPr>
            <a:normAutofit/>
          </a:bodyPr>
          <a:lstStyle/>
          <a:p>
            <a:r>
              <a:rPr lang="en-US" sz="2400" dirty="0" err="1"/>
              <a:t>useAppPoolCredentials</a:t>
            </a:r>
            <a:endParaRPr lang="en-US" sz="2400" dirty="0"/>
          </a:p>
        </p:txBody>
      </p:sp>
      <p:sp>
        <p:nvSpPr>
          <p:cNvPr id="9" name="Content Placeholder 8">
            <a:extLst>
              <a:ext uri="{FF2B5EF4-FFF2-40B4-BE49-F238E27FC236}">
                <a16:creationId xmlns:a16="http://schemas.microsoft.com/office/drawing/2014/main" id="{38A25EAE-536F-40C5-AB8F-6B386F33BEFD}"/>
              </a:ext>
            </a:extLst>
          </p:cNvPr>
          <p:cNvSpPr>
            <a:spLocks noGrp="1"/>
          </p:cNvSpPr>
          <p:nvPr>
            <p:ph idx="1"/>
          </p:nvPr>
        </p:nvSpPr>
        <p:spPr>
          <a:xfrm>
            <a:off x="107504" y="4581128"/>
            <a:ext cx="8579296" cy="2014804"/>
          </a:xfrm>
        </p:spPr>
        <p:txBody>
          <a:bodyPr>
            <a:normAutofit/>
          </a:bodyPr>
          <a:lstStyle/>
          <a:p>
            <a:pPr marL="0" indent="0">
              <a:buNone/>
            </a:pPr>
            <a:r>
              <a:rPr lang="en-US" sz="1400" dirty="0">
                <a:latin typeface="Courier New" panose="02070309020205020404" pitchFamily="49" charset="0"/>
                <a:cs typeface="Courier New" panose="02070309020205020404" pitchFamily="49" charset="0"/>
              </a:rPr>
              <a:t>&lt;</a:t>
            </a:r>
            <a:r>
              <a:rPr lang="en-US" sz="1400" dirty="0" err="1">
                <a:latin typeface="Courier New" panose="02070309020205020404" pitchFamily="49" charset="0"/>
                <a:cs typeface="Courier New" panose="02070309020205020404" pitchFamily="49" charset="0"/>
              </a:rPr>
              <a:t>system.webServer</a:t>
            </a:r>
            <a:r>
              <a:rPr lang="en-US" sz="1400" dirty="0">
                <a:latin typeface="Courier New" panose="02070309020205020404" pitchFamily="49" charset="0"/>
                <a:cs typeface="Courier New" panose="02070309020205020404" pitchFamily="49" charset="0"/>
              </a:rPr>
              <a:t>&gt;</a:t>
            </a:r>
          </a:p>
          <a:p>
            <a:pPr marL="0" indent="0">
              <a:buNone/>
            </a:pPr>
            <a:r>
              <a:rPr lang="en-US" sz="1400" dirty="0">
                <a:latin typeface="Courier New" panose="02070309020205020404" pitchFamily="49" charset="0"/>
                <a:cs typeface="Courier New" panose="02070309020205020404" pitchFamily="49" charset="0"/>
              </a:rPr>
              <a:t>  &lt;security&gt;</a:t>
            </a:r>
          </a:p>
          <a:p>
            <a:pPr marL="0" indent="0">
              <a:buNone/>
            </a:pPr>
            <a:r>
              <a:rPr lang="en-US" sz="1400" dirty="0">
                <a:latin typeface="Courier New" panose="02070309020205020404" pitchFamily="49" charset="0"/>
                <a:cs typeface="Courier New" panose="02070309020205020404" pitchFamily="49" charset="0"/>
              </a:rPr>
              <a:t>    &lt;authentication&gt;</a:t>
            </a:r>
          </a:p>
          <a:p>
            <a:pPr marL="0" indent="0">
              <a:buNone/>
            </a:pPr>
            <a:r>
              <a:rPr lang="en-US" sz="1400" dirty="0">
                <a:latin typeface="Courier New" panose="02070309020205020404" pitchFamily="49" charset="0"/>
                <a:cs typeface="Courier New" panose="02070309020205020404" pitchFamily="49" charset="0"/>
              </a:rPr>
              <a:t>      &lt;</a:t>
            </a:r>
            <a:r>
              <a:rPr lang="en-US" sz="1400" dirty="0" err="1">
                <a:latin typeface="Courier New" panose="02070309020205020404" pitchFamily="49" charset="0"/>
                <a:cs typeface="Courier New" panose="02070309020205020404" pitchFamily="49" charset="0"/>
              </a:rPr>
              <a:t>windowsAuthentication</a:t>
            </a:r>
            <a:endParaRPr lang="en-US" sz="1400" dirty="0">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        </a:t>
            </a:r>
            <a:r>
              <a:rPr lang="en-US" sz="1400" dirty="0" err="1">
                <a:solidFill>
                  <a:schemeClr val="tx2"/>
                </a:solidFill>
                <a:latin typeface="Courier New" panose="02070309020205020404" pitchFamily="49" charset="0"/>
                <a:cs typeface="Courier New" panose="02070309020205020404" pitchFamily="49" charset="0"/>
              </a:rPr>
              <a:t>useKernelMode</a:t>
            </a:r>
            <a:r>
              <a:rPr lang="en-US" sz="1400" dirty="0">
                <a:latin typeface="Courier New" panose="02070309020205020404" pitchFamily="49" charset="0"/>
                <a:cs typeface="Courier New" panose="02070309020205020404" pitchFamily="49" charset="0"/>
              </a:rPr>
              <a:t>="true"</a:t>
            </a:r>
          </a:p>
          <a:p>
            <a:pPr marL="0" indent="0">
              <a:buNone/>
            </a:pPr>
            <a:r>
              <a:rPr lang="en-US" sz="1400" dirty="0">
                <a:latin typeface="Courier New" panose="02070309020205020404" pitchFamily="49" charset="0"/>
                <a:cs typeface="Courier New" panose="02070309020205020404" pitchFamily="49" charset="0"/>
              </a:rPr>
              <a:t>        </a:t>
            </a:r>
            <a:r>
              <a:rPr lang="en-US" sz="1400" dirty="0" err="1">
                <a:solidFill>
                  <a:schemeClr val="tx2"/>
                </a:solidFill>
                <a:latin typeface="Courier New" panose="02070309020205020404" pitchFamily="49" charset="0"/>
                <a:cs typeface="Courier New" panose="02070309020205020404" pitchFamily="49" charset="0"/>
              </a:rPr>
              <a:t>useAppPoolCredentials</a:t>
            </a:r>
            <a:r>
              <a:rPr lang="en-US" sz="1400" dirty="0">
                <a:latin typeface="Courier New" panose="02070309020205020404" pitchFamily="49" charset="0"/>
                <a:cs typeface="Courier New" panose="02070309020205020404" pitchFamily="49" charset="0"/>
              </a:rPr>
              <a:t>="true"</a:t>
            </a:r>
          </a:p>
          <a:p>
            <a:pPr marL="0" indent="0">
              <a:buNone/>
            </a:pPr>
            <a:r>
              <a:rPr lang="en-US" sz="1400" dirty="0">
                <a:latin typeface="Courier New" panose="02070309020205020404" pitchFamily="49" charset="0"/>
                <a:cs typeface="Courier New" panose="02070309020205020404" pitchFamily="49" charset="0"/>
              </a:rPr>
              <a:t>      /&gt;</a:t>
            </a:r>
          </a:p>
        </p:txBody>
      </p:sp>
      <p:pic>
        <p:nvPicPr>
          <p:cNvPr id="7" name="Picture 6">
            <a:extLst>
              <a:ext uri="{FF2B5EF4-FFF2-40B4-BE49-F238E27FC236}">
                <a16:creationId xmlns:a16="http://schemas.microsoft.com/office/drawing/2014/main" id="{2EA5D423-3397-44C8-9909-45F2D7965698}"/>
              </a:ext>
            </a:extLst>
          </p:cNvPr>
          <p:cNvPicPr>
            <a:picLocks noChangeAspect="1"/>
          </p:cNvPicPr>
          <p:nvPr/>
        </p:nvPicPr>
        <p:blipFill>
          <a:blip r:embed="rId2"/>
          <a:stretch>
            <a:fillRect/>
          </a:stretch>
        </p:blipFill>
        <p:spPr>
          <a:xfrm>
            <a:off x="0" y="806692"/>
            <a:ext cx="5223578" cy="3645024"/>
          </a:xfrm>
          <a:prstGeom prst="rect">
            <a:avLst/>
          </a:prstGeom>
        </p:spPr>
      </p:pic>
      <p:pic>
        <p:nvPicPr>
          <p:cNvPr id="11" name="Picture 10">
            <a:extLst>
              <a:ext uri="{FF2B5EF4-FFF2-40B4-BE49-F238E27FC236}">
                <a16:creationId xmlns:a16="http://schemas.microsoft.com/office/drawing/2014/main" id="{0368716D-4DF2-414A-826E-2AA2A0AA5401}"/>
              </a:ext>
            </a:extLst>
          </p:cNvPr>
          <p:cNvPicPr>
            <a:picLocks noChangeAspect="1"/>
          </p:cNvPicPr>
          <p:nvPr/>
        </p:nvPicPr>
        <p:blipFill>
          <a:blip r:embed="rId3"/>
          <a:stretch>
            <a:fillRect/>
          </a:stretch>
        </p:blipFill>
        <p:spPr>
          <a:xfrm>
            <a:off x="4047661" y="2780928"/>
            <a:ext cx="5096340" cy="4077072"/>
          </a:xfrm>
          <a:prstGeom prst="rect">
            <a:avLst/>
          </a:prstGeom>
        </p:spPr>
      </p:pic>
    </p:spTree>
    <p:extLst>
      <p:ext uri="{BB962C8B-B14F-4D97-AF65-F5344CB8AC3E}">
        <p14:creationId xmlns:p14="http://schemas.microsoft.com/office/powerpoint/2010/main" val="36223017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FE43AC-FCC9-4840-B799-0D3051D75D06}"/>
              </a:ext>
            </a:extLst>
          </p:cNvPr>
          <p:cNvSpPr>
            <a:spLocks noGrp="1"/>
          </p:cNvSpPr>
          <p:nvPr>
            <p:ph type="ctrTitle"/>
          </p:nvPr>
        </p:nvSpPr>
        <p:spPr/>
        <p:txBody>
          <a:bodyPr/>
          <a:lstStyle/>
          <a:p>
            <a:r>
              <a:rPr lang="en-US" dirty="0"/>
              <a:t>Non-Microsoft services</a:t>
            </a:r>
          </a:p>
        </p:txBody>
      </p:sp>
      <p:sp>
        <p:nvSpPr>
          <p:cNvPr id="5" name="Subtitle 4">
            <a:extLst>
              <a:ext uri="{FF2B5EF4-FFF2-40B4-BE49-F238E27FC236}">
                <a16:creationId xmlns:a16="http://schemas.microsoft.com/office/drawing/2014/main" id="{318DF9F3-5756-4660-AE1A-15D4897DD2B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67190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DB3E79-3BF8-4580-B00C-151005E66F49}"/>
              </a:ext>
            </a:extLst>
          </p:cNvPr>
          <p:cNvSpPr>
            <a:spLocks noGrp="1"/>
          </p:cNvSpPr>
          <p:nvPr>
            <p:ph type="title"/>
          </p:nvPr>
        </p:nvSpPr>
        <p:spPr>
          <a:xfrm>
            <a:off x="457200" y="197768"/>
            <a:ext cx="8229600" cy="782960"/>
          </a:xfrm>
        </p:spPr>
        <p:txBody>
          <a:bodyPr/>
          <a:lstStyle/>
          <a:p>
            <a:r>
              <a:rPr lang="en-US" dirty="0"/>
              <a:t>Service example</a:t>
            </a:r>
          </a:p>
        </p:txBody>
      </p:sp>
      <p:sp>
        <p:nvSpPr>
          <p:cNvPr id="6" name="Rectangle 5">
            <a:extLst>
              <a:ext uri="{FF2B5EF4-FFF2-40B4-BE49-F238E27FC236}">
                <a16:creationId xmlns:a16="http://schemas.microsoft.com/office/drawing/2014/main" id="{6F1EA6A1-1069-4400-B217-B9BDD96FE079}"/>
              </a:ext>
            </a:extLst>
          </p:cNvPr>
          <p:cNvSpPr/>
          <p:nvPr/>
        </p:nvSpPr>
        <p:spPr>
          <a:xfrm>
            <a:off x="7507017" y="1448779"/>
            <a:ext cx="1313453" cy="131345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oracle</a:t>
            </a:r>
          </a:p>
        </p:txBody>
      </p:sp>
      <p:sp>
        <p:nvSpPr>
          <p:cNvPr id="7" name="Arrow: Right 6">
            <a:extLst>
              <a:ext uri="{FF2B5EF4-FFF2-40B4-BE49-F238E27FC236}">
                <a16:creationId xmlns:a16="http://schemas.microsoft.com/office/drawing/2014/main" id="{255A0908-D1E0-4369-B8EF-AE17A7150E91}"/>
              </a:ext>
            </a:extLst>
          </p:cNvPr>
          <p:cNvSpPr/>
          <p:nvPr/>
        </p:nvSpPr>
        <p:spPr>
          <a:xfrm>
            <a:off x="1331639" y="1448779"/>
            <a:ext cx="5976664" cy="1313452"/>
          </a:xfrm>
          <a:prstGeom prst="rightArrow">
            <a:avLst>
              <a:gd name="adj1" fmla="val 78061"/>
              <a:gd name="adj2" fmla="val 3012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DNS? </a:t>
            </a:r>
            <a:r>
              <a:rPr lang="en-US" sz="1400" dirty="0">
                <a:solidFill>
                  <a:schemeClr val="tx2"/>
                </a:solidFill>
              </a:rPr>
              <a:t>or03.gopas.</a:t>
            </a:r>
            <a:r>
              <a:rPr lang="en-US" sz="1400" dirty="0">
                <a:solidFill>
                  <a:schemeClr val="accent1"/>
                </a:solidFill>
              </a:rPr>
              <a:t>cz</a:t>
            </a:r>
          </a:p>
          <a:p>
            <a:pPr algn="ctr"/>
            <a:r>
              <a:rPr lang="en-US" sz="1400" dirty="0">
                <a:solidFill>
                  <a:schemeClr val="tx1"/>
                </a:solidFill>
              </a:rPr>
              <a:t>SPN prefix? </a:t>
            </a:r>
            <a:r>
              <a:rPr lang="en-US" sz="1400" dirty="0">
                <a:solidFill>
                  <a:schemeClr val="accent1"/>
                </a:solidFill>
              </a:rPr>
              <a:t>oracle/ </a:t>
            </a:r>
            <a:r>
              <a:rPr lang="en-US" sz="1400" dirty="0">
                <a:solidFill>
                  <a:schemeClr val="tx1"/>
                </a:solidFill>
              </a:rPr>
              <a:t>or </a:t>
            </a:r>
            <a:r>
              <a:rPr lang="en-US" sz="1400" dirty="0">
                <a:solidFill>
                  <a:schemeClr val="accent1"/>
                </a:solidFill>
              </a:rPr>
              <a:t>http/</a:t>
            </a:r>
          </a:p>
        </p:txBody>
      </p:sp>
      <p:sp>
        <p:nvSpPr>
          <p:cNvPr id="8" name="Rectangle 7">
            <a:extLst>
              <a:ext uri="{FF2B5EF4-FFF2-40B4-BE49-F238E27FC236}">
                <a16:creationId xmlns:a16="http://schemas.microsoft.com/office/drawing/2014/main" id="{8788139B-C385-4ECC-85CA-A03971423D91}"/>
              </a:ext>
            </a:extLst>
          </p:cNvPr>
          <p:cNvSpPr/>
          <p:nvPr/>
        </p:nvSpPr>
        <p:spPr>
          <a:xfrm>
            <a:off x="179512" y="1448779"/>
            <a:ext cx="936103" cy="13134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client</a:t>
            </a:r>
          </a:p>
        </p:txBody>
      </p:sp>
      <p:sp>
        <p:nvSpPr>
          <p:cNvPr id="11" name="Rectangle 10">
            <a:extLst>
              <a:ext uri="{FF2B5EF4-FFF2-40B4-BE49-F238E27FC236}">
                <a16:creationId xmlns:a16="http://schemas.microsoft.com/office/drawing/2014/main" id="{CC6F2743-763B-4E08-A846-CB692F6C8D6F}"/>
              </a:ext>
            </a:extLst>
          </p:cNvPr>
          <p:cNvSpPr/>
          <p:nvPr/>
        </p:nvSpPr>
        <p:spPr>
          <a:xfrm>
            <a:off x="1835696" y="2492896"/>
            <a:ext cx="4824537" cy="88140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b"/>
          <a:lstStyle/>
          <a:p>
            <a:pPr algn="ctr"/>
            <a:r>
              <a:rPr lang="en-US" sz="1400" dirty="0"/>
              <a:t>encrypted with a shared key</a:t>
            </a:r>
          </a:p>
        </p:txBody>
      </p:sp>
      <p:sp>
        <p:nvSpPr>
          <p:cNvPr id="9" name="Rectangle 8">
            <a:extLst>
              <a:ext uri="{FF2B5EF4-FFF2-40B4-BE49-F238E27FC236}">
                <a16:creationId xmlns:a16="http://schemas.microsoft.com/office/drawing/2014/main" id="{9850A120-A6BE-4625-94F3-8DC9CF35196F}"/>
              </a:ext>
            </a:extLst>
          </p:cNvPr>
          <p:cNvSpPr/>
          <p:nvPr/>
        </p:nvSpPr>
        <p:spPr>
          <a:xfrm>
            <a:off x="1979713" y="2654218"/>
            <a:ext cx="864096" cy="382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TGS</a:t>
            </a:r>
          </a:p>
        </p:txBody>
      </p:sp>
      <p:sp>
        <p:nvSpPr>
          <p:cNvPr id="10" name="Rectangle 9">
            <a:extLst>
              <a:ext uri="{FF2B5EF4-FFF2-40B4-BE49-F238E27FC236}">
                <a16:creationId xmlns:a16="http://schemas.microsoft.com/office/drawing/2014/main" id="{A90E4D99-F949-422E-9606-4CD4D4C44441}"/>
              </a:ext>
            </a:extLst>
          </p:cNvPr>
          <p:cNvSpPr/>
          <p:nvPr/>
        </p:nvSpPr>
        <p:spPr>
          <a:xfrm>
            <a:off x="2843807" y="2654218"/>
            <a:ext cx="3507455" cy="3828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accent1"/>
                </a:solidFill>
              </a:rPr>
              <a:t>oracle/</a:t>
            </a:r>
            <a:r>
              <a:rPr lang="en-US" sz="1400" dirty="0"/>
              <a:t>or03.gopas.</a:t>
            </a:r>
            <a:r>
              <a:rPr lang="en-US" sz="1400" dirty="0">
                <a:solidFill>
                  <a:schemeClr val="accent1"/>
                </a:solidFill>
              </a:rPr>
              <a:t>cz</a:t>
            </a:r>
            <a:r>
              <a:rPr lang="en-US" sz="1400" dirty="0"/>
              <a:t>@GOPAS.</a:t>
            </a:r>
            <a:r>
              <a:rPr lang="en-US" sz="1400" dirty="0">
                <a:solidFill>
                  <a:schemeClr val="accent1"/>
                </a:solidFill>
              </a:rPr>
              <a:t>VIRTUAL</a:t>
            </a:r>
          </a:p>
        </p:txBody>
      </p:sp>
      <p:sp>
        <p:nvSpPr>
          <p:cNvPr id="13" name="Rectangle 12">
            <a:extLst>
              <a:ext uri="{FF2B5EF4-FFF2-40B4-BE49-F238E27FC236}">
                <a16:creationId xmlns:a16="http://schemas.microsoft.com/office/drawing/2014/main" id="{53CD598F-3DB6-45EC-A994-4869226F2932}"/>
              </a:ext>
            </a:extLst>
          </p:cNvPr>
          <p:cNvSpPr/>
          <p:nvPr/>
        </p:nvSpPr>
        <p:spPr>
          <a:xfrm>
            <a:off x="8182066" y="836712"/>
            <a:ext cx="782960" cy="78296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shared key</a:t>
            </a:r>
          </a:p>
        </p:txBody>
      </p:sp>
      <p:sp>
        <p:nvSpPr>
          <p:cNvPr id="15" name="Isosceles Triangle 14">
            <a:extLst>
              <a:ext uri="{FF2B5EF4-FFF2-40B4-BE49-F238E27FC236}">
                <a16:creationId xmlns:a16="http://schemas.microsoft.com/office/drawing/2014/main" id="{1B7D0034-2822-41E6-BD8B-724EEF80B89A}"/>
              </a:ext>
            </a:extLst>
          </p:cNvPr>
          <p:cNvSpPr/>
          <p:nvPr/>
        </p:nvSpPr>
        <p:spPr>
          <a:xfrm>
            <a:off x="179512" y="4086844"/>
            <a:ext cx="3312368" cy="2520280"/>
          </a:xfrm>
          <a:prstGeom prst="triangle">
            <a:avLst/>
          </a:prstGeom>
        </p:spPr>
        <p:style>
          <a:lnRef idx="2">
            <a:schemeClr val="accent2"/>
          </a:lnRef>
          <a:fillRef idx="1">
            <a:schemeClr val="lt1"/>
          </a:fillRef>
          <a:effectRef idx="0">
            <a:schemeClr val="accent2"/>
          </a:effectRef>
          <a:fontRef idx="minor">
            <a:schemeClr val="dk1"/>
          </a:fontRef>
        </p:style>
        <p:txBody>
          <a:bodyPr rtlCol="0" anchor="b"/>
          <a:lstStyle/>
          <a:p>
            <a:pPr algn="ctr"/>
            <a:r>
              <a:rPr lang="en-US" sz="1400" dirty="0" err="1"/>
              <a:t>gopas.</a:t>
            </a:r>
            <a:r>
              <a:rPr lang="en-US" sz="1400" dirty="0" err="1">
                <a:solidFill>
                  <a:schemeClr val="accent1"/>
                </a:solidFill>
              </a:rPr>
              <a:t>virtual</a:t>
            </a:r>
            <a:endParaRPr lang="en-US" sz="1400" dirty="0">
              <a:solidFill>
                <a:schemeClr val="accent1"/>
              </a:solidFill>
            </a:endParaRPr>
          </a:p>
        </p:txBody>
      </p:sp>
      <p:sp>
        <p:nvSpPr>
          <p:cNvPr id="2" name="TextBox 1">
            <a:extLst>
              <a:ext uri="{FF2B5EF4-FFF2-40B4-BE49-F238E27FC236}">
                <a16:creationId xmlns:a16="http://schemas.microsoft.com/office/drawing/2014/main" id="{A9F55AA4-7A23-40FE-B9B7-70358E5C5B69}"/>
              </a:ext>
            </a:extLst>
          </p:cNvPr>
          <p:cNvSpPr txBox="1"/>
          <p:nvPr/>
        </p:nvSpPr>
        <p:spPr>
          <a:xfrm>
            <a:off x="6569833" y="3806348"/>
            <a:ext cx="1826141" cy="369332"/>
          </a:xfrm>
          <a:prstGeom prst="rect">
            <a:avLst/>
          </a:prstGeom>
          <a:noFill/>
        </p:spPr>
        <p:txBody>
          <a:bodyPr wrap="none" rtlCol="0">
            <a:spAutoFit/>
          </a:bodyPr>
          <a:lstStyle/>
          <a:p>
            <a:r>
              <a:rPr lang="en-US" dirty="0">
                <a:solidFill>
                  <a:schemeClr val="accent2"/>
                </a:solidFill>
              </a:rPr>
              <a:t>case sensitive?!</a:t>
            </a:r>
          </a:p>
        </p:txBody>
      </p:sp>
    </p:spTree>
    <p:extLst>
      <p:ext uri="{BB962C8B-B14F-4D97-AF65-F5344CB8AC3E}">
        <p14:creationId xmlns:p14="http://schemas.microsoft.com/office/powerpoint/2010/main" val="38010250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DB3E79-3BF8-4580-B00C-151005E66F49}"/>
              </a:ext>
            </a:extLst>
          </p:cNvPr>
          <p:cNvSpPr>
            <a:spLocks noGrp="1"/>
          </p:cNvSpPr>
          <p:nvPr>
            <p:ph type="title"/>
          </p:nvPr>
        </p:nvSpPr>
        <p:spPr>
          <a:xfrm>
            <a:off x="457200" y="197768"/>
            <a:ext cx="8229600" cy="782960"/>
          </a:xfrm>
        </p:spPr>
        <p:txBody>
          <a:bodyPr/>
          <a:lstStyle/>
          <a:p>
            <a:r>
              <a:rPr lang="en-US" dirty="0"/>
              <a:t>Service example</a:t>
            </a:r>
          </a:p>
        </p:txBody>
      </p:sp>
      <p:sp>
        <p:nvSpPr>
          <p:cNvPr id="6" name="Rectangle 5">
            <a:extLst>
              <a:ext uri="{FF2B5EF4-FFF2-40B4-BE49-F238E27FC236}">
                <a16:creationId xmlns:a16="http://schemas.microsoft.com/office/drawing/2014/main" id="{6F1EA6A1-1069-4400-B217-B9BDD96FE079}"/>
              </a:ext>
            </a:extLst>
          </p:cNvPr>
          <p:cNvSpPr/>
          <p:nvPr/>
        </p:nvSpPr>
        <p:spPr>
          <a:xfrm>
            <a:off x="7507017" y="1448779"/>
            <a:ext cx="1313453" cy="131345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oracle</a:t>
            </a:r>
          </a:p>
        </p:txBody>
      </p:sp>
      <p:sp>
        <p:nvSpPr>
          <p:cNvPr id="7" name="Arrow: Right 6">
            <a:extLst>
              <a:ext uri="{FF2B5EF4-FFF2-40B4-BE49-F238E27FC236}">
                <a16:creationId xmlns:a16="http://schemas.microsoft.com/office/drawing/2014/main" id="{255A0908-D1E0-4369-B8EF-AE17A7150E91}"/>
              </a:ext>
            </a:extLst>
          </p:cNvPr>
          <p:cNvSpPr/>
          <p:nvPr/>
        </p:nvSpPr>
        <p:spPr>
          <a:xfrm>
            <a:off x="1331639" y="1448779"/>
            <a:ext cx="5976664" cy="1313452"/>
          </a:xfrm>
          <a:prstGeom prst="rightArrow">
            <a:avLst>
              <a:gd name="adj1" fmla="val 78061"/>
              <a:gd name="adj2" fmla="val 3012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DNS? </a:t>
            </a:r>
            <a:r>
              <a:rPr lang="en-US" sz="1400" dirty="0">
                <a:solidFill>
                  <a:schemeClr val="tx2"/>
                </a:solidFill>
              </a:rPr>
              <a:t>or03.gopas.</a:t>
            </a:r>
            <a:r>
              <a:rPr lang="en-US" sz="1400" dirty="0">
                <a:solidFill>
                  <a:schemeClr val="accent1"/>
                </a:solidFill>
              </a:rPr>
              <a:t>cz</a:t>
            </a:r>
          </a:p>
          <a:p>
            <a:pPr algn="ctr"/>
            <a:r>
              <a:rPr lang="en-US" sz="1400" dirty="0">
                <a:solidFill>
                  <a:schemeClr val="tx1"/>
                </a:solidFill>
              </a:rPr>
              <a:t>SPN prefix? </a:t>
            </a:r>
            <a:r>
              <a:rPr lang="en-US" sz="1400" dirty="0">
                <a:solidFill>
                  <a:schemeClr val="accent1"/>
                </a:solidFill>
              </a:rPr>
              <a:t>oracle/ </a:t>
            </a:r>
            <a:r>
              <a:rPr lang="en-US" sz="1400" dirty="0">
                <a:solidFill>
                  <a:schemeClr val="tx1"/>
                </a:solidFill>
              </a:rPr>
              <a:t>or </a:t>
            </a:r>
            <a:r>
              <a:rPr lang="en-US" sz="1400" dirty="0">
                <a:solidFill>
                  <a:schemeClr val="accent1"/>
                </a:solidFill>
              </a:rPr>
              <a:t>http/</a:t>
            </a:r>
          </a:p>
        </p:txBody>
      </p:sp>
      <p:sp>
        <p:nvSpPr>
          <p:cNvPr id="8" name="Rectangle 7">
            <a:extLst>
              <a:ext uri="{FF2B5EF4-FFF2-40B4-BE49-F238E27FC236}">
                <a16:creationId xmlns:a16="http://schemas.microsoft.com/office/drawing/2014/main" id="{8788139B-C385-4ECC-85CA-A03971423D91}"/>
              </a:ext>
            </a:extLst>
          </p:cNvPr>
          <p:cNvSpPr/>
          <p:nvPr/>
        </p:nvSpPr>
        <p:spPr>
          <a:xfrm>
            <a:off x="179512" y="1448779"/>
            <a:ext cx="936103" cy="13134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client</a:t>
            </a:r>
          </a:p>
        </p:txBody>
      </p:sp>
      <p:sp>
        <p:nvSpPr>
          <p:cNvPr id="13" name="Rectangle 12">
            <a:extLst>
              <a:ext uri="{FF2B5EF4-FFF2-40B4-BE49-F238E27FC236}">
                <a16:creationId xmlns:a16="http://schemas.microsoft.com/office/drawing/2014/main" id="{53CD598F-3DB6-45EC-A994-4869226F2932}"/>
              </a:ext>
            </a:extLst>
          </p:cNvPr>
          <p:cNvSpPr/>
          <p:nvPr/>
        </p:nvSpPr>
        <p:spPr>
          <a:xfrm>
            <a:off x="8182066" y="836712"/>
            <a:ext cx="782960" cy="78296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shared key</a:t>
            </a:r>
          </a:p>
        </p:txBody>
      </p:sp>
      <p:sp>
        <p:nvSpPr>
          <p:cNvPr id="15" name="Isosceles Triangle 14">
            <a:extLst>
              <a:ext uri="{FF2B5EF4-FFF2-40B4-BE49-F238E27FC236}">
                <a16:creationId xmlns:a16="http://schemas.microsoft.com/office/drawing/2014/main" id="{1B7D0034-2822-41E6-BD8B-724EEF80B89A}"/>
              </a:ext>
            </a:extLst>
          </p:cNvPr>
          <p:cNvSpPr/>
          <p:nvPr/>
        </p:nvSpPr>
        <p:spPr>
          <a:xfrm>
            <a:off x="179512" y="4086844"/>
            <a:ext cx="3312368" cy="2520280"/>
          </a:xfrm>
          <a:prstGeom prst="triangle">
            <a:avLst/>
          </a:prstGeom>
        </p:spPr>
        <p:style>
          <a:lnRef idx="2">
            <a:schemeClr val="accent2"/>
          </a:lnRef>
          <a:fillRef idx="1">
            <a:schemeClr val="lt1"/>
          </a:fillRef>
          <a:effectRef idx="0">
            <a:schemeClr val="accent2"/>
          </a:effectRef>
          <a:fontRef idx="minor">
            <a:schemeClr val="dk1"/>
          </a:fontRef>
        </p:style>
        <p:txBody>
          <a:bodyPr rtlCol="0" anchor="b"/>
          <a:lstStyle/>
          <a:p>
            <a:pPr algn="ctr"/>
            <a:r>
              <a:rPr lang="en-US" sz="1400" dirty="0" err="1"/>
              <a:t>gopas.</a:t>
            </a:r>
            <a:r>
              <a:rPr lang="en-US" sz="1400" dirty="0" err="1">
                <a:solidFill>
                  <a:schemeClr val="accent1"/>
                </a:solidFill>
              </a:rPr>
              <a:t>virtual</a:t>
            </a:r>
            <a:endParaRPr lang="en-US" sz="1400" dirty="0">
              <a:solidFill>
                <a:schemeClr val="accent1"/>
              </a:solidFill>
            </a:endParaRPr>
          </a:p>
        </p:txBody>
      </p:sp>
      <p:sp>
        <p:nvSpPr>
          <p:cNvPr id="16" name="Smiley Face 15">
            <a:extLst>
              <a:ext uri="{FF2B5EF4-FFF2-40B4-BE49-F238E27FC236}">
                <a16:creationId xmlns:a16="http://schemas.microsoft.com/office/drawing/2014/main" id="{20DA1B2D-F2C4-490B-A363-5CF0D8ACEFDA}"/>
              </a:ext>
            </a:extLst>
          </p:cNvPr>
          <p:cNvSpPr/>
          <p:nvPr/>
        </p:nvSpPr>
        <p:spPr>
          <a:xfrm>
            <a:off x="457200" y="4786061"/>
            <a:ext cx="864096" cy="864096"/>
          </a:xfrm>
          <a:prstGeom prst="smileyFace">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F8329C6A-7B1B-46E7-B0F4-BDC251A43A68}"/>
              </a:ext>
            </a:extLst>
          </p:cNvPr>
          <p:cNvSpPr/>
          <p:nvPr/>
        </p:nvSpPr>
        <p:spPr>
          <a:xfrm>
            <a:off x="1161559" y="5160268"/>
            <a:ext cx="1183568" cy="3569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password#</a:t>
            </a:r>
          </a:p>
        </p:txBody>
      </p:sp>
      <p:sp>
        <p:nvSpPr>
          <p:cNvPr id="14" name="Rectangle 13">
            <a:extLst>
              <a:ext uri="{FF2B5EF4-FFF2-40B4-BE49-F238E27FC236}">
                <a16:creationId xmlns:a16="http://schemas.microsoft.com/office/drawing/2014/main" id="{4EFA27F0-8F1B-40CF-9552-0B442E525B8E}"/>
              </a:ext>
            </a:extLst>
          </p:cNvPr>
          <p:cNvSpPr/>
          <p:nvPr/>
        </p:nvSpPr>
        <p:spPr>
          <a:xfrm>
            <a:off x="1835696" y="2492896"/>
            <a:ext cx="4824537" cy="88140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b"/>
          <a:lstStyle/>
          <a:p>
            <a:pPr algn="ctr"/>
            <a:r>
              <a:rPr lang="en-US" sz="1400" dirty="0"/>
              <a:t>encrypted with a shared key</a:t>
            </a:r>
          </a:p>
        </p:txBody>
      </p:sp>
      <p:sp>
        <p:nvSpPr>
          <p:cNvPr id="18" name="Rectangle 17">
            <a:extLst>
              <a:ext uri="{FF2B5EF4-FFF2-40B4-BE49-F238E27FC236}">
                <a16:creationId xmlns:a16="http://schemas.microsoft.com/office/drawing/2014/main" id="{01BDDB0A-F3D6-47C9-9ADE-11162C41DC7B}"/>
              </a:ext>
            </a:extLst>
          </p:cNvPr>
          <p:cNvSpPr/>
          <p:nvPr/>
        </p:nvSpPr>
        <p:spPr>
          <a:xfrm>
            <a:off x="1979713" y="2654218"/>
            <a:ext cx="864096" cy="382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TGS</a:t>
            </a:r>
          </a:p>
        </p:txBody>
      </p:sp>
      <p:sp>
        <p:nvSpPr>
          <p:cNvPr id="19" name="Rectangle 18">
            <a:extLst>
              <a:ext uri="{FF2B5EF4-FFF2-40B4-BE49-F238E27FC236}">
                <a16:creationId xmlns:a16="http://schemas.microsoft.com/office/drawing/2014/main" id="{DA4DE5F1-7533-4D4D-B9D9-EDC052CDE4EB}"/>
              </a:ext>
            </a:extLst>
          </p:cNvPr>
          <p:cNvSpPr/>
          <p:nvPr/>
        </p:nvSpPr>
        <p:spPr>
          <a:xfrm>
            <a:off x="2843807" y="2654218"/>
            <a:ext cx="3507455" cy="3828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accent1"/>
                </a:solidFill>
              </a:rPr>
              <a:t>oracle/</a:t>
            </a:r>
            <a:r>
              <a:rPr lang="en-US" sz="1400" dirty="0"/>
              <a:t>or03.gopas.</a:t>
            </a:r>
            <a:r>
              <a:rPr lang="en-US" sz="1400" dirty="0">
                <a:solidFill>
                  <a:schemeClr val="accent1"/>
                </a:solidFill>
              </a:rPr>
              <a:t>cz</a:t>
            </a:r>
            <a:r>
              <a:rPr lang="en-US" sz="1400" dirty="0"/>
              <a:t>@GOPAS.</a:t>
            </a:r>
            <a:r>
              <a:rPr lang="en-US" sz="1400" dirty="0">
                <a:solidFill>
                  <a:schemeClr val="accent1"/>
                </a:solidFill>
              </a:rPr>
              <a:t>VIRTUAL</a:t>
            </a:r>
          </a:p>
        </p:txBody>
      </p:sp>
    </p:spTree>
    <p:extLst>
      <p:ext uri="{BB962C8B-B14F-4D97-AF65-F5344CB8AC3E}">
        <p14:creationId xmlns:p14="http://schemas.microsoft.com/office/powerpoint/2010/main" val="23736549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DB3E79-3BF8-4580-B00C-151005E66F49}"/>
              </a:ext>
            </a:extLst>
          </p:cNvPr>
          <p:cNvSpPr>
            <a:spLocks noGrp="1"/>
          </p:cNvSpPr>
          <p:nvPr>
            <p:ph type="title"/>
          </p:nvPr>
        </p:nvSpPr>
        <p:spPr>
          <a:xfrm>
            <a:off x="457200" y="197768"/>
            <a:ext cx="8229600" cy="782960"/>
          </a:xfrm>
        </p:spPr>
        <p:txBody>
          <a:bodyPr/>
          <a:lstStyle/>
          <a:p>
            <a:r>
              <a:rPr lang="en-US" dirty="0"/>
              <a:t>Service example</a:t>
            </a:r>
          </a:p>
        </p:txBody>
      </p:sp>
      <p:sp>
        <p:nvSpPr>
          <p:cNvPr id="6" name="Rectangle 5">
            <a:extLst>
              <a:ext uri="{FF2B5EF4-FFF2-40B4-BE49-F238E27FC236}">
                <a16:creationId xmlns:a16="http://schemas.microsoft.com/office/drawing/2014/main" id="{6F1EA6A1-1069-4400-B217-B9BDD96FE079}"/>
              </a:ext>
            </a:extLst>
          </p:cNvPr>
          <p:cNvSpPr/>
          <p:nvPr/>
        </p:nvSpPr>
        <p:spPr>
          <a:xfrm>
            <a:off x="7507017" y="1448779"/>
            <a:ext cx="1313453" cy="131345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oracle</a:t>
            </a:r>
          </a:p>
        </p:txBody>
      </p:sp>
      <p:sp>
        <p:nvSpPr>
          <p:cNvPr id="7" name="Arrow: Right 6">
            <a:extLst>
              <a:ext uri="{FF2B5EF4-FFF2-40B4-BE49-F238E27FC236}">
                <a16:creationId xmlns:a16="http://schemas.microsoft.com/office/drawing/2014/main" id="{255A0908-D1E0-4369-B8EF-AE17A7150E91}"/>
              </a:ext>
            </a:extLst>
          </p:cNvPr>
          <p:cNvSpPr/>
          <p:nvPr/>
        </p:nvSpPr>
        <p:spPr>
          <a:xfrm>
            <a:off x="1331639" y="1448779"/>
            <a:ext cx="5976664" cy="1313452"/>
          </a:xfrm>
          <a:prstGeom prst="rightArrow">
            <a:avLst>
              <a:gd name="adj1" fmla="val 78061"/>
              <a:gd name="adj2" fmla="val 3012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DNS? </a:t>
            </a:r>
            <a:r>
              <a:rPr lang="en-US" sz="1400" dirty="0">
                <a:solidFill>
                  <a:schemeClr val="tx2"/>
                </a:solidFill>
              </a:rPr>
              <a:t>or03.gopas.</a:t>
            </a:r>
            <a:r>
              <a:rPr lang="en-US" sz="1400" dirty="0">
                <a:solidFill>
                  <a:schemeClr val="accent1"/>
                </a:solidFill>
              </a:rPr>
              <a:t>cz</a:t>
            </a:r>
          </a:p>
          <a:p>
            <a:pPr algn="ctr"/>
            <a:r>
              <a:rPr lang="en-US" sz="1400" dirty="0">
                <a:solidFill>
                  <a:schemeClr val="tx1"/>
                </a:solidFill>
              </a:rPr>
              <a:t>SPN prefix? </a:t>
            </a:r>
            <a:r>
              <a:rPr lang="en-US" sz="1400" dirty="0">
                <a:solidFill>
                  <a:schemeClr val="accent1"/>
                </a:solidFill>
              </a:rPr>
              <a:t>oracle/ </a:t>
            </a:r>
            <a:r>
              <a:rPr lang="en-US" sz="1400" dirty="0">
                <a:solidFill>
                  <a:schemeClr val="tx1"/>
                </a:solidFill>
              </a:rPr>
              <a:t>or </a:t>
            </a:r>
            <a:r>
              <a:rPr lang="en-US" sz="1400" dirty="0">
                <a:solidFill>
                  <a:schemeClr val="accent1"/>
                </a:solidFill>
              </a:rPr>
              <a:t>http/</a:t>
            </a:r>
          </a:p>
        </p:txBody>
      </p:sp>
      <p:sp>
        <p:nvSpPr>
          <p:cNvPr id="8" name="Rectangle 7">
            <a:extLst>
              <a:ext uri="{FF2B5EF4-FFF2-40B4-BE49-F238E27FC236}">
                <a16:creationId xmlns:a16="http://schemas.microsoft.com/office/drawing/2014/main" id="{8788139B-C385-4ECC-85CA-A03971423D91}"/>
              </a:ext>
            </a:extLst>
          </p:cNvPr>
          <p:cNvSpPr/>
          <p:nvPr/>
        </p:nvSpPr>
        <p:spPr>
          <a:xfrm>
            <a:off x="179512" y="1448779"/>
            <a:ext cx="936103" cy="13134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client</a:t>
            </a:r>
          </a:p>
        </p:txBody>
      </p:sp>
      <p:sp>
        <p:nvSpPr>
          <p:cNvPr id="13" name="Rectangle 12">
            <a:extLst>
              <a:ext uri="{FF2B5EF4-FFF2-40B4-BE49-F238E27FC236}">
                <a16:creationId xmlns:a16="http://schemas.microsoft.com/office/drawing/2014/main" id="{53CD598F-3DB6-45EC-A994-4869226F2932}"/>
              </a:ext>
            </a:extLst>
          </p:cNvPr>
          <p:cNvSpPr/>
          <p:nvPr/>
        </p:nvSpPr>
        <p:spPr>
          <a:xfrm>
            <a:off x="8181528" y="2346886"/>
            <a:ext cx="782960" cy="78296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shared key</a:t>
            </a:r>
          </a:p>
        </p:txBody>
      </p:sp>
      <p:sp>
        <p:nvSpPr>
          <p:cNvPr id="15" name="Isosceles Triangle 14">
            <a:extLst>
              <a:ext uri="{FF2B5EF4-FFF2-40B4-BE49-F238E27FC236}">
                <a16:creationId xmlns:a16="http://schemas.microsoft.com/office/drawing/2014/main" id="{1B7D0034-2822-41E6-BD8B-724EEF80B89A}"/>
              </a:ext>
            </a:extLst>
          </p:cNvPr>
          <p:cNvSpPr/>
          <p:nvPr/>
        </p:nvSpPr>
        <p:spPr>
          <a:xfrm>
            <a:off x="179512" y="4086844"/>
            <a:ext cx="3312368" cy="2520280"/>
          </a:xfrm>
          <a:prstGeom prst="triangle">
            <a:avLst/>
          </a:prstGeom>
        </p:spPr>
        <p:style>
          <a:lnRef idx="2">
            <a:schemeClr val="accent2"/>
          </a:lnRef>
          <a:fillRef idx="1">
            <a:schemeClr val="lt1"/>
          </a:fillRef>
          <a:effectRef idx="0">
            <a:schemeClr val="accent2"/>
          </a:effectRef>
          <a:fontRef idx="minor">
            <a:schemeClr val="dk1"/>
          </a:fontRef>
        </p:style>
        <p:txBody>
          <a:bodyPr rtlCol="0" anchor="b"/>
          <a:lstStyle/>
          <a:p>
            <a:pPr algn="ctr"/>
            <a:r>
              <a:rPr lang="en-US" sz="1400" dirty="0" err="1"/>
              <a:t>gopas.</a:t>
            </a:r>
            <a:r>
              <a:rPr lang="en-US" sz="1400" dirty="0" err="1">
                <a:solidFill>
                  <a:schemeClr val="accent1"/>
                </a:solidFill>
              </a:rPr>
              <a:t>virtual</a:t>
            </a:r>
            <a:endParaRPr lang="en-US" sz="1400" dirty="0">
              <a:solidFill>
                <a:schemeClr val="accent1"/>
              </a:solidFill>
            </a:endParaRPr>
          </a:p>
        </p:txBody>
      </p:sp>
      <p:sp>
        <p:nvSpPr>
          <p:cNvPr id="16" name="Smiley Face 15">
            <a:extLst>
              <a:ext uri="{FF2B5EF4-FFF2-40B4-BE49-F238E27FC236}">
                <a16:creationId xmlns:a16="http://schemas.microsoft.com/office/drawing/2014/main" id="{20DA1B2D-F2C4-490B-A363-5CF0D8ACEFDA}"/>
              </a:ext>
            </a:extLst>
          </p:cNvPr>
          <p:cNvSpPr/>
          <p:nvPr/>
        </p:nvSpPr>
        <p:spPr>
          <a:xfrm>
            <a:off x="457200" y="4786061"/>
            <a:ext cx="864096" cy="864096"/>
          </a:xfrm>
          <a:prstGeom prst="smileyFace">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F8329C6A-7B1B-46E7-B0F4-BDC251A43A68}"/>
              </a:ext>
            </a:extLst>
          </p:cNvPr>
          <p:cNvSpPr/>
          <p:nvPr/>
        </p:nvSpPr>
        <p:spPr>
          <a:xfrm>
            <a:off x="1161559" y="5160268"/>
            <a:ext cx="1183568" cy="3569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password#</a:t>
            </a:r>
          </a:p>
        </p:txBody>
      </p:sp>
      <p:sp>
        <p:nvSpPr>
          <p:cNvPr id="2" name="Arrow: Right 1">
            <a:extLst>
              <a:ext uri="{FF2B5EF4-FFF2-40B4-BE49-F238E27FC236}">
                <a16:creationId xmlns:a16="http://schemas.microsoft.com/office/drawing/2014/main" id="{1FEFFE9A-F5E5-4C39-AA47-2FCD0858B192}"/>
              </a:ext>
            </a:extLst>
          </p:cNvPr>
          <p:cNvSpPr/>
          <p:nvPr/>
        </p:nvSpPr>
        <p:spPr>
          <a:xfrm rot="20700000">
            <a:off x="1973110" y="3911775"/>
            <a:ext cx="6365886" cy="432048"/>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dirty="0" err="1"/>
              <a:t>keytab</a:t>
            </a:r>
            <a:endParaRPr lang="en-US" sz="1200" dirty="0"/>
          </a:p>
        </p:txBody>
      </p:sp>
      <p:sp>
        <p:nvSpPr>
          <p:cNvPr id="14" name="Rectangle 13">
            <a:extLst>
              <a:ext uri="{FF2B5EF4-FFF2-40B4-BE49-F238E27FC236}">
                <a16:creationId xmlns:a16="http://schemas.microsoft.com/office/drawing/2014/main" id="{CFF7030E-C87A-4CE9-A392-5F7F34DDAE18}"/>
              </a:ext>
            </a:extLst>
          </p:cNvPr>
          <p:cNvSpPr/>
          <p:nvPr/>
        </p:nvSpPr>
        <p:spPr>
          <a:xfrm>
            <a:off x="1835696" y="2492896"/>
            <a:ext cx="4824537" cy="88140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b"/>
          <a:lstStyle/>
          <a:p>
            <a:pPr algn="ctr"/>
            <a:r>
              <a:rPr lang="en-US" sz="1400" dirty="0"/>
              <a:t>encrypted with a shared key</a:t>
            </a:r>
          </a:p>
        </p:txBody>
      </p:sp>
      <p:sp>
        <p:nvSpPr>
          <p:cNvPr id="18" name="Rectangle 17">
            <a:extLst>
              <a:ext uri="{FF2B5EF4-FFF2-40B4-BE49-F238E27FC236}">
                <a16:creationId xmlns:a16="http://schemas.microsoft.com/office/drawing/2014/main" id="{0AD76BD9-299D-4329-958E-7BB9A2BDECAF}"/>
              </a:ext>
            </a:extLst>
          </p:cNvPr>
          <p:cNvSpPr/>
          <p:nvPr/>
        </p:nvSpPr>
        <p:spPr>
          <a:xfrm>
            <a:off x="1979713" y="2654218"/>
            <a:ext cx="864096" cy="382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TGS</a:t>
            </a:r>
          </a:p>
        </p:txBody>
      </p:sp>
      <p:sp>
        <p:nvSpPr>
          <p:cNvPr id="19" name="Rectangle 18">
            <a:extLst>
              <a:ext uri="{FF2B5EF4-FFF2-40B4-BE49-F238E27FC236}">
                <a16:creationId xmlns:a16="http://schemas.microsoft.com/office/drawing/2014/main" id="{7B1E638C-D573-4FE1-A7CF-F537F803F057}"/>
              </a:ext>
            </a:extLst>
          </p:cNvPr>
          <p:cNvSpPr/>
          <p:nvPr/>
        </p:nvSpPr>
        <p:spPr>
          <a:xfrm>
            <a:off x="2843807" y="2654218"/>
            <a:ext cx="3507455" cy="3828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schemeClr val="accent1"/>
                </a:solidFill>
              </a:rPr>
              <a:t>oracle/</a:t>
            </a:r>
            <a:r>
              <a:rPr lang="en-US" sz="1400" dirty="0"/>
              <a:t>or03.gopas.</a:t>
            </a:r>
            <a:r>
              <a:rPr lang="en-US" sz="1400" dirty="0">
                <a:solidFill>
                  <a:schemeClr val="accent1"/>
                </a:solidFill>
              </a:rPr>
              <a:t>cz</a:t>
            </a:r>
            <a:r>
              <a:rPr lang="en-US" sz="1400" dirty="0"/>
              <a:t>@GOPAS.</a:t>
            </a:r>
            <a:r>
              <a:rPr lang="en-US" sz="1400" dirty="0">
                <a:solidFill>
                  <a:schemeClr val="accent1"/>
                </a:solidFill>
              </a:rPr>
              <a:t>VIRTUAL</a:t>
            </a:r>
          </a:p>
        </p:txBody>
      </p:sp>
    </p:spTree>
    <p:extLst>
      <p:ext uri="{BB962C8B-B14F-4D97-AF65-F5344CB8AC3E}">
        <p14:creationId xmlns:p14="http://schemas.microsoft.com/office/powerpoint/2010/main" val="14833703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022C6A-69EB-4F72-818F-3910A19BF558}"/>
              </a:ext>
            </a:extLst>
          </p:cNvPr>
          <p:cNvSpPr>
            <a:spLocks noGrp="1"/>
          </p:cNvSpPr>
          <p:nvPr>
            <p:ph type="title"/>
          </p:nvPr>
        </p:nvSpPr>
        <p:spPr>
          <a:xfrm>
            <a:off x="457200" y="44624"/>
            <a:ext cx="8229600" cy="782960"/>
          </a:xfrm>
        </p:spPr>
        <p:txBody>
          <a:bodyPr>
            <a:normAutofit/>
          </a:bodyPr>
          <a:lstStyle/>
          <a:p>
            <a:r>
              <a:rPr lang="en-US" sz="2400" dirty="0"/>
              <a:t>KTPASS + </a:t>
            </a:r>
            <a:r>
              <a:rPr lang="en-US" sz="2400" dirty="0" err="1"/>
              <a:t>keytab</a:t>
            </a:r>
            <a:r>
              <a:rPr lang="en-US" sz="2400" dirty="0"/>
              <a:t> export</a:t>
            </a:r>
          </a:p>
        </p:txBody>
      </p:sp>
      <p:pic>
        <p:nvPicPr>
          <p:cNvPr id="7" name="Picture 6">
            <a:extLst>
              <a:ext uri="{FF2B5EF4-FFF2-40B4-BE49-F238E27FC236}">
                <a16:creationId xmlns:a16="http://schemas.microsoft.com/office/drawing/2014/main" id="{30221749-20E8-46EF-8769-7E3AAB064C6D}"/>
              </a:ext>
            </a:extLst>
          </p:cNvPr>
          <p:cNvPicPr>
            <a:picLocks noChangeAspect="1"/>
          </p:cNvPicPr>
          <p:nvPr/>
        </p:nvPicPr>
        <p:blipFill>
          <a:blip r:embed="rId2"/>
          <a:stretch>
            <a:fillRect/>
          </a:stretch>
        </p:blipFill>
        <p:spPr>
          <a:xfrm>
            <a:off x="0" y="836712"/>
            <a:ext cx="9144000" cy="2884206"/>
          </a:xfrm>
          <a:prstGeom prst="rect">
            <a:avLst/>
          </a:prstGeom>
        </p:spPr>
      </p:pic>
      <p:pic>
        <p:nvPicPr>
          <p:cNvPr id="9" name="Picture 8">
            <a:extLst>
              <a:ext uri="{FF2B5EF4-FFF2-40B4-BE49-F238E27FC236}">
                <a16:creationId xmlns:a16="http://schemas.microsoft.com/office/drawing/2014/main" id="{756399DC-9D49-4E9C-A67B-0C9CF0DEC464}"/>
              </a:ext>
            </a:extLst>
          </p:cNvPr>
          <p:cNvPicPr>
            <a:picLocks noChangeAspect="1"/>
          </p:cNvPicPr>
          <p:nvPr/>
        </p:nvPicPr>
        <p:blipFill>
          <a:blip r:embed="rId3"/>
          <a:stretch>
            <a:fillRect/>
          </a:stretch>
        </p:blipFill>
        <p:spPr>
          <a:xfrm>
            <a:off x="389039" y="2420888"/>
            <a:ext cx="5645986" cy="4437113"/>
          </a:xfrm>
          <a:prstGeom prst="rect">
            <a:avLst/>
          </a:prstGeom>
        </p:spPr>
      </p:pic>
    </p:spTree>
    <p:extLst>
      <p:ext uri="{BB962C8B-B14F-4D97-AF65-F5344CB8AC3E}">
        <p14:creationId xmlns:p14="http://schemas.microsoft.com/office/powerpoint/2010/main" val="5718017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0B5357C-1851-48E4-A687-3967F9B7B19B}"/>
              </a:ext>
            </a:extLst>
          </p:cNvPr>
          <p:cNvPicPr>
            <a:picLocks noChangeAspect="1"/>
          </p:cNvPicPr>
          <p:nvPr/>
        </p:nvPicPr>
        <p:blipFill>
          <a:blip r:embed="rId2"/>
          <a:stretch>
            <a:fillRect/>
          </a:stretch>
        </p:blipFill>
        <p:spPr>
          <a:xfrm>
            <a:off x="6557" y="3212976"/>
            <a:ext cx="5078105" cy="3312368"/>
          </a:xfrm>
          <a:prstGeom prst="rect">
            <a:avLst/>
          </a:prstGeom>
        </p:spPr>
      </p:pic>
      <p:pic>
        <p:nvPicPr>
          <p:cNvPr id="10" name="Picture 9">
            <a:extLst>
              <a:ext uri="{FF2B5EF4-FFF2-40B4-BE49-F238E27FC236}">
                <a16:creationId xmlns:a16="http://schemas.microsoft.com/office/drawing/2014/main" id="{16FEDE70-19FA-49BF-9D5C-FCE795F2D3A9}"/>
              </a:ext>
            </a:extLst>
          </p:cNvPr>
          <p:cNvPicPr>
            <a:picLocks noChangeAspect="1"/>
          </p:cNvPicPr>
          <p:nvPr/>
        </p:nvPicPr>
        <p:blipFill>
          <a:blip r:embed="rId3"/>
          <a:stretch>
            <a:fillRect/>
          </a:stretch>
        </p:blipFill>
        <p:spPr>
          <a:xfrm>
            <a:off x="3851920" y="2392077"/>
            <a:ext cx="5289611" cy="4465924"/>
          </a:xfrm>
          <a:prstGeom prst="rect">
            <a:avLst/>
          </a:prstGeom>
        </p:spPr>
      </p:pic>
      <p:sp>
        <p:nvSpPr>
          <p:cNvPr id="4" name="Title 3">
            <a:extLst>
              <a:ext uri="{FF2B5EF4-FFF2-40B4-BE49-F238E27FC236}">
                <a16:creationId xmlns:a16="http://schemas.microsoft.com/office/drawing/2014/main" id="{28022C6A-69EB-4F72-818F-3910A19BF558}"/>
              </a:ext>
            </a:extLst>
          </p:cNvPr>
          <p:cNvSpPr>
            <a:spLocks noGrp="1"/>
          </p:cNvSpPr>
          <p:nvPr>
            <p:ph type="title"/>
          </p:nvPr>
        </p:nvSpPr>
        <p:spPr>
          <a:xfrm>
            <a:off x="457200" y="44624"/>
            <a:ext cx="8229600" cy="782960"/>
          </a:xfrm>
        </p:spPr>
        <p:txBody>
          <a:bodyPr>
            <a:normAutofit/>
          </a:bodyPr>
          <a:lstStyle/>
          <a:p>
            <a:r>
              <a:rPr lang="en-US" sz="2400" dirty="0"/>
              <a:t>KTPASS + </a:t>
            </a:r>
            <a:r>
              <a:rPr lang="en-US" sz="2400" dirty="0" err="1"/>
              <a:t>keytab</a:t>
            </a:r>
            <a:r>
              <a:rPr lang="en-US" sz="2400" dirty="0"/>
              <a:t> export (case sensitivity?)</a:t>
            </a:r>
          </a:p>
        </p:txBody>
      </p:sp>
      <p:pic>
        <p:nvPicPr>
          <p:cNvPr id="12" name="Picture 11">
            <a:extLst>
              <a:ext uri="{FF2B5EF4-FFF2-40B4-BE49-F238E27FC236}">
                <a16:creationId xmlns:a16="http://schemas.microsoft.com/office/drawing/2014/main" id="{D30DE534-A14B-45BB-B61B-655852A4DFA7}"/>
              </a:ext>
            </a:extLst>
          </p:cNvPr>
          <p:cNvPicPr>
            <a:picLocks noChangeAspect="1"/>
          </p:cNvPicPr>
          <p:nvPr/>
        </p:nvPicPr>
        <p:blipFill>
          <a:blip r:embed="rId4"/>
          <a:stretch>
            <a:fillRect/>
          </a:stretch>
        </p:blipFill>
        <p:spPr>
          <a:xfrm>
            <a:off x="0" y="0"/>
            <a:ext cx="9137443" cy="2958479"/>
          </a:xfrm>
          <a:prstGeom prst="rect">
            <a:avLst/>
          </a:prstGeom>
        </p:spPr>
      </p:pic>
    </p:spTree>
    <p:extLst>
      <p:ext uri="{BB962C8B-B14F-4D97-AF65-F5344CB8AC3E}">
        <p14:creationId xmlns:p14="http://schemas.microsoft.com/office/powerpoint/2010/main" val="7695861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45939-43F4-4C5C-B98F-72B131247E39}"/>
              </a:ext>
            </a:extLst>
          </p:cNvPr>
          <p:cNvSpPr>
            <a:spLocks noGrp="1"/>
          </p:cNvSpPr>
          <p:nvPr>
            <p:ph type="title"/>
          </p:nvPr>
        </p:nvSpPr>
        <p:spPr/>
        <p:txBody>
          <a:bodyPr/>
          <a:lstStyle/>
          <a:p>
            <a:r>
              <a:rPr lang="en-US" dirty="0"/>
              <a:t>KTPASS notes</a:t>
            </a:r>
          </a:p>
        </p:txBody>
      </p:sp>
      <p:sp>
        <p:nvSpPr>
          <p:cNvPr id="3" name="Content Placeholder 2">
            <a:extLst>
              <a:ext uri="{FF2B5EF4-FFF2-40B4-BE49-F238E27FC236}">
                <a16:creationId xmlns:a16="http://schemas.microsoft.com/office/drawing/2014/main" id="{F8E30560-118C-4FF2-A881-4F8F4E1A63FA}"/>
              </a:ext>
            </a:extLst>
          </p:cNvPr>
          <p:cNvSpPr>
            <a:spLocks noGrp="1"/>
          </p:cNvSpPr>
          <p:nvPr>
            <p:ph idx="1"/>
          </p:nvPr>
        </p:nvSpPr>
        <p:spPr/>
        <p:txBody>
          <a:bodyPr>
            <a:normAutofit/>
          </a:bodyPr>
          <a:lstStyle/>
          <a:p>
            <a:pPr marL="0" indent="0">
              <a:buNone/>
            </a:pPr>
            <a:r>
              <a:rPr lang="en-US" sz="1800" dirty="0">
                <a:latin typeface="Courier New" panose="02070309020205020404" pitchFamily="49" charset="0"/>
                <a:cs typeface="Courier New" panose="02070309020205020404" pitchFamily="49" charset="0"/>
              </a:rPr>
              <a:t>-crypt all</a:t>
            </a:r>
          </a:p>
          <a:p>
            <a:pPr marL="0" indent="0">
              <a:buNone/>
            </a:pP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kvno</a:t>
            </a:r>
            <a:r>
              <a:rPr lang="en-US" sz="1800" dirty="0">
                <a:latin typeface="Courier New" panose="02070309020205020404" pitchFamily="49" charset="0"/>
                <a:cs typeface="Courier New" panose="02070309020205020404" pitchFamily="49" charset="0"/>
              </a:rPr>
              <a:t> 22</a:t>
            </a:r>
          </a:p>
          <a:p>
            <a:pPr marL="0" indent="0">
              <a:buNone/>
            </a:pP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rndPass</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minPass</a:t>
            </a:r>
            <a:r>
              <a:rPr lang="en-US" sz="1800" dirty="0">
                <a:latin typeface="Courier New" panose="02070309020205020404" pitchFamily="49" charset="0"/>
                <a:cs typeface="Courier New" panose="02070309020205020404" pitchFamily="49" charset="0"/>
              </a:rPr>
              <a:t> 20 –</a:t>
            </a:r>
            <a:r>
              <a:rPr lang="en-US" sz="1800" dirty="0" err="1">
                <a:latin typeface="Courier New" panose="02070309020205020404" pitchFamily="49" charset="0"/>
                <a:cs typeface="Courier New" panose="02070309020205020404" pitchFamily="49" charset="0"/>
              </a:rPr>
              <a:t>maxPass</a:t>
            </a:r>
            <a:r>
              <a:rPr lang="en-US" sz="1800" dirty="0">
                <a:latin typeface="Courier New" panose="02070309020205020404" pitchFamily="49" charset="0"/>
                <a:cs typeface="Courier New" panose="02070309020205020404" pitchFamily="49" charset="0"/>
              </a:rPr>
              <a:t> 40</a:t>
            </a:r>
          </a:p>
        </p:txBody>
      </p:sp>
      <p:pic>
        <p:nvPicPr>
          <p:cNvPr id="5" name="Picture 4">
            <a:extLst>
              <a:ext uri="{FF2B5EF4-FFF2-40B4-BE49-F238E27FC236}">
                <a16:creationId xmlns:a16="http://schemas.microsoft.com/office/drawing/2014/main" id="{6ED7C549-B5BA-4434-8243-DFFD595359FB}"/>
              </a:ext>
            </a:extLst>
          </p:cNvPr>
          <p:cNvPicPr>
            <a:picLocks noChangeAspect="1"/>
          </p:cNvPicPr>
          <p:nvPr/>
        </p:nvPicPr>
        <p:blipFill>
          <a:blip r:embed="rId2"/>
          <a:stretch>
            <a:fillRect/>
          </a:stretch>
        </p:blipFill>
        <p:spPr>
          <a:xfrm>
            <a:off x="1" y="2852936"/>
            <a:ext cx="9144000" cy="3171934"/>
          </a:xfrm>
          <a:prstGeom prst="rect">
            <a:avLst/>
          </a:prstGeom>
        </p:spPr>
      </p:pic>
    </p:spTree>
    <p:extLst>
      <p:ext uri="{BB962C8B-B14F-4D97-AF65-F5344CB8AC3E}">
        <p14:creationId xmlns:p14="http://schemas.microsoft.com/office/powerpoint/2010/main" val="1738020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840B-668E-4441-AFFD-5C6D093C8C3E}"/>
              </a:ext>
            </a:extLst>
          </p:cNvPr>
          <p:cNvSpPr>
            <a:spLocks noGrp="1"/>
          </p:cNvSpPr>
          <p:nvPr>
            <p:ph type="title"/>
          </p:nvPr>
        </p:nvSpPr>
        <p:spPr/>
        <p:txBody>
          <a:bodyPr>
            <a:normAutofit fontScale="90000"/>
          </a:bodyPr>
          <a:lstStyle/>
          <a:p>
            <a:r>
              <a:rPr lang="en-US" dirty="0"/>
              <a:t>KVNO (key version number) both TGT and TGS</a:t>
            </a:r>
          </a:p>
        </p:txBody>
      </p:sp>
      <p:pic>
        <p:nvPicPr>
          <p:cNvPr id="5" name="Picture 4">
            <a:extLst>
              <a:ext uri="{FF2B5EF4-FFF2-40B4-BE49-F238E27FC236}">
                <a16:creationId xmlns:a16="http://schemas.microsoft.com/office/drawing/2014/main" id="{CEAE2AB4-8416-4E23-9A03-9515FBC31E39}"/>
              </a:ext>
            </a:extLst>
          </p:cNvPr>
          <p:cNvPicPr>
            <a:picLocks noChangeAspect="1"/>
          </p:cNvPicPr>
          <p:nvPr/>
        </p:nvPicPr>
        <p:blipFill>
          <a:blip r:embed="rId2"/>
          <a:stretch>
            <a:fillRect/>
          </a:stretch>
        </p:blipFill>
        <p:spPr>
          <a:xfrm>
            <a:off x="0" y="1340768"/>
            <a:ext cx="8316924" cy="3024336"/>
          </a:xfrm>
          <a:prstGeom prst="rect">
            <a:avLst/>
          </a:prstGeom>
        </p:spPr>
      </p:pic>
      <p:sp>
        <p:nvSpPr>
          <p:cNvPr id="6" name="TextBox 5">
            <a:extLst>
              <a:ext uri="{FF2B5EF4-FFF2-40B4-BE49-F238E27FC236}">
                <a16:creationId xmlns:a16="http://schemas.microsoft.com/office/drawing/2014/main" id="{2C20F0EE-8801-4592-8B03-68907A7D262C}"/>
              </a:ext>
            </a:extLst>
          </p:cNvPr>
          <p:cNvSpPr txBox="1"/>
          <p:nvPr/>
        </p:nvSpPr>
        <p:spPr>
          <a:xfrm>
            <a:off x="107504" y="4964351"/>
            <a:ext cx="4320413" cy="646331"/>
          </a:xfrm>
          <a:prstGeom prst="rect">
            <a:avLst/>
          </a:prstGeom>
          <a:noFill/>
        </p:spPr>
        <p:txBody>
          <a:bodyPr wrap="none" rtlCol="0">
            <a:spAutoFit/>
          </a:bodyPr>
          <a:lstStyle/>
          <a:p>
            <a:r>
              <a:rPr lang="en-US" dirty="0" err="1">
                <a:latin typeface="Courier New" panose="02070309020205020404" pitchFamily="49" charset="0"/>
                <a:cs typeface="Courier New" panose="02070309020205020404" pitchFamily="49" charset="0"/>
              </a:rPr>
              <a:t>repadmin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showobjmeta</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unicodePwd</a:t>
            </a:r>
            <a:r>
              <a:rPr lang="en-US" dirty="0">
                <a:latin typeface="Courier New" panose="02070309020205020404" pitchFamily="49" charset="0"/>
                <a:cs typeface="Courier New" panose="02070309020205020404" pitchFamily="49" charset="0"/>
              </a:rPr>
              <a:t> - attribute version</a:t>
            </a:r>
          </a:p>
        </p:txBody>
      </p:sp>
      <p:pic>
        <p:nvPicPr>
          <p:cNvPr id="8" name="Picture 7">
            <a:extLst>
              <a:ext uri="{FF2B5EF4-FFF2-40B4-BE49-F238E27FC236}">
                <a16:creationId xmlns:a16="http://schemas.microsoft.com/office/drawing/2014/main" id="{3F7B940C-3715-4EC0-B0B6-F8CC59187CEA}"/>
              </a:ext>
            </a:extLst>
          </p:cNvPr>
          <p:cNvPicPr>
            <a:picLocks noChangeAspect="1"/>
          </p:cNvPicPr>
          <p:nvPr/>
        </p:nvPicPr>
        <p:blipFill>
          <a:blip r:embed="rId3"/>
          <a:stretch>
            <a:fillRect/>
          </a:stretch>
        </p:blipFill>
        <p:spPr>
          <a:xfrm>
            <a:off x="4475933" y="3717033"/>
            <a:ext cx="4668068" cy="3140968"/>
          </a:xfrm>
          <a:prstGeom prst="rect">
            <a:avLst/>
          </a:prstGeom>
        </p:spPr>
      </p:pic>
    </p:spTree>
    <p:extLst>
      <p:ext uri="{BB962C8B-B14F-4D97-AF65-F5344CB8AC3E}">
        <p14:creationId xmlns:p14="http://schemas.microsoft.com/office/powerpoint/2010/main" val="24742045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DB3E79-3BF8-4580-B00C-151005E66F49}"/>
              </a:ext>
            </a:extLst>
          </p:cNvPr>
          <p:cNvSpPr>
            <a:spLocks noGrp="1"/>
          </p:cNvSpPr>
          <p:nvPr>
            <p:ph type="title"/>
          </p:nvPr>
        </p:nvSpPr>
        <p:spPr>
          <a:xfrm>
            <a:off x="457200" y="197768"/>
            <a:ext cx="8229600" cy="782960"/>
          </a:xfrm>
        </p:spPr>
        <p:txBody>
          <a:bodyPr/>
          <a:lstStyle/>
          <a:p>
            <a:r>
              <a:rPr lang="en-US" dirty="0"/>
              <a:t>Service example</a:t>
            </a:r>
          </a:p>
        </p:txBody>
      </p:sp>
      <p:sp>
        <p:nvSpPr>
          <p:cNvPr id="6" name="Rectangle 5">
            <a:extLst>
              <a:ext uri="{FF2B5EF4-FFF2-40B4-BE49-F238E27FC236}">
                <a16:creationId xmlns:a16="http://schemas.microsoft.com/office/drawing/2014/main" id="{6F1EA6A1-1069-4400-B217-B9BDD96FE079}"/>
              </a:ext>
            </a:extLst>
          </p:cNvPr>
          <p:cNvSpPr/>
          <p:nvPr/>
        </p:nvSpPr>
        <p:spPr>
          <a:xfrm>
            <a:off x="7507017" y="1448779"/>
            <a:ext cx="1313453" cy="131345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oracle</a:t>
            </a:r>
          </a:p>
        </p:txBody>
      </p:sp>
      <p:sp>
        <p:nvSpPr>
          <p:cNvPr id="7" name="Arrow: Right 6">
            <a:extLst>
              <a:ext uri="{FF2B5EF4-FFF2-40B4-BE49-F238E27FC236}">
                <a16:creationId xmlns:a16="http://schemas.microsoft.com/office/drawing/2014/main" id="{255A0908-D1E0-4369-B8EF-AE17A7150E91}"/>
              </a:ext>
            </a:extLst>
          </p:cNvPr>
          <p:cNvSpPr/>
          <p:nvPr/>
        </p:nvSpPr>
        <p:spPr>
          <a:xfrm rot="8859107">
            <a:off x="2695563" y="3422749"/>
            <a:ext cx="4919564" cy="1313452"/>
          </a:xfrm>
          <a:prstGeom prst="rightArrow">
            <a:avLst>
              <a:gd name="adj1" fmla="val 78061"/>
              <a:gd name="adj2" fmla="val 30123"/>
            </a:avLst>
          </a:prstGeom>
        </p:spPr>
        <p:style>
          <a:lnRef idx="2">
            <a:schemeClr val="accent2"/>
          </a:lnRef>
          <a:fillRef idx="1">
            <a:schemeClr val="lt1"/>
          </a:fillRef>
          <a:effectRef idx="0">
            <a:schemeClr val="accent2"/>
          </a:effectRef>
          <a:fontRef idx="minor">
            <a:schemeClr val="dk1"/>
          </a:fontRef>
        </p:style>
        <p:txBody>
          <a:bodyPr vert="vert270" rtlCol="0" anchor="ctr"/>
          <a:lstStyle/>
          <a:p>
            <a:pPr algn="ctr"/>
            <a:r>
              <a:rPr lang="en-US" sz="1400" dirty="0"/>
              <a:t>own TGT requests</a:t>
            </a:r>
            <a:br>
              <a:rPr lang="en-US" sz="1400" dirty="0"/>
            </a:br>
            <a:r>
              <a:rPr lang="en-US" sz="1400" dirty="0"/>
              <a:t>+</a:t>
            </a:r>
            <a:br>
              <a:rPr lang="en-US" sz="1400" dirty="0"/>
            </a:br>
            <a:r>
              <a:rPr lang="en-US" sz="1400" dirty="0"/>
              <a:t>LDAP lookups</a:t>
            </a:r>
            <a:endParaRPr lang="en-US" sz="1400" dirty="0">
              <a:solidFill>
                <a:schemeClr val="accent1"/>
              </a:solidFill>
            </a:endParaRPr>
          </a:p>
        </p:txBody>
      </p:sp>
      <p:sp>
        <p:nvSpPr>
          <p:cNvPr id="8" name="Rectangle 7">
            <a:extLst>
              <a:ext uri="{FF2B5EF4-FFF2-40B4-BE49-F238E27FC236}">
                <a16:creationId xmlns:a16="http://schemas.microsoft.com/office/drawing/2014/main" id="{8788139B-C385-4ECC-85CA-A03971423D91}"/>
              </a:ext>
            </a:extLst>
          </p:cNvPr>
          <p:cNvSpPr/>
          <p:nvPr/>
        </p:nvSpPr>
        <p:spPr>
          <a:xfrm>
            <a:off x="179512" y="1448779"/>
            <a:ext cx="936103" cy="13134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client</a:t>
            </a:r>
          </a:p>
        </p:txBody>
      </p:sp>
      <p:sp>
        <p:nvSpPr>
          <p:cNvPr id="11" name="Rectangle 10">
            <a:extLst>
              <a:ext uri="{FF2B5EF4-FFF2-40B4-BE49-F238E27FC236}">
                <a16:creationId xmlns:a16="http://schemas.microsoft.com/office/drawing/2014/main" id="{CC6F2743-763B-4E08-A846-CB692F6C8D6F}"/>
              </a:ext>
            </a:extLst>
          </p:cNvPr>
          <p:cNvSpPr/>
          <p:nvPr/>
        </p:nvSpPr>
        <p:spPr>
          <a:xfrm>
            <a:off x="4365834" y="4797152"/>
            <a:ext cx="4320480" cy="88140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b"/>
          <a:lstStyle/>
          <a:p>
            <a:pPr algn="ctr"/>
            <a:r>
              <a:rPr lang="en-US" sz="1400" dirty="0"/>
              <a:t>encrypted with a shared key</a:t>
            </a:r>
          </a:p>
        </p:txBody>
      </p:sp>
      <p:sp>
        <p:nvSpPr>
          <p:cNvPr id="9" name="Rectangle 8">
            <a:extLst>
              <a:ext uri="{FF2B5EF4-FFF2-40B4-BE49-F238E27FC236}">
                <a16:creationId xmlns:a16="http://schemas.microsoft.com/office/drawing/2014/main" id="{9850A120-A6BE-4625-94F3-8DC9CF35196F}"/>
              </a:ext>
            </a:extLst>
          </p:cNvPr>
          <p:cNvSpPr/>
          <p:nvPr/>
        </p:nvSpPr>
        <p:spPr>
          <a:xfrm>
            <a:off x="4509850" y="4958474"/>
            <a:ext cx="864096" cy="38282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TGT</a:t>
            </a:r>
          </a:p>
        </p:txBody>
      </p:sp>
      <p:sp>
        <p:nvSpPr>
          <p:cNvPr id="10" name="Rectangle 9">
            <a:extLst>
              <a:ext uri="{FF2B5EF4-FFF2-40B4-BE49-F238E27FC236}">
                <a16:creationId xmlns:a16="http://schemas.microsoft.com/office/drawing/2014/main" id="{A90E4D99-F949-422E-9606-4CD4D4C44441}"/>
              </a:ext>
            </a:extLst>
          </p:cNvPr>
          <p:cNvSpPr/>
          <p:nvPr/>
        </p:nvSpPr>
        <p:spPr>
          <a:xfrm>
            <a:off x="5373945" y="4958474"/>
            <a:ext cx="3141004" cy="38282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solidFill>
                  <a:schemeClr val="accent2"/>
                </a:solidFill>
              </a:rPr>
              <a:t>oracle/</a:t>
            </a:r>
            <a:r>
              <a:rPr lang="en-US" sz="1400" dirty="0"/>
              <a:t>or03.gopas.</a:t>
            </a:r>
            <a:r>
              <a:rPr lang="en-US" sz="1400" dirty="0">
                <a:solidFill>
                  <a:schemeClr val="accent2"/>
                </a:solidFill>
              </a:rPr>
              <a:t>cz</a:t>
            </a:r>
            <a:r>
              <a:rPr lang="en-US" sz="1400" dirty="0"/>
              <a:t>@gopas.</a:t>
            </a:r>
            <a:r>
              <a:rPr lang="en-US" sz="1400" dirty="0">
                <a:solidFill>
                  <a:schemeClr val="accent2"/>
                </a:solidFill>
              </a:rPr>
              <a:t>virtual</a:t>
            </a:r>
          </a:p>
        </p:txBody>
      </p:sp>
      <p:sp>
        <p:nvSpPr>
          <p:cNvPr id="13" name="Rectangle 12">
            <a:extLst>
              <a:ext uri="{FF2B5EF4-FFF2-40B4-BE49-F238E27FC236}">
                <a16:creationId xmlns:a16="http://schemas.microsoft.com/office/drawing/2014/main" id="{53CD598F-3DB6-45EC-A994-4869226F2932}"/>
              </a:ext>
            </a:extLst>
          </p:cNvPr>
          <p:cNvSpPr/>
          <p:nvPr/>
        </p:nvSpPr>
        <p:spPr>
          <a:xfrm>
            <a:off x="8182066" y="836712"/>
            <a:ext cx="782960" cy="78296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shared key</a:t>
            </a:r>
          </a:p>
        </p:txBody>
      </p:sp>
      <p:sp>
        <p:nvSpPr>
          <p:cNvPr id="15" name="Isosceles Triangle 14">
            <a:extLst>
              <a:ext uri="{FF2B5EF4-FFF2-40B4-BE49-F238E27FC236}">
                <a16:creationId xmlns:a16="http://schemas.microsoft.com/office/drawing/2014/main" id="{1B7D0034-2822-41E6-BD8B-724EEF80B89A}"/>
              </a:ext>
            </a:extLst>
          </p:cNvPr>
          <p:cNvSpPr/>
          <p:nvPr/>
        </p:nvSpPr>
        <p:spPr>
          <a:xfrm>
            <a:off x="179512" y="4086844"/>
            <a:ext cx="3312368" cy="2520280"/>
          </a:xfrm>
          <a:prstGeom prst="triangle">
            <a:avLst/>
          </a:prstGeom>
        </p:spPr>
        <p:style>
          <a:lnRef idx="2">
            <a:schemeClr val="accent2"/>
          </a:lnRef>
          <a:fillRef idx="1">
            <a:schemeClr val="lt1"/>
          </a:fillRef>
          <a:effectRef idx="0">
            <a:schemeClr val="accent2"/>
          </a:effectRef>
          <a:fontRef idx="minor">
            <a:schemeClr val="dk1"/>
          </a:fontRef>
        </p:style>
        <p:txBody>
          <a:bodyPr rtlCol="0" anchor="b"/>
          <a:lstStyle/>
          <a:p>
            <a:pPr algn="ctr"/>
            <a:r>
              <a:rPr lang="en-US" sz="1400" dirty="0" err="1"/>
              <a:t>gopas.</a:t>
            </a:r>
            <a:r>
              <a:rPr lang="en-US" sz="1400" dirty="0" err="1">
                <a:solidFill>
                  <a:schemeClr val="accent1"/>
                </a:solidFill>
              </a:rPr>
              <a:t>virtual</a:t>
            </a:r>
            <a:endParaRPr lang="en-US" sz="1400" dirty="0">
              <a:solidFill>
                <a:schemeClr val="accent1"/>
              </a:solidFill>
            </a:endParaRPr>
          </a:p>
        </p:txBody>
      </p:sp>
      <p:sp>
        <p:nvSpPr>
          <p:cNvPr id="12" name="Smiley Face 11">
            <a:extLst>
              <a:ext uri="{FF2B5EF4-FFF2-40B4-BE49-F238E27FC236}">
                <a16:creationId xmlns:a16="http://schemas.microsoft.com/office/drawing/2014/main" id="{76075FBF-5475-4214-A4D3-4DDBDE48F3A8}"/>
              </a:ext>
            </a:extLst>
          </p:cNvPr>
          <p:cNvSpPr/>
          <p:nvPr/>
        </p:nvSpPr>
        <p:spPr>
          <a:xfrm>
            <a:off x="457200" y="4786061"/>
            <a:ext cx="864096" cy="864096"/>
          </a:xfrm>
          <a:prstGeom prst="smileyFac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3CC83ECD-BF1F-4FCB-BF06-8FE83EF3124D}"/>
              </a:ext>
            </a:extLst>
          </p:cNvPr>
          <p:cNvSpPr/>
          <p:nvPr/>
        </p:nvSpPr>
        <p:spPr>
          <a:xfrm>
            <a:off x="1161559" y="5160268"/>
            <a:ext cx="1183568" cy="3569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password#</a:t>
            </a:r>
          </a:p>
        </p:txBody>
      </p:sp>
    </p:spTree>
    <p:extLst>
      <p:ext uri="{BB962C8B-B14F-4D97-AF65-F5344CB8AC3E}">
        <p14:creationId xmlns:p14="http://schemas.microsoft.com/office/powerpoint/2010/main" val="21919129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3327F-B16C-4859-9747-371AD161E525}"/>
              </a:ext>
            </a:extLst>
          </p:cNvPr>
          <p:cNvSpPr>
            <a:spLocks noGrp="1"/>
          </p:cNvSpPr>
          <p:nvPr>
            <p:ph type="title"/>
          </p:nvPr>
        </p:nvSpPr>
        <p:spPr>
          <a:xfrm>
            <a:off x="457200" y="197768"/>
            <a:ext cx="8229600" cy="782960"/>
          </a:xfrm>
        </p:spPr>
        <p:txBody>
          <a:bodyPr>
            <a:normAutofit/>
          </a:bodyPr>
          <a:lstStyle/>
          <a:p>
            <a:r>
              <a:rPr lang="en-US" sz="2400" dirty="0"/>
              <a:t>Usually without pre-authentication</a:t>
            </a:r>
          </a:p>
        </p:txBody>
      </p:sp>
      <p:pic>
        <p:nvPicPr>
          <p:cNvPr id="5" name="Picture 4">
            <a:extLst>
              <a:ext uri="{FF2B5EF4-FFF2-40B4-BE49-F238E27FC236}">
                <a16:creationId xmlns:a16="http://schemas.microsoft.com/office/drawing/2014/main" id="{FA6C000C-9279-44F9-9768-7B41E42D30BB}"/>
              </a:ext>
            </a:extLst>
          </p:cNvPr>
          <p:cNvPicPr>
            <a:picLocks noChangeAspect="1"/>
          </p:cNvPicPr>
          <p:nvPr/>
        </p:nvPicPr>
        <p:blipFill>
          <a:blip r:embed="rId2"/>
          <a:stretch>
            <a:fillRect/>
          </a:stretch>
        </p:blipFill>
        <p:spPr>
          <a:xfrm>
            <a:off x="3606852" y="980728"/>
            <a:ext cx="5537149" cy="5873959"/>
          </a:xfrm>
          <a:prstGeom prst="rect">
            <a:avLst/>
          </a:prstGeom>
        </p:spPr>
      </p:pic>
    </p:spTree>
    <p:extLst>
      <p:ext uri="{BB962C8B-B14F-4D97-AF65-F5344CB8AC3E}">
        <p14:creationId xmlns:p14="http://schemas.microsoft.com/office/powerpoint/2010/main" val="27671031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30AC24-1700-CFDE-25B1-990840A17EF9}"/>
              </a:ext>
            </a:extLst>
          </p:cNvPr>
          <p:cNvSpPr>
            <a:spLocks noGrp="1"/>
          </p:cNvSpPr>
          <p:nvPr>
            <p:ph type="ctrTitle"/>
          </p:nvPr>
        </p:nvSpPr>
        <p:spPr/>
        <p:txBody>
          <a:bodyPr/>
          <a:lstStyle/>
          <a:p>
            <a:r>
              <a:rPr lang="en-US" dirty="0"/>
              <a:t>Load-balancing</a:t>
            </a:r>
          </a:p>
        </p:txBody>
      </p:sp>
      <p:sp>
        <p:nvSpPr>
          <p:cNvPr id="5" name="Subtitle 4">
            <a:extLst>
              <a:ext uri="{FF2B5EF4-FFF2-40B4-BE49-F238E27FC236}">
                <a16:creationId xmlns:a16="http://schemas.microsoft.com/office/drawing/2014/main" id="{25090941-E1D1-D476-94AA-0F3A19ED3B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646295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fontScale="90000"/>
          </a:bodyPr>
          <a:lstStyle/>
          <a:p>
            <a:r>
              <a:rPr lang="en-US" dirty="0"/>
              <a:t>Load-balancing not working to machine$ accounts</a:t>
            </a:r>
          </a:p>
        </p:txBody>
      </p:sp>
      <p:sp>
        <p:nvSpPr>
          <p:cNvPr id="7" name="Rectangle 6">
            <a:extLst>
              <a:ext uri="{FF2B5EF4-FFF2-40B4-BE49-F238E27FC236}">
                <a16:creationId xmlns:a16="http://schemas.microsoft.com/office/drawing/2014/main" id="{DF34E4C4-2C46-1C61-F264-97375A40E14C}"/>
              </a:ext>
            </a:extLst>
          </p:cNvPr>
          <p:cNvSpPr/>
          <p:nvPr/>
        </p:nvSpPr>
        <p:spPr>
          <a:xfrm>
            <a:off x="7020272" y="1518504"/>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t>nodeA</a:t>
            </a:r>
            <a:endParaRPr lang="en-US" dirty="0"/>
          </a:p>
        </p:txBody>
      </p:sp>
      <p:sp>
        <p:nvSpPr>
          <p:cNvPr id="8" name="Rectangle 7">
            <a:extLst>
              <a:ext uri="{FF2B5EF4-FFF2-40B4-BE49-F238E27FC236}">
                <a16:creationId xmlns:a16="http://schemas.microsoft.com/office/drawing/2014/main" id="{59202FE5-A2E6-C8F7-446D-458B2355ED8F}"/>
              </a:ext>
            </a:extLst>
          </p:cNvPr>
          <p:cNvSpPr/>
          <p:nvPr/>
        </p:nvSpPr>
        <p:spPr>
          <a:xfrm>
            <a:off x="7020272" y="3102680"/>
            <a:ext cx="1152128" cy="115212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err="1"/>
              <a:t>nodeB</a:t>
            </a:r>
            <a:endParaRPr lang="en-US" dirty="0"/>
          </a:p>
        </p:txBody>
      </p:sp>
      <p:sp>
        <p:nvSpPr>
          <p:cNvPr id="9" name="Rectangle 8">
            <a:extLst>
              <a:ext uri="{FF2B5EF4-FFF2-40B4-BE49-F238E27FC236}">
                <a16:creationId xmlns:a16="http://schemas.microsoft.com/office/drawing/2014/main" id="{E6D7FE54-BF5E-C952-D2E4-C221C6FE3718}"/>
              </a:ext>
            </a:extLst>
          </p:cNvPr>
          <p:cNvSpPr/>
          <p:nvPr/>
        </p:nvSpPr>
        <p:spPr>
          <a:xfrm>
            <a:off x="7020272" y="4686856"/>
            <a:ext cx="1152128" cy="115212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nodeC</a:t>
            </a:r>
            <a:endParaRPr lang="en-US" dirty="0"/>
          </a:p>
        </p:txBody>
      </p:sp>
      <p:sp>
        <p:nvSpPr>
          <p:cNvPr id="10" name="Rectangle 9">
            <a:extLst>
              <a:ext uri="{FF2B5EF4-FFF2-40B4-BE49-F238E27FC236}">
                <a16:creationId xmlns:a16="http://schemas.microsoft.com/office/drawing/2014/main" id="{83AB83F0-D6A2-AA61-2590-CA630761D244}"/>
              </a:ext>
            </a:extLst>
          </p:cNvPr>
          <p:cNvSpPr/>
          <p:nvPr/>
        </p:nvSpPr>
        <p:spPr>
          <a:xfrm>
            <a:off x="7953040" y="1340768"/>
            <a:ext cx="855712" cy="3712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err="1"/>
              <a:t>nodea</a:t>
            </a:r>
            <a:r>
              <a:rPr lang="en-US" sz="1100" dirty="0"/>
              <a:t>$</a:t>
            </a:r>
          </a:p>
        </p:txBody>
      </p:sp>
      <p:sp>
        <p:nvSpPr>
          <p:cNvPr id="11" name="Rectangle 10">
            <a:extLst>
              <a:ext uri="{FF2B5EF4-FFF2-40B4-BE49-F238E27FC236}">
                <a16:creationId xmlns:a16="http://schemas.microsoft.com/office/drawing/2014/main" id="{0AE3E963-7C76-E2E9-90F9-205188C0BB0D}"/>
              </a:ext>
            </a:extLst>
          </p:cNvPr>
          <p:cNvSpPr/>
          <p:nvPr/>
        </p:nvSpPr>
        <p:spPr>
          <a:xfrm>
            <a:off x="7953040" y="2936184"/>
            <a:ext cx="855712" cy="3712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dirty="0" err="1"/>
              <a:t>nodeb</a:t>
            </a:r>
            <a:r>
              <a:rPr lang="en-US" sz="1100" dirty="0"/>
              <a:t>$</a:t>
            </a:r>
          </a:p>
        </p:txBody>
      </p:sp>
      <p:sp>
        <p:nvSpPr>
          <p:cNvPr id="12" name="Rectangle 11">
            <a:extLst>
              <a:ext uri="{FF2B5EF4-FFF2-40B4-BE49-F238E27FC236}">
                <a16:creationId xmlns:a16="http://schemas.microsoft.com/office/drawing/2014/main" id="{4CDAB5AC-3247-9F8B-7906-6E5A605F4191}"/>
              </a:ext>
            </a:extLst>
          </p:cNvPr>
          <p:cNvSpPr/>
          <p:nvPr/>
        </p:nvSpPr>
        <p:spPr>
          <a:xfrm>
            <a:off x="7964760" y="4531600"/>
            <a:ext cx="855712" cy="37128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dirty="0" err="1"/>
              <a:t>nodec</a:t>
            </a:r>
            <a:r>
              <a:rPr lang="en-US" sz="1100" dirty="0"/>
              <a:t>$</a:t>
            </a:r>
          </a:p>
        </p:txBody>
      </p:sp>
      <p:sp>
        <p:nvSpPr>
          <p:cNvPr id="13" name="Oval 12">
            <a:extLst>
              <a:ext uri="{FF2B5EF4-FFF2-40B4-BE49-F238E27FC236}">
                <a16:creationId xmlns:a16="http://schemas.microsoft.com/office/drawing/2014/main" id="{DE3FDB11-F21D-7FB7-B2E4-64DC6B2DD74E}"/>
              </a:ext>
            </a:extLst>
          </p:cNvPr>
          <p:cNvSpPr/>
          <p:nvPr/>
        </p:nvSpPr>
        <p:spPr>
          <a:xfrm>
            <a:off x="4572000" y="3102680"/>
            <a:ext cx="1152128" cy="1152128"/>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t>L-B device</a:t>
            </a:r>
          </a:p>
        </p:txBody>
      </p:sp>
      <p:sp>
        <p:nvSpPr>
          <p:cNvPr id="14" name="Arrow: Right 13">
            <a:extLst>
              <a:ext uri="{FF2B5EF4-FFF2-40B4-BE49-F238E27FC236}">
                <a16:creationId xmlns:a16="http://schemas.microsoft.com/office/drawing/2014/main" id="{F29FAF48-DD8A-7975-9217-82DEC62E09F9}"/>
              </a:ext>
            </a:extLst>
          </p:cNvPr>
          <p:cNvSpPr/>
          <p:nvPr/>
        </p:nvSpPr>
        <p:spPr>
          <a:xfrm>
            <a:off x="1459010" y="3498724"/>
            <a:ext cx="2968974" cy="360040"/>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15" name="Smiley Face 14">
            <a:extLst>
              <a:ext uri="{FF2B5EF4-FFF2-40B4-BE49-F238E27FC236}">
                <a16:creationId xmlns:a16="http://schemas.microsoft.com/office/drawing/2014/main" id="{A9B9DE89-EE05-08E2-64CF-67E27E027A89}"/>
              </a:ext>
            </a:extLst>
          </p:cNvPr>
          <p:cNvSpPr/>
          <p:nvPr/>
        </p:nvSpPr>
        <p:spPr>
          <a:xfrm>
            <a:off x="395536" y="3040952"/>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 name="Smiley Face 15">
            <a:extLst>
              <a:ext uri="{FF2B5EF4-FFF2-40B4-BE49-F238E27FC236}">
                <a16:creationId xmlns:a16="http://schemas.microsoft.com/office/drawing/2014/main" id="{8CDF49AE-94BC-2CAB-F9FD-E15FC83DA9D2}"/>
              </a:ext>
            </a:extLst>
          </p:cNvPr>
          <p:cNvSpPr/>
          <p:nvPr/>
        </p:nvSpPr>
        <p:spPr>
          <a:xfrm>
            <a:off x="467544" y="3186112"/>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 name="Smiley Face 16">
            <a:extLst>
              <a:ext uri="{FF2B5EF4-FFF2-40B4-BE49-F238E27FC236}">
                <a16:creationId xmlns:a16="http://schemas.microsoft.com/office/drawing/2014/main" id="{FA50BDCF-B534-C4C5-AC1B-373E5918C152}"/>
              </a:ext>
            </a:extLst>
          </p:cNvPr>
          <p:cNvSpPr/>
          <p:nvPr/>
        </p:nvSpPr>
        <p:spPr>
          <a:xfrm>
            <a:off x="418800" y="3318704"/>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 name="Smiley Face 17">
            <a:extLst>
              <a:ext uri="{FF2B5EF4-FFF2-40B4-BE49-F238E27FC236}">
                <a16:creationId xmlns:a16="http://schemas.microsoft.com/office/drawing/2014/main" id="{615F29D8-AA8B-9DF9-9486-1BCB7E994B79}"/>
              </a:ext>
            </a:extLst>
          </p:cNvPr>
          <p:cNvSpPr/>
          <p:nvPr/>
        </p:nvSpPr>
        <p:spPr>
          <a:xfrm>
            <a:off x="457540" y="3475852"/>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0" name="Arrow: Right 19">
            <a:extLst>
              <a:ext uri="{FF2B5EF4-FFF2-40B4-BE49-F238E27FC236}">
                <a16:creationId xmlns:a16="http://schemas.microsoft.com/office/drawing/2014/main" id="{56B88E1A-FF3B-FAEE-99BE-106B102EA6A3}"/>
              </a:ext>
            </a:extLst>
          </p:cNvPr>
          <p:cNvSpPr/>
          <p:nvPr/>
        </p:nvSpPr>
        <p:spPr>
          <a:xfrm>
            <a:off x="5930684" y="3497740"/>
            <a:ext cx="905960"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sp>
        <p:nvSpPr>
          <p:cNvPr id="21" name="Arrow: Right 20">
            <a:extLst>
              <a:ext uri="{FF2B5EF4-FFF2-40B4-BE49-F238E27FC236}">
                <a16:creationId xmlns:a16="http://schemas.microsoft.com/office/drawing/2014/main" id="{27047D1E-A9E6-1243-4DF2-5E5F0817BB90}"/>
              </a:ext>
            </a:extLst>
          </p:cNvPr>
          <p:cNvSpPr/>
          <p:nvPr/>
        </p:nvSpPr>
        <p:spPr>
          <a:xfrm rot="19800000">
            <a:off x="5764858" y="2777416"/>
            <a:ext cx="905960"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800000">
            <a:off x="5764859" y="4219192"/>
            <a:ext cx="905960" cy="360040"/>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6970707-60A2-2BF6-ED7A-50071EDAE6FC}"/>
              </a:ext>
            </a:extLst>
          </p:cNvPr>
          <p:cNvSpPr/>
          <p:nvPr/>
        </p:nvSpPr>
        <p:spPr>
          <a:xfrm>
            <a:off x="1743741" y="3000472"/>
            <a:ext cx="2011713"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a:t>https://</a:t>
            </a:r>
            <a:r>
              <a:rPr lang="en-US" sz="1100" dirty="0"/>
              <a:t>webfarm.gopas.cz</a:t>
            </a:r>
          </a:p>
        </p:txBody>
      </p:sp>
      <p:sp>
        <p:nvSpPr>
          <p:cNvPr id="24" name="Rectangle 23">
            <a:extLst>
              <a:ext uri="{FF2B5EF4-FFF2-40B4-BE49-F238E27FC236}">
                <a16:creationId xmlns:a16="http://schemas.microsoft.com/office/drawing/2014/main" id="{DF3A6A2E-E62C-081B-02C9-4A883C85D478}"/>
              </a:ext>
            </a:extLst>
          </p:cNvPr>
          <p:cNvSpPr/>
          <p:nvPr/>
        </p:nvSpPr>
        <p:spPr>
          <a:xfrm>
            <a:off x="1860154" y="3316704"/>
            <a:ext cx="2011713"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dirty="0"/>
              <a:t>RDP </a:t>
            </a:r>
            <a:r>
              <a:rPr lang="en-US" sz="1100" dirty="0" err="1"/>
              <a:t>ts.gopas.virtual</a:t>
            </a:r>
            <a:endParaRPr lang="en-US" sz="1100" dirty="0"/>
          </a:p>
        </p:txBody>
      </p:sp>
    </p:spTree>
    <p:extLst>
      <p:ext uri="{BB962C8B-B14F-4D97-AF65-F5344CB8AC3E}">
        <p14:creationId xmlns:p14="http://schemas.microsoft.com/office/powerpoint/2010/main" val="37035432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fontScale="90000"/>
          </a:bodyPr>
          <a:lstStyle/>
          <a:p>
            <a:r>
              <a:rPr lang="en-US" dirty="0"/>
              <a:t>Load-balancing requires a common account to register the single SPN on</a:t>
            </a:r>
          </a:p>
        </p:txBody>
      </p:sp>
      <p:sp>
        <p:nvSpPr>
          <p:cNvPr id="7" name="Rectangle 6">
            <a:extLst>
              <a:ext uri="{FF2B5EF4-FFF2-40B4-BE49-F238E27FC236}">
                <a16:creationId xmlns:a16="http://schemas.microsoft.com/office/drawing/2014/main" id="{DF34E4C4-2C46-1C61-F264-97375A40E14C}"/>
              </a:ext>
            </a:extLst>
          </p:cNvPr>
          <p:cNvSpPr/>
          <p:nvPr/>
        </p:nvSpPr>
        <p:spPr>
          <a:xfrm>
            <a:off x="7020272" y="1518504"/>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t>nodeA</a:t>
            </a:r>
            <a:endParaRPr lang="en-US" dirty="0"/>
          </a:p>
        </p:txBody>
      </p:sp>
      <p:sp>
        <p:nvSpPr>
          <p:cNvPr id="8" name="Rectangle 7">
            <a:extLst>
              <a:ext uri="{FF2B5EF4-FFF2-40B4-BE49-F238E27FC236}">
                <a16:creationId xmlns:a16="http://schemas.microsoft.com/office/drawing/2014/main" id="{59202FE5-A2E6-C8F7-446D-458B2355ED8F}"/>
              </a:ext>
            </a:extLst>
          </p:cNvPr>
          <p:cNvSpPr/>
          <p:nvPr/>
        </p:nvSpPr>
        <p:spPr>
          <a:xfrm>
            <a:off x="7020272" y="3102680"/>
            <a:ext cx="1152128" cy="115212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err="1"/>
              <a:t>nodeB</a:t>
            </a:r>
            <a:endParaRPr lang="en-US" dirty="0"/>
          </a:p>
        </p:txBody>
      </p:sp>
      <p:sp>
        <p:nvSpPr>
          <p:cNvPr id="9" name="Rectangle 8">
            <a:extLst>
              <a:ext uri="{FF2B5EF4-FFF2-40B4-BE49-F238E27FC236}">
                <a16:creationId xmlns:a16="http://schemas.microsoft.com/office/drawing/2014/main" id="{E6D7FE54-BF5E-C952-D2E4-C221C6FE3718}"/>
              </a:ext>
            </a:extLst>
          </p:cNvPr>
          <p:cNvSpPr/>
          <p:nvPr/>
        </p:nvSpPr>
        <p:spPr>
          <a:xfrm>
            <a:off x="7020272" y="4686856"/>
            <a:ext cx="1152128" cy="115212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nodeC</a:t>
            </a:r>
            <a:endParaRPr lang="en-US" dirty="0"/>
          </a:p>
        </p:txBody>
      </p:sp>
      <p:sp>
        <p:nvSpPr>
          <p:cNvPr id="10" name="Rectangle 9">
            <a:extLst>
              <a:ext uri="{FF2B5EF4-FFF2-40B4-BE49-F238E27FC236}">
                <a16:creationId xmlns:a16="http://schemas.microsoft.com/office/drawing/2014/main" id="{83AB83F0-D6A2-AA61-2590-CA630761D244}"/>
              </a:ext>
            </a:extLst>
          </p:cNvPr>
          <p:cNvSpPr/>
          <p:nvPr/>
        </p:nvSpPr>
        <p:spPr>
          <a:xfrm>
            <a:off x="7728632" y="1340768"/>
            <a:ext cx="1080120"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dirty="0"/>
              <a:t>svc-account</a:t>
            </a:r>
          </a:p>
        </p:txBody>
      </p:sp>
      <p:sp>
        <p:nvSpPr>
          <p:cNvPr id="11" name="Rectangle 10">
            <a:extLst>
              <a:ext uri="{FF2B5EF4-FFF2-40B4-BE49-F238E27FC236}">
                <a16:creationId xmlns:a16="http://schemas.microsoft.com/office/drawing/2014/main" id="{0AE3E963-7C76-E2E9-90F9-205188C0BB0D}"/>
              </a:ext>
            </a:extLst>
          </p:cNvPr>
          <p:cNvSpPr/>
          <p:nvPr/>
        </p:nvSpPr>
        <p:spPr>
          <a:xfrm>
            <a:off x="7728632" y="2936184"/>
            <a:ext cx="1080120"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dirty="0"/>
              <a:t>svc-account</a:t>
            </a:r>
          </a:p>
        </p:txBody>
      </p:sp>
      <p:sp>
        <p:nvSpPr>
          <p:cNvPr id="12" name="Rectangle 11">
            <a:extLst>
              <a:ext uri="{FF2B5EF4-FFF2-40B4-BE49-F238E27FC236}">
                <a16:creationId xmlns:a16="http://schemas.microsoft.com/office/drawing/2014/main" id="{4CDAB5AC-3247-9F8B-7906-6E5A605F4191}"/>
              </a:ext>
            </a:extLst>
          </p:cNvPr>
          <p:cNvSpPr/>
          <p:nvPr/>
        </p:nvSpPr>
        <p:spPr>
          <a:xfrm>
            <a:off x="7740352" y="4531600"/>
            <a:ext cx="1080120"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dirty="0"/>
              <a:t>svc-account</a:t>
            </a:r>
          </a:p>
        </p:txBody>
      </p:sp>
      <p:sp>
        <p:nvSpPr>
          <p:cNvPr id="13" name="Oval 12">
            <a:extLst>
              <a:ext uri="{FF2B5EF4-FFF2-40B4-BE49-F238E27FC236}">
                <a16:creationId xmlns:a16="http://schemas.microsoft.com/office/drawing/2014/main" id="{DE3FDB11-F21D-7FB7-B2E4-64DC6B2DD74E}"/>
              </a:ext>
            </a:extLst>
          </p:cNvPr>
          <p:cNvSpPr/>
          <p:nvPr/>
        </p:nvSpPr>
        <p:spPr>
          <a:xfrm>
            <a:off x="4572000" y="3102680"/>
            <a:ext cx="1152128" cy="1152128"/>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t>L-B device</a:t>
            </a:r>
          </a:p>
        </p:txBody>
      </p:sp>
      <p:sp>
        <p:nvSpPr>
          <p:cNvPr id="14" name="Arrow: Right 13">
            <a:extLst>
              <a:ext uri="{FF2B5EF4-FFF2-40B4-BE49-F238E27FC236}">
                <a16:creationId xmlns:a16="http://schemas.microsoft.com/office/drawing/2014/main" id="{F29FAF48-DD8A-7975-9217-82DEC62E09F9}"/>
              </a:ext>
            </a:extLst>
          </p:cNvPr>
          <p:cNvSpPr/>
          <p:nvPr/>
        </p:nvSpPr>
        <p:spPr>
          <a:xfrm>
            <a:off x="1459010" y="3498724"/>
            <a:ext cx="2968974" cy="360040"/>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sp>
        <p:nvSpPr>
          <p:cNvPr id="15" name="Smiley Face 14">
            <a:extLst>
              <a:ext uri="{FF2B5EF4-FFF2-40B4-BE49-F238E27FC236}">
                <a16:creationId xmlns:a16="http://schemas.microsoft.com/office/drawing/2014/main" id="{A9B9DE89-EE05-08E2-64CF-67E27E027A89}"/>
              </a:ext>
            </a:extLst>
          </p:cNvPr>
          <p:cNvSpPr/>
          <p:nvPr/>
        </p:nvSpPr>
        <p:spPr>
          <a:xfrm>
            <a:off x="395536" y="3040952"/>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 name="Smiley Face 15">
            <a:extLst>
              <a:ext uri="{FF2B5EF4-FFF2-40B4-BE49-F238E27FC236}">
                <a16:creationId xmlns:a16="http://schemas.microsoft.com/office/drawing/2014/main" id="{8CDF49AE-94BC-2CAB-F9FD-E15FC83DA9D2}"/>
              </a:ext>
            </a:extLst>
          </p:cNvPr>
          <p:cNvSpPr/>
          <p:nvPr/>
        </p:nvSpPr>
        <p:spPr>
          <a:xfrm>
            <a:off x="467544" y="3186112"/>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 name="Smiley Face 16">
            <a:extLst>
              <a:ext uri="{FF2B5EF4-FFF2-40B4-BE49-F238E27FC236}">
                <a16:creationId xmlns:a16="http://schemas.microsoft.com/office/drawing/2014/main" id="{FA50BDCF-B534-C4C5-AC1B-373E5918C152}"/>
              </a:ext>
            </a:extLst>
          </p:cNvPr>
          <p:cNvSpPr/>
          <p:nvPr/>
        </p:nvSpPr>
        <p:spPr>
          <a:xfrm>
            <a:off x="418800" y="3318704"/>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8" name="Smiley Face 17">
            <a:extLst>
              <a:ext uri="{FF2B5EF4-FFF2-40B4-BE49-F238E27FC236}">
                <a16:creationId xmlns:a16="http://schemas.microsoft.com/office/drawing/2014/main" id="{615F29D8-AA8B-9DF9-9486-1BCB7E994B79}"/>
              </a:ext>
            </a:extLst>
          </p:cNvPr>
          <p:cNvSpPr/>
          <p:nvPr/>
        </p:nvSpPr>
        <p:spPr>
          <a:xfrm>
            <a:off x="457540" y="3475852"/>
            <a:ext cx="720080" cy="720080"/>
          </a:xfrm>
          <a:prstGeom prst="smileyFac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0" name="Arrow: Right 19">
            <a:extLst>
              <a:ext uri="{FF2B5EF4-FFF2-40B4-BE49-F238E27FC236}">
                <a16:creationId xmlns:a16="http://schemas.microsoft.com/office/drawing/2014/main" id="{56B88E1A-FF3B-FAEE-99BE-106B102EA6A3}"/>
              </a:ext>
            </a:extLst>
          </p:cNvPr>
          <p:cNvSpPr/>
          <p:nvPr/>
        </p:nvSpPr>
        <p:spPr>
          <a:xfrm>
            <a:off x="5930684" y="3497740"/>
            <a:ext cx="905960" cy="360040"/>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sp>
        <p:nvSpPr>
          <p:cNvPr id="21" name="Arrow: Right 20">
            <a:extLst>
              <a:ext uri="{FF2B5EF4-FFF2-40B4-BE49-F238E27FC236}">
                <a16:creationId xmlns:a16="http://schemas.microsoft.com/office/drawing/2014/main" id="{27047D1E-A9E6-1243-4DF2-5E5F0817BB90}"/>
              </a:ext>
            </a:extLst>
          </p:cNvPr>
          <p:cNvSpPr/>
          <p:nvPr/>
        </p:nvSpPr>
        <p:spPr>
          <a:xfrm rot="19800000">
            <a:off x="5764858" y="2777416"/>
            <a:ext cx="905960"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800000">
            <a:off x="5764859" y="4219192"/>
            <a:ext cx="905960" cy="360040"/>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6970707-60A2-2BF6-ED7A-50071EDAE6FC}"/>
              </a:ext>
            </a:extLst>
          </p:cNvPr>
          <p:cNvSpPr/>
          <p:nvPr/>
        </p:nvSpPr>
        <p:spPr>
          <a:xfrm>
            <a:off x="1743741" y="3000472"/>
            <a:ext cx="2011713"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dirty="0"/>
              <a:t>http://webfarm.gopas.cz</a:t>
            </a:r>
          </a:p>
        </p:txBody>
      </p:sp>
      <p:sp>
        <p:nvSpPr>
          <p:cNvPr id="24" name="Rectangle 23">
            <a:extLst>
              <a:ext uri="{FF2B5EF4-FFF2-40B4-BE49-F238E27FC236}">
                <a16:creationId xmlns:a16="http://schemas.microsoft.com/office/drawing/2014/main" id="{DF3A6A2E-E62C-081B-02C9-4A883C85D478}"/>
              </a:ext>
            </a:extLst>
          </p:cNvPr>
          <p:cNvSpPr/>
          <p:nvPr/>
        </p:nvSpPr>
        <p:spPr>
          <a:xfrm>
            <a:off x="1860154" y="3316704"/>
            <a:ext cx="2011713" cy="3712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100" dirty="0"/>
              <a:t>RDP </a:t>
            </a:r>
            <a:r>
              <a:rPr lang="en-US" sz="1100" dirty="0" err="1"/>
              <a:t>ts.gopas.virtual</a:t>
            </a:r>
            <a:endParaRPr lang="en-US" sz="1100" dirty="0"/>
          </a:p>
        </p:txBody>
      </p:sp>
      <p:sp>
        <p:nvSpPr>
          <p:cNvPr id="2" name="TextBox 1">
            <a:extLst>
              <a:ext uri="{FF2B5EF4-FFF2-40B4-BE49-F238E27FC236}">
                <a16:creationId xmlns:a16="http://schemas.microsoft.com/office/drawing/2014/main" id="{EFA67EE8-06D3-4ED4-9125-9F5423CD9DCA}"/>
              </a:ext>
            </a:extLst>
          </p:cNvPr>
          <p:cNvSpPr txBox="1"/>
          <p:nvPr/>
        </p:nvSpPr>
        <p:spPr>
          <a:xfrm>
            <a:off x="412917" y="5623389"/>
            <a:ext cx="4724370" cy="584775"/>
          </a:xfrm>
          <a:prstGeom prst="rect">
            <a:avLst/>
          </a:prstGeom>
          <a:noFill/>
        </p:spPr>
        <p:txBody>
          <a:bodyPr wrap="none" rtlCol="0">
            <a:spAutoFit/>
          </a:bodyPr>
          <a:lstStyle/>
          <a:p>
            <a:r>
              <a:rPr lang="en-US" sz="1600" dirty="0"/>
              <a:t>IIS no Kernel mode</a:t>
            </a:r>
          </a:p>
          <a:p>
            <a:r>
              <a:rPr lang="en-US" sz="1600" dirty="0"/>
              <a:t>IIS with </a:t>
            </a:r>
            <a:r>
              <a:rPr lang="en-US" sz="1600" dirty="0" err="1"/>
              <a:t>useKernelMode</a:t>
            </a:r>
            <a:r>
              <a:rPr lang="en-US" sz="1600" dirty="0"/>
              <a:t> + </a:t>
            </a:r>
            <a:r>
              <a:rPr lang="en-US" sz="1600" dirty="0" err="1"/>
              <a:t>useAppPoolCredentials</a:t>
            </a:r>
            <a:endParaRPr lang="en-US" sz="1600" dirty="0"/>
          </a:p>
        </p:txBody>
      </p:sp>
    </p:spTree>
    <p:extLst>
      <p:ext uri="{BB962C8B-B14F-4D97-AF65-F5344CB8AC3E}">
        <p14:creationId xmlns:p14="http://schemas.microsoft.com/office/powerpoint/2010/main" val="34659977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10651B-C8C6-EE2E-11AB-D097C735930F}"/>
              </a:ext>
            </a:extLst>
          </p:cNvPr>
          <p:cNvSpPr>
            <a:spLocks noGrp="1"/>
          </p:cNvSpPr>
          <p:nvPr>
            <p:ph type="title"/>
          </p:nvPr>
        </p:nvSpPr>
        <p:spPr>
          <a:xfrm>
            <a:off x="457200" y="260648"/>
            <a:ext cx="8229600" cy="782960"/>
          </a:xfrm>
        </p:spPr>
        <p:txBody>
          <a:bodyPr>
            <a:noAutofit/>
          </a:bodyPr>
          <a:lstStyle/>
          <a:p>
            <a:r>
              <a:rPr lang="en-US" sz="2000" dirty="0"/>
              <a:t>Remote Desktop farm with Kerberos server authentication with A or CNAME DNS name pointing its RD broker(s)</a:t>
            </a:r>
          </a:p>
        </p:txBody>
      </p:sp>
      <p:sp>
        <p:nvSpPr>
          <p:cNvPr id="5" name="Content Placeholder 4">
            <a:extLst>
              <a:ext uri="{FF2B5EF4-FFF2-40B4-BE49-F238E27FC236}">
                <a16:creationId xmlns:a16="http://schemas.microsoft.com/office/drawing/2014/main" id="{36C5FBDF-47CD-B8CD-14D0-19405DE84153}"/>
              </a:ext>
            </a:extLst>
          </p:cNvPr>
          <p:cNvSpPr>
            <a:spLocks noGrp="1"/>
          </p:cNvSpPr>
          <p:nvPr>
            <p:ph idx="1"/>
          </p:nvPr>
        </p:nvSpPr>
        <p:spPr/>
        <p:txBody>
          <a:bodyPr>
            <a:normAutofit/>
          </a:bodyPr>
          <a:lstStyle/>
          <a:p>
            <a:pPr marL="0" indent="0">
              <a:buNone/>
            </a:pPr>
            <a:r>
              <a:rPr lang="en-US" sz="1400" dirty="0">
                <a:latin typeface="Courier New" panose="02070309020205020404" pitchFamily="49" charset="0"/>
                <a:cs typeface="Courier New" panose="02070309020205020404" pitchFamily="49" charset="0"/>
              </a:rPr>
              <a:t>Remote Desktop Connection cannot connect to the remote computer. The remote computer that you are trying to connect is redirecting you to another remote computer. Cannot verify that the computers belong to the same RD Session Host server farm. You must use the farm name, not the computer name, when you connect to an RD Session Host server farm.</a:t>
            </a:r>
          </a:p>
        </p:txBody>
      </p:sp>
      <p:pic>
        <p:nvPicPr>
          <p:cNvPr id="7" name="Picture 6">
            <a:extLst>
              <a:ext uri="{FF2B5EF4-FFF2-40B4-BE49-F238E27FC236}">
                <a16:creationId xmlns:a16="http://schemas.microsoft.com/office/drawing/2014/main" id="{EB6D8AB0-FF8A-1BF2-6520-4E6584246B37}"/>
              </a:ext>
            </a:extLst>
          </p:cNvPr>
          <p:cNvPicPr>
            <a:picLocks noChangeAspect="1"/>
          </p:cNvPicPr>
          <p:nvPr/>
        </p:nvPicPr>
        <p:blipFill>
          <a:blip r:embed="rId2"/>
          <a:stretch>
            <a:fillRect/>
          </a:stretch>
        </p:blipFill>
        <p:spPr>
          <a:xfrm>
            <a:off x="2493655" y="3096344"/>
            <a:ext cx="6193145" cy="3140968"/>
          </a:xfrm>
          <a:prstGeom prst="rect">
            <a:avLst/>
          </a:prstGeom>
        </p:spPr>
      </p:pic>
    </p:spTree>
    <p:extLst>
      <p:ext uri="{BB962C8B-B14F-4D97-AF65-F5344CB8AC3E}">
        <p14:creationId xmlns:p14="http://schemas.microsoft.com/office/powerpoint/2010/main" val="1237294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10651B-C8C6-EE2E-11AB-D097C735930F}"/>
              </a:ext>
            </a:extLst>
          </p:cNvPr>
          <p:cNvSpPr>
            <a:spLocks noGrp="1"/>
          </p:cNvSpPr>
          <p:nvPr>
            <p:ph type="title"/>
          </p:nvPr>
        </p:nvSpPr>
        <p:spPr>
          <a:xfrm>
            <a:off x="457200" y="260648"/>
            <a:ext cx="8229600" cy="782960"/>
          </a:xfrm>
        </p:spPr>
        <p:txBody>
          <a:bodyPr>
            <a:noAutofit/>
          </a:bodyPr>
          <a:lstStyle/>
          <a:p>
            <a:r>
              <a:rPr lang="en-US" sz="2000" dirty="0"/>
              <a:t>Remote Desktop farm with Kerberos server authentication with A or CNAME DNS name pointing its RD broker(s)</a:t>
            </a:r>
          </a:p>
        </p:txBody>
      </p:sp>
      <p:sp>
        <p:nvSpPr>
          <p:cNvPr id="5" name="Content Placeholder 4">
            <a:extLst>
              <a:ext uri="{FF2B5EF4-FFF2-40B4-BE49-F238E27FC236}">
                <a16:creationId xmlns:a16="http://schemas.microsoft.com/office/drawing/2014/main" id="{36C5FBDF-47CD-B8CD-14D0-19405DE84153}"/>
              </a:ext>
            </a:extLst>
          </p:cNvPr>
          <p:cNvSpPr>
            <a:spLocks noGrp="1"/>
          </p:cNvSpPr>
          <p:nvPr>
            <p:ph idx="1"/>
          </p:nvPr>
        </p:nvSpPr>
        <p:spPr/>
        <p:txBody>
          <a:bodyPr>
            <a:normAutofit/>
          </a:bodyPr>
          <a:lstStyle/>
          <a:p>
            <a:pPr marL="0" indent="0">
              <a:buNone/>
            </a:pPr>
            <a:r>
              <a:rPr lang="en-US" sz="1400" dirty="0">
                <a:latin typeface="Courier New" panose="02070309020205020404" pitchFamily="49" charset="0"/>
                <a:cs typeface="Courier New" panose="02070309020205020404" pitchFamily="49" charset="0"/>
              </a:rPr>
              <a:t># Note: </a:t>
            </a:r>
            <a:r>
              <a:rPr lang="en-US" sz="1400" dirty="0">
                <a:solidFill>
                  <a:schemeClr val="accent4"/>
                </a:solidFill>
                <a:latin typeface="Courier New" panose="02070309020205020404" pitchFamily="49" charset="0"/>
                <a:cs typeface="Courier New" panose="02070309020205020404" pitchFamily="49" charset="0"/>
              </a:rPr>
              <a:t>not supported since 2012+</a:t>
            </a:r>
            <a:endParaRPr lang="cs-CZ" sz="1400" dirty="0">
              <a:solidFill>
                <a:schemeClr val="accent4"/>
              </a:solidFill>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       rely on a trusted TLS server certificate since 2012+</a:t>
            </a:r>
          </a:p>
          <a:p>
            <a:pPr marL="0" indent="0">
              <a:buNone/>
            </a:pPr>
            <a:endParaRPr lang="cs-CZ" sz="1400" dirty="0">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Import-Module </a:t>
            </a:r>
            <a:r>
              <a:rPr lang="en-US" sz="1400" dirty="0" err="1">
                <a:latin typeface="Courier New" panose="02070309020205020404" pitchFamily="49" charset="0"/>
                <a:cs typeface="Courier New" panose="02070309020205020404" pitchFamily="49" charset="0"/>
              </a:rPr>
              <a:t>RemoteDesktopServices</a:t>
            </a:r>
            <a:endParaRPr lang="en-US" sz="1400" dirty="0">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cd RDS:\</a:t>
            </a:r>
            <a:r>
              <a:rPr lang="en-US" sz="1400" dirty="0" err="1">
                <a:latin typeface="Courier New" panose="02070309020205020404" pitchFamily="49" charset="0"/>
                <a:cs typeface="Courier New" panose="02070309020205020404" pitchFamily="49" charset="0"/>
              </a:rPr>
              <a:t>RDSFarms</a:t>
            </a:r>
            <a:r>
              <a:rPr lang="en-US" sz="1400" dirty="0">
                <a:latin typeface="Courier New" panose="02070309020205020404" pitchFamily="49" charset="0"/>
                <a:cs typeface="Courier New" panose="02070309020205020404" pitchFamily="49" charset="0"/>
              </a:rPr>
              <a:t>\&lt;farm-name&gt;\</a:t>
            </a:r>
            <a:r>
              <a:rPr lang="en-US" sz="1400" dirty="0" err="1">
                <a:latin typeface="Courier New" panose="02070309020205020404" pitchFamily="49" charset="0"/>
                <a:cs typeface="Courier New" panose="02070309020205020404" pitchFamily="49" charset="0"/>
              </a:rPr>
              <a:t>KerbIdentity</a:t>
            </a:r>
            <a:endParaRPr lang="en-US" sz="1400" dirty="0">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	Set-Item </a:t>
            </a:r>
            <a:r>
              <a:rPr lang="en-US" sz="1400" dirty="0" err="1">
                <a:latin typeface="Courier New" panose="02070309020205020404" pitchFamily="49" charset="0"/>
                <a:cs typeface="Courier New" panose="02070309020205020404" pitchFamily="49" charset="0"/>
              </a:rPr>
              <a:t>EnableKerbIdentity</a:t>
            </a:r>
            <a:r>
              <a:rPr lang="en-US" sz="1400" dirty="0">
                <a:latin typeface="Courier New" panose="02070309020205020404" pitchFamily="49" charset="0"/>
                <a:cs typeface="Courier New" panose="02070309020205020404" pitchFamily="49" charset="0"/>
              </a:rPr>
              <a:t> 1</a:t>
            </a:r>
          </a:p>
          <a:p>
            <a:pPr marL="0" indent="0">
              <a:buNone/>
            </a:pPr>
            <a:endParaRPr lang="cs-CZ" sz="1400" dirty="0">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Win32_SessionBrokerFarmAccount</a:t>
            </a:r>
          </a:p>
          <a:p>
            <a:pPr marL="0" indent="0">
              <a:buNone/>
            </a:pP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35958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30AC24-1700-CFDE-25B1-990840A17EF9}"/>
              </a:ext>
            </a:extLst>
          </p:cNvPr>
          <p:cNvSpPr>
            <a:spLocks noGrp="1"/>
          </p:cNvSpPr>
          <p:nvPr>
            <p:ph type="ctrTitle"/>
          </p:nvPr>
        </p:nvSpPr>
        <p:spPr/>
        <p:txBody>
          <a:bodyPr/>
          <a:lstStyle/>
          <a:p>
            <a:r>
              <a:rPr lang="en-US" dirty="0"/>
              <a:t>Time constraints</a:t>
            </a:r>
            <a:br>
              <a:rPr lang="en-US" dirty="0"/>
            </a:br>
            <a:r>
              <a:rPr lang="en-US" dirty="0"/>
              <a:t>+/- 5 minutes by default</a:t>
            </a:r>
          </a:p>
        </p:txBody>
      </p:sp>
      <p:sp>
        <p:nvSpPr>
          <p:cNvPr id="5" name="Subtitle 4">
            <a:extLst>
              <a:ext uri="{FF2B5EF4-FFF2-40B4-BE49-F238E27FC236}">
                <a16:creationId xmlns:a16="http://schemas.microsoft.com/office/drawing/2014/main" id="{25090941-E1D1-D476-94AA-0F3A19ED3B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828275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Autofit/>
          </a:bodyPr>
          <a:lstStyle/>
          <a:p>
            <a:r>
              <a:rPr lang="en-US" sz="2400" dirty="0"/>
              <a:t>KRB_AP_ERR_SKEW during </a:t>
            </a:r>
            <a:r>
              <a:rPr lang="en-US" sz="2400" dirty="0">
                <a:solidFill>
                  <a:schemeClr val="accent1"/>
                </a:solidFill>
              </a:rPr>
              <a:t>pre-</a:t>
            </a:r>
            <a:r>
              <a:rPr lang="en-US" sz="2400" dirty="0"/>
              <a:t>authentication </a:t>
            </a:r>
            <a:br>
              <a:rPr lang="en-US" sz="2400" dirty="0"/>
            </a:br>
            <a:r>
              <a:rPr lang="en-US" sz="2400" dirty="0"/>
              <a:t>"</a:t>
            </a:r>
            <a:r>
              <a:rPr lang="en-US" sz="2400" dirty="0">
                <a:solidFill>
                  <a:schemeClr val="accent5"/>
                </a:solidFill>
              </a:rPr>
              <a:t>just try again</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10" name="Rectangle 9">
            <a:extLst>
              <a:ext uri="{FF2B5EF4-FFF2-40B4-BE49-F238E27FC236}">
                <a16:creationId xmlns:a16="http://schemas.microsoft.com/office/drawing/2014/main" id="{83AB83F0-D6A2-AA61-2590-CA630761D244}"/>
              </a:ext>
            </a:extLst>
          </p:cNvPr>
          <p:cNvSpPr/>
          <p:nvPr/>
        </p:nvSpPr>
        <p:spPr>
          <a:xfrm>
            <a:off x="2339752" y="1838579"/>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21" name="Arrow: Right 20">
            <a:extLst>
              <a:ext uri="{FF2B5EF4-FFF2-40B4-BE49-F238E27FC236}">
                <a16:creationId xmlns:a16="http://schemas.microsoft.com/office/drawing/2014/main" id="{27047D1E-A9E6-1243-4DF2-5E5F0817BB90}"/>
              </a:ext>
            </a:extLst>
          </p:cNvPr>
          <p:cNvSpPr/>
          <p:nvPr/>
        </p:nvSpPr>
        <p:spPr>
          <a:xfrm rot="3600000">
            <a:off x="1394243" y="3833351"/>
            <a:ext cx="21013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11:50</a:t>
            </a:r>
          </a:p>
        </p:txBody>
      </p:sp>
      <p:sp>
        <p:nvSpPr>
          <p:cNvPr id="27" name="Rectangle: Rounded Corners 26">
            <a:extLst>
              <a:ext uri="{FF2B5EF4-FFF2-40B4-BE49-F238E27FC236}">
                <a16:creationId xmlns:a16="http://schemas.microsoft.com/office/drawing/2014/main" id="{9F4BA2EE-08AB-DCFB-92CA-609C681DE0F6}"/>
              </a:ext>
            </a:extLst>
          </p:cNvPr>
          <p:cNvSpPr/>
          <p:nvPr/>
        </p:nvSpPr>
        <p:spPr>
          <a:xfrm>
            <a:off x="340102" y="3487115"/>
            <a:ext cx="1825459"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050" dirty="0"/>
              <a:t>RC4-pwd#</a:t>
            </a:r>
            <a:endParaRPr lang="cs-CZ" sz="1050" dirty="0"/>
          </a:p>
        </p:txBody>
      </p:sp>
      <p:sp>
        <p:nvSpPr>
          <p:cNvPr id="28" name="Rectangle: Rounded Corners 27">
            <a:extLst>
              <a:ext uri="{FF2B5EF4-FFF2-40B4-BE49-F238E27FC236}">
                <a16:creationId xmlns:a16="http://schemas.microsoft.com/office/drawing/2014/main" id="{F79EF9AB-4A64-DAAF-9A41-8BADF940F73A}"/>
              </a:ext>
            </a:extLst>
          </p:cNvPr>
          <p:cNvSpPr/>
          <p:nvPr/>
        </p:nvSpPr>
        <p:spPr>
          <a:xfrm>
            <a:off x="339086" y="4359040"/>
            <a:ext cx="1825459"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050" dirty="0"/>
              <a:t>cert-</a:t>
            </a:r>
            <a:r>
              <a:rPr lang="en-US" sz="1050" dirty="0" err="1"/>
              <a:t>priv</a:t>
            </a:r>
            <a:r>
              <a:rPr lang="en-US" sz="1050" dirty="0"/>
              <a:t>-sig</a:t>
            </a:r>
            <a:endParaRPr lang="cs-CZ" sz="1050" dirty="0"/>
          </a:p>
        </p:txBody>
      </p:sp>
      <p:sp>
        <p:nvSpPr>
          <p:cNvPr id="29" name="Rectangle: Rounded Corners 8">
            <a:extLst>
              <a:ext uri="{FF2B5EF4-FFF2-40B4-BE49-F238E27FC236}">
                <a16:creationId xmlns:a16="http://schemas.microsoft.com/office/drawing/2014/main" id="{4E0DAC30-36DC-2958-29BE-D58FD6807451}"/>
              </a:ext>
            </a:extLst>
          </p:cNvPr>
          <p:cNvSpPr/>
          <p:nvPr/>
        </p:nvSpPr>
        <p:spPr>
          <a:xfrm>
            <a:off x="1229458" y="3565162"/>
            <a:ext cx="845425" cy="2762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12:00</a:t>
            </a:r>
            <a:endParaRPr lang="cs-CZ" sz="1050" dirty="0"/>
          </a:p>
        </p:txBody>
      </p:sp>
      <p:sp>
        <p:nvSpPr>
          <p:cNvPr id="30" name="Rectangle: Rounded Corners 8">
            <a:extLst>
              <a:ext uri="{FF2B5EF4-FFF2-40B4-BE49-F238E27FC236}">
                <a16:creationId xmlns:a16="http://schemas.microsoft.com/office/drawing/2014/main" id="{196D44CA-1BDA-8293-B797-26D202BC9B77}"/>
              </a:ext>
            </a:extLst>
          </p:cNvPr>
          <p:cNvSpPr/>
          <p:nvPr/>
        </p:nvSpPr>
        <p:spPr>
          <a:xfrm>
            <a:off x="1234690" y="4436747"/>
            <a:ext cx="845425" cy="2762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12:00</a:t>
            </a:r>
            <a:endParaRPr lang="cs-CZ" sz="1050" dirty="0"/>
          </a:p>
        </p:txBody>
      </p:sp>
      <p:sp>
        <p:nvSpPr>
          <p:cNvPr id="31" name="Rectangle: Rounded Corners 8">
            <a:extLst>
              <a:ext uri="{FF2B5EF4-FFF2-40B4-BE49-F238E27FC236}">
                <a16:creationId xmlns:a16="http://schemas.microsoft.com/office/drawing/2014/main" id="{5F6AFBA1-B592-1D63-CBCD-3DD1964B203A}"/>
              </a:ext>
            </a:extLst>
          </p:cNvPr>
          <p:cNvSpPr/>
          <p:nvPr/>
        </p:nvSpPr>
        <p:spPr>
          <a:xfrm>
            <a:off x="339086" y="3926992"/>
            <a:ext cx="1825459"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050" dirty="0"/>
              <a:t>AES-</a:t>
            </a:r>
            <a:r>
              <a:rPr lang="en-US" sz="1050" dirty="0" err="1"/>
              <a:t>pwd</a:t>
            </a:r>
            <a:r>
              <a:rPr lang="en-US" sz="1050" dirty="0"/>
              <a:t>#</a:t>
            </a:r>
            <a:endParaRPr lang="cs-CZ" sz="1050" dirty="0"/>
          </a:p>
        </p:txBody>
      </p:sp>
      <p:sp>
        <p:nvSpPr>
          <p:cNvPr id="32" name="Rectangle: Rounded Corners 8">
            <a:extLst>
              <a:ext uri="{FF2B5EF4-FFF2-40B4-BE49-F238E27FC236}">
                <a16:creationId xmlns:a16="http://schemas.microsoft.com/office/drawing/2014/main" id="{24361A88-3339-DF2D-69B1-9CEBB8DDE373}"/>
              </a:ext>
            </a:extLst>
          </p:cNvPr>
          <p:cNvSpPr/>
          <p:nvPr/>
        </p:nvSpPr>
        <p:spPr>
          <a:xfrm>
            <a:off x="1228442" y="4005039"/>
            <a:ext cx="845425" cy="2762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12:00</a:t>
            </a:r>
            <a:endParaRPr lang="cs-CZ" sz="1050" dirty="0"/>
          </a:p>
        </p:txBody>
      </p:sp>
    </p:spTree>
    <p:extLst>
      <p:ext uri="{BB962C8B-B14F-4D97-AF65-F5344CB8AC3E}">
        <p14:creationId xmlns:p14="http://schemas.microsoft.com/office/powerpoint/2010/main" val="19998406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Autofit/>
          </a:bodyPr>
          <a:lstStyle/>
          <a:p>
            <a:r>
              <a:rPr lang="en-US" sz="2400" dirty="0"/>
              <a:t>KRB_AP_ERR_SKEW during </a:t>
            </a:r>
            <a:r>
              <a:rPr lang="en-US" sz="2400" dirty="0">
                <a:solidFill>
                  <a:schemeClr val="accent1"/>
                </a:solidFill>
              </a:rPr>
              <a:t>pre-</a:t>
            </a:r>
            <a:r>
              <a:rPr lang="en-US" sz="2400" dirty="0"/>
              <a:t>authentication </a:t>
            </a:r>
            <a:br>
              <a:rPr lang="en-US" sz="2400" dirty="0"/>
            </a:br>
            <a:r>
              <a:rPr lang="en-US" sz="2400" dirty="0"/>
              <a:t>"</a:t>
            </a:r>
            <a:r>
              <a:rPr lang="en-US" sz="2400" dirty="0">
                <a:solidFill>
                  <a:schemeClr val="accent5"/>
                </a:solidFill>
              </a:rPr>
              <a:t>just try again</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10" name="Rectangle 9">
            <a:extLst>
              <a:ext uri="{FF2B5EF4-FFF2-40B4-BE49-F238E27FC236}">
                <a16:creationId xmlns:a16="http://schemas.microsoft.com/office/drawing/2014/main" id="{83AB83F0-D6A2-AA61-2590-CA630761D244}"/>
              </a:ext>
            </a:extLst>
          </p:cNvPr>
          <p:cNvSpPr/>
          <p:nvPr/>
        </p:nvSpPr>
        <p:spPr>
          <a:xfrm>
            <a:off x="2339752" y="1838579"/>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21" name="Arrow: Right 20">
            <a:extLst>
              <a:ext uri="{FF2B5EF4-FFF2-40B4-BE49-F238E27FC236}">
                <a16:creationId xmlns:a16="http://schemas.microsoft.com/office/drawing/2014/main" id="{27047D1E-A9E6-1243-4DF2-5E5F0817BB90}"/>
              </a:ext>
            </a:extLst>
          </p:cNvPr>
          <p:cNvSpPr/>
          <p:nvPr/>
        </p:nvSpPr>
        <p:spPr>
          <a:xfrm rot="3600000">
            <a:off x="1394243" y="3833351"/>
            <a:ext cx="21013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4400000">
            <a:off x="1804467" y="3693802"/>
            <a:ext cx="2067981" cy="360040"/>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11:50</a:t>
            </a:r>
          </a:p>
        </p:txBody>
      </p:sp>
      <p:sp>
        <p:nvSpPr>
          <p:cNvPr id="25" name="Rectangle 24">
            <a:extLst>
              <a:ext uri="{FF2B5EF4-FFF2-40B4-BE49-F238E27FC236}">
                <a16:creationId xmlns:a16="http://schemas.microsoft.com/office/drawing/2014/main" id="{2CEDB4E0-661E-D9F9-604A-B6DAEF4B6BE6}"/>
              </a:ext>
            </a:extLst>
          </p:cNvPr>
          <p:cNvSpPr/>
          <p:nvPr/>
        </p:nvSpPr>
        <p:spPr>
          <a:xfrm>
            <a:off x="2981894" y="3789040"/>
            <a:ext cx="1662114" cy="37128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100" dirty="0"/>
              <a:t>KRB_AP_ERR_SKEW</a:t>
            </a:r>
          </a:p>
        </p:txBody>
      </p:sp>
      <p:sp>
        <p:nvSpPr>
          <p:cNvPr id="27" name="Rectangle: Rounded Corners 26">
            <a:extLst>
              <a:ext uri="{FF2B5EF4-FFF2-40B4-BE49-F238E27FC236}">
                <a16:creationId xmlns:a16="http://schemas.microsoft.com/office/drawing/2014/main" id="{9F4BA2EE-08AB-DCFB-92CA-609C681DE0F6}"/>
              </a:ext>
            </a:extLst>
          </p:cNvPr>
          <p:cNvSpPr/>
          <p:nvPr/>
        </p:nvSpPr>
        <p:spPr>
          <a:xfrm>
            <a:off x="340102" y="3487115"/>
            <a:ext cx="1825459"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050" dirty="0"/>
              <a:t>RC4-pwd#</a:t>
            </a:r>
            <a:endParaRPr lang="cs-CZ" sz="1050" dirty="0"/>
          </a:p>
        </p:txBody>
      </p:sp>
      <p:sp>
        <p:nvSpPr>
          <p:cNvPr id="28" name="Rectangle: Rounded Corners 27">
            <a:extLst>
              <a:ext uri="{FF2B5EF4-FFF2-40B4-BE49-F238E27FC236}">
                <a16:creationId xmlns:a16="http://schemas.microsoft.com/office/drawing/2014/main" id="{F79EF9AB-4A64-DAAF-9A41-8BADF940F73A}"/>
              </a:ext>
            </a:extLst>
          </p:cNvPr>
          <p:cNvSpPr/>
          <p:nvPr/>
        </p:nvSpPr>
        <p:spPr>
          <a:xfrm>
            <a:off x="339086" y="4359040"/>
            <a:ext cx="1825459"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050" dirty="0"/>
              <a:t>cert-</a:t>
            </a:r>
            <a:r>
              <a:rPr lang="en-US" sz="1050" dirty="0" err="1"/>
              <a:t>priv</a:t>
            </a:r>
            <a:r>
              <a:rPr lang="en-US" sz="1050" dirty="0"/>
              <a:t>-sig</a:t>
            </a:r>
            <a:endParaRPr lang="cs-CZ" sz="1050" dirty="0"/>
          </a:p>
        </p:txBody>
      </p:sp>
      <p:sp>
        <p:nvSpPr>
          <p:cNvPr id="29" name="Rectangle: Rounded Corners 8">
            <a:extLst>
              <a:ext uri="{FF2B5EF4-FFF2-40B4-BE49-F238E27FC236}">
                <a16:creationId xmlns:a16="http://schemas.microsoft.com/office/drawing/2014/main" id="{4E0DAC30-36DC-2958-29BE-D58FD6807451}"/>
              </a:ext>
            </a:extLst>
          </p:cNvPr>
          <p:cNvSpPr/>
          <p:nvPr/>
        </p:nvSpPr>
        <p:spPr>
          <a:xfrm>
            <a:off x="1229458" y="3565162"/>
            <a:ext cx="845425" cy="2762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12:00</a:t>
            </a:r>
            <a:endParaRPr lang="cs-CZ" sz="1050" dirty="0"/>
          </a:p>
        </p:txBody>
      </p:sp>
      <p:sp>
        <p:nvSpPr>
          <p:cNvPr id="30" name="Rectangle: Rounded Corners 8">
            <a:extLst>
              <a:ext uri="{FF2B5EF4-FFF2-40B4-BE49-F238E27FC236}">
                <a16:creationId xmlns:a16="http://schemas.microsoft.com/office/drawing/2014/main" id="{196D44CA-1BDA-8293-B797-26D202BC9B77}"/>
              </a:ext>
            </a:extLst>
          </p:cNvPr>
          <p:cNvSpPr/>
          <p:nvPr/>
        </p:nvSpPr>
        <p:spPr>
          <a:xfrm>
            <a:off x="1234690" y="4436747"/>
            <a:ext cx="845425" cy="2762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12:00</a:t>
            </a:r>
            <a:endParaRPr lang="cs-CZ" sz="1050" dirty="0"/>
          </a:p>
        </p:txBody>
      </p:sp>
      <p:sp>
        <p:nvSpPr>
          <p:cNvPr id="31" name="Rectangle: Rounded Corners 8">
            <a:extLst>
              <a:ext uri="{FF2B5EF4-FFF2-40B4-BE49-F238E27FC236}">
                <a16:creationId xmlns:a16="http://schemas.microsoft.com/office/drawing/2014/main" id="{5F6AFBA1-B592-1D63-CBCD-3DD1964B203A}"/>
              </a:ext>
            </a:extLst>
          </p:cNvPr>
          <p:cNvSpPr/>
          <p:nvPr/>
        </p:nvSpPr>
        <p:spPr>
          <a:xfrm>
            <a:off x="339086" y="3926992"/>
            <a:ext cx="1825459"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050" dirty="0"/>
              <a:t>AES-</a:t>
            </a:r>
            <a:r>
              <a:rPr lang="en-US" sz="1050" dirty="0" err="1"/>
              <a:t>pwd</a:t>
            </a:r>
            <a:r>
              <a:rPr lang="en-US" sz="1050" dirty="0"/>
              <a:t>#</a:t>
            </a:r>
            <a:endParaRPr lang="cs-CZ" sz="1050" dirty="0"/>
          </a:p>
        </p:txBody>
      </p:sp>
      <p:sp>
        <p:nvSpPr>
          <p:cNvPr id="32" name="Rectangle: Rounded Corners 8">
            <a:extLst>
              <a:ext uri="{FF2B5EF4-FFF2-40B4-BE49-F238E27FC236}">
                <a16:creationId xmlns:a16="http://schemas.microsoft.com/office/drawing/2014/main" id="{24361A88-3339-DF2D-69B1-9CEBB8DDE373}"/>
              </a:ext>
            </a:extLst>
          </p:cNvPr>
          <p:cNvSpPr/>
          <p:nvPr/>
        </p:nvSpPr>
        <p:spPr>
          <a:xfrm>
            <a:off x="1228442" y="4005039"/>
            <a:ext cx="845425" cy="2762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12:00</a:t>
            </a:r>
            <a:endParaRPr lang="cs-CZ" sz="1050" dirty="0"/>
          </a:p>
        </p:txBody>
      </p:sp>
      <p:sp>
        <p:nvSpPr>
          <p:cNvPr id="33" name="Rectangle 32">
            <a:extLst>
              <a:ext uri="{FF2B5EF4-FFF2-40B4-BE49-F238E27FC236}">
                <a16:creationId xmlns:a16="http://schemas.microsoft.com/office/drawing/2014/main" id="{4B9DC9C9-D730-43CE-E275-D8F6142E372A}"/>
              </a:ext>
            </a:extLst>
          </p:cNvPr>
          <p:cNvSpPr/>
          <p:nvPr/>
        </p:nvSpPr>
        <p:spPr>
          <a:xfrm>
            <a:off x="4716016" y="3789040"/>
            <a:ext cx="645618" cy="37128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100" dirty="0"/>
              <a:t>11:50</a:t>
            </a:r>
          </a:p>
        </p:txBody>
      </p:sp>
    </p:spTree>
    <p:extLst>
      <p:ext uri="{BB962C8B-B14F-4D97-AF65-F5344CB8AC3E}">
        <p14:creationId xmlns:p14="http://schemas.microsoft.com/office/powerpoint/2010/main" val="117079248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a:bodyPr>
          <a:lstStyle/>
          <a:p>
            <a:r>
              <a:rPr lang="en-US" sz="2400" dirty="0"/>
              <a:t>Service runs yet in the </a:t>
            </a:r>
            <a:r>
              <a:rPr lang="en-US" sz="2400" dirty="0">
                <a:solidFill>
                  <a:schemeClr val="accent2"/>
                </a:solidFill>
              </a:rPr>
              <a:t>past</a:t>
            </a:r>
            <a:br>
              <a:rPr lang="en-US" sz="2400" dirty="0">
                <a:solidFill>
                  <a:schemeClr val="accent4"/>
                </a:solidFill>
              </a:rPr>
            </a:br>
            <a:r>
              <a:rPr lang="en-US" sz="2400" dirty="0"/>
              <a:t>"</a:t>
            </a:r>
            <a:r>
              <a:rPr lang="en-US" sz="2400" dirty="0">
                <a:solidFill>
                  <a:schemeClr val="accent4"/>
                </a:solidFill>
              </a:rPr>
              <a:t>no go since the very start</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21" name="Arrow: Right 20">
            <a:extLst>
              <a:ext uri="{FF2B5EF4-FFF2-40B4-BE49-F238E27FC236}">
                <a16:creationId xmlns:a16="http://schemas.microsoft.com/office/drawing/2014/main" id="{27047D1E-A9E6-1243-4DF2-5E5F0817BB90}"/>
              </a:ext>
            </a:extLst>
          </p:cNvPr>
          <p:cNvSpPr/>
          <p:nvPr/>
        </p:nvSpPr>
        <p:spPr>
          <a:xfrm rot="3600000">
            <a:off x="1394243" y="3833351"/>
            <a:ext cx="21013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4400000">
            <a:off x="1804467" y="3693802"/>
            <a:ext cx="20679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25" name="Rectangle 24">
            <a:extLst>
              <a:ext uri="{FF2B5EF4-FFF2-40B4-BE49-F238E27FC236}">
                <a16:creationId xmlns:a16="http://schemas.microsoft.com/office/drawing/2014/main" id="{2CEDB4E0-661E-D9F9-604A-B6DAEF4B6BE6}"/>
              </a:ext>
            </a:extLst>
          </p:cNvPr>
          <p:cNvSpPr/>
          <p:nvPr/>
        </p:nvSpPr>
        <p:spPr>
          <a:xfrm>
            <a:off x="2981894" y="3777800"/>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2" name="Rectangle 1">
            <a:extLst>
              <a:ext uri="{FF2B5EF4-FFF2-40B4-BE49-F238E27FC236}">
                <a16:creationId xmlns:a16="http://schemas.microsoft.com/office/drawing/2014/main" id="{5B50708E-9C16-08FF-9492-0ED0E3B22FF9}"/>
              </a:ext>
            </a:extLst>
          </p:cNvPr>
          <p:cNvSpPr/>
          <p:nvPr/>
        </p:nvSpPr>
        <p:spPr>
          <a:xfrm>
            <a:off x="6804248" y="1701933"/>
            <a:ext cx="1152128" cy="11521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service</a:t>
            </a:r>
          </a:p>
        </p:txBody>
      </p:sp>
      <p:sp>
        <p:nvSpPr>
          <p:cNvPr id="3" name="Rectangle 2">
            <a:extLst>
              <a:ext uri="{FF2B5EF4-FFF2-40B4-BE49-F238E27FC236}">
                <a16:creationId xmlns:a16="http://schemas.microsoft.com/office/drawing/2014/main" id="{A7ED39D7-C3B3-2C96-42D8-1CAFCEDA949F}"/>
              </a:ext>
            </a:extLst>
          </p:cNvPr>
          <p:cNvSpPr/>
          <p:nvPr/>
        </p:nvSpPr>
        <p:spPr>
          <a:xfrm>
            <a:off x="7668344" y="1516293"/>
            <a:ext cx="855712"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11:50</a:t>
            </a:r>
          </a:p>
        </p:txBody>
      </p:sp>
      <p:sp>
        <p:nvSpPr>
          <p:cNvPr id="9" name="Rectangle 8">
            <a:extLst>
              <a:ext uri="{FF2B5EF4-FFF2-40B4-BE49-F238E27FC236}">
                <a16:creationId xmlns:a16="http://schemas.microsoft.com/office/drawing/2014/main" id="{3CDC256B-0343-8638-E93F-4E413F28A4D1}"/>
              </a:ext>
            </a:extLst>
          </p:cNvPr>
          <p:cNvSpPr/>
          <p:nvPr/>
        </p:nvSpPr>
        <p:spPr>
          <a:xfrm>
            <a:off x="4000128"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11" name="Rectangle 10">
            <a:extLst>
              <a:ext uri="{FF2B5EF4-FFF2-40B4-BE49-F238E27FC236}">
                <a16:creationId xmlns:a16="http://schemas.microsoft.com/office/drawing/2014/main" id="{B640469E-7B63-B791-A464-5A6D3F2BA893}"/>
              </a:ext>
            </a:extLst>
          </p:cNvPr>
          <p:cNvSpPr/>
          <p:nvPr/>
        </p:nvSpPr>
        <p:spPr>
          <a:xfrm>
            <a:off x="4729563"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22:00</a:t>
            </a:r>
          </a:p>
        </p:txBody>
      </p:sp>
    </p:spTree>
    <p:extLst>
      <p:ext uri="{BB962C8B-B14F-4D97-AF65-F5344CB8AC3E}">
        <p14:creationId xmlns:p14="http://schemas.microsoft.com/office/powerpoint/2010/main" val="230768124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a:bodyPr>
          <a:lstStyle/>
          <a:p>
            <a:r>
              <a:rPr lang="en-US" sz="2400" dirty="0"/>
              <a:t>Service runs yet in the </a:t>
            </a:r>
            <a:r>
              <a:rPr lang="en-US" sz="2400" dirty="0">
                <a:solidFill>
                  <a:schemeClr val="accent2"/>
                </a:solidFill>
              </a:rPr>
              <a:t>past</a:t>
            </a:r>
            <a:br>
              <a:rPr lang="en-US" sz="2400" dirty="0">
                <a:solidFill>
                  <a:schemeClr val="accent4"/>
                </a:solidFill>
              </a:rPr>
            </a:br>
            <a:r>
              <a:rPr lang="en-US" sz="2400" dirty="0"/>
              <a:t>"</a:t>
            </a:r>
            <a:r>
              <a:rPr lang="en-US" sz="2400" dirty="0">
                <a:solidFill>
                  <a:schemeClr val="accent4"/>
                </a:solidFill>
              </a:rPr>
              <a:t>no go since the very start</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21" name="Arrow: Right 20">
            <a:extLst>
              <a:ext uri="{FF2B5EF4-FFF2-40B4-BE49-F238E27FC236}">
                <a16:creationId xmlns:a16="http://schemas.microsoft.com/office/drawing/2014/main" id="{27047D1E-A9E6-1243-4DF2-5E5F0817BB90}"/>
              </a:ext>
            </a:extLst>
          </p:cNvPr>
          <p:cNvSpPr/>
          <p:nvPr/>
        </p:nvSpPr>
        <p:spPr>
          <a:xfrm rot="3600000">
            <a:off x="1394243" y="3833351"/>
            <a:ext cx="21013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4400000">
            <a:off x="1804467" y="3693802"/>
            <a:ext cx="20679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25" name="Rectangle 24">
            <a:extLst>
              <a:ext uri="{FF2B5EF4-FFF2-40B4-BE49-F238E27FC236}">
                <a16:creationId xmlns:a16="http://schemas.microsoft.com/office/drawing/2014/main" id="{2CEDB4E0-661E-D9F9-604A-B6DAEF4B6BE6}"/>
              </a:ext>
            </a:extLst>
          </p:cNvPr>
          <p:cNvSpPr/>
          <p:nvPr/>
        </p:nvSpPr>
        <p:spPr>
          <a:xfrm>
            <a:off x="2981894" y="3777800"/>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2" name="Rectangle 1">
            <a:extLst>
              <a:ext uri="{FF2B5EF4-FFF2-40B4-BE49-F238E27FC236}">
                <a16:creationId xmlns:a16="http://schemas.microsoft.com/office/drawing/2014/main" id="{5B50708E-9C16-08FF-9492-0ED0E3B22FF9}"/>
              </a:ext>
            </a:extLst>
          </p:cNvPr>
          <p:cNvSpPr/>
          <p:nvPr/>
        </p:nvSpPr>
        <p:spPr>
          <a:xfrm>
            <a:off x="6804248" y="1701933"/>
            <a:ext cx="1152128" cy="11521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service</a:t>
            </a:r>
          </a:p>
        </p:txBody>
      </p:sp>
      <p:sp>
        <p:nvSpPr>
          <p:cNvPr id="3" name="Rectangle 2">
            <a:extLst>
              <a:ext uri="{FF2B5EF4-FFF2-40B4-BE49-F238E27FC236}">
                <a16:creationId xmlns:a16="http://schemas.microsoft.com/office/drawing/2014/main" id="{A7ED39D7-C3B3-2C96-42D8-1CAFCEDA949F}"/>
              </a:ext>
            </a:extLst>
          </p:cNvPr>
          <p:cNvSpPr/>
          <p:nvPr/>
        </p:nvSpPr>
        <p:spPr>
          <a:xfrm>
            <a:off x="7668344" y="1516293"/>
            <a:ext cx="855712"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11:50</a:t>
            </a:r>
          </a:p>
        </p:txBody>
      </p:sp>
      <p:sp>
        <p:nvSpPr>
          <p:cNvPr id="9" name="Rectangle 8">
            <a:extLst>
              <a:ext uri="{FF2B5EF4-FFF2-40B4-BE49-F238E27FC236}">
                <a16:creationId xmlns:a16="http://schemas.microsoft.com/office/drawing/2014/main" id="{3CDC256B-0343-8638-E93F-4E413F28A4D1}"/>
              </a:ext>
            </a:extLst>
          </p:cNvPr>
          <p:cNvSpPr/>
          <p:nvPr/>
        </p:nvSpPr>
        <p:spPr>
          <a:xfrm>
            <a:off x="4000128"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11" name="Rectangle 10">
            <a:extLst>
              <a:ext uri="{FF2B5EF4-FFF2-40B4-BE49-F238E27FC236}">
                <a16:creationId xmlns:a16="http://schemas.microsoft.com/office/drawing/2014/main" id="{B640469E-7B63-B791-A464-5A6D3F2BA893}"/>
              </a:ext>
            </a:extLst>
          </p:cNvPr>
          <p:cNvSpPr/>
          <p:nvPr/>
        </p:nvSpPr>
        <p:spPr>
          <a:xfrm>
            <a:off x="4729563"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22:00</a:t>
            </a:r>
          </a:p>
        </p:txBody>
      </p:sp>
      <p:sp>
        <p:nvSpPr>
          <p:cNvPr id="8" name="Arrow: Right 7">
            <a:extLst>
              <a:ext uri="{FF2B5EF4-FFF2-40B4-BE49-F238E27FC236}">
                <a16:creationId xmlns:a16="http://schemas.microsoft.com/office/drawing/2014/main" id="{7D1BCAA4-6ADB-DA55-7AAF-5FDBF1DC8817}"/>
              </a:ext>
            </a:extLst>
          </p:cNvPr>
          <p:cNvSpPr/>
          <p:nvPr/>
        </p:nvSpPr>
        <p:spPr>
          <a:xfrm>
            <a:off x="2661582" y="2114542"/>
            <a:ext cx="3998652"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00DEA72-A4E6-636A-E53F-369DAB2DE321}"/>
              </a:ext>
            </a:extLst>
          </p:cNvPr>
          <p:cNvSpPr/>
          <p:nvPr/>
        </p:nvSpPr>
        <p:spPr>
          <a:xfrm>
            <a:off x="3779912" y="1928902"/>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12" name="Rectangle 11">
            <a:extLst>
              <a:ext uri="{FF2B5EF4-FFF2-40B4-BE49-F238E27FC236}">
                <a16:creationId xmlns:a16="http://schemas.microsoft.com/office/drawing/2014/main" id="{84DEEA54-180F-06CA-B3FA-4FD134ABDAD0}"/>
              </a:ext>
            </a:extLst>
          </p:cNvPr>
          <p:cNvSpPr/>
          <p:nvPr/>
        </p:nvSpPr>
        <p:spPr>
          <a:xfrm>
            <a:off x="4798146" y="1928902"/>
            <a:ext cx="645618"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12:00</a:t>
            </a:r>
          </a:p>
        </p:txBody>
      </p:sp>
      <p:sp>
        <p:nvSpPr>
          <p:cNvPr id="13" name="Rectangle 12">
            <a:extLst>
              <a:ext uri="{FF2B5EF4-FFF2-40B4-BE49-F238E27FC236}">
                <a16:creationId xmlns:a16="http://schemas.microsoft.com/office/drawing/2014/main" id="{FE43C227-CA02-F20C-0CFC-AD6E285DB634}"/>
              </a:ext>
            </a:extLst>
          </p:cNvPr>
          <p:cNvSpPr/>
          <p:nvPr/>
        </p:nvSpPr>
        <p:spPr>
          <a:xfrm>
            <a:off x="5527581" y="1928902"/>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22:00</a:t>
            </a:r>
          </a:p>
        </p:txBody>
      </p:sp>
    </p:spTree>
    <p:extLst>
      <p:ext uri="{BB962C8B-B14F-4D97-AF65-F5344CB8AC3E}">
        <p14:creationId xmlns:p14="http://schemas.microsoft.com/office/powerpoint/2010/main" val="30925598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a:bodyPr>
          <a:lstStyle/>
          <a:p>
            <a:r>
              <a:rPr lang="en-US" sz="2400" dirty="0"/>
              <a:t>Service runs a bit in the </a:t>
            </a:r>
            <a:r>
              <a:rPr lang="en-US" sz="2400" dirty="0">
                <a:solidFill>
                  <a:schemeClr val="accent2"/>
                </a:solidFill>
              </a:rPr>
              <a:t>future</a:t>
            </a:r>
            <a:br>
              <a:rPr lang="en-US" sz="2400" dirty="0">
                <a:solidFill>
                  <a:schemeClr val="accent4"/>
                </a:solidFill>
              </a:rPr>
            </a:br>
            <a:r>
              <a:rPr lang="en-US" sz="2400" dirty="0"/>
              <a:t>"</a:t>
            </a:r>
            <a:r>
              <a:rPr lang="en-US" sz="2400" dirty="0">
                <a:solidFill>
                  <a:schemeClr val="accent5"/>
                </a:solidFill>
              </a:rPr>
              <a:t>work for some time until </a:t>
            </a:r>
            <a:r>
              <a:rPr lang="en-US" sz="2400" dirty="0">
                <a:solidFill>
                  <a:schemeClr val="accent4"/>
                </a:solidFill>
              </a:rPr>
              <a:t>not anymore</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21" name="Arrow: Right 20">
            <a:extLst>
              <a:ext uri="{FF2B5EF4-FFF2-40B4-BE49-F238E27FC236}">
                <a16:creationId xmlns:a16="http://schemas.microsoft.com/office/drawing/2014/main" id="{27047D1E-A9E6-1243-4DF2-5E5F0817BB90}"/>
              </a:ext>
            </a:extLst>
          </p:cNvPr>
          <p:cNvSpPr/>
          <p:nvPr/>
        </p:nvSpPr>
        <p:spPr>
          <a:xfrm rot="3600000">
            <a:off x="1394243" y="3833351"/>
            <a:ext cx="21013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4400000">
            <a:off x="1804467" y="3693802"/>
            <a:ext cx="20679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25" name="Rectangle 24">
            <a:extLst>
              <a:ext uri="{FF2B5EF4-FFF2-40B4-BE49-F238E27FC236}">
                <a16:creationId xmlns:a16="http://schemas.microsoft.com/office/drawing/2014/main" id="{2CEDB4E0-661E-D9F9-604A-B6DAEF4B6BE6}"/>
              </a:ext>
            </a:extLst>
          </p:cNvPr>
          <p:cNvSpPr/>
          <p:nvPr/>
        </p:nvSpPr>
        <p:spPr>
          <a:xfrm>
            <a:off x="2981894" y="3777800"/>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2" name="Rectangle 1">
            <a:extLst>
              <a:ext uri="{FF2B5EF4-FFF2-40B4-BE49-F238E27FC236}">
                <a16:creationId xmlns:a16="http://schemas.microsoft.com/office/drawing/2014/main" id="{5B50708E-9C16-08FF-9492-0ED0E3B22FF9}"/>
              </a:ext>
            </a:extLst>
          </p:cNvPr>
          <p:cNvSpPr/>
          <p:nvPr/>
        </p:nvSpPr>
        <p:spPr>
          <a:xfrm>
            <a:off x="6804248" y="1701933"/>
            <a:ext cx="1152128" cy="11521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service</a:t>
            </a:r>
          </a:p>
        </p:txBody>
      </p:sp>
      <p:sp>
        <p:nvSpPr>
          <p:cNvPr id="3" name="Rectangle 2">
            <a:extLst>
              <a:ext uri="{FF2B5EF4-FFF2-40B4-BE49-F238E27FC236}">
                <a16:creationId xmlns:a16="http://schemas.microsoft.com/office/drawing/2014/main" id="{A7ED39D7-C3B3-2C96-42D8-1CAFCEDA949F}"/>
              </a:ext>
            </a:extLst>
          </p:cNvPr>
          <p:cNvSpPr/>
          <p:nvPr/>
        </p:nvSpPr>
        <p:spPr>
          <a:xfrm>
            <a:off x="7668344" y="1516293"/>
            <a:ext cx="855712" cy="37128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dirty="0"/>
              <a:t>12:30</a:t>
            </a:r>
          </a:p>
        </p:txBody>
      </p:sp>
      <p:sp>
        <p:nvSpPr>
          <p:cNvPr id="9" name="Rectangle 8">
            <a:extLst>
              <a:ext uri="{FF2B5EF4-FFF2-40B4-BE49-F238E27FC236}">
                <a16:creationId xmlns:a16="http://schemas.microsoft.com/office/drawing/2014/main" id="{3CDC256B-0343-8638-E93F-4E413F28A4D1}"/>
              </a:ext>
            </a:extLst>
          </p:cNvPr>
          <p:cNvSpPr/>
          <p:nvPr/>
        </p:nvSpPr>
        <p:spPr>
          <a:xfrm>
            <a:off x="4000128"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11" name="Rectangle 10">
            <a:extLst>
              <a:ext uri="{FF2B5EF4-FFF2-40B4-BE49-F238E27FC236}">
                <a16:creationId xmlns:a16="http://schemas.microsoft.com/office/drawing/2014/main" id="{B640469E-7B63-B791-A464-5A6D3F2BA893}"/>
              </a:ext>
            </a:extLst>
          </p:cNvPr>
          <p:cNvSpPr/>
          <p:nvPr/>
        </p:nvSpPr>
        <p:spPr>
          <a:xfrm>
            <a:off x="4729563"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22:00</a:t>
            </a:r>
          </a:p>
        </p:txBody>
      </p:sp>
    </p:spTree>
    <p:extLst>
      <p:ext uri="{BB962C8B-B14F-4D97-AF65-F5344CB8AC3E}">
        <p14:creationId xmlns:p14="http://schemas.microsoft.com/office/powerpoint/2010/main" val="19373859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a:bodyPr>
          <a:lstStyle/>
          <a:p>
            <a:r>
              <a:rPr lang="en-US" sz="2400" dirty="0"/>
              <a:t>Service runs a bit in the </a:t>
            </a:r>
            <a:r>
              <a:rPr lang="en-US" sz="2400" dirty="0">
                <a:solidFill>
                  <a:schemeClr val="accent2"/>
                </a:solidFill>
              </a:rPr>
              <a:t>future</a:t>
            </a:r>
            <a:br>
              <a:rPr lang="en-US" sz="2400" dirty="0">
                <a:solidFill>
                  <a:schemeClr val="accent4"/>
                </a:solidFill>
              </a:rPr>
            </a:br>
            <a:r>
              <a:rPr lang="en-US" sz="2400" dirty="0"/>
              <a:t>"</a:t>
            </a:r>
            <a:r>
              <a:rPr lang="en-US" sz="2400" dirty="0">
                <a:solidFill>
                  <a:schemeClr val="accent5"/>
                </a:solidFill>
              </a:rPr>
              <a:t>work for some time until </a:t>
            </a:r>
            <a:r>
              <a:rPr lang="en-US" sz="2400" dirty="0">
                <a:solidFill>
                  <a:schemeClr val="accent4"/>
                </a:solidFill>
              </a:rPr>
              <a:t>not anymore</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21" name="Arrow: Right 20">
            <a:extLst>
              <a:ext uri="{FF2B5EF4-FFF2-40B4-BE49-F238E27FC236}">
                <a16:creationId xmlns:a16="http://schemas.microsoft.com/office/drawing/2014/main" id="{27047D1E-A9E6-1243-4DF2-5E5F0817BB90}"/>
              </a:ext>
            </a:extLst>
          </p:cNvPr>
          <p:cNvSpPr/>
          <p:nvPr/>
        </p:nvSpPr>
        <p:spPr>
          <a:xfrm rot="3600000">
            <a:off x="1394243" y="3833351"/>
            <a:ext cx="21013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982887F0-BC85-90C4-3941-D7A33825C82B}"/>
              </a:ext>
            </a:extLst>
          </p:cNvPr>
          <p:cNvSpPr/>
          <p:nvPr/>
        </p:nvSpPr>
        <p:spPr>
          <a:xfrm rot="14400000">
            <a:off x="1804467" y="3693802"/>
            <a:ext cx="2067981"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25" name="Rectangle 24">
            <a:extLst>
              <a:ext uri="{FF2B5EF4-FFF2-40B4-BE49-F238E27FC236}">
                <a16:creationId xmlns:a16="http://schemas.microsoft.com/office/drawing/2014/main" id="{2CEDB4E0-661E-D9F9-604A-B6DAEF4B6BE6}"/>
              </a:ext>
            </a:extLst>
          </p:cNvPr>
          <p:cNvSpPr/>
          <p:nvPr/>
        </p:nvSpPr>
        <p:spPr>
          <a:xfrm>
            <a:off x="2981894" y="3777800"/>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2" name="Rectangle 1">
            <a:extLst>
              <a:ext uri="{FF2B5EF4-FFF2-40B4-BE49-F238E27FC236}">
                <a16:creationId xmlns:a16="http://schemas.microsoft.com/office/drawing/2014/main" id="{5B50708E-9C16-08FF-9492-0ED0E3B22FF9}"/>
              </a:ext>
            </a:extLst>
          </p:cNvPr>
          <p:cNvSpPr/>
          <p:nvPr/>
        </p:nvSpPr>
        <p:spPr>
          <a:xfrm>
            <a:off x="6804248" y="1701933"/>
            <a:ext cx="1152128" cy="11521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service</a:t>
            </a:r>
          </a:p>
        </p:txBody>
      </p:sp>
      <p:sp>
        <p:nvSpPr>
          <p:cNvPr id="3" name="Rectangle 2">
            <a:extLst>
              <a:ext uri="{FF2B5EF4-FFF2-40B4-BE49-F238E27FC236}">
                <a16:creationId xmlns:a16="http://schemas.microsoft.com/office/drawing/2014/main" id="{A7ED39D7-C3B3-2C96-42D8-1CAFCEDA949F}"/>
              </a:ext>
            </a:extLst>
          </p:cNvPr>
          <p:cNvSpPr/>
          <p:nvPr/>
        </p:nvSpPr>
        <p:spPr>
          <a:xfrm>
            <a:off x="7668344" y="1516293"/>
            <a:ext cx="855712" cy="37128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dirty="0"/>
              <a:t>12:30</a:t>
            </a:r>
          </a:p>
        </p:txBody>
      </p:sp>
      <p:sp>
        <p:nvSpPr>
          <p:cNvPr id="9" name="Rectangle 8">
            <a:extLst>
              <a:ext uri="{FF2B5EF4-FFF2-40B4-BE49-F238E27FC236}">
                <a16:creationId xmlns:a16="http://schemas.microsoft.com/office/drawing/2014/main" id="{3CDC256B-0343-8638-E93F-4E413F28A4D1}"/>
              </a:ext>
            </a:extLst>
          </p:cNvPr>
          <p:cNvSpPr/>
          <p:nvPr/>
        </p:nvSpPr>
        <p:spPr>
          <a:xfrm>
            <a:off x="4000128"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11" name="Rectangle 10">
            <a:extLst>
              <a:ext uri="{FF2B5EF4-FFF2-40B4-BE49-F238E27FC236}">
                <a16:creationId xmlns:a16="http://schemas.microsoft.com/office/drawing/2014/main" id="{B640469E-7B63-B791-A464-5A6D3F2BA893}"/>
              </a:ext>
            </a:extLst>
          </p:cNvPr>
          <p:cNvSpPr/>
          <p:nvPr/>
        </p:nvSpPr>
        <p:spPr>
          <a:xfrm>
            <a:off x="4729563" y="3777800"/>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22:00</a:t>
            </a:r>
          </a:p>
        </p:txBody>
      </p:sp>
      <p:sp>
        <p:nvSpPr>
          <p:cNvPr id="8" name="Arrow: Right 7">
            <a:extLst>
              <a:ext uri="{FF2B5EF4-FFF2-40B4-BE49-F238E27FC236}">
                <a16:creationId xmlns:a16="http://schemas.microsoft.com/office/drawing/2014/main" id="{7C7EE32B-21EF-CBA0-51F3-6566CBCC8E10}"/>
              </a:ext>
            </a:extLst>
          </p:cNvPr>
          <p:cNvSpPr/>
          <p:nvPr/>
        </p:nvSpPr>
        <p:spPr>
          <a:xfrm>
            <a:off x="2661582" y="2114542"/>
            <a:ext cx="3998652"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D755A0A-B32D-9715-CBD5-CAF679DD3D69}"/>
              </a:ext>
            </a:extLst>
          </p:cNvPr>
          <p:cNvSpPr/>
          <p:nvPr/>
        </p:nvSpPr>
        <p:spPr>
          <a:xfrm>
            <a:off x="3779912" y="1928902"/>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12" name="Rectangle 11">
            <a:extLst>
              <a:ext uri="{FF2B5EF4-FFF2-40B4-BE49-F238E27FC236}">
                <a16:creationId xmlns:a16="http://schemas.microsoft.com/office/drawing/2014/main" id="{BC20F986-1401-5201-BABB-8DD1CE300246}"/>
              </a:ext>
            </a:extLst>
          </p:cNvPr>
          <p:cNvSpPr/>
          <p:nvPr/>
        </p:nvSpPr>
        <p:spPr>
          <a:xfrm>
            <a:off x="4798146" y="1928902"/>
            <a:ext cx="645618" cy="37128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100" dirty="0"/>
              <a:t>12:00</a:t>
            </a:r>
          </a:p>
        </p:txBody>
      </p:sp>
      <p:sp>
        <p:nvSpPr>
          <p:cNvPr id="13" name="Rectangle 12">
            <a:extLst>
              <a:ext uri="{FF2B5EF4-FFF2-40B4-BE49-F238E27FC236}">
                <a16:creationId xmlns:a16="http://schemas.microsoft.com/office/drawing/2014/main" id="{908A316D-8F6C-D99B-F14D-B6A40A212692}"/>
              </a:ext>
            </a:extLst>
          </p:cNvPr>
          <p:cNvSpPr/>
          <p:nvPr/>
        </p:nvSpPr>
        <p:spPr>
          <a:xfrm>
            <a:off x="5527581" y="1928902"/>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22:00</a:t>
            </a:r>
          </a:p>
        </p:txBody>
      </p:sp>
    </p:spTree>
    <p:extLst>
      <p:ext uri="{BB962C8B-B14F-4D97-AF65-F5344CB8AC3E}">
        <p14:creationId xmlns:p14="http://schemas.microsoft.com/office/powerpoint/2010/main" val="3197658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3218A-3AD1-5CE6-D39E-DD4AB3B7E9EB}"/>
              </a:ext>
            </a:extLst>
          </p:cNvPr>
          <p:cNvSpPr>
            <a:spLocks noGrp="1"/>
          </p:cNvSpPr>
          <p:nvPr>
            <p:ph type="title"/>
          </p:nvPr>
        </p:nvSpPr>
        <p:spPr/>
        <p:txBody>
          <a:bodyPr>
            <a:normAutofit/>
          </a:bodyPr>
          <a:lstStyle/>
          <a:p>
            <a:r>
              <a:rPr lang="en-US" sz="2400" dirty="0"/>
              <a:t>Service runs a bit in the </a:t>
            </a:r>
            <a:r>
              <a:rPr lang="en-US" sz="2400" dirty="0">
                <a:solidFill>
                  <a:schemeClr val="accent2"/>
                </a:solidFill>
              </a:rPr>
              <a:t>future</a:t>
            </a:r>
            <a:br>
              <a:rPr lang="en-US" sz="2400" dirty="0">
                <a:solidFill>
                  <a:schemeClr val="accent4"/>
                </a:solidFill>
              </a:rPr>
            </a:br>
            <a:r>
              <a:rPr lang="en-US" sz="2400" dirty="0"/>
              <a:t>"</a:t>
            </a:r>
            <a:r>
              <a:rPr lang="en-US" sz="2400" dirty="0">
                <a:solidFill>
                  <a:schemeClr val="accent5"/>
                </a:solidFill>
              </a:rPr>
              <a:t>work for some time until </a:t>
            </a:r>
            <a:r>
              <a:rPr lang="en-US" sz="2400" dirty="0">
                <a:solidFill>
                  <a:schemeClr val="accent4"/>
                </a:solidFill>
              </a:rPr>
              <a:t>not anymore</a:t>
            </a:r>
            <a:r>
              <a:rPr lang="en-US" sz="2400" dirty="0"/>
              <a:t>"</a:t>
            </a:r>
          </a:p>
        </p:txBody>
      </p:sp>
      <p:sp>
        <p:nvSpPr>
          <p:cNvPr id="7" name="Rectangle 6">
            <a:extLst>
              <a:ext uri="{FF2B5EF4-FFF2-40B4-BE49-F238E27FC236}">
                <a16:creationId xmlns:a16="http://schemas.microsoft.com/office/drawing/2014/main" id="{DF34E4C4-2C46-1C61-F264-97375A40E14C}"/>
              </a:ext>
            </a:extLst>
          </p:cNvPr>
          <p:cNvSpPr/>
          <p:nvPr/>
        </p:nvSpPr>
        <p:spPr>
          <a:xfrm>
            <a:off x="1331640" y="1702957"/>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client</a:t>
            </a:r>
          </a:p>
        </p:txBody>
      </p:sp>
      <p:sp>
        <p:nvSpPr>
          <p:cNvPr id="5" name="Rectangle 4">
            <a:extLst>
              <a:ext uri="{FF2B5EF4-FFF2-40B4-BE49-F238E27FC236}">
                <a16:creationId xmlns:a16="http://schemas.microsoft.com/office/drawing/2014/main" id="{68E68B30-B71E-21FB-458B-4487254CF4C5}"/>
              </a:ext>
            </a:extLst>
          </p:cNvPr>
          <p:cNvSpPr/>
          <p:nvPr/>
        </p:nvSpPr>
        <p:spPr>
          <a:xfrm>
            <a:off x="2627784" y="5157192"/>
            <a:ext cx="1152128" cy="11521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KDC</a:t>
            </a:r>
          </a:p>
        </p:txBody>
      </p:sp>
      <p:sp>
        <p:nvSpPr>
          <p:cNvPr id="6" name="Rectangle 5">
            <a:extLst>
              <a:ext uri="{FF2B5EF4-FFF2-40B4-BE49-F238E27FC236}">
                <a16:creationId xmlns:a16="http://schemas.microsoft.com/office/drawing/2014/main" id="{00BE5629-6187-F0ED-C890-C8B1C0BF6824}"/>
              </a:ext>
            </a:extLst>
          </p:cNvPr>
          <p:cNvSpPr/>
          <p:nvPr/>
        </p:nvSpPr>
        <p:spPr>
          <a:xfrm>
            <a:off x="3572272" y="5001936"/>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21:36</a:t>
            </a:r>
          </a:p>
        </p:txBody>
      </p:sp>
      <p:sp>
        <p:nvSpPr>
          <p:cNvPr id="2" name="Rectangle 1">
            <a:extLst>
              <a:ext uri="{FF2B5EF4-FFF2-40B4-BE49-F238E27FC236}">
                <a16:creationId xmlns:a16="http://schemas.microsoft.com/office/drawing/2014/main" id="{5B50708E-9C16-08FF-9492-0ED0E3B22FF9}"/>
              </a:ext>
            </a:extLst>
          </p:cNvPr>
          <p:cNvSpPr/>
          <p:nvPr/>
        </p:nvSpPr>
        <p:spPr>
          <a:xfrm>
            <a:off x="6804248" y="1701933"/>
            <a:ext cx="1152128" cy="11521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service</a:t>
            </a:r>
          </a:p>
        </p:txBody>
      </p:sp>
      <p:sp>
        <p:nvSpPr>
          <p:cNvPr id="3" name="Rectangle 2">
            <a:extLst>
              <a:ext uri="{FF2B5EF4-FFF2-40B4-BE49-F238E27FC236}">
                <a16:creationId xmlns:a16="http://schemas.microsoft.com/office/drawing/2014/main" id="{A7ED39D7-C3B3-2C96-42D8-1CAFCEDA949F}"/>
              </a:ext>
            </a:extLst>
          </p:cNvPr>
          <p:cNvSpPr/>
          <p:nvPr/>
        </p:nvSpPr>
        <p:spPr>
          <a:xfrm>
            <a:off x="7668344" y="1516293"/>
            <a:ext cx="855712"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22:06</a:t>
            </a:r>
          </a:p>
        </p:txBody>
      </p:sp>
      <p:sp>
        <p:nvSpPr>
          <p:cNvPr id="8" name="Arrow: Right 7">
            <a:extLst>
              <a:ext uri="{FF2B5EF4-FFF2-40B4-BE49-F238E27FC236}">
                <a16:creationId xmlns:a16="http://schemas.microsoft.com/office/drawing/2014/main" id="{7C7EE32B-21EF-CBA0-51F3-6566CBCC8E10}"/>
              </a:ext>
            </a:extLst>
          </p:cNvPr>
          <p:cNvSpPr/>
          <p:nvPr/>
        </p:nvSpPr>
        <p:spPr>
          <a:xfrm>
            <a:off x="2661582" y="2114542"/>
            <a:ext cx="3998652" cy="36004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D755A0A-B32D-9715-CBD5-CAF679DD3D69}"/>
              </a:ext>
            </a:extLst>
          </p:cNvPr>
          <p:cNvSpPr/>
          <p:nvPr/>
        </p:nvSpPr>
        <p:spPr>
          <a:xfrm>
            <a:off x="3779912" y="1928902"/>
            <a:ext cx="931335"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TGS</a:t>
            </a:r>
          </a:p>
        </p:txBody>
      </p:sp>
      <p:sp>
        <p:nvSpPr>
          <p:cNvPr id="12" name="Rectangle 11">
            <a:extLst>
              <a:ext uri="{FF2B5EF4-FFF2-40B4-BE49-F238E27FC236}">
                <a16:creationId xmlns:a16="http://schemas.microsoft.com/office/drawing/2014/main" id="{BC20F986-1401-5201-BABB-8DD1CE300246}"/>
              </a:ext>
            </a:extLst>
          </p:cNvPr>
          <p:cNvSpPr/>
          <p:nvPr/>
        </p:nvSpPr>
        <p:spPr>
          <a:xfrm>
            <a:off x="4798146" y="1928902"/>
            <a:ext cx="645618"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12:00</a:t>
            </a:r>
          </a:p>
        </p:txBody>
      </p:sp>
      <p:sp>
        <p:nvSpPr>
          <p:cNvPr id="13" name="Rectangle 12">
            <a:extLst>
              <a:ext uri="{FF2B5EF4-FFF2-40B4-BE49-F238E27FC236}">
                <a16:creationId xmlns:a16="http://schemas.microsoft.com/office/drawing/2014/main" id="{908A316D-8F6C-D99B-F14D-B6A40A212692}"/>
              </a:ext>
            </a:extLst>
          </p:cNvPr>
          <p:cNvSpPr/>
          <p:nvPr/>
        </p:nvSpPr>
        <p:spPr>
          <a:xfrm>
            <a:off x="5527581" y="1928902"/>
            <a:ext cx="645618" cy="3712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22:00</a:t>
            </a:r>
          </a:p>
        </p:txBody>
      </p:sp>
      <p:sp>
        <p:nvSpPr>
          <p:cNvPr id="14" name="Rectangle 13">
            <a:extLst>
              <a:ext uri="{FF2B5EF4-FFF2-40B4-BE49-F238E27FC236}">
                <a16:creationId xmlns:a16="http://schemas.microsoft.com/office/drawing/2014/main" id="{75443172-013B-2C6A-0DC9-8457C950C1E1}"/>
              </a:ext>
            </a:extLst>
          </p:cNvPr>
          <p:cNvSpPr/>
          <p:nvPr/>
        </p:nvSpPr>
        <p:spPr>
          <a:xfrm>
            <a:off x="589412" y="2636028"/>
            <a:ext cx="855712" cy="37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21:36</a:t>
            </a:r>
          </a:p>
        </p:txBody>
      </p:sp>
    </p:spTree>
    <p:extLst>
      <p:ext uri="{BB962C8B-B14F-4D97-AF65-F5344CB8AC3E}">
        <p14:creationId xmlns:p14="http://schemas.microsoft.com/office/powerpoint/2010/main" val="33319275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30AC24-1700-CFDE-25B1-990840A17EF9}"/>
              </a:ext>
            </a:extLst>
          </p:cNvPr>
          <p:cNvSpPr>
            <a:spLocks noGrp="1"/>
          </p:cNvSpPr>
          <p:nvPr>
            <p:ph type="ctrTitle"/>
          </p:nvPr>
        </p:nvSpPr>
        <p:spPr/>
        <p:txBody>
          <a:bodyPr>
            <a:normAutofit/>
          </a:bodyPr>
          <a:lstStyle/>
          <a:p>
            <a:r>
              <a:rPr lang="en-US" dirty="0"/>
              <a:t>Group number limits</a:t>
            </a:r>
            <a:br>
              <a:rPr lang="en-US" dirty="0"/>
            </a:br>
            <a:r>
              <a:rPr lang="en-US" dirty="0"/>
              <a:t>Ticket size limits and PAC</a:t>
            </a:r>
          </a:p>
        </p:txBody>
      </p:sp>
      <p:sp>
        <p:nvSpPr>
          <p:cNvPr id="5" name="Subtitle 4">
            <a:extLst>
              <a:ext uri="{FF2B5EF4-FFF2-40B4-BE49-F238E27FC236}">
                <a16:creationId xmlns:a16="http://schemas.microsoft.com/office/drawing/2014/main" id="{25090941-E1D1-D476-94AA-0F3A19ED3B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093246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9A28FB-BAF7-5525-D966-1033C55965B5}"/>
              </a:ext>
            </a:extLst>
          </p:cNvPr>
          <p:cNvSpPr>
            <a:spLocks noGrp="1"/>
          </p:cNvSpPr>
          <p:nvPr>
            <p:ph type="title"/>
          </p:nvPr>
        </p:nvSpPr>
        <p:spPr/>
        <p:txBody>
          <a:bodyPr/>
          <a:lstStyle/>
          <a:p>
            <a:r>
              <a:rPr lang="en-US" dirty="0"/>
              <a:t>Group membership limit on </a:t>
            </a:r>
            <a:r>
              <a:rPr lang="en-US" dirty="0">
                <a:solidFill>
                  <a:schemeClr val="accent1"/>
                </a:solidFill>
              </a:rPr>
              <a:t>access token</a:t>
            </a:r>
          </a:p>
        </p:txBody>
      </p:sp>
      <p:sp>
        <p:nvSpPr>
          <p:cNvPr id="5" name="Content Placeholder 4">
            <a:extLst>
              <a:ext uri="{FF2B5EF4-FFF2-40B4-BE49-F238E27FC236}">
                <a16:creationId xmlns:a16="http://schemas.microsoft.com/office/drawing/2014/main" id="{6D63D192-0E88-9981-BFC2-816F6BCB03E6}"/>
              </a:ext>
            </a:extLst>
          </p:cNvPr>
          <p:cNvSpPr>
            <a:spLocks noGrp="1"/>
          </p:cNvSpPr>
          <p:nvPr>
            <p:ph idx="1"/>
          </p:nvPr>
        </p:nvSpPr>
        <p:spPr/>
        <p:txBody>
          <a:bodyPr/>
          <a:lstStyle/>
          <a:p>
            <a:r>
              <a:rPr lang="en-US" dirty="0"/>
              <a:t>local access token (or remote :-)</a:t>
            </a:r>
          </a:p>
          <a:p>
            <a:pPr marL="457200" lvl="1" indent="0">
              <a:buNone/>
            </a:pPr>
            <a:r>
              <a:rPr lang="en-US" dirty="0" err="1">
                <a:latin typeface="Courier New" panose="02070309020205020404" pitchFamily="49" charset="0"/>
                <a:cs typeface="Courier New" panose="02070309020205020404" pitchFamily="49" charset="0"/>
              </a:rPr>
              <a:t>whoami</a:t>
            </a:r>
            <a:r>
              <a:rPr lang="en-US" dirty="0">
                <a:latin typeface="Courier New" panose="02070309020205020404" pitchFamily="49" charset="0"/>
                <a:cs typeface="Courier New" panose="02070309020205020404" pitchFamily="49" charset="0"/>
              </a:rPr>
              <a:t> /all</a:t>
            </a:r>
          </a:p>
          <a:p>
            <a:r>
              <a:rPr lang="en-US" dirty="0"/>
              <a:t>all nested </a:t>
            </a:r>
            <a:r>
              <a:rPr lang="en-US" dirty="0">
                <a:solidFill>
                  <a:schemeClr val="accent1"/>
                </a:solidFill>
              </a:rPr>
              <a:t>security groups</a:t>
            </a:r>
          </a:p>
          <a:p>
            <a:pPr lvl="1"/>
            <a:r>
              <a:rPr lang="en-US" dirty="0"/>
              <a:t>excluding domain local groups from other domains</a:t>
            </a:r>
          </a:p>
          <a:p>
            <a:pPr lvl="1"/>
            <a:r>
              <a:rPr lang="en-US" dirty="0"/>
              <a:t>including NT AUTHORITY, BUILTIN, ...</a:t>
            </a:r>
          </a:p>
          <a:p>
            <a:r>
              <a:rPr lang="en-US" dirty="0"/>
              <a:t>max </a:t>
            </a:r>
            <a:r>
              <a:rPr lang="en-US" dirty="0">
                <a:solidFill>
                  <a:schemeClr val="accent1"/>
                </a:solidFill>
              </a:rPr>
              <a:t>1025</a:t>
            </a:r>
            <a:r>
              <a:rPr lang="en-US" dirty="0"/>
              <a:t> SIDs</a:t>
            </a:r>
          </a:p>
          <a:p>
            <a:pPr lvl="1"/>
            <a:r>
              <a:rPr lang="en-US" dirty="0"/>
              <a:t>account SID</a:t>
            </a:r>
          </a:p>
          <a:p>
            <a:pPr lvl="1"/>
            <a:r>
              <a:rPr lang="en-US" dirty="0"/>
              <a:t>group SIDs</a:t>
            </a:r>
          </a:p>
          <a:p>
            <a:pPr lvl="1"/>
            <a:r>
              <a:rPr lang="en-US" dirty="0" err="1"/>
              <a:t>sIDHistory</a:t>
            </a:r>
            <a:r>
              <a:rPr lang="en-US" dirty="0"/>
              <a:t> SIDs</a:t>
            </a:r>
          </a:p>
          <a:p>
            <a:pPr lvl="1"/>
            <a:endParaRPr lang="en-US" dirty="0"/>
          </a:p>
          <a:p>
            <a:r>
              <a:rPr lang="en-US" dirty="0"/>
              <a:t>Kerberos or NTLM or </a:t>
            </a:r>
            <a:r>
              <a:rPr lang="en-US" dirty="0" err="1"/>
              <a:t>Schannel</a:t>
            </a:r>
            <a:r>
              <a:rPr lang="en-US" dirty="0"/>
              <a:t> ...</a:t>
            </a:r>
          </a:p>
        </p:txBody>
      </p:sp>
    </p:spTree>
    <p:extLst>
      <p:ext uri="{BB962C8B-B14F-4D97-AF65-F5344CB8AC3E}">
        <p14:creationId xmlns:p14="http://schemas.microsoft.com/office/powerpoint/2010/main" val="21793016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4B1AF-1DF6-7472-72DC-20A048E40FD3}"/>
              </a:ext>
            </a:extLst>
          </p:cNvPr>
          <p:cNvSpPr>
            <a:spLocks noGrp="1"/>
          </p:cNvSpPr>
          <p:nvPr>
            <p:ph type="title"/>
          </p:nvPr>
        </p:nvSpPr>
        <p:spPr/>
        <p:txBody>
          <a:bodyPr>
            <a:noAutofit/>
          </a:bodyPr>
          <a:lstStyle/>
          <a:p>
            <a:r>
              <a:rPr lang="en-US" sz="2000" dirty="0"/>
              <a:t>During a logon attempt, the user's security context accumulated too many security IDs</a:t>
            </a:r>
          </a:p>
        </p:txBody>
      </p:sp>
      <p:sp>
        <p:nvSpPr>
          <p:cNvPr id="3" name="Content Placeholder 2">
            <a:extLst>
              <a:ext uri="{FF2B5EF4-FFF2-40B4-BE49-F238E27FC236}">
                <a16:creationId xmlns:a16="http://schemas.microsoft.com/office/drawing/2014/main" id="{CD5D28C9-686C-FAB2-55A8-9E6C8BD4D8B9}"/>
              </a:ext>
            </a:extLst>
          </p:cNvPr>
          <p:cNvSpPr>
            <a:spLocks noGrp="1"/>
          </p:cNvSpPr>
          <p:nvPr>
            <p:ph idx="1"/>
          </p:nvPr>
        </p:nvSpPr>
        <p:spPr/>
        <p:txBody>
          <a:bodyPr>
            <a:normAutofit/>
          </a:bodyPr>
          <a:lstStyle/>
          <a:p>
            <a:pPr marL="0" indent="0">
              <a:buNone/>
            </a:pPr>
            <a:r>
              <a:rPr lang="en-US" sz="1600" dirty="0">
                <a:latin typeface="Courier New" panose="02070309020205020404" pitchFamily="49" charset="0"/>
                <a:cs typeface="Courier New" panose="02070309020205020404" pitchFamily="49" charset="0"/>
              </a:rPr>
              <a:t>0xC000015A</a:t>
            </a:r>
          </a:p>
          <a:p>
            <a:pPr marL="0" indent="0">
              <a:buNone/>
            </a:pPr>
            <a:r>
              <a:rPr lang="en-US" sz="1600" dirty="0">
                <a:latin typeface="Courier New" panose="02070309020205020404" pitchFamily="49" charset="0"/>
                <a:cs typeface="Courier New" panose="02070309020205020404" pitchFamily="49" charset="0"/>
              </a:rPr>
              <a:t>STATUS_TOO_MANY_CONTEXT_IDS</a:t>
            </a:r>
          </a:p>
        </p:txBody>
      </p:sp>
      <p:pic>
        <p:nvPicPr>
          <p:cNvPr id="4" name="Picture 3">
            <a:extLst>
              <a:ext uri="{FF2B5EF4-FFF2-40B4-BE49-F238E27FC236}">
                <a16:creationId xmlns:a16="http://schemas.microsoft.com/office/drawing/2014/main" id="{B9F195FB-73DF-27AA-EA4F-CE90D8AFCBB5}"/>
              </a:ext>
            </a:extLst>
          </p:cNvPr>
          <p:cNvPicPr>
            <a:picLocks noChangeAspect="1"/>
          </p:cNvPicPr>
          <p:nvPr/>
        </p:nvPicPr>
        <p:blipFill>
          <a:blip r:embed="rId2"/>
          <a:stretch>
            <a:fillRect/>
          </a:stretch>
        </p:blipFill>
        <p:spPr>
          <a:xfrm>
            <a:off x="3767650" y="2276872"/>
            <a:ext cx="5376349" cy="4577688"/>
          </a:xfrm>
          <a:prstGeom prst="rect">
            <a:avLst/>
          </a:prstGeom>
        </p:spPr>
      </p:pic>
    </p:spTree>
    <p:extLst>
      <p:ext uri="{BB962C8B-B14F-4D97-AF65-F5344CB8AC3E}">
        <p14:creationId xmlns:p14="http://schemas.microsoft.com/office/powerpoint/2010/main" val="25885728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5FBE-8C76-6698-4DE7-9F87BDE34F2B}"/>
              </a:ext>
            </a:extLst>
          </p:cNvPr>
          <p:cNvSpPr>
            <a:spLocks noGrp="1"/>
          </p:cNvSpPr>
          <p:nvPr>
            <p:ph type="title"/>
          </p:nvPr>
        </p:nvSpPr>
        <p:spPr/>
        <p:txBody>
          <a:bodyPr/>
          <a:lstStyle/>
          <a:p>
            <a:r>
              <a:rPr lang="en-US" dirty="0"/>
              <a:t>Local Kerberos </a:t>
            </a:r>
            <a:r>
              <a:rPr lang="en-US" dirty="0">
                <a:solidFill>
                  <a:schemeClr val="accent1"/>
                </a:solidFill>
              </a:rPr>
              <a:t>ticket</a:t>
            </a:r>
            <a:r>
              <a:rPr lang="en-US" dirty="0"/>
              <a:t> size limits</a:t>
            </a:r>
          </a:p>
        </p:txBody>
      </p:sp>
      <p:sp>
        <p:nvSpPr>
          <p:cNvPr id="3" name="Content Placeholder 2">
            <a:extLst>
              <a:ext uri="{FF2B5EF4-FFF2-40B4-BE49-F238E27FC236}">
                <a16:creationId xmlns:a16="http://schemas.microsoft.com/office/drawing/2014/main" id="{B471DE9F-DD8A-222C-8C14-7231F158C5B4}"/>
              </a:ext>
            </a:extLst>
          </p:cNvPr>
          <p:cNvSpPr>
            <a:spLocks noGrp="1"/>
          </p:cNvSpPr>
          <p:nvPr>
            <p:ph idx="1"/>
          </p:nvPr>
        </p:nvSpPr>
        <p:spPr/>
        <p:txBody>
          <a:bodyPr>
            <a:normAutofit/>
          </a:bodyPr>
          <a:lstStyle/>
          <a:p>
            <a:r>
              <a:rPr lang="en-US" sz="2000" dirty="0"/>
              <a:t>Windows 2000</a:t>
            </a:r>
          </a:p>
          <a:p>
            <a:pPr lvl="1"/>
            <a:r>
              <a:rPr lang="en-US" sz="1800" dirty="0"/>
              <a:t>8 kB</a:t>
            </a:r>
          </a:p>
          <a:p>
            <a:r>
              <a:rPr lang="en-US" sz="2000" dirty="0"/>
              <a:t>Windows XP SP2, 2003, 2008, Vista, 7, 2008 R2</a:t>
            </a:r>
          </a:p>
          <a:p>
            <a:pPr lvl="1"/>
            <a:r>
              <a:rPr lang="en-US" sz="1800" dirty="0"/>
              <a:t>12 kB</a:t>
            </a:r>
          </a:p>
          <a:p>
            <a:r>
              <a:rPr lang="en-US" sz="2000" dirty="0"/>
              <a:t>Windows 2012/8+</a:t>
            </a:r>
          </a:p>
          <a:p>
            <a:pPr lvl="1"/>
            <a:r>
              <a:rPr lang="en-US" sz="1800" dirty="0"/>
              <a:t>42500 B</a:t>
            </a:r>
          </a:p>
          <a:p>
            <a:pPr lvl="1"/>
            <a:endParaRPr lang="en-US" sz="1800" dirty="0"/>
          </a:p>
          <a:p>
            <a:pPr marL="0" indent="0">
              <a:buNone/>
            </a:pPr>
            <a:endParaRPr lang="en-US" sz="1600" dirty="0">
              <a:latin typeface="Courier New" panose="02070309020205020404" pitchFamily="49" charset="0"/>
              <a:cs typeface="Courier New" panose="02070309020205020404" pitchFamily="49" charset="0"/>
            </a:endParaRPr>
          </a:p>
          <a:p>
            <a:pPr marL="0" indent="0">
              <a:buNone/>
            </a:pPr>
            <a:r>
              <a:rPr lang="en-US" sz="1600" dirty="0">
                <a:latin typeface="Courier New" panose="02070309020205020404" pitchFamily="49" charset="0"/>
                <a:cs typeface="Courier New" panose="02070309020205020404" pitchFamily="49" charset="0"/>
              </a:rPr>
              <a:t>HKLM\System\</a:t>
            </a:r>
            <a:r>
              <a:rPr lang="en-US" sz="1600" dirty="0" err="1">
                <a:latin typeface="Courier New" panose="02070309020205020404" pitchFamily="49" charset="0"/>
                <a:cs typeface="Courier New" panose="02070309020205020404" pitchFamily="49" charset="0"/>
              </a:rPr>
              <a:t>CurrentControlSet</a:t>
            </a:r>
            <a:r>
              <a:rPr lang="en-US" sz="1600" dirty="0">
                <a:latin typeface="Courier New" panose="02070309020205020404" pitchFamily="49" charset="0"/>
                <a:cs typeface="Courier New" panose="02070309020205020404" pitchFamily="49" charset="0"/>
              </a:rPr>
              <a:t>\Control\LSA\Kerberos\Parameters</a:t>
            </a:r>
          </a:p>
          <a:p>
            <a:pPr marL="0" indent="0">
              <a:buNone/>
            </a:pPr>
            <a:r>
              <a:rPr lang="en-US" sz="1600" dirty="0" err="1">
                <a:latin typeface="Courier New" panose="02070309020205020404" pitchFamily="49" charset="0"/>
                <a:cs typeface="Courier New" panose="02070309020205020404" pitchFamily="49" charset="0"/>
              </a:rPr>
              <a:t>MaxTokenSize</a:t>
            </a:r>
            <a:r>
              <a:rPr lang="en-US" sz="1600" dirty="0">
                <a:latin typeface="Courier New" panose="02070309020205020404" pitchFamily="49" charset="0"/>
                <a:cs typeface="Courier New" panose="02070309020205020404" pitchFamily="49" charset="0"/>
              </a:rPr>
              <a:t> = DWORD = 0-65535</a:t>
            </a:r>
          </a:p>
        </p:txBody>
      </p:sp>
    </p:spTree>
    <p:extLst>
      <p:ext uri="{BB962C8B-B14F-4D97-AF65-F5344CB8AC3E}">
        <p14:creationId xmlns:p14="http://schemas.microsoft.com/office/powerpoint/2010/main" val="7817705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86D1-C618-A9CC-E9BA-79853F715B9A}"/>
              </a:ext>
            </a:extLst>
          </p:cNvPr>
          <p:cNvSpPr>
            <a:spLocks noGrp="1"/>
          </p:cNvSpPr>
          <p:nvPr>
            <p:ph type="title"/>
          </p:nvPr>
        </p:nvSpPr>
        <p:spPr/>
        <p:txBody>
          <a:bodyPr/>
          <a:lstStyle/>
          <a:p>
            <a:r>
              <a:rPr lang="en-US" dirty="0"/>
              <a:t>Privilege Attribute Certificate (PAC)</a:t>
            </a:r>
          </a:p>
        </p:txBody>
      </p:sp>
      <p:sp>
        <p:nvSpPr>
          <p:cNvPr id="3" name="Content Placeholder 2">
            <a:extLst>
              <a:ext uri="{FF2B5EF4-FFF2-40B4-BE49-F238E27FC236}">
                <a16:creationId xmlns:a16="http://schemas.microsoft.com/office/drawing/2014/main" id="{B742850E-D337-E16B-394F-5C60B1D4F10C}"/>
              </a:ext>
            </a:extLst>
          </p:cNvPr>
          <p:cNvSpPr>
            <a:spLocks noGrp="1"/>
          </p:cNvSpPr>
          <p:nvPr>
            <p:ph idx="1"/>
          </p:nvPr>
        </p:nvSpPr>
        <p:spPr/>
        <p:txBody>
          <a:bodyPr>
            <a:normAutofit fontScale="92500" lnSpcReduction="10000"/>
          </a:bodyPr>
          <a:lstStyle/>
          <a:p>
            <a:r>
              <a:rPr lang="en-US" dirty="0" err="1"/>
              <a:t>ExtraSIDs</a:t>
            </a:r>
            <a:r>
              <a:rPr lang="en-US" dirty="0"/>
              <a:t> field</a:t>
            </a:r>
          </a:p>
          <a:p>
            <a:pPr lvl="1"/>
            <a:r>
              <a:rPr lang="en-US" dirty="0"/>
              <a:t>40 B full SID values</a:t>
            </a:r>
          </a:p>
          <a:p>
            <a:r>
              <a:rPr lang="en-US" dirty="0" err="1"/>
              <a:t>ResourceGroupIds</a:t>
            </a:r>
            <a:endParaRPr lang="en-US" dirty="0"/>
          </a:p>
          <a:p>
            <a:pPr lvl="1"/>
            <a:r>
              <a:rPr lang="en-US" dirty="0"/>
              <a:t>8 B only RID relative to a common domain SID</a:t>
            </a:r>
          </a:p>
          <a:p>
            <a:pPr lvl="1"/>
            <a:r>
              <a:rPr lang="en-US" dirty="0"/>
              <a:t>DFL invariant behavior</a:t>
            </a:r>
          </a:p>
          <a:p>
            <a:pPr lvl="2"/>
            <a:r>
              <a:rPr lang="en-US" dirty="0"/>
              <a:t>all Windows 2000+ clients understand</a:t>
            </a:r>
          </a:p>
          <a:p>
            <a:endParaRPr lang="en-US" dirty="0"/>
          </a:p>
          <a:p>
            <a:r>
              <a:rPr lang="en-US" dirty="0"/>
              <a:t>Windows 2008 R2- DCs</a:t>
            </a:r>
          </a:p>
          <a:p>
            <a:pPr lvl="1"/>
            <a:r>
              <a:rPr lang="en-US" dirty="0"/>
              <a:t>"compress" only </a:t>
            </a:r>
            <a:r>
              <a:rPr lang="en-US" dirty="0">
                <a:solidFill>
                  <a:schemeClr val="accent1"/>
                </a:solidFill>
              </a:rPr>
              <a:t>global</a:t>
            </a:r>
            <a:r>
              <a:rPr lang="en-US" dirty="0"/>
              <a:t> and </a:t>
            </a:r>
            <a:r>
              <a:rPr lang="en-US" dirty="0">
                <a:solidFill>
                  <a:schemeClr val="accent1"/>
                </a:solidFill>
              </a:rPr>
              <a:t>universal groups</a:t>
            </a:r>
            <a:r>
              <a:rPr lang="en-US" dirty="0"/>
              <a:t> from the account domain into TGT</a:t>
            </a:r>
          </a:p>
          <a:p>
            <a:r>
              <a:rPr lang="en-US" dirty="0"/>
              <a:t>Windows 2012 DCs</a:t>
            </a:r>
          </a:p>
          <a:p>
            <a:pPr lvl="1"/>
            <a:r>
              <a:rPr lang="en-US" dirty="0"/>
              <a:t>"compress" all SIDs including </a:t>
            </a:r>
            <a:r>
              <a:rPr lang="en-US" dirty="0">
                <a:solidFill>
                  <a:schemeClr val="accent1"/>
                </a:solidFill>
              </a:rPr>
              <a:t>local groups</a:t>
            </a:r>
            <a:r>
              <a:rPr lang="en-US" dirty="0"/>
              <a:t> and all universal group SIDs</a:t>
            </a:r>
          </a:p>
        </p:txBody>
      </p:sp>
    </p:spTree>
    <p:extLst>
      <p:ext uri="{BB962C8B-B14F-4D97-AF65-F5344CB8AC3E}">
        <p14:creationId xmlns:p14="http://schemas.microsoft.com/office/powerpoint/2010/main" val="10552534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5DDAC-37A6-53C4-6879-86CB35347096}"/>
              </a:ext>
            </a:extLst>
          </p:cNvPr>
          <p:cNvSpPr>
            <a:spLocks noGrp="1"/>
          </p:cNvSpPr>
          <p:nvPr>
            <p:ph type="title"/>
          </p:nvPr>
        </p:nvSpPr>
        <p:spPr/>
        <p:txBody>
          <a:bodyPr/>
          <a:lstStyle/>
          <a:p>
            <a:r>
              <a:rPr lang="en-US" dirty="0"/>
              <a:t>TGT vs. TGS</a:t>
            </a:r>
          </a:p>
        </p:txBody>
      </p:sp>
      <p:sp>
        <p:nvSpPr>
          <p:cNvPr id="3" name="Content Placeholder 2">
            <a:extLst>
              <a:ext uri="{FF2B5EF4-FFF2-40B4-BE49-F238E27FC236}">
                <a16:creationId xmlns:a16="http://schemas.microsoft.com/office/drawing/2014/main" id="{5F3B1D1E-DC77-4643-DC36-554F46080A98}"/>
              </a:ext>
            </a:extLst>
          </p:cNvPr>
          <p:cNvSpPr>
            <a:spLocks noGrp="1"/>
          </p:cNvSpPr>
          <p:nvPr>
            <p:ph idx="1"/>
          </p:nvPr>
        </p:nvSpPr>
        <p:spPr/>
        <p:txBody>
          <a:bodyPr/>
          <a:lstStyle/>
          <a:p>
            <a:r>
              <a:rPr lang="en-US" dirty="0"/>
              <a:t>TGT</a:t>
            </a:r>
          </a:p>
          <a:p>
            <a:pPr lvl="1"/>
            <a:r>
              <a:rPr lang="en-US" dirty="0"/>
              <a:t>global group SIDs</a:t>
            </a:r>
          </a:p>
          <a:p>
            <a:pPr lvl="1"/>
            <a:r>
              <a:rPr lang="en-US" dirty="0"/>
              <a:t>universal group SIDs</a:t>
            </a:r>
          </a:p>
          <a:p>
            <a:r>
              <a:rPr lang="en-US" dirty="0"/>
              <a:t>TGS</a:t>
            </a:r>
          </a:p>
          <a:p>
            <a:pPr lvl="1"/>
            <a:r>
              <a:rPr lang="en-US" dirty="0"/>
              <a:t>global group SIDs</a:t>
            </a:r>
          </a:p>
          <a:p>
            <a:pPr lvl="1"/>
            <a:r>
              <a:rPr lang="en-US" dirty="0"/>
              <a:t>universal group SIDs</a:t>
            </a:r>
          </a:p>
          <a:p>
            <a:pPr lvl="1"/>
            <a:r>
              <a:rPr lang="en-US" dirty="0"/>
              <a:t>domain local group SIDs from the resource domain</a:t>
            </a:r>
          </a:p>
        </p:txBody>
      </p:sp>
    </p:spTree>
    <p:extLst>
      <p:ext uri="{BB962C8B-B14F-4D97-AF65-F5344CB8AC3E}">
        <p14:creationId xmlns:p14="http://schemas.microsoft.com/office/powerpoint/2010/main" val="31644605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4183-EB92-0B51-5189-DC3867E369D8}"/>
              </a:ext>
            </a:extLst>
          </p:cNvPr>
          <p:cNvSpPr>
            <a:spLocks noGrp="1"/>
          </p:cNvSpPr>
          <p:nvPr>
            <p:ph type="title"/>
          </p:nvPr>
        </p:nvSpPr>
        <p:spPr/>
        <p:txBody>
          <a:bodyPr/>
          <a:lstStyle/>
          <a:p>
            <a:r>
              <a:rPr lang="en-US" dirty="0"/>
              <a:t>Note: no need to disable "compression"</a:t>
            </a:r>
          </a:p>
        </p:txBody>
      </p:sp>
      <p:sp>
        <p:nvSpPr>
          <p:cNvPr id="3" name="Content Placeholder 2">
            <a:extLst>
              <a:ext uri="{FF2B5EF4-FFF2-40B4-BE49-F238E27FC236}">
                <a16:creationId xmlns:a16="http://schemas.microsoft.com/office/drawing/2014/main" id="{F5349C0E-060B-6D92-42AC-94A52ACF9D68}"/>
              </a:ext>
            </a:extLst>
          </p:cNvPr>
          <p:cNvSpPr>
            <a:spLocks noGrp="1"/>
          </p:cNvSpPr>
          <p:nvPr>
            <p:ph idx="1"/>
          </p:nvPr>
        </p:nvSpPr>
        <p:spPr/>
        <p:txBody>
          <a:bodyPr>
            <a:normAutofit/>
          </a:bodyPr>
          <a:lstStyle/>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err="1">
                <a:latin typeface="Courier New" panose="02070309020205020404" pitchFamily="49" charset="0"/>
                <a:cs typeface="Courier New" panose="02070309020205020404" pitchFamily="49" charset="0"/>
              </a:rPr>
              <a:t>msDS-SupportedEncryptionTypes</a:t>
            </a:r>
            <a:r>
              <a:rPr lang="en-US" sz="1800" dirty="0">
                <a:latin typeface="Courier New" panose="02070309020205020404" pitchFamily="49" charset="0"/>
                <a:cs typeface="Courier New" panose="02070309020205020404" pitchFamily="49" charset="0"/>
              </a:rPr>
              <a:t> = 0x80000</a:t>
            </a:r>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lang="en-US" sz="1800" dirty="0">
                <a:latin typeface="Courier New" panose="02070309020205020404" pitchFamily="49" charset="0"/>
                <a:cs typeface="Courier New" panose="02070309020205020404" pitchFamily="49" charset="0"/>
              </a:rPr>
              <a:t>HKLM\System\</a:t>
            </a:r>
            <a:r>
              <a:rPr lang="en-US" sz="1800" dirty="0" err="1">
                <a:latin typeface="Courier New" panose="02070309020205020404" pitchFamily="49" charset="0"/>
                <a:cs typeface="Courier New" panose="02070309020205020404" pitchFamily="49" charset="0"/>
              </a:rPr>
              <a:t>CurrentControlSet</a:t>
            </a:r>
            <a:r>
              <a:rPr lang="en-US" sz="1800" dirty="0">
                <a:latin typeface="Courier New" panose="02070309020205020404" pitchFamily="49" charset="0"/>
                <a:cs typeface="Courier New" panose="02070309020205020404" pitchFamily="49" charset="0"/>
              </a:rPr>
              <a:t>\Service\KDC\Parameters</a:t>
            </a:r>
          </a:p>
          <a:p>
            <a:pPr marL="0" indent="0">
              <a:buNone/>
            </a:pPr>
            <a:r>
              <a:rPr lang="en-US" sz="1800" dirty="0" err="1">
                <a:latin typeface="Courier New" panose="02070309020205020404" pitchFamily="49" charset="0"/>
                <a:cs typeface="Courier New" panose="02070309020205020404" pitchFamily="49" charset="0"/>
              </a:rPr>
              <a:t>DisableResourceGroupsFields</a:t>
            </a:r>
            <a:r>
              <a:rPr lang="en-US" sz="1800" dirty="0">
                <a:latin typeface="Courier New" panose="02070309020205020404" pitchFamily="49" charset="0"/>
                <a:cs typeface="Courier New" panose="02070309020205020404" pitchFamily="49" charset="0"/>
              </a:rPr>
              <a:t> = DWORD = 1</a:t>
            </a:r>
          </a:p>
          <a:p>
            <a:pPr marL="0" indent="0">
              <a:buNone/>
            </a:pPr>
            <a:endParaRPr lang="en-US"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795974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6F8B-536A-45BE-1C88-B45D4F04274C}"/>
              </a:ext>
            </a:extLst>
          </p:cNvPr>
          <p:cNvSpPr>
            <a:spLocks noGrp="1"/>
          </p:cNvSpPr>
          <p:nvPr>
            <p:ph type="title"/>
          </p:nvPr>
        </p:nvSpPr>
        <p:spPr/>
        <p:txBody>
          <a:bodyPr/>
          <a:lstStyle/>
          <a:p>
            <a:r>
              <a:rPr lang="en-US" dirty="0"/>
              <a:t>Application limits</a:t>
            </a:r>
          </a:p>
        </p:txBody>
      </p:sp>
      <p:sp>
        <p:nvSpPr>
          <p:cNvPr id="3" name="Content Placeholder 2">
            <a:extLst>
              <a:ext uri="{FF2B5EF4-FFF2-40B4-BE49-F238E27FC236}">
                <a16:creationId xmlns:a16="http://schemas.microsoft.com/office/drawing/2014/main" id="{DA77B45A-DC96-0E10-214F-3E7DB3903149}"/>
              </a:ext>
            </a:extLst>
          </p:cNvPr>
          <p:cNvSpPr>
            <a:spLocks noGrp="1"/>
          </p:cNvSpPr>
          <p:nvPr>
            <p:ph idx="1"/>
          </p:nvPr>
        </p:nvSpPr>
        <p:spPr/>
        <p:txBody>
          <a:bodyPr>
            <a:normAutofit/>
          </a:bodyPr>
          <a:lstStyle/>
          <a:p>
            <a:r>
              <a:rPr lang="en-US" sz="2000" dirty="0"/>
              <a:t>HTTP.SYS (IIS + </a:t>
            </a:r>
            <a:r>
              <a:rPr lang="en-US" sz="2000"/>
              <a:t>others such as ADFS, SQL RS, ...)</a:t>
            </a:r>
            <a:endParaRPr lang="en-US" sz="2000" dirty="0"/>
          </a:p>
          <a:p>
            <a:pPr lvl="1"/>
            <a:r>
              <a:rPr lang="en-US" sz="1800" dirty="0"/>
              <a:t>tickets get encoded in Base64 (1.5* size)</a:t>
            </a:r>
          </a:p>
          <a:p>
            <a:pPr marL="457200" lvl="1" indent="0">
              <a:buNone/>
            </a:pPr>
            <a:r>
              <a:rPr lang="en-US" sz="1400" dirty="0">
                <a:latin typeface="Courier New" panose="02070309020205020404" pitchFamily="49" charset="0"/>
                <a:cs typeface="Courier New" panose="02070309020205020404" pitchFamily="49" charset="0"/>
              </a:rPr>
              <a:t>HKLM\System\</a:t>
            </a:r>
            <a:r>
              <a:rPr lang="en-US" sz="1400" dirty="0" err="1">
                <a:latin typeface="Courier New" panose="02070309020205020404" pitchFamily="49" charset="0"/>
                <a:cs typeface="Courier New" panose="02070309020205020404" pitchFamily="49" charset="0"/>
              </a:rPr>
              <a:t>CurrentControlSet</a:t>
            </a:r>
            <a:r>
              <a:rPr lang="en-US" sz="1400" dirty="0">
                <a:latin typeface="Courier New" panose="02070309020205020404" pitchFamily="49" charset="0"/>
                <a:cs typeface="Courier New" panose="02070309020205020404" pitchFamily="49" charset="0"/>
              </a:rPr>
              <a:t>\Services\HTTP\Parameters</a:t>
            </a:r>
          </a:p>
          <a:p>
            <a:pPr marL="457200" lvl="1" indent="0">
              <a:buNone/>
            </a:pPr>
            <a:r>
              <a:rPr lang="en-US" sz="1400" dirty="0" err="1">
                <a:latin typeface="Courier New" panose="02070309020205020404" pitchFamily="49" charset="0"/>
                <a:cs typeface="Courier New" panose="02070309020205020404" pitchFamily="49" charset="0"/>
              </a:rPr>
              <a:t>MaxRequestBytes</a:t>
            </a:r>
            <a:r>
              <a:rPr lang="en-US" sz="1400" dirty="0">
                <a:latin typeface="Courier New" panose="02070309020205020404" pitchFamily="49" charset="0"/>
                <a:cs typeface="Courier New" panose="02070309020205020404" pitchFamily="49" charset="0"/>
              </a:rPr>
              <a:t> = DWORD = 16384 (default)</a:t>
            </a:r>
          </a:p>
          <a:p>
            <a:pPr marL="457200" lvl="1" indent="0">
              <a:buNone/>
            </a:pPr>
            <a:r>
              <a:rPr lang="en-US" sz="1400" dirty="0" err="1">
                <a:latin typeface="Courier New" panose="02070309020205020404" pitchFamily="49" charset="0"/>
                <a:cs typeface="Courier New" panose="02070309020205020404" pitchFamily="49" charset="0"/>
              </a:rPr>
              <a:t>MaxFieldLength</a:t>
            </a:r>
            <a:r>
              <a:rPr lang="en-US" sz="1400" dirty="0">
                <a:latin typeface="Courier New" panose="02070309020205020404" pitchFamily="49" charset="0"/>
                <a:cs typeface="Courier New" panose="02070309020205020404" pitchFamily="49" charset="0"/>
              </a:rPr>
              <a:t> = DWORD = 16384 (default)</a:t>
            </a:r>
          </a:p>
        </p:txBody>
      </p:sp>
    </p:spTree>
    <p:extLst>
      <p:ext uri="{BB962C8B-B14F-4D97-AF65-F5344CB8AC3E}">
        <p14:creationId xmlns:p14="http://schemas.microsoft.com/office/powerpoint/2010/main" val="1528406534"/>
      </p:ext>
    </p:extLst>
  </p:cSld>
  <p:clrMapOvr>
    <a:masterClrMapping/>
  </p:clrMapOvr>
</p:sld>
</file>

<file path=ppt/theme/theme1.xml><?xml version="1.0" encoding="utf-8"?>
<a:theme xmlns:a="http://schemas.openxmlformats.org/drawingml/2006/main" name="Gopas 1  (3 barvy)">
  <a:themeElements>
    <a:clrScheme name="Gopas 2 (6 barev)">
      <a:dk1>
        <a:sysClr val="windowText" lastClr="000000"/>
      </a:dk1>
      <a:lt1>
        <a:sysClr val="window" lastClr="FFFFFF"/>
      </a:lt1>
      <a:dk2>
        <a:srgbClr val="1E326C"/>
      </a:dk2>
      <a:lt2>
        <a:srgbClr val="FFFFFF"/>
      </a:lt2>
      <a:accent1>
        <a:srgbClr val="009FE3"/>
      </a:accent1>
      <a:accent2>
        <a:srgbClr val="EF7D4D"/>
      </a:accent2>
      <a:accent3>
        <a:srgbClr val="009640"/>
      </a:accent3>
      <a:accent4>
        <a:srgbClr val="E50046"/>
      </a:accent4>
      <a:accent5>
        <a:srgbClr val="C8D400"/>
      </a:accent5>
      <a:accent6>
        <a:srgbClr val="EA5297"/>
      </a:accent6>
      <a:hlink>
        <a:srgbClr val="1E326C"/>
      </a:hlink>
      <a:folHlink>
        <a:srgbClr val="1E326C"/>
      </a:folHlink>
    </a:clrScheme>
    <a:fontScheme name="Gopas">
      <a:majorFont>
        <a:latin typeface="Arial"/>
        <a:ea typeface=""/>
        <a:cs typeface=""/>
      </a:majorFont>
      <a:minorFont>
        <a:latin typeface="Arial"/>
        <a:ea typeface=""/>
        <a:cs typeface=""/>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raClrSchemeLst/>
</a:theme>
</file>

<file path=ppt/theme/theme2.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1800</TotalTime>
  <Words>4613</Words>
  <Application>Microsoft Office PowerPoint</Application>
  <PresentationFormat>On-screen Show (4:3)</PresentationFormat>
  <Paragraphs>1234</Paragraphs>
  <Slides>119</Slides>
  <Notes>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0</vt:i4>
      </vt:variant>
      <vt:variant>
        <vt:lpstr>Slide Titles</vt:lpstr>
      </vt:variant>
      <vt:variant>
        <vt:i4>119</vt:i4>
      </vt:variant>
    </vt:vector>
  </HeadingPairs>
  <TitlesOfParts>
    <vt:vector size="123" baseType="lpstr">
      <vt:lpstr>Arial</vt:lpstr>
      <vt:lpstr>Courier New</vt:lpstr>
      <vt:lpstr>Wingdings</vt:lpstr>
      <vt:lpstr>Gopas 1  (3 barvy)</vt:lpstr>
      <vt:lpstr>Kerberos</vt:lpstr>
      <vt:lpstr>Kerberos overview</vt:lpstr>
      <vt:lpstr>Compare: pass-through in-band NTLM</vt:lpstr>
      <vt:lpstr>Compare: pass-through in-band NTLM</vt:lpstr>
      <vt:lpstr>Compare: out-of-band Kerberos</vt:lpstr>
      <vt:lpstr>Compare: out-of-band Kerberos</vt:lpstr>
      <vt:lpstr>Tickets</vt:lpstr>
      <vt:lpstr>Kerberos #0</vt:lpstr>
      <vt:lpstr>Kerberos (with pre-authentication) #1</vt:lpstr>
      <vt:lpstr>Kerberos (with pre-authentication) #1</vt:lpstr>
      <vt:lpstr>Kerberos (with pre-authentication) #1</vt:lpstr>
      <vt:lpstr>Kerberos #1</vt:lpstr>
      <vt:lpstr>Ticket-granting ticket (TGT)</vt:lpstr>
      <vt:lpstr>Ticket-granting ticket (TGT)</vt:lpstr>
      <vt:lpstr>Ticket-granting ticket (TGT) renewal</vt:lpstr>
      <vt:lpstr>lastLogon and lastLogonTimestamp</vt:lpstr>
      <vt:lpstr>Kerberos #1</vt:lpstr>
      <vt:lpstr>Kerberos #1</vt:lpstr>
      <vt:lpstr>Kerberos #1</vt:lpstr>
      <vt:lpstr>Kerberos #1</vt:lpstr>
      <vt:lpstr>Kerberos #1</vt:lpstr>
      <vt:lpstr>Ticket granting service (TGS)</vt:lpstr>
      <vt:lpstr>Ticket granting service (TGS)</vt:lpstr>
      <vt:lpstr>Kerberos #2</vt:lpstr>
      <vt:lpstr>Kerberos (with pre-authentication) #2</vt:lpstr>
      <vt:lpstr>Kerberos (without pre-authentication) #2</vt:lpstr>
      <vt:lpstr>Kerberos with pre-authentication</vt:lpstr>
      <vt:lpstr>Incorrect password failure audit on DC with pre-authentication enabled</vt:lpstr>
      <vt:lpstr>Ticket-granting ticket (TGT) without pre-authentication</vt:lpstr>
      <vt:lpstr>KRBTGT master key</vt:lpstr>
      <vt:lpstr>KRBTGT "account" (holder of the KDC secret key)</vt:lpstr>
      <vt:lpstr>KRBTGT account vs. RODCs</vt:lpstr>
      <vt:lpstr>2x KRBTGT reset - KRB_AP_ERR_BAD_INTEGRITY</vt:lpstr>
      <vt:lpstr>2x KRBTGT reset - KRB_AP_ERR_BAD_INTEGRITY</vt:lpstr>
      <vt:lpstr>Kerberos #2</vt:lpstr>
      <vt:lpstr>Kerberos #2</vt:lpstr>
      <vt:lpstr>Kerberos #2</vt:lpstr>
      <vt:lpstr>Kerberos #2</vt:lpstr>
      <vt:lpstr>Kerberos #2</vt:lpstr>
      <vt:lpstr>Kerberos #3</vt:lpstr>
      <vt:lpstr>Kerberos #3</vt:lpstr>
      <vt:lpstr>Kerberos #3</vt:lpstr>
      <vt:lpstr>Kerberos TGT (initial, not yet renewed)</vt:lpstr>
      <vt:lpstr>Kerberos TGS - http/intranet service</vt:lpstr>
      <vt:lpstr>TGT/TGS renewal</vt:lpstr>
      <vt:lpstr>Kerberos TGT (renewed)</vt:lpstr>
      <vt:lpstr>Transporting Kerberos TGT encryption vs. KDC key vs. C/TGS session keys - reality in detail :-)</vt:lpstr>
      <vt:lpstr>Transporting Kerberos TGT encryption vs. KDC key vs. C/TGS session keys - reality in detail :-)</vt:lpstr>
      <vt:lpstr>Transporting Kerberos TGS encryption vs. SVC key vs. C/SVC session keys - reality in detail :-)</vt:lpstr>
      <vt:lpstr>Service Principal Names</vt:lpstr>
      <vt:lpstr>Service principal names (SPNs)</vt:lpstr>
      <vt:lpstr>sPNMappings - CN=Directory Services,CN=Windows NT,...</vt:lpstr>
      <vt:lpstr>DNS TGS for dynamic update</vt:lpstr>
      <vt:lpstr>klist get</vt:lpstr>
      <vt:lpstr>Basic Kerberos requirements</vt:lpstr>
      <vt:lpstr>Local intranet sites (inetcpl.cpl) IE + Edge + Chrome + WebDAV + WinHTTP + NetFX + ...</vt:lpstr>
      <vt:lpstr>network.negotiate-auth: trusted-uris, allow-non-fqdn Firefox</vt:lpstr>
      <vt:lpstr>DNS A vs. CNAME vs. short name vs. FQDN</vt:lpstr>
      <vt:lpstr>DNS vs. CNAME vs. various clients</vt:lpstr>
      <vt:lpstr>SPN muster http://intranet, http://intranet.gopas.virtual</vt:lpstr>
      <vt:lpstr>SPN muster http://warehouse, http://warehouse.gopas.virtual</vt:lpstr>
      <vt:lpstr>HOST/ SPN "wildcard"</vt:lpstr>
      <vt:lpstr>SPN muster https://finance.gopas.cz</vt:lpstr>
      <vt:lpstr>Alternative UPN and SPN suffixes</vt:lpstr>
      <vt:lpstr>Dynamic SQL server SPN (de)registration</vt:lpstr>
      <vt:lpstr>Listing SQL connections/sessions for logins and Kerberos/NTLM</vt:lpstr>
      <vt:lpstr>SPN muster mstsc /v:rdp.gopas.cz</vt:lpstr>
      <vt:lpstr>RDP server identity verified by Kerberos TGS</vt:lpstr>
      <vt:lpstr>SPN errors</vt:lpstr>
      <vt:lpstr>SPN does not exist</vt:lpstr>
      <vt:lpstr>SPN on a wrong account</vt:lpstr>
      <vt:lpstr>SPN on more than a single account</vt:lpstr>
      <vt:lpstr>SPN muster (duplicate SPN already existing) https://orders.gopas.cz</vt:lpstr>
      <vt:lpstr>SPN on more than a single account</vt:lpstr>
      <vt:lpstr>SPN on more than a single account</vt:lpstr>
      <vt:lpstr>Encryption types (etypes)</vt:lpstr>
      <vt:lpstr>Encryption types</vt:lpstr>
      <vt:lpstr>msDS-SupportedEncryptionTypes vs. AS/TGS events and etypes in tickets</vt:lpstr>
      <vt:lpstr>SPN+ETYPE muster https://finance.gopas.cz</vt:lpstr>
      <vt:lpstr>SPN+ETYPE muster (backward compatible with RC4) https://orders.gopas.cz</vt:lpstr>
      <vt:lpstr>GPS-RDP + mstsc /v:rdp.gopas.cz + AES</vt:lpstr>
      <vt:lpstr>KDC_ERR_ETYPE_NOSUPP</vt:lpstr>
      <vt:lpstr>2022/11 update KB5021131 default msDS-SupportedEncryptionTypes</vt:lpstr>
      <vt:lpstr>IIS kernel mode</vt:lpstr>
      <vt:lpstr>IIS and HTTP.SYS</vt:lpstr>
      <vt:lpstr>SPN+ETYPE muster https://canteen.gopas.virtual</vt:lpstr>
      <vt:lpstr>SPN+ETYPE muster http://research.gopas.virtual</vt:lpstr>
      <vt:lpstr>useAppPoolCredentials</vt:lpstr>
      <vt:lpstr>Non-Microsoft services</vt:lpstr>
      <vt:lpstr>Service example</vt:lpstr>
      <vt:lpstr>Service example</vt:lpstr>
      <vt:lpstr>Service example</vt:lpstr>
      <vt:lpstr>KTPASS + keytab export</vt:lpstr>
      <vt:lpstr>KTPASS + keytab export (case sensitivity?)</vt:lpstr>
      <vt:lpstr>KTPASS notes</vt:lpstr>
      <vt:lpstr>KVNO (key version number) both TGT and TGS</vt:lpstr>
      <vt:lpstr>Service example</vt:lpstr>
      <vt:lpstr>Usually without pre-authentication</vt:lpstr>
      <vt:lpstr>Load-balancing</vt:lpstr>
      <vt:lpstr>Load-balancing not working to machine$ accounts</vt:lpstr>
      <vt:lpstr>Load-balancing requires a common account to register the single SPN on</vt:lpstr>
      <vt:lpstr>Remote Desktop farm with Kerberos server authentication with A or CNAME DNS name pointing its RD broker(s)</vt:lpstr>
      <vt:lpstr>Remote Desktop farm with Kerberos server authentication with A or CNAME DNS name pointing its RD broker(s)</vt:lpstr>
      <vt:lpstr>Time constraints +/- 5 minutes by default</vt:lpstr>
      <vt:lpstr>KRB_AP_ERR_SKEW during pre-authentication  "just try again"</vt:lpstr>
      <vt:lpstr>KRB_AP_ERR_SKEW during pre-authentication  "just try again"</vt:lpstr>
      <vt:lpstr>Service runs yet in the past "no go since the very start"</vt:lpstr>
      <vt:lpstr>Service runs yet in the past "no go since the very start"</vt:lpstr>
      <vt:lpstr>Service runs a bit in the future "work for some time until not anymore"</vt:lpstr>
      <vt:lpstr>Service runs a bit in the future "work for some time until not anymore"</vt:lpstr>
      <vt:lpstr>Service runs a bit in the future "work for some time until not anymore"</vt:lpstr>
      <vt:lpstr>Group number limits Ticket size limits and PAC</vt:lpstr>
      <vt:lpstr>Group membership limit on access token</vt:lpstr>
      <vt:lpstr>During a logon attempt, the user's security context accumulated too many security IDs</vt:lpstr>
      <vt:lpstr>Local Kerberos ticket size limits</vt:lpstr>
      <vt:lpstr>Privilege Attribute Certificate (PAC)</vt:lpstr>
      <vt:lpstr>TGT vs. TGS</vt:lpstr>
      <vt:lpstr>Note: no need to disable "compression"</vt:lpstr>
      <vt:lpstr>Application limits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Administrator</cp:lastModifiedBy>
  <cp:revision>9</cp:revision>
  <dcterms:created xsi:type="dcterms:W3CDTF">2013-03-17T16:22:31Z</dcterms:created>
  <dcterms:modified xsi:type="dcterms:W3CDTF">2026-03-02T17:57:05Z</dcterms:modified>
</cp:coreProperties>
</file>