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  <p:sldMasterId id="2147483748" r:id="rId2"/>
    <p:sldMasterId id="2147483733" r:id="rId3"/>
    <p:sldMasterId id="2147483763" r:id="rId4"/>
  </p:sldMasterIdLst>
  <p:notesMasterIdLst>
    <p:notesMasterId r:id="rId85"/>
  </p:notesMasterIdLst>
  <p:sldIdLst>
    <p:sldId id="257" r:id="rId5"/>
    <p:sldId id="302" r:id="rId6"/>
    <p:sldId id="270" r:id="rId7"/>
    <p:sldId id="271" r:id="rId8"/>
    <p:sldId id="282" r:id="rId9"/>
    <p:sldId id="281" r:id="rId10"/>
    <p:sldId id="306" r:id="rId11"/>
    <p:sldId id="279" r:id="rId12"/>
    <p:sldId id="322" r:id="rId13"/>
    <p:sldId id="313" r:id="rId14"/>
    <p:sldId id="272" r:id="rId15"/>
    <p:sldId id="273" r:id="rId16"/>
    <p:sldId id="274" r:id="rId17"/>
    <p:sldId id="277" r:id="rId18"/>
    <p:sldId id="315" r:id="rId19"/>
    <p:sldId id="523" r:id="rId20"/>
    <p:sldId id="524" r:id="rId21"/>
    <p:sldId id="283" r:id="rId22"/>
    <p:sldId id="284" r:id="rId23"/>
    <p:sldId id="285" r:id="rId24"/>
    <p:sldId id="286" r:id="rId25"/>
    <p:sldId id="316" r:id="rId26"/>
    <p:sldId id="323" r:id="rId27"/>
    <p:sldId id="287" r:id="rId28"/>
    <p:sldId id="303" r:id="rId29"/>
    <p:sldId id="288" r:id="rId30"/>
    <p:sldId id="307" r:id="rId31"/>
    <p:sldId id="324" r:id="rId32"/>
    <p:sldId id="326" r:id="rId33"/>
    <p:sldId id="525" r:id="rId34"/>
    <p:sldId id="325" r:id="rId35"/>
    <p:sldId id="527" r:id="rId36"/>
    <p:sldId id="329" r:id="rId37"/>
    <p:sldId id="526" r:id="rId38"/>
    <p:sldId id="328" r:id="rId39"/>
    <p:sldId id="327" r:id="rId40"/>
    <p:sldId id="317" r:id="rId41"/>
    <p:sldId id="318" r:id="rId42"/>
    <p:sldId id="330" r:id="rId43"/>
    <p:sldId id="290" r:id="rId44"/>
    <p:sldId id="275" r:id="rId45"/>
    <p:sldId id="276" r:id="rId46"/>
    <p:sldId id="278" r:id="rId47"/>
    <p:sldId id="280" r:id="rId48"/>
    <p:sldId id="299" r:id="rId49"/>
    <p:sldId id="291" r:id="rId50"/>
    <p:sldId id="292" r:id="rId51"/>
    <p:sldId id="295" r:id="rId52"/>
    <p:sldId id="293" r:id="rId53"/>
    <p:sldId id="296" r:id="rId54"/>
    <p:sldId id="294" r:id="rId55"/>
    <p:sldId id="297" r:id="rId56"/>
    <p:sldId id="263" r:id="rId57"/>
    <p:sldId id="264" r:id="rId58"/>
    <p:sldId id="265" r:id="rId59"/>
    <p:sldId id="266" r:id="rId60"/>
    <p:sldId id="261" r:id="rId61"/>
    <p:sldId id="262" r:id="rId62"/>
    <p:sldId id="300" r:id="rId63"/>
    <p:sldId id="305" r:id="rId64"/>
    <p:sldId id="267" r:id="rId65"/>
    <p:sldId id="269" r:id="rId66"/>
    <p:sldId id="320" r:id="rId67"/>
    <p:sldId id="321" r:id="rId68"/>
    <p:sldId id="268" r:id="rId69"/>
    <p:sldId id="319" r:id="rId70"/>
    <p:sldId id="528" r:id="rId71"/>
    <p:sldId id="289" r:id="rId72"/>
    <p:sldId id="301" r:id="rId73"/>
    <p:sldId id="304" r:id="rId74"/>
    <p:sldId id="308" r:id="rId75"/>
    <p:sldId id="309" r:id="rId76"/>
    <p:sldId id="310" r:id="rId77"/>
    <p:sldId id="311" r:id="rId78"/>
    <p:sldId id="314" r:id="rId79"/>
    <p:sldId id="530" r:id="rId80"/>
    <p:sldId id="312" r:id="rId81"/>
    <p:sldId id="529" r:id="rId82"/>
    <p:sldId id="531" r:id="rId83"/>
    <p:sldId id="298" r:id="rId84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326C"/>
    <a:srgbClr val="E50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7" autoAdjust="0"/>
    <p:restoredTop sz="94673" autoAdjust="0"/>
  </p:normalViewPr>
  <p:slideViewPr>
    <p:cSldViewPr showGuides="1">
      <p:cViewPr varScale="1">
        <p:scale>
          <a:sx n="97" d="100"/>
          <a:sy n="97" d="100"/>
        </p:scale>
        <p:origin x="1998" y="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howGuides="1">
      <p:cViewPr varScale="1">
        <p:scale>
          <a:sx n="98" d="100"/>
          <a:sy n="98" d="100"/>
        </p:scale>
        <p:origin x="-351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1C7F656-6C7C-4016-B601-23B462E6BC26}" type="datetimeFigureOut">
              <a:rPr lang="cs-CZ" smtClean="0"/>
              <a:pPr/>
              <a:t>06.03.2026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319F00E-1642-4F00-B8AC-7581C0C92EAE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3786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E0FFFC-B299-4DB4-A5A2-5FE0A233D244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0180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19F00E-1642-4F00-B8AC-7581C0C92EAE}" type="slidenum">
              <a:rPr lang="cs-CZ" smtClean="0"/>
              <a:pPr/>
              <a:t>80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25989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3118078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7674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6824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0943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794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619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82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29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13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69699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9295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58516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69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96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</p:spTree>
    <p:extLst>
      <p:ext uri="{BB962C8B-B14F-4D97-AF65-F5344CB8AC3E}">
        <p14:creationId xmlns:p14="http://schemas.microsoft.com/office/powerpoint/2010/main" val="62114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8070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624145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968323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78819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790651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32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53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42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16" name="Skupina 15"/>
          <p:cNvGrpSpPr/>
          <p:nvPr/>
        </p:nvGrpSpPr>
        <p:grpSpPr bwMode="gray">
          <a:xfrm>
            <a:off x="-2496" y="0"/>
            <a:ext cx="4572000" cy="151200"/>
            <a:chOff x="3203928" y="2491755"/>
            <a:chExt cx="2160000" cy="72000"/>
          </a:xfrm>
        </p:grpSpPr>
        <p:sp>
          <p:nvSpPr>
            <p:cNvPr id="17" name="Obdélník 16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8" name="Obdélník 17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Obdélník 18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730256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06096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225935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446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27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0222635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103820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376351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518962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412993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14760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8748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659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687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2170547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774053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83218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34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69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Úvodní snímek s podna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866527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7" name="Skupina 6"/>
          <p:cNvGrpSpPr/>
          <p:nvPr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8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5" name="Zástupný symbol pro text 4"/>
          <p:cNvSpPr>
            <a:spLocks noGrp="1"/>
          </p:cNvSpPr>
          <p:nvPr>
            <p:ph type="body" sz="quarter" idx="10" hasCustomPrompt="1"/>
          </p:nvPr>
        </p:nvSpPr>
        <p:spPr>
          <a:xfrm>
            <a:off x="611188" y="2997200"/>
            <a:ext cx="7921625" cy="8636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cs-CZ" dirty="0"/>
              <a:t>Podtitul</a:t>
            </a:r>
          </a:p>
        </p:txBody>
      </p: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5688960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2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772816"/>
            <a:ext cx="8229600" cy="446449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961573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1řádkový +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413792"/>
            <a:ext cx="8229600" cy="782960"/>
          </a:xfrm>
        </p:spPr>
        <p:txBody>
          <a:bodyPr>
            <a:normAutofit/>
          </a:bodyPr>
          <a:lstStyle>
            <a:lvl1pPr>
              <a:defRPr sz="3200" spc="-60" baseline="0"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457200" y="1412776"/>
            <a:ext cx="8229600" cy="4824536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 i="1"/>
            </a:lvl5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8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843512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cs-CZ" dirty="0"/>
              <a:t>Název kurzu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/>
              <a:t>Kontaktní informace (lektor, </a:t>
            </a:r>
            <a:r>
              <a:rPr lang="cs-CZ" dirty="0" err="1"/>
              <a:t>Gopas</a:t>
            </a:r>
            <a:r>
              <a:rPr lang="cs-CZ" dirty="0"/>
              <a:t>)</a:t>
            </a:r>
          </a:p>
        </p:txBody>
      </p:sp>
      <p:grpSp>
        <p:nvGrpSpPr>
          <p:cNvPr id="20" name="Skupina 19"/>
          <p:cNvGrpSpPr/>
          <p:nvPr userDrawn="1"/>
        </p:nvGrpSpPr>
        <p:grpSpPr bwMode="black">
          <a:xfrm>
            <a:off x="611189" y="934260"/>
            <a:ext cx="2195193" cy="410057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21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4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5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7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8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9" name="Skupina 28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0" name="Obdélník 29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1" name="Obdélník 30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2" name="Obdélník 31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4917918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 hasCustomPrompt="1"/>
          </p:nvPr>
        </p:nvSpPr>
        <p:spPr>
          <a:xfrm>
            <a:off x="457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53336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737352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10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1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69903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1742827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1700808"/>
            <a:ext cx="2628000" cy="43833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8607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 t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588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3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0588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3258000" y="1535113"/>
            <a:ext cx="2628000" cy="639762"/>
          </a:xfrm>
        </p:spPr>
        <p:txBody>
          <a:bodyPr anchor="ctr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dirty="0"/>
              <a:t>Porovnání 2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3258000" y="2174875"/>
            <a:ext cx="26280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6155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Čtyři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9734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3933056"/>
            <a:ext cx="4042792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44008" y="1700808"/>
            <a:ext cx="4042792" cy="21602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9A16E3-E0DB-47A0-BDE6-AF5C7EC7E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44008" y="3933056"/>
            <a:ext cx="3996152" cy="21510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67544" y="1700808"/>
            <a:ext cx="4032448" cy="2160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01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ředělov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 hasCustomPrompt="1"/>
          </p:nvPr>
        </p:nvSpPr>
        <p:spPr>
          <a:xfrm>
            <a:off x="611188" y="2130425"/>
            <a:ext cx="7921252" cy="14700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cs-CZ" dirty="0"/>
              <a:t>Název sekce prezentace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1188" y="4052664"/>
            <a:ext cx="7921252" cy="196862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spc="-6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grpSp>
        <p:nvGrpSpPr>
          <p:cNvPr id="33" name="Skupina 32"/>
          <p:cNvGrpSpPr>
            <a:grpSpLocks noChangeAspect="1"/>
          </p:cNvGrpSpPr>
          <p:nvPr/>
        </p:nvGrpSpPr>
        <p:grpSpPr bwMode="black">
          <a:xfrm>
            <a:off x="7604339" y="6417360"/>
            <a:ext cx="1360149" cy="252000"/>
            <a:chOff x="2695600" y="3623226"/>
            <a:chExt cx="4376738" cy="817563"/>
          </a:xfrm>
          <a:solidFill>
            <a:srgbClr val="03326C"/>
          </a:solidFill>
        </p:grpSpPr>
        <p:sp>
          <p:nvSpPr>
            <p:cNvPr id="34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5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6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7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8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9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0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grpSp>
        <p:nvGrpSpPr>
          <p:cNvPr id="20" name="Skupina 19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21" name="Obdélník 20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Obdélník 21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Obdélník 22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Obdélník 23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Obdélník 24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7" name="Obdélník 26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0546098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snímku</a:t>
            </a:r>
          </a:p>
        </p:txBody>
      </p:sp>
      <p:sp>
        <p:nvSpPr>
          <p:cNvPr id="6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8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94504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621723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Demonstrace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90" y="1861772"/>
            <a:ext cx="6480720" cy="415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77055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 </a:t>
            </a:r>
            <a:r>
              <a:rPr lang="cs-CZ" dirty="0" err="1"/>
              <a:t>Labu</a:t>
            </a:r>
            <a:endParaRPr lang="cs-CZ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 hasCustomPrompt="1"/>
          </p:nvPr>
        </p:nvSpPr>
        <p:spPr>
          <a:xfrm>
            <a:off x="4648200" y="1772816"/>
            <a:ext cx="4038600" cy="435334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8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9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0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3" name="Obráze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21406"/>
            <a:ext cx="3096305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6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49370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694" r:id="rId2"/>
    <p:sldLayoutId id="2147483728" r:id="rId3"/>
    <p:sldLayoutId id="2147483726" r:id="rId4"/>
    <p:sldLayoutId id="2147483695" r:id="rId5"/>
    <p:sldLayoutId id="2147483696" r:id="rId6"/>
    <p:sldLayoutId id="2147483723" r:id="rId7"/>
    <p:sldLayoutId id="2147483729" r:id="rId8"/>
    <p:sldLayoutId id="2147483732" r:id="rId9"/>
    <p:sldLayoutId id="2147483727" r:id="rId10"/>
    <p:sldLayoutId id="2147483697" r:id="rId11"/>
    <p:sldLayoutId id="2147483698" r:id="rId12"/>
    <p:sldLayoutId id="2147483730" r:id="rId13"/>
    <p:sldLayoutId id="2147483731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24" name="Skupina 23"/>
          <p:cNvGrpSpPr/>
          <p:nvPr userDrawn="1"/>
        </p:nvGrpSpPr>
        <p:grpSpPr bwMode="gray">
          <a:xfrm flipH="1">
            <a:off x="4572000" y="0"/>
            <a:ext cx="4572000" cy="151200"/>
            <a:chOff x="3203928" y="2491755"/>
            <a:chExt cx="2160000" cy="72000"/>
          </a:xfrm>
        </p:grpSpPr>
        <p:sp>
          <p:nvSpPr>
            <p:cNvPr id="25" name="Obdélník 24"/>
            <p:cNvSpPr/>
            <p:nvPr/>
          </p:nvSpPr>
          <p:spPr bwMode="gray">
            <a:xfrm>
              <a:off x="3923928" y="2491755"/>
              <a:ext cx="720000" cy="72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Obdélník 25"/>
            <p:cNvSpPr/>
            <p:nvPr/>
          </p:nvSpPr>
          <p:spPr bwMode="gray">
            <a:xfrm>
              <a:off x="3203928" y="2491755"/>
              <a:ext cx="720000" cy="72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0" name="Obdélník 29"/>
            <p:cNvSpPr/>
            <p:nvPr/>
          </p:nvSpPr>
          <p:spPr bwMode="gray">
            <a:xfrm>
              <a:off x="4643928" y="2491755"/>
              <a:ext cx="720000" cy="72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31" name="Skupina 30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32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174754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376495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Nadpis snímku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2816"/>
            <a:ext cx="8229600" cy="4536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První úroveň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grpSp>
        <p:nvGrpSpPr>
          <p:cNvPr id="15" name="Skupina 14"/>
          <p:cNvGrpSpPr>
            <a:grpSpLocks noChangeAspect="1"/>
          </p:cNvGrpSpPr>
          <p:nvPr userDrawn="1"/>
        </p:nvGrpSpPr>
        <p:grpSpPr bwMode="black">
          <a:xfrm>
            <a:off x="7380312" y="6417360"/>
            <a:ext cx="1360149" cy="252000"/>
            <a:chOff x="2695600" y="3623226"/>
            <a:chExt cx="4376738" cy="817563"/>
          </a:xfrm>
          <a:solidFill>
            <a:schemeClr val="tx2"/>
          </a:solidFill>
        </p:grpSpPr>
        <p:sp>
          <p:nvSpPr>
            <p:cNvPr id="16" name="Freeform 6"/>
            <p:cNvSpPr>
              <a:spLocks/>
            </p:cNvSpPr>
            <p:nvPr/>
          </p:nvSpPr>
          <p:spPr bwMode="black">
            <a:xfrm>
              <a:off x="2695600" y="3623226"/>
              <a:ext cx="744538" cy="746125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7" name="Freeform 7"/>
            <p:cNvSpPr>
              <a:spLocks noEditPoints="1"/>
            </p:cNvSpPr>
            <p:nvPr/>
          </p:nvSpPr>
          <p:spPr bwMode="black">
            <a:xfrm>
              <a:off x="2930550" y="3694664"/>
              <a:ext cx="742950" cy="746125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8" name="Freeform 8"/>
            <p:cNvSpPr>
              <a:spLocks noEditPoints="1"/>
            </p:cNvSpPr>
            <p:nvPr/>
          </p:nvSpPr>
          <p:spPr bwMode="black">
            <a:xfrm>
              <a:off x="4521225" y="3659739"/>
              <a:ext cx="669925" cy="739775"/>
            </a:xfrm>
            <a:custGeom>
              <a:avLst/>
              <a:gdLst>
                <a:gd name="T0" fmla="*/ 382 w 845"/>
                <a:gd name="T1" fmla="*/ 136 h 933"/>
                <a:gd name="T2" fmla="*/ 308 w 845"/>
                <a:gd name="T3" fmla="*/ 163 h 933"/>
                <a:gd name="T4" fmla="*/ 250 w 845"/>
                <a:gd name="T5" fmla="*/ 215 h 933"/>
                <a:gd name="T6" fmla="*/ 208 w 845"/>
                <a:gd name="T7" fmla="*/ 286 h 933"/>
                <a:gd name="T8" fmla="*/ 183 w 845"/>
                <a:gd name="T9" fmla="*/ 373 h 933"/>
                <a:gd name="T10" fmla="*/ 174 w 845"/>
                <a:gd name="T11" fmla="*/ 471 h 933"/>
                <a:gd name="T12" fmla="*/ 186 w 845"/>
                <a:gd name="T13" fmla="*/ 575 h 933"/>
                <a:gd name="T14" fmla="*/ 216 w 845"/>
                <a:gd name="T15" fmla="*/ 666 h 933"/>
                <a:gd name="T16" fmla="*/ 268 w 845"/>
                <a:gd name="T17" fmla="*/ 738 h 933"/>
                <a:gd name="T18" fmla="*/ 338 w 845"/>
                <a:gd name="T19" fmla="*/ 785 h 933"/>
                <a:gd name="T20" fmla="*/ 424 w 845"/>
                <a:gd name="T21" fmla="*/ 802 h 933"/>
                <a:gd name="T22" fmla="*/ 511 w 845"/>
                <a:gd name="T23" fmla="*/ 784 h 933"/>
                <a:gd name="T24" fmla="*/ 579 w 845"/>
                <a:gd name="T25" fmla="*/ 737 h 933"/>
                <a:gd name="T26" fmla="*/ 631 w 845"/>
                <a:gd name="T27" fmla="*/ 664 h 933"/>
                <a:gd name="T28" fmla="*/ 661 w 845"/>
                <a:gd name="T29" fmla="*/ 572 h 933"/>
                <a:gd name="T30" fmla="*/ 671 w 845"/>
                <a:gd name="T31" fmla="*/ 462 h 933"/>
                <a:gd name="T32" fmla="*/ 663 w 845"/>
                <a:gd name="T33" fmla="*/ 373 h 933"/>
                <a:gd name="T34" fmla="*/ 640 w 845"/>
                <a:gd name="T35" fmla="*/ 289 h 933"/>
                <a:gd name="T36" fmla="*/ 598 w 845"/>
                <a:gd name="T37" fmla="*/ 219 h 933"/>
                <a:gd name="T38" fmla="*/ 541 w 845"/>
                <a:gd name="T39" fmla="*/ 165 h 933"/>
                <a:gd name="T40" fmla="*/ 467 w 845"/>
                <a:gd name="T41" fmla="*/ 136 h 933"/>
                <a:gd name="T42" fmla="*/ 429 w 845"/>
                <a:gd name="T43" fmla="*/ 0 h 933"/>
                <a:gd name="T44" fmla="*/ 551 w 845"/>
                <a:gd name="T45" fmla="*/ 15 h 933"/>
                <a:gd name="T46" fmla="*/ 653 w 845"/>
                <a:gd name="T47" fmla="*/ 61 h 933"/>
                <a:gd name="T48" fmla="*/ 735 w 845"/>
                <a:gd name="T49" fmla="*/ 131 h 933"/>
                <a:gd name="T50" fmla="*/ 795 w 845"/>
                <a:gd name="T51" fmla="*/ 224 h 933"/>
                <a:gd name="T52" fmla="*/ 834 w 845"/>
                <a:gd name="T53" fmla="*/ 335 h 933"/>
                <a:gd name="T54" fmla="*/ 845 w 845"/>
                <a:gd name="T55" fmla="*/ 457 h 933"/>
                <a:gd name="T56" fmla="*/ 830 w 845"/>
                <a:gd name="T57" fmla="*/ 599 h 933"/>
                <a:gd name="T58" fmla="*/ 788 w 845"/>
                <a:gd name="T59" fmla="*/ 716 h 933"/>
                <a:gd name="T60" fmla="*/ 723 w 845"/>
                <a:gd name="T61" fmla="*/ 810 h 933"/>
                <a:gd name="T62" fmla="*/ 638 w 845"/>
                <a:gd name="T63" fmla="*/ 878 h 933"/>
                <a:gd name="T64" fmla="*/ 534 w 845"/>
                <a:gd name="T65" fmla="*/ 920 h 933"/>
                <a:gd name="T66" fmla="*/ 415 w 845"/>
                <a:gd name="T67" fmla="*/ 933 h 933"/>
                <a:gd name="T68" fmla="*/ 297 w 845"/>
                <a:gd name="T69" fmla="*/ 918 h 933"/>
                <a:gd name="T70" fmla="*/ 194 w 845"/>
                <a:gd name="T71" fmla="*/ 873 h 933"/>
                <a:gd name="T72" fmla="*/ 112 w 845"/>
                <a:gd name="T73" fmla="*/ 804 h 933"/>
                <a:gd name="T74" fmla="*/ 52 w 845"/>
                <a:gd name="T75" fmla="*/ 711 h 933"/>
                <a:gd name="T76" fmla="*/ 14 w 845"/>
                <a:gd name="T77" fmla="*/ 600 h 933"/>
                <a:gd name="T78" fmla="*/ 0 w 845"/>
                <a:gd name="T79" fmla="*/ 474 h 933"/>
                <a:gd name="T80" fmla="*/ 15 w 845"/>
                <a:gd name="T81" fmla="*/ 343 h 933"/>
                <a:gd name="T82" fmla="*/ 56 w 845"/>
                <a:gd name="T83" fmla="*/ 227 h 933"/>
                <a:gd name="T84" fmla="*/ 121 w 845"/>
                <a:gd name="T85" fmla="*/ 133 h 933"/>
                <a:gd name="T86" fmla="*/ 206 w 845"/>
                <a:gd name="T87" fmla="*/ 61 h 933"/>
                <a:gd name="T88" fmla="*/ 310 w 845"/>
                <a:gd name="T89" fmla="*/ 15 h 933"/>
                <a:gd name="T90" fmla="*/ 429 w 845"/>
                <a:gd name="T91" fmla="*/ 0 h 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45" h="933">
                  <a:moveTo>
                    <a:pt x="424" y="133"/>
                  </a:moveTo>
                  <a:lnTo>
                    <a:pt x="382" y="136"/>
                  </a:lnTo>
                  <a:lnTo>
                    <a:pt x="343" y="146"/>
                  </a:lnTo>
                  <a:lnTo>
                    <a:pt x="308" y="163"/>
                  </a:lnTo>
                  <a:lnTo>
                    <a:pt x="276" y="187"/>
                  </a:lnTo>
                  <a:lnTo>
                    <a:pt x="250" y="215"/>
                  </a:lnTo>
                  <a:lnTo>
                    <a:pt x="228" y="249"/>
                  </a:lnTo>
                  <a:lnTo>
                    <a:pt x="208" y="286"/>
                  </a:lnTo>
                  <a:lnTo>
                    <a:pt x="194" y="328"/>
                  </a:lnTo>
                  <a:lnTo>
                    <a:pt x="183" y="373"/>
                  </a:lnTo>
                  <a:lnTo>
                    <a:pt x="176" y="420"/>
                  </a:lnTo>
                  <a:lnTo>
                    <a:pt x="174" y="471"/>
                  </a:lnTo>
                  <a:lnTo>
                    <a:pt x="178" y="525"/>
                  </a:lnTo>
                  <a:lnTo>
                    <a:pt x="186" y="575"/>
                  </a:lnTo>
                  <a:lnTo>
                    <a:pt x="199" y="624"/>
                  </a:lnTo>
                  <a:lnTo>
                    <a:pt x="216" y="666"/>
                  </a:lnTo>
                  <a:lnTo>
                    <a:pt x="240" y="705"/>
                  </a:lnTo>
                  <a:lnTo>
                    <a:pt x="268" y="738"/>
                  </a:lnTo>
                  <a:lnTo>
                    <a:pt x="300" y="765"/>
                  </a:lnTo>
                  <a:lnTo>
                    <a:pt x="338" y="785"/>
                  </a:lnTo>
                  <a:lnTo>
                    <a:pt x="379" y="797"/>
                  </a:lnTo>
                  <a:lnTo>
                    <a:pt x="424" y="802"/>
                  </a:lnTo>
                  <a:lnTo>
                    <a:pt x="469" y="797"/>
                  </a:lnTo>
                  <a:lnTo>
                    <a:pt x="511" y="784"/>
                  </a:lnTo>
                  <a:lnTo>
                    <a:pt x="547" y="763"/>
                  </a:lnTo>
                  <a:lnTo>
                    <a:pt x="579" y="737"/>
                  </a:lnTo>
                  <a:lnTo>
                    <a:pt x="608" y="703"/>
                  </a:lnTo>
                  <a:lnTo>
                    <a:pt x="631" y="664"/>
                  </a:lnTo>
                  <a:lnTo>
                    <a:pt x="648" y="621"/>
                  </a:lnTo>
                  <a:lnTo>
                    <a:pt x="661" y="572"/>
                  </a:lnTo>
                  <a:lnTo>
                    <a:pt x="670" y="520"/>
                  </a:lnTo>
                  <a:lnTo>
                    <a:pt x="671" y="462"/>
                  </a:lnTo>
                  <a:lnTo>
                    <a:pt x="670" y="417"/>
                  </a:lnTo>
                  <a:lnTo>
                    <a:pt x="663" y="373"/>
                  </a:lnTo>
                  <a:lnTo>
                    <a:pt x="653" y="330"/>
                  </a:lnTo>
                  <a:lnTo>
                    <a:pt x="640" y="289"/>
                  </a:lnTo>
                  <a:lnTo>
                    <a:pt x="621" y="252"/>
                  </a:lnTo>
                  <a:lnTo>
                    <a:pt x="598" y="219"/>
                  </a:lnTo>
                  <a:lnTo>
                    <a:pt x="571" y="188"/>
                  </a:lnTo>
                  <a:lnTo>
                    <a:pt x="541" y="165"/>
                  </a:lnTo>
                  <a:lnTo>
                    <a:pt x="506" y="148"/>
                  </a:lnTo>
                  <a:lnTo>
                    <a:pt x="467" y="136"/>
                  </a:lnTo>
                  <a:lnTo>
                    <a:pt x="424" y="133"/>
                  </a:lnTo>
                  <a:close/>
                  <a:moveTo>
                    <a:pt x="429" y="0"/>
                  </a:moveTo>
                  <a:lnTo>
                    <a:pt x="492" y="4"/>
                  </a:lnTo>
                  <a:lnTo>
                    <a:pt x="551" y="15"/>
                  </a:lnTo>
                  <a:lnTo>
                    <a:pt x="604" y="35"/>
                  </a:lnTo>
                  <a:lnTo>
                    <a:pt x="653" y="61"/>
                  </a:lnTo>
                  <a:lnTo>
                    <a:pt x="696" y="94"/>
                  </a:lnTo>
                  <a:lnTo>
                    <a:pt x="735" y="131"/>
                  </a:lnTo>
                  <a:lnTo>
                    <a:pt x="768" y="175"/>
                  </a:lnTo>
                  <a:lnTo>
                    <a:pt x="795" y="224"/>
                  </a:lnTo>
                  <a:lnTo>
                    <a:pt x="817" y="278"/>
                  </a:lnTo>
                  <a:lnTo>
                    <a:pt x="834" y="335"/>
                  </a:lnTo>
                  <a:lnTo>
                    <a:pt x="842" y="395"/>
                  </a:lnTo>
                  <a:lnTo>
                    <a:pt x="845" y="457"/>
                  </a:lnTo>
                  <a:lnTo>
                    <a:pt x="842" y="531"/>
                  </a:lnTo>
                  <a:lnTo>
                    <a:pt x="830" y="599"/>
                  </a:lnTo>
                  <a:lnTo>
                    <a:pt x="814" y="661"/>
                  </a:lnTo>
                  <a:lnTo>
                    <a:pt x="788" y="716"/>
                  </a:lnTo>
                  <a:lnTo>
                    <a:pt x="758" y="767"/>
                  </a:lnTo>
                  <a:lnTo>
                    <a:pt x="723" y="810"/>
                  </a:lnTo>
                  <a:lnTo>
                    <a:pt x="683" y="847"/>
                  </a:lnTo>
                  <a:lnTo>
                    <a:pt x="638" y="878"/>
                  </a:lnTo>
                  <a:lnTo>
                    <a:pt x="588" y="903"/>
                  </a:lnTo>
                  <a:lnTo>
                    <a:pt x="534" y="920"/>
                  </a:lnTo>
                  <a:lnTo>
                    <a:pt x="476" y="930"/>
                  </a:lnTo>
                  <a:lnTo>
                    <a:pt x="415" y="933"/>
                  </a:lnTo>
                  <a:lnTo>
                    <a:pt x="355" y="930"/>
                  </a:lnTo>
                  <a:lnTo>
                    <a:pt x="297" y="918"/>
                  </a:lnTo>
                  <a:lnTo>
                    <a:pt x="243" y="900"/>
                  </a:lnTo>
                  <a:lnTo>
                    <a:pt x="194" y="873"/>
                  </a:lnTo>
                  <a:lnTo>
                    <a:pt x="151" y="841"/>
                  </a:lnTo>
                  <a:lnTo>
                    <a:pt x="112" y="804"/>
                  </a:lnTo>
                  <a:lnTo>
                    <a:pt x="79" y="760"/>
                  </a:lnTo>
                  <a:lnTo>
                    <a:pt x="52" y="711"/>
                  </a:lnTo>
                  <a:lnTo>
                    <a:pt x="30" y="657"/>
                  </a:lnTo>
                  <a:lnTo>
                    <a:pt x="14" y="600"/>
                  </a:lnTo>
                  <a:lnTo>
                    <a:pt x="4" y="538"/>
                  </a:lnTo>
                  <a:lnTo>
                    <a:pt x="0" y="474"/>
                  </a:lnTo>
                  <a:lnTo>
                    <a:pt x="5" y="407"/>
                  </a:lnTo>
                  <a:lnTo>
                    <a:pt x="15" y="343"/>
                  </a:lnTo>
                  <a:lnTo>
                    <a:pt x="32" y="283"/>
                  </a:lnTo>
                  <a:lnTo>
                    <a:pt x="56" y="227"/>
                  </a:lnTo>
                  <a:lnTo>
                    <a:pt x="86" y="177"/>
                  </a:lnTo>
                  <a:lnTo>
                    <a:pt x="121" y="133"/>
                  </a:lnTo>
                  <a:lnTo>
                    <a:pt x="161" y="94"/>
                  </a:lnTo>
                  <a:lnTo>
                    <a:pt x="206" y="61"/>
                  </a:lnTo>
                  <a:lnTo>
                    <a:pt x="255" y="35"/>
                  </a:lnTo>
                  <a:lnTo>
                    <a:pt x="310" y="15"/>
                  </a:lnTo>
                  <a:lnTo>
                    <a:pt x="367" y="4"/>
                  </a:lnTo>
                  <a:lnTo>
                    <a:pt x="4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19" name="Freeform 9"/>
            <p:cNvSpPr>
              <a:spLocks noEditPoints="1"/>
            </p:cNvSpPr>
            <p:nvPr/>
          </p:nvSpPr>
          <p:spPr bwMode="black">
            <a:xfrm>
              <a:off x="5291162" y="3666089"/>
              <a:ext cx="477838" cy="722313"/>
            </a:xfrm>
            <a:custGeom>
              <a:avLst/>
              <a:gdLst>
                <a:gd name="T0" fmla="*/ 258 w 602"/>
                <a:gd name="T1" fmla="*/ 127 h 911"/>
                <a:gd name="T2" fmla="*/ 216 w 602"/>
                <a:gd name="T3" fmla="*/ 129 h 911"/>
                <a:gd name="T4" fmla="*/ 184 w 602"/>
                <a:gd name="T5" fmla="*/ 132 h 911"/>
                <a:gd name="T6" fmla="*/ 162 w 602"/>
                <a:gd name="T7" fmla="*/ 136 h 911"/>
                <a:gd name="T8" fmla="*/ 162 w 602"/>
                <a:gd name="T9" fmla="*/ 438 h 911"/>
                <a:gd name="T10" fmla="*/ 186 w 602"/>
                <a:gd name="T11" fmla="*/ 443 h 911"/>
                <a:gd name="T12" fmla="*/ 212 w 602"/>
                <a:gd name="T13" fmla="*/ 447 h 911"/>
                <a:gd name="T14" fmla="*/ 242 w 602"/>
                <a:gd name="T15" fmla="*/ 447 h 911"/>
                <a:gd name="T16" fmla="*/ 286 w 602"/>
                <a:gd name="T17" fmla="*/ 443 h 911"/>
                <a:gd name="T18" fmla="*/ 324 w 602"/>
                <a:gd name="T19" fmla="*/ 435 h 911"/>
                <a:gd name="T20" fmla="*/ 360 w 602"/>
                <a:gd name="T21" fmla="*/ 422 h 911"/>
                <a:gd name="T22" fmla="*/ 386 w 602"/>
                <a:gd name="T23" fmla="*/ 403 h 911"/>
                <a:gd name="T24" fmla="*/ 410 w 602"/>
                <a:gd name="T25" fmla="*/ 380 h 911"/>
                <a:gd name="T26" fmla="*/ 427 w 602"/>
                <a:gd name="T27" fmla="*/ 351 h 911"/>
                <a:gd name="T28" fmla="*/ 437 w 602"/>
                <a:gd name="T29" fmla="*/ 317 h 911"/>
                <a:gd name="T30" fmla="*/ 440 w 602"/>
                <a:gd name="T31" fmla="*/ 280 h 911"/>
                <a:gd name="T32" fmla="*/ 437 w 602"/>
                <a:gd name="T33" fmla="*/ 245 h 911"/>
                <a:gd name="T34" fmla="*/ 427 w 602"/>
                <a:gd name="T35" fmla="*/ 215 h 911"/>
                <a:gd name="T36" fmla="*/ 411 w 602"/>
                <a:gd name="T37" fmla="*/ 188 h 911"/>
                <a:gd name="T38" fmla="*/ 391 w 602"/>
                <a:gd name="T39" fmla="*/ 166 h 911"/>
                <a:gd name="T40" fmla="*/ 365 w 602"/>
                <a:gd name="T41" fmla="*/ 149 h 911"/>
                <a:gd name="T42" fmla="*/ 333 w 602"/>
                <a:gd name="T43" fmla="*/ 137 h 911"/>
                <a:gd name="T44" fmla="*/ 298 w 602"/>
                <a:gd name="T45" fmla="*/ 131 h 911"/>
                <a:gd name="T46" fmla="*/ 258 w 602"/>
                <a:gd name="T47" fmla="*/ 127 h 911"/>
                <a:gd name="T48" fmla="*/ 251 w 602"/>
                <a:gd name="T49" fmla="*/ 0 h 911"/>
                <a:gd name="T50" fmla="*/ 308 w 602"/>
                <a:gd name="T51" fmla="*/ 3 h 911"/>
                <a:gd name="T52" fmla="*/ 360 w 602"/>
                <a:gd name="T53" fmla="*/ 8 h 911"/>
                <a:gd name="T54" fmla="*/ 406 w 602"/>
                <a:gd name="T55" fmla="*/ 20 h 911"/>
                <a:gd name="T56" fmla="*/ 447 w 602"/>
                <a:gd name="T57" fmla="*/ 33 h 911"/>
                <a:gd name="T58" fmla="*/ 483 w 602"/>
                <a:gd name="T59" fmla="*/ 52 h 911"/>
                <a:gd name="T60" fmla="*/ 515 w 602"/>
                <a:gd name="T61" fmla="*/ 74 h 911"/>
                <a:gd name="T62" fmla="*/ 544 w 602"/>
                <a:gd name="T63" fmla="*/ 104 h 911"/>
                <a:gd name="T64" fmla="*/ 569 w 602"/>
                <a:gd name="T65" fmla="*/ 139 h 911"/>
                <a:gd name="T66" fmla="*/ 587 w 602"/>
                <a:gd name="T67" fmla="*/ 179 h 911"/>
                <a:gd name="T68" fmla="*/ 599 w 602"/>
                <a:gd name="T69" fmla="*/ 225 h 911"/>
                <a:gd name="T70" fmla="*/ 602 w 602"/>
                <a:gd name="T71" fmla="*/ 274 h 911"/>
                <a:gd name="T72" fmla="*/ 599 w 602"/>
                <a:gd name="T73" fmla="*/ 322 h 911"/>
                <a:gd name="T74" fmla="*/ 590 w 602"/>
                <a:gd name="T75" fmla="*/ 368 h 911"/>
                <a:gd name="T76" fmla="*/ 575 w 602"/>
                <a:gd name="T77" fmla="*/ 410 h 911"/>
                <a:gd name="T78" fmla="*/ 554 w 602"/>
                <a:gd name="T79" fmla="*/ 445 h 911"/>
                <a:gd name="T80" fmla="*/ 527 w 602"/>
                <a:gd name="T81" fmla="*/ 477 h 911"/>
                <a:gd name="T82" fmla="*/ 490 w 602"/>
                <a:gd name="T83" fmla="*/ 507 h 911"/>
                <a:gd name="T84" fmla="*/ 448 w 602"/>
                <a:gd name="T85" fmla="*/ 532 h 911"/>
                <a:gd name="T86" fmla="*/ 403 w 602"/>
                <a:gd name="T87" fmla="*/ 551 h 911"/>
                <a:gd name="T88" fmla="*/ 353 w 602"/>
                <a:gd name="T89" fmla="*/ 564 h 911"/>
                <a:gd name="T90" fmla="*/ 299 w 602"/>
                <a:gd name="T91" fmla="*/ 573 h 911"/>
                <a:gd name="T92" fmla="*/ 242 w 602"/>
                <a:gd name="T93" fmla="*/ 575 h 911"/>
                <a:gd name="T94" fmla="*/ 199 w 602"/>
                <a:gd name="T95" fmla="*/ 575 h 911"/>
                <a:gd name="T96" fmla="*/ 162 w 602"/>
                <a:gd name="T97" fmla="*/ 568 h 911"/>
                <a:gd name="T98" fmla="*/ 162 w 602"/>
                <a:gd name="T99" fmla="*/ 911 h 911"/>
                <a:gd name="T100" fmla="*/ 0 w 602"/>
                <a:gd name="T101" fmla="*/ 911 h 911"/>
                <a:gd name="T102" fmla="*/ 0 w 602"/>
                <a:gd name="T103" fmla="*/ 20 h 911"/>
                <a:gd name="T104" fmla="*/ 38 w 602"/>
                <a:gd name="T105" fmla="*/ 13 h 911"/>
                <a:gd name="T106" fmla="*/ 82 w 602"/>
                <a:gd name="T107" fmla="*/ 8 h 911"/>
                <a:gd name="T108" fmla="*/ 132 w 602"/>
                <a:gd name="T109" fmla="*/ 5 h 911"/>
                <a:gd name="T110" fmla="*/ 187 w 602"/>
                <a:gd name="T111" fmla="*/ 1 h 911"/>
                <a:gd name="T112" fmla="*/ 251 w 602"/>
                <a:gd name="T113" fmla="*/ 0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02" h="911">
                  <a:moveTo>
                    <a:pt x="258" y="127"/>
                  </a:moveTo>
                  <a:lnTo>
                    <a:pt x="216" y="129"/>
                  </a:lnTo>
                  <a:lnTo>
                    <a:pt x="184" y="132"/>
                  </a:lnTo>
                  <a:lnTo>
                    <a:pt x="162" y="136"/>
                  </a:lnTo>
                  <a:lnTo>
                    <a:pt x="162" y="438"/>
                  </a:lnTo>
                  <a:lnTo>
                    <a:pt x="186" y="443"/>
                  </a:lnTo>
                  <a:lnTo>
                    <a:pt x="212" y="447"/>
                  </a:lnTo>
                  <a:lnTo>
                    <a:pt x="242" y="447"/>
                  </a:lnTo>
                  <a:lnTo>
                    <a:pt x="286" y="443"/>
                  </a:lnTo>
                  <a:lnTo>
                    <a:pt x="324" y="435"/>
                  </a:lnTo>
                  <a:lnTo>
                    <a:pt x="360" y="422"/>
                  </a:lnTo>
                  <a:lnTo>
                    <a:pt x="386" y="403"/>
                  </a:lnTo>
                  <a:lnTo>
                    <a:pt x="410" y="380"/>
                  </a:lnTo>
                  <a:lnTo>
                    <a:pt x="427" y="351"/>
                  </a:lnTo>
                  <a:lnTo>
                    <a:pt x="437" y="317"/>
                  </a:lnTo>
                  <a:lnTo>
                    <a:pt x="440" y="280"/>
                  </a:lnTo>
                  <a:lnTo>
                    <a:pt x="437" y="245"/>
                  </a:lnTo>
                  <a:lnTo>
                    <a:pt x="427" y="215"/>
                  </a:lnTo>
                  <a:lnTo>
                    <a:pt x="411" y="188"/>
                  </a:lnTo>
                  <a:lnTo>
                    <a:pt x="391" y="166"/>
                  </a:lnTo>
                  <a:lnTo>
                    <a:pt x="365" y="149"/>
                  </a:lnTo>
                  <a:lnTo>
                    <a:pt x="333" y="137"/>
                  </a:lnTo>
                  <a:lnTo>
                    <a:pt x="298" y="131"/>
                  </a:lnTo>
                  <a:lnTo>
                    <a:pt x="258" y="127"/>
                  </a:lnTo>
                  <a:close/>
                  <a:moveTo>
                    <a:pt x="251" y="0"/>
                  </a:moveTo>
                  <a:lnTo>
                    <a:pt x="308" y="3"/>
                  </a:lnTo>
                  <a:lnTo>
                    <a:pt x="360" y="8"/>
                  </a:lnTo>
                  <a:lnTo>
                    <a:pt x="406" y="20"/>
                  </a:lnTo>
                  <a:lnTo>
                    <a:pt x="447" y="33"/>
                  </a:lnTo>
                  <a:lnTo>
                    <a:pt x="483" y="52"/>
                  </a:lnTo>
                  <a:lnTo>
                    <a:pt x="515" y="74"/>
                  </a:lnTo>
                  <a:lnTo>
                    <a:pt x="544" y="104"/>
                  </a:lnTo>
                  <a:lnTo>
                    <a:pt x="569" y="139"/>
                  </a:lnTo>
                  <a:lnTo>
                    <a:pt x="587" y="179"/>
                  </a:lnTo>
                  <a:lnTo>
                    <a:pt x="599" y="225"/>
                  </a:lnTo>
                  <a:lnTo>
                    <a:pt x="602" y="274"/>
                  </a:lnTo>
                  <a:lnTo>
                    <a:pt x="599" y="322"/>
                  </a:lnTo>
                  <a:lnTo>
                    <a:pt x="590" y="368"/>
                  </a:lnTo>
                  <a:lnTo>
                    <a:pt x="575" y="410"/>
                  </a:lnTo>
                  <a:lnTo>
                    <a:pt x="554" y="445"/>
                  </a:lnTo>
                  <a:lnTo>
                    <a:pt x="527" y="477"/>
                  </a:lnTo>
                  <a:lnTo>
                    <a:pt x="490" y="507"/>
                  </a:lnTo>
                  <a:lnTo>
                    <a:pt x="448" y="532"/>
                  </a:lnTo>
                  <a:lnTo>
                    <a:pt x="403" y="551"/>
                  </a:lnTo>
                  <a:lnTo>
                    <a:pt x="353" y="564"/>
                  </a:lnTo>
                  <a:lnTo>
                    <a:pt x="299" y="573"/>
                  </a:lnTo>
                  <a:lnTo>
                    <a:pt x="242" y="575"/>
                  </a:lnTo>
                  <a:lnTo>
                    <a:pt x="199" y="575"/>
                  </a:lnTo>
                  <a:lnTo>
                    <a:pt x="162" y="568"/>
                  </a:lnTo>
                  <a:lnTo>
                    <a:pt x="162" y="911"/>
                  </a:lnTo>
                  <a:lnTo>
                    <a:pt x="0" y="911"/>
                  </a:lnTo>
                  <a:lnTo>
                    <a:pt x="0" y="20"/>
                  </a:lnTo>
                  <a:lnTo>
                    <a:pt x="38" y="13"/>
                  </a:lnTo>
                  <a:lnTo>
                    <a:pt x="82" y="8"/>
                  </a:lnTo>
                  <a:lnTo>
                    <a:pt x="132" y="5"/>
                  </a:lnTo>
                  <a:lnTo>
                    <a:pt x="187" y="1"/>
                  </a:lnTo>
                  <a:lnTo>
                    <a:pt x="2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black">
            <a:xfrm>
              <a:off x="5754712" y="3670851"/>
              <a:ext cx="627063" cy="717550"/>
            </a:xfrm>
            <a:custGeom>
              <a:avLst/>
              <a:gdLst>
                <a:gd name="T0" fmla="*/ 386 w 790"/>
                <a:gd name="T1" fmla="*/ 133 h 905"/>
                <a:gd name="T2" fmla="*/ 371 w 790"/>
                <a:gd name="T3" fmla="*/ 187 h 905"/>
                <a:gd name="T4" fmla="*/ 358 w 790"/>
                <a:gd name="T5" fmla="*/ 246 h 905"/>
                <a:gd name="T6" fmla="*/ 343 w 790"/>
                <a:gd name="T7" fmla="*/ 301 h 905"/>
                <a:gd name="T8" fmla="*/ 274 w 790"/>
                <a:gd name="T9" fmla="*/ 523 h 905"/>
                <a:gd name="T10" fmla="*/ 503 w 790"/>
                <a:gd name="T11" fmla="*/ 523 h 905"/>
                <a:gd name="T12" fmla="*/ 433 w 790"/>
                <a:gd name="T13" fmla="*/ 301 h 905"/>
                <a:gd name="T14" fmla="*/ 416 w 790"/>
                <a:gd name="T15" fmla="*/ 244 h 905"/>
                <a:gd name="T16" fmla="*/ 401 w 790"/>
                <a:gd name="T17" fmla="*/ 187 h 905"/>
                <a:gd name="T18" fmla="*/ 388 w 790"/>
                <a:gd name="T19" fmla="*/ 133 h 905"/>
                <a:gd name="T20" fmla="*/ 386 w 790"/>
                <a:gd name="T21" fmla="*/ 133 h 905"/>
                <a:gd name="T22" fmla="*/ 288 w 790"/>
                <a:gd name="T23" fmla="*/ 0 h 905"/>
                <a:gd name="T24" fmla="*/ 497 w 790"/>
                <a:gd name="T25" fmla="*/ 0 h 905"/>
                <a:gd name="T26" fmla="*/ 790 w 790"/>
                <a:gd name="T27" fmla="*/ 905 h 905"/>
                <a:gd name="T28" fmla="*/ 612 w 790"/>
                <a:gd name="T29" fmla="*/ 905 h 905"/>
                <a:gd name="T30" fmla="*/ 530 w 790"/>
                <a:gd name="T31" fmla="*/ 648 h 905"/>
                <a:gd name="T32" fmla="*/ 247 w 790"/>
                <a:gd name="T33" fmla="*/ 648 h 905"/>
                <a:gd name="T34" fmla="*/ 169 w 790"/>
                <a:gd name="T35" fmla="*/ 905 h 905"/>
                <a:gd name="T36" fmla="*/ 0 w 790"/>
                <a:gd name="T37" fmla="*/ 905 h 905"/>
                <a:gd name="T38" fmla="*/ 288 w 790"/>
                <a:gd name="T39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0" h="905">
                  <a:moveTo>
                    <a:pt x="386" y="133"/>
                  </a:moveTo>
                  <a:lnTo>
                    <a:pt x="371" y="187"/>
                  </a:lnTo>
                  <a:lnTo>
                    <a:pt x="358" y="246"/>
                  </a:lnTo>
                  <a:lnTo>
                    <a:pt x="343" y="301"/>
                  </a:lnTo>
                  <a:lnTo>
                    <a:pt x="274" y="523"/>
                  </a:lnTo>
                  <a:lnTo>
                    <a:pt x="503" y="523"/>
                  </a:lnTo>
                  <a:lnTo>
                    <a:pt x="433" y="301"/>
                  </a:lnTo>
                  <a:lnTo>
                    <a:pt x="416" y="244"/>
                  </a:lnTo>
                  <a:lnTo>
                    <a:pt x="401" y="187"/>
                  </a:lnTo>
                  <a:lnTo>
                    <a:pt x="388" y="133"/>
                  </a:lnTo>
                  <a:lnTo>
                    <a:pt x="386" y="133"/>
                  </a:lnTo>
                  <a:close/>
                  <a:moveTo>
                    <a:pt x="288" y="0"/>
                  </a:moveTo>
                  <a:lnTo>
                    <a:pt x="497" y="0"/>
                  </a:lnTo>
                  <a:lnTo>
                    <a:pt x="790" y="905"/>
                  </a:lnTo>
                  <a:lnTo>
                    <a:pt x="612" y="905"/>
                  </a:lnTo>
                  <a:lnTo>
                    <a:pt x="530" y="648"/>
                  </a:lnTo>
                  <a:lnTo>
                    <a:pt x="247" y="648"/>
                  </a:lnTo>
                  <a:lnTo>
                    <a:pt x="169" y="905"/>
                  </a:lnTo>
                  <a:lnTo>
                    <a:pt x="0" y="905"/>
                  </a:lnTo>
                  <a:lnTo>
                    <a:pt x="2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1" name="Freeform 11"/>
            <p:cNvSpPr>
              <a:spLocks/>
            </p:cNvSpPr>
            <p:nvPr/>
          </p:nvSpPr>
          <p:spPr bwMode="black">
            <a:xfrm>
              <a:off x="6424637" y="3659739"/>
              <a:ext cx="463550" cy="739775"/>
            </a:xfrm>
            <a:custGeom>
              <a:avLst/>
              <a:gdLst>
                <a:gd name="T0" fmla="*/ 388 w 584"/>
                <a:gd name="T1" fmla="*/ 2 h 931"/>
                <a:gd name="T2" fmla="*/ 480 w 584"/>
                <a:gd name="T3" fmla="*/ 18 h 931"/>
                <a:gd name="T4" fmla="*/ 547 w 584"/>
                <a:gd name="T5" fmla="*/ 45 h 931"/>
                <a:gd name="T6" fmla="*/ 485 w 584"/>
                <a:gd name="T7" fmla="*/ 166 h 931"/>
                <a:gd name="T8" fmla="*/ 418 w 584"/>
                <a:gd name="T9" fmla="*/ 144 h 931"/>
                <a:gd name="T10" fmla="*/ 328 w 584"/>
                <a:gd name="T11" fmla="*/ 134 h 931"/>
                <a:gd name="T12" fmla="*/ 261 w 584"/>
                <a:gd name="T13" fmla="*/ 144 h 931"/>
                <a:gd name="T14" fmla="*/ 216 w 584"/>
                <a:gd name="T15" fmla="*/ 168 h 931"/>
                <a:gd name="T16" fmla="*/ 189 w 584"/>
                <a:gd name="T17" fmla="*/ 203 h 931"/>
                <a:gd name="T18" fmla="*/ 181 w 584"/>
                <a:gd name="T19" fmla="*/ 244 h 931"/>
                <a:gd name="T20" fmla="*/ 194 w 584"/>
                <a:gd name="T21" fmla="*/ 296 h 931"/>
                <a:gd name="T22" fmla="*/ 234 w 584"/>
                <a:gd name="T23" fmla="*/ 336 h 931"/>
                <a:gd name="T24" fmla="*/ 306 w 584"/>
                <a:gd name="T25" fmla="*/ 373 h 931"/>
                <a:gd name="T26" fmla="*/ 408 w 584"/>
                <a:gd name="T27" fmla="*/ 415 h 931"/>
                <a:gd name="T28" fmla="*/ 494 w 584"/>
                <a:gd name="T29" fmla="*/ 469 h 931"/>
                <a:gd name="T30" fmla="*/ 552 w 584"/>
                <a:gd name="T31" fmla="*/ 533 h 931"/>
                <a:gd name="T32" fmla="*/ 581 w 584"/>
                <a:gd name="T33" fmla="*/ 613 h 931"/>
                <a:gd name="T34" fmla="*/ 581 w 584"/>
                <a:gd name="T35" fmla="*/ 699 h 931"/>
                <a:gd name="T36" fmla="*/ 559 w 584"/>
                <a:gd name="T37" fmla="*/ 773 h 931"/>
                <a:gd name="T38" fmla="*/ 515 w 584"/>
                <a:gd name="T39" fmla="*/ 837 h 931"/>
                <a:gd name="T40" fmla="*/ 447 w 584"/>
                <a:gd name="T41" fmla="*/ 887 h 931"/>
                <a:gd name="T42" fmla="*/ 358 w 584"/>
                <a:gd name="T43" fmla="*/ 919 h 931"/>
                <a:gd name="T44" fmla="*/ 243 w 584"/>
                <a:gd name="T45" fmla="*/ 931 h 931"/>
                <a:gd name="T46" fmla="*/ 131 w 584"/>
                <a:gd name="T47" fmla="*/ 921 h 931"/>
                <a:gd name="T48" fmla="*/ 35 w 584"/>
                <a:gd name="T49" fmla="*/ 893 h 931"/>
                <a:gd name="T50" fmla="*/ 37 w 584"/>
                <a:gd name="T51" fmla="*/ 738 h 931"/>
                <a:gd name="T52" fmla="*/ 134 w 584"/>
                <a:gd name="T53" fmla="*/ 778 h 931"/>
                <a:gd name="T54" fmla="*/ 254 w 584"/>
                <a:gd name="T55" fmla="*/ 795 h 931"/>
                <a:gd name="T56" fmla="*/ 331 w 584"/>
                <a:gd name="T57" fmla="*/ 783 h 931"/>
                <a:gd name="T58" fmla="*/ 385 w 584"/>
                <a:gd name="T59" fmla="*/ 751 h 931"/>
                <a:gd name="T60" fmla="*/ 413 w 584"/>
                <a:gd name="T61" fmla="*/ 703 h 931"/>
                <a:gd name="T62" fmla="*/ 413 w 584"/>
                <a:gd name="T63" fmla="*/ 640 h 931"/>
                <a:gd name="T64" fmla="*/ 380 w 584"/>
                <a:gd name="T65" fmla="*/ 587 h 931"/>
                <a:gd name="T66" fmla="*/ 310 w 584"/>
                <a:gd name="T67" fmla="*/ 543 h 931"/>
                <a:gd name="T68" fmla="*/ 211 w 584"/>
                <a:gd name="T69" fmla="*/ 503 h 931"/>
                <a:gd name="T70" fmla="*/ 129 w 584"/>
                <a:gd name="T71" fmla="*/ 459 h 931"/>
                <a:gd name="T72" fmla="*/ 67 w 584"/>
                <a:gd name="T73" fmla="*/ 405 h 931"/>
                <a:gd name="T74" fmla="*/ 27 w 584"/>
                <a:gd name="T75" fmla="*/ 339 h 931"/>
                <a:gd name="T76" fmla="*/ 13 w 584"/>
                <a:gd name="T77" fmla="*/ 259 h 931"/>
                <a:gd name="T78" fmla="*/ 29 w 584"/>
                <a:gd name="T79" fmla="*/ 175 h 931"/>
                <a:gd name="T80" fmla="*/ 70 w 584"/>
                <a:gd name="T81" fmla="*/ 104 h 931"/>
                <a:gd name="T82" fmla="*/ 136 w 584"/>
                <a:gd name="T83" fmla="*/ 49 h 931"/>
                <a:gd name="T84" fmla="*/ 224 w 584"/>
                <a:gd name="T85" fmla="*/ 12 h 931"/>
                <a:gd name="T86" fmla="*/ 333 w 584"/>
                <a:gd name="T87" fmla="*/ 0 h 9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84" h="931">
                  <a:moveTo>
                    <a:pt x="333" y="0"/>
                  </a:moveTo>
                  <a:lnTo>
                    <a:pt x="388" y="2"/>
                  </a:lnTo>
                  <a:lnTo>
                    <a:pt x="437" y="8"/>
                  </a:lnTo>
                  <a:lnTo>
                    <a:pt x="480" y="18"/>
                  </a:lnTo>
                  <a:lnTo>
                    <a:pt x="517" y="30"/>
                  </a:lnTo>
                  <a:lnTo>
                    <a:pt x="547" y="45"/>
                  </a:lnTo>
                  <a:lnTo>
                    <a:pt x="509" y="178"/>
                  </a:lnTo>
                  <a:lnTo>
                    <a:pt x="485" y="166"/>
                  </a:lnTo>
                  <a:lnTo>
                    <a:pt x="455" y="155"/>
                  </a:lnTo>
                  <a:lnTo>
                    <a:pt x="418" y="144"/>
                  </a:lnTo>
                  <a:lnTo>
                    <a:pt x="377" y="138"/>
                  </a:lnTo>
                  <a:lnTo>
                    <a:pt x="328" y="134"/>
                  </a:lnTo>
                  <a:lnTo>
                    <a:pt x="293" y="138"/>
                  </a:lnTo>
                  <a:lnTo>
                    <a:pt x="261" y="144"/>
                  </a:lnTo>
                  <a:lnTo>
                    <a:pt x="236" y="155"/>
                  </a:lnTo>
                  <a:lnTo>
                    <a:pt x="216" y="168"/>
                  </a:lnTo>
                  <a:lnTo>
                    <a:pt x="201" y="185"/>
                  </a:lnTo>
                  <a:lnTo>
                    <a:pt x="189" y="203"/>
                  </a:lnTo>
                  <a:lnTo>
                    <a:pt x="182" y="223"/>
                  </a:lnTo>
                  <a:lnTo>
                    <a:pt x="181" y="244"/>
                  </a:lnTo>
                  <a:lnTo>
                    <a:pt x="184" y="271"/>
                  </a:lnTo>
                  <a:lnTo>
                    <a:pt x="194" y="296"/>
                  </a:lnTo>
                  <a:lnTo>
                    <a:pt x="211" y="316"/>
                  </a:lnTo>
                  <a:lnTo>
                    <a:pt x="234" y="336"/>
                  </a:lnTo>
                  <a:lnTo>
                    <a:pt x="266" y="355"/>
                  </a:lnTo>
                  <a:lnTo>
                    <a:pt x="306" y="373"/>
                  </a:lnTo>
                  <a:lnTo>
                    <a:pt x="353" y="392"/>
                  </a:lnTo>
                  <a:lnTo>
                    <a:pt x="408" y="415"/>
                  </a:lnTo>
                  <a:lnTo>
                    <a:pt x="455" y="440"/>
                  </a:lnTo>
                  <a:lnTo>
                    <a:pt x="494" y="469"/>
                  </a:lnTo>
                  <a:lnTo>
                    <a:pt x="527" y="499"/>
                  </a:lnTo>
                  <a:lnTo>
                    <a:pt x="552" y="533"/>
                  </a:lnTo>
                  <a:lnTo>
                    <a:pt x="569" y="571"/>
                  </a:lnTo>
                  <a:lnTo>
                    <a:pt x="581" y="613"/>
                  </a:lnTo>
                  <a:lnTo>
                    <a:pt x="584" y="661"/>
                  </a:lnTo>
                  <a:lnTo>
                    <a:pt x="581" y="699"/>
                  </a:lnTo>
                  <a:lnTo>
                    <a:pt x="572" y="736"/>
                  </a:lnTo>
                  <a:lnTo>
                    <a:pt x="559" y="773"/>
                  </a:lnTo>
                  <a:lnTo>
                    <a:pt x="539" y="807"/>
                  </a:lnTo>
                  <a:lnTo>
                    <a:pt x="515" y="837"/>
                  </a:lnTo>
                  <a:lnTo>
                    <a:pt x="484" y="864"/>
                  </a:lnTo>
                  <a:lnTo>
                    <a:pt x="447" y="887"/>
                  </a:lnTo>
                  <a:lnTo>
                    <a:pt x="405" y="906"/>
                  </a:lnTo>
                  <a:lnTo>
                    <a:pt x="358" y="919"/>
                  </a:lnTo>
                  <a:lnTo>
                    <a:pt x="303" y="930"/>
                  </a:lnTo>
                  <a:lnTo>
                    <a:pt x="243" y="931"/>
                  </a:lnTo>
                  <a:lnTo>
                    <a:pt x="186" y="930"/>
                  </a:lnTo>
                  <a:lnTo>
                    <a:pt x="131" y="921"/>
                  </a:lnTo>
                  <a:lnTo>
                    <a:pt x="79" y="908"/>
                  </a:lnTo>
                  <a:lnTo>
                    <a:pt x="35" y="893"/>
                  </a:lnTo>
                  <a:lnTo>
                    <a:pt x="0" y="874"/>
                  </a:lnTo>
                  <a:lnTo>
                    <a:pt x="37" y="738"/>
                  </a:lnTo>
                  <a:lnTo>
                    <a:pt x="80" y="760"/>
                  </a:lnTo>
                  <a:lnTo>
                    <a:pt x="134" y="778"/>
                  </a:lnTo>
                  <a:lnTo>
                    <a:pt x="193" y="790"/>
                  </a:lnTo>
                  <a:lnTo>
                    <a:pt x="254" y="795"/>
                  </a:lnTo>
                  <a:lnTo>
                    <a:pt x="296" y="792"/>
                  </a:lnTo>
                  <a:lnTo>
                    <a:pt x="331" y="783"/>
                  </a:lnTo>
                  <a:lnTo>
                    <a:pt x="362" y="770"/>
                  </a:lnTo>
                  <a:lnTo>
                    <a:pt x="385" y="751"/>
                  </a:lnTo>
                  <a:lnTo>
                    <a:pt x="403" y="729"/>
                  </a:lnTo>
                  <a:lnTo>
                    <a:pt x="413" y="703"/>
                  </a:lnTo>
                  <a:lnTo>
                    <a:pt x="417" y="672"/>
                  </a:lnTo>
                  <a:lnTo>
                    <a:pt x="413" y="640"/>
                  </a:lnTo>
                  <a:lnTo>
                    <a:pt x="402" y="612"/>
                  </a:lnTo>
                  <a:lnTo>
                    <a:pt x="380" y="587"/>
                  </a:lnTo>
                  <a:lnTo>
                    <a:pt x="350" y="565"/>
                  </a:lnTo>
                  <a:lnTo>
                    <a:pt x="310" y="543"/>
                  </a:lnTo>
                  <a:lnTo>
                    <a:pt x="258" y="523"/>
                  </a:lnTo>
                  <a:lnTo>
                    <a:pt x="211" y="503"/>
                  </a:lnTo>
                  <a:lnTo>
                    <a:pt x="167" y="482"/>
                  </a:lnTo>
                  <a:lnTo>
                    <a:pt x="129" y="459"/>
                  </a:lnTo>
                  <a:lnTo>
                    <a:pt x="95" y="434"/>
                  </a:lnTo>
                  <a:lnTo>
                    <a:pt x="67" y="405"/>
                  </a:lnTo>
                  <a:lnTo>
                    <a:pt x="44" y="373"/>
                  </a:lnTo>
                  <a:lnTo>
                    <a:pt x="27" y="339"/>
                  </a:lnTo>
                  <a:lnTo>
                    <a:pt x="17" y="301"/>
                  </a:lnTo>
                  <a:lnTo>
                    <a:pt x="13" y="259"/>
                  </a:lnTo>
                  <a:lnTo>
                    <a:pt x="17" y="215"/>
                  </a:lnTo>
                  <a:lnTo>
                    <a:pt x="29" y="175"/>
                  </a:lnTo>
                  <a:lnTo>
                    <a:pt x="45" y="138"/>
                  </a:lnTo>
                  <a:lnTo>
                    <a:pt x="70" y="104"/>
                  </a:lnTo>
                  <a:lnTo>
                    <a:pt x="100" y="74"/>
                  </a:lnTo>
                  <a:lnTo>
                    <a:pt x="136" y="49"/>
                  </a:lnTo>
                  <a:lnTo>
                    <a:pt x="177" y="27"/>
                  </a:lnTo>
                  <a:lnTo>
                    <a:pt x="224" y="12"/>
                  </a:lnTo>
                  <a:lnTo>
                    <a:pt x="276" y="3"/>
                  </a:lnTo>
                  <a:lnTo>
                    <a:pt x="3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2" name="Freeform 12"/>
            <p:cNvSpPr>
              <a:spLocks/>
            </p:cNvSpPr>
            <p:nvPr/>
          </p:nvSpPr>
          <p:spPr bwMode="black">
            <a:xfrm>
              <a:off x="3829075" y="3664501"/>
              <a:ext cx="609600" cy="731838"/>
            </a:xfrm>
            <a:custGeom>
              <a:avLst/>
              <a:gdLst>
                <a:gd name="T0" fmla="*/ 563 w 768"/>
                <a:gd name="T1" fmla="*/ 2 h 921"/>
                <a:gd name="T2" fmla="*/ 669 w 768"/>
                <a:gd name="T3" fmla="*/ 18 h 921"/>
                <a:gd name="T4" fmla="*/ 739 w 768"/>
                <a:gd name="T5" fmla="*/ 42 h 921"/>
                <a:gd name="T6" fmla="*/ 672 w 768"/>
                <a:gd name="T7" fmla="*/ 163 h 921"/>
                <a:gd name="T8" fmla="*/ 597 w 768"/>
                <a:gd name="T9" fmla="*/ 143 h 921"/>
                <a:gd name="T10" fmla="*/ 498 w 768"/>
                <a:gd name="T11" fmla="*/ 136 h 921"/>
                <a:gd name="T12" fmla="*/ 399 w 768"/>
                <a:gd name="T13" fmla="*/ 148 h 921"/>
                <a:gd name="T14" fmla="*/ 316 w 768"/>
                <a:gd name="T15" fmla="*/ 181 h 921"/>
                <a:gd name="T16" fmla="*/ 249 w 768"/>
                <a:gd name="T17" fmla="*/ 235 h 921"/>
                <a:gd name="T18" fmla="*/ 200 w 768"/>
                <a:gd name="T19" fmla="*/ 311 h 921"/>
                <a:gd name="T20" fmla="*/ 175 w 768"/>
                <a:gd name="T21" fmla="*/ 405 h 921"/>
                <a:gd name="T22" fmla="*/ 175 w 768"/>
                <a:gd name="T23" fmla="*/ 519 h 921"/>
                <a:gd name="T24" fmla="*/ 204 w 768"/>
                <a:gd name="T25" fmla="*/ 622 h 921"/>
                <a:gd name="T26" fmla="*/ 259 w 768"/>
                <a:gd name="T27" fmla="*/ 701 h 921"/>
                <a:gd name="T28" fmla="*/ 334 w 768"/>
                <a:gd name="T29" fmla="*/ 756 h 921"/>
                <a:gd name="T30" fmla="*/ 430 w 768"/>
                <a:gd name="T31" fmla="*/ 783 h 921"/>
                <a:gd name="T32" fmla="*/ 527 w 768"/>
                <a:gd name="T33" fmla="*/ 787 h 921"/>
                <a:gd name="T34" fmla="*/ 589 w 768"/>
                <a:gd name="T35" fmla="*/ 777 h 921"/>
                <a:gd name="T36" fmla="*/ 609 w 768"/>
                <a:gd name="T37" fmla="*/ 417 h 921"/>
                <a:gd name="T38" fmla="*/ 768 w 768"/>
                <a:gd name="T39" fmla="*/ 871 h 921"/>
                <a:gd name="T40" fmla="*/ 694 w 768"/>
                <a:gd name="T41" fmla="*/ 893 h 921"/>
                <a:gd name="T42" fmla="*/ 594 w 768"/>
                <a:gd name="T43" fmla="*/ 913 h 921"/>
                <a:gd name="T44" fmla="*/ 478 w 768"/>
                <a:gd name="T45" fmla="*/ 921 h 921"/>
                <a:gd name="T46" fmla="*/ 339 w 768"/>
                <a:gd name="T47" fmla="*/ 908 h 921"/>
                <a:gd name="T48" fmla="*/ 220 w 768"/>
                <a:gd name="T49" fmla="*/ 869 h 921"/>
                <a:gd name="T50" fmla="*/ 125 w 768"/>
                <a:gd name="T51" fmla="*/ 802 h 921"/>
                <a:gd name="T52" fmla="*/ 58 w 768"/>
                <a:gd name="T53" fmla="*/ 711 h 921"/>
                <a:gd name="T54" fmla="*/ 15 w 768"/>
                <a:gd name="T55" fmla="*/ 598 h 921"/>
                <a:gd name="T56" fmla="*/ 0 w 768"/>
                <a:gd name="T57" fmla="*/ 469 h 921"/>
                <a:gd name="T58" fmla="*/ 16 w 768"/>
                <a:gd name="T59" fmla="*/ 334 h 921"/>
                <a:gd name="T60" fmla="*/ 65 w 768"/>
                <a:gd name="T61" fmla="*/ 220 h 921"/>
                <a:gd name="T62" fmla="*/ 138 w 768"/>
                <a:gd name="T63" fmla="*/ 126 h 921"/>
                <a:gd name="T64" fmla="*/ 239 w 768"/>
                <a:gd name="T65" fmla="*/ 57 h 921"/>
                <a:gd name="T66" fmla="*/ 359 w 768"/>
                <a:gd name="T67" fmla="*/ 15 h 921"/>
                <a:gd name="T68" fmla="*/ 500 w 768"/>
                <a:gd name="T6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8" h="921">
                  <a:moveTo>
                    <a:pt x="500" y="0"/>
                  </a:moveTo>
                  <a:lnTo>
                    <a:pt x="563" y="2"/>
                  </a:lnTo>
                  <a:lnTo>
                    <a:pt x="620" y="8"/>
                  </a:lnTo>
                  <a:lnTo>
                    <a:pt x="669" y="18"/>
                  </a:lnTo>
                  <a:lnTo>
                    <a:pt x="709" y="30"/>
                  </a:lnTo>
                  <a:lnTo>
                    <a:pt x="739" y="42"/>
                  </a:lnTo>
                  <a:lnTo>
                    <a:pt x="702" y="175"/>
                  </a:lnTo>
                  <a:lnTo>
                    <a:pt x="672" y="163"/>
                  </a:lnTo>
                  <a:lnTo>
                    <a:pt x="637" y="151"/>
                  </a:lnTo>
                  <a:lnTo>
                    <a:pt x="597" y="143"/>
                  </a:lnTo>
                  <a:lnTo>
                    <a:pt x="552" y="138"/>
                  </a:lnTo>
                  <a:lnTo>
                    <a:pt x="498" y="136"/>
                  </a:lnTo>
                  <a:lnTo>
                    <a:pt x="448" y="139"/>
                  </a:lnTo>
                  <a:lnTo>
                    <a:pt x="399" y="148"/>
                  </a:lnTo>
                  <a:lnTo>
                    <a:pt x="356" y="161"/>
                  </a:lnTo>
                  <a:lnTo>
                    <a:pt x="316" y="181"/>
                  </a:lnTo>
                  <a:lnTo>
                    <a:pt x="279" y="205"/>
                  </a:lnTo>
                  <a:lnTo>
                    <a:pt x="249" y="235"/>
                  </a:lnTo>
                  <a:lnTo>
                    <a:pt x="222" y="271"/>
                  </a:lnTo>
                  <a:lnTo>
                    <a:pt x="200" y="311"/>
                  </a:lnTo>
                  <a:lnTo>
                    <a:pt x="185" y="356"/>
                  </a:lnTo>
                  <a:lnTo>
                    <a:pt x="175" y="405"/>
                  </a:lnTo>
                  <a:lnTo>
                    <a:pt x="172" y="461"/>
                  </a:lnTo>
                  <a:lnTo>
                    <a:pt x="175" y="519"/>
                  </a:lnTo>
                  <a:lnTo>
                    <a:pt x="187" y="573"/>
                  </a:lnTo>
                  <a:lnTo>
                    <a:pt x="204" y="622"/>
                  </a:lnTo>
                  <a:lnTo>
                    <a:pt x="229" y="664"/>
                  </a:lnTo>
                  <a:lnTo>
                    <a:pt x="259" y="701"/>
                  </a:lnTo>
                  <a:lnTo>
                    <a:pt x="294" y="731"/>
                  </a:lnTo>
                  <a:lnTo>
                    <a:pt x="334" y="756"/>
                  </a:lnTo>
                  <a:lnTo>
                    <a:pt x="379" y="773"/>
                  </a:lnTo>
                  <a:lnTo>
                    <a:pt x="430" y="783"/>
                  </a:lnTo>
                  <a:lnTo>
                    <a:pt x="485" y="788"/>
                  </a:lnTo>
                  <a:lnTo>
                    <a:pt x="527" y="787"/>
                  </a:lnTo>
                  <a:lnTo>
                    <a:pt x="560" y="782"/>
                  </a:lnTo>
                  <a:lnTo>
                    <a:pt x="589" y="777"/>
                  </a:lnTo>
                  <a:lnTo>
                    <a:pt x="609" y="770"/>
                  </a:lnTo>
                  <a:lnTo>
                    <a:pt x="609" y="417"/>
                  </a:lnTo>
                  <a:lnTo>
                    <a:pt x="768" y="417"/>
                  </a:lnTo>
                  <a:lnTo>
                    <a:pt x="768" y="871"/>
                  </a:lnTo>
                  <a:lnTo>
                    <a:pt x="734" y="882"/>
                  </a:lnTo>
                  <a:lnTo>
                    <a:pt x="694" y="893"/>
                  </a:lnTo>
                  <a:lnTo>
                    <a:pt x="645" y="904"/>
                  </a:lnTo>
                  <a:lnTo>
                    <a:pt x="594" y="913"/>
                  </a:lnTo>
                  <a:lnTo>
                    <a:pt x="537" y="919"/>
                  </a:lnTo>
                  <a:lnTo>
                    <a:pt x="478" y="921"/>
                  </a:lnTo>
                  <a:lnTo>
                    <a:pt x="406" y="918"/>
                  </a:lnTo>
                  <a:lnTo>
                    <a:pt x="339" y="908"/>
                  </a:lnTo>
                  <a:lnTo>
                    <a:pt x="277" y="893"/>
                  </a:lnTo>
                  <a:lnTo>
                    <a:pt x="220" y="869"/>
                  </a:lnTo>
                  <a:lnTo>
                    <a:pt x="170" y="839"/>
                  </a:lnTo>
                  <a:lnTo>
                    <a:pt x="125" y="802"/>
                  </a:lnTo>
                  <a:lnTo>
                    <a:pt x="88" y="760"/>
                  </a:lnTo>
                  <a:lnTo>
                    <a:pt x="58" y="711"/>
                  </a:lnTo>
                  <a:lnTo>
                    <a:pt x="33" y="657"/>
                  </a:lnTo>
                  <a:lnTo>
                    <a:pt x="15" y="598"/>
                  </a:lnTo>
                  <a:lnTo>
                    <a:pt x="3" y="536"/>
                  </a:lnTo>
                  <a:lnTo>
                    <a:pt x="0" y="469"/>
                  </a:lnTo>
                  <a:lnTo>
                    <a:pt x="5" y="400"/>
                  </a:lnTo>
                  <a:lnTo>
                    <a:pt x="16" y="334"/>
                  </a:lnTo>
                  <a:lnTo>
                    <a:pt x="36" y="274"/>
                  </a:lnTo>
                  <a:lnTo>
                    <a:pt x="65" y="220"/>
                  </a:lnTo>
                  <a:lnTo>
                    <a:pt x="98" y="170"/>
                  </a:lnTo>
                  <a:lnTo>
                    <a:pt x="138" y="126"/>
                  </a:lnTo>
                  <a:lnTo>
                    <a:pt x="185" y="89"/>
                  </a:lnTo>
                  <a:lnTo>
                    <a:pt x="239" y="57"/>
                  </a:lnTo>
                  <a:lnTo>
                    <a:pt x="297" y="32"/>
                  </a:lnTo>
                  <a:lnTo>
                    <a:pt x="359" y="15"/>
                  </a:lnTo>
                  <a:lnTo>
                    <a:pt x="428" y="3"/>
                  </a:lnTo>
                  <a:lnTo>
                    <a:pt x="50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3" name="Freeform 13"/>
            <p:cNvSpPr>
              <a:spLocks noEditPoints="1"/>
            </p:cNvSpPr>
            <p:nvPr/>
          </p:nvSpPr>
          <p:spPr bwMode="black">
            <a:xfrm>
              <a:off x="6956450" y="3689901"/>
              <a:ext cx="115888" cy="114300"/>
            </a:xfrm>
            <a:custGeom>
              <a:avLst/>
              <a:gdLst>
                <a:gd name="T0" fmla="*/ 59 w 146"/>
                <a:gd name="T1" fmla="*/ 65 h 144"/>
                <a:gd name="T2" fmla="*/ 80 w 146"/>
                <a:gd name="T3" fmla="*/ 65 h 144"/>
                <a:gd name="T4" fmla="*/ 89 w 146"/>
                <a:gd name="T5" fmla="*/ 64 h 144"/>
                <a:gd name="T6" fmla="*/ 92 w 146"/>
                <a:gd name="T7" fmla="*/ 57 h 144"/>
                <a:gd name="T8" fmla="*/ 92 w 146"/>
                <a:gd name="T9" fmla="*/ 49 h 144"/>
                <a:gd name="T10" fmla="*/ 87 w 146"/>
                <a:gd name="T11" fmla="*/ 44 h 144"/>
                <a:gd name="T12" fmla="*/ 80 w 146"/>
                <a:gd name="T13" fmla="*/ 40 h 144"/>
                <a:gd name="T14" fmla="*/ 59 w 146"/>
                <a:gd name="T15" fmla="*/ 40 h 144"/>
                <a:gd name="T16" fmla="*/ 77 w 146"/>
                <a:gd name="T17" fmla="*/ 30 h 144"/>
                <a:gd name="T18" fmla="*/ 104 w 146"/>
                <a:gd name="T19" fmla="*/ 40 h 144"/>
                <a:gd name="T20" fmla="*/ 105 w 146"/>
                <a:gd name="T21" fmla="*/ 60 h 144"/>
                <a:gd name="T22" fmla="*/ 100 w 146"/>
                <a:gd name="T23" fmla="*/ 70 h 144"/>
                <a:gd name="T24" fmla="*/ 90 w 146"/>
                <a:gd name="T25" fmla="*/ 75 h 144"/>
                <a:gd name="T26" fmla="*/ 109 w 146"/>
                <a:gd name="T27" fmla="*/ 114 h 144"/>
                <a:gd name="T28" fmla="*/ 70 w 146"/>
                <a:gd name="T29" fmla="*/ 77 h 144"/>
                <a:gd name="T30" fmla="*/ 59 w 146"/>
                <a:gd name="T31" fmla="*/ 114 h 144"/>
                <a:gd name="T32" fmla="*/ 45 w 146"/>
                <a:gd name="T33" fmla="*/ 30 h 144"/>
                <a:gd name="T34" fmla="*/ 50 w 146"/>
                <a:gd name="T35" fmla="*/ 15 h 144"/>
                <a:gd name="T36" fmla="*/ 18 w 146"/>
                <a:gd name="T37" fmla="*/ 49 h 144"/>
                <a:gd name="T38" fmla="*/ 18 w 146"/>
                <a:gd name="T39" fmla="*/ 97 h 144"/>
                <a:gd name="T40" fmla="*/ 50 w 146"/>
                <a:gd name="T41" fmla="*/ 129 h 144"/>
                <a:gd name="T42" fmla="*/ 95 w 146"/>
                <a:gd name="T43" fmla="*/ 129 h 144"/>
                <a:gd name="T44" fmla="*/ 127 w 146"/>
                <a:gd name="T45" fmla="*/ 97 h 144"/>
                <a:gd name="T46" fmla="*/ 127 w 146"/>
                <a:gd name="T47" fmla="*/ 49 h 144"/>
                <a:gd name="T48" fmla="*/ 95 w 146"/>
                <a:gd name="T49" fmla="*/ 15 h 144"/>
                <a:gd name="T50" fmla="*/ 74 w 146"/>
                <a:gd name="T51" fmla="*/ 0 h 144"/>
                <a:gd name="T52" fmla="*/ 116 w 146"/>
                <a:gd name="T53" fmla="*/ 13 h 144"/>
                <a:gd name="T54" fmla="*/ 141 w 146"/>
                <a:gd name="T55" fmla="*/ 49 h 144"/>
                <a:gd name="T56" fmla="*/ 141 w 146"/>
                <a:gd name="T57" fmla="*/ 96 h 144"/>
                <a:gd name="T58" fmla="*/ 116 w 146"/>
                <a:gd name="T59" fmla="*/ 131 h 144"/>
                <a:gd name="T60" fmla="*/ 74 w 146"/>
                <a:gd name="T61" fmla="*/ 144 h 144"/>
                <a:gd name="T62" fmla="*/ 30 w 146"/>
                <a:gd name="T63" fmla="*/ 131 h 144"/>
                <a:gd name="T64" fmla="*/ 5 w 146"/>
                <a:gd name="T65" fmla="*/ 96 h 144"/>
                <a:gd name="T66" fmla="*/ 5 w 146"/>
                <a:gd name="T67" fmla="*/ 49 h 144"/>
                <a:gd name="T68" fmla="*/ 30 w 146"/>
                <a:gd name="T69" fmla="*/ 13 h 144"/>
                <a:gd name="T70" fmla="*/ 74 w 146"/>
                <a:gd name="T71" fmla="*/ 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46" h="144">
                  <a:moveTo>
                    <a:pt x="59" y="40"/>
                  </a:moveTo>
                  <a:lnTo>
                    <a:pt x="59" y="65"/>
                  </a:lnTo>
                  <a:lnTo>
                    <a:pt x="75" y="65"/>
                  </a:lnTo>
                  <a:lnTo>
                    <a:pt x="80" y="65"/>
                  </a:lnTo>
                  <a:lnTo>
                    <a:pt x="85" y="65"/>
                  </a:lnTo>
                  <a:lnTo>
                    <a:pt x="89" y="64"/>
                  </a:lnTo>
                  <a:lnTo>
                    <a:pt x="90" y="62"/>
                  </a:lnTo>
                  <a:lnTo>
                    <a:pt x="92" y="57"/>
                  </a:lnTo>
                  <a:lnTo>
                    <a:pt x="92" y="54"/>
                  </a:lnTo>
                  <a:lnTo>
                    <a:pt x="92" y="49"/>
                  </a:lnTo>
                  <a:lnTo>
                    <a:pt x="90" y="45"/>
                  </a:lnTo>
                  <a:lnTo>
                    <a:pt x="87" y="44"/>
                  </a:lnTo>
                  <a:lnTo>
                    <a:pt x="84" y="42"/>
                  </a:lnTo>
                  <a:lnTo>
                    <a:pt x="80" y="40"/>
                  </a:lnTo>
                  <a:lnTo>
                    <a:pt x="75" y="40"/>
                  </a:lnTo>
                  <a:lnTo>
                    <a:pt x="59" y="40"/>
                  </a:lnTo>
                  <a:close/>
                  <a:moveTo>
                    <a:pt x="45" y="30"/>
                  </a:moveTo>
                  <a:lnTo>
                    <a:pt x="77" y="30"/>
                  </a:lnTo>
                  <a:lnTo>
                    <a:pt x="94" y="32"/>
                  </a:lnTo>
                  <a:lnTo>
                    <a:pt x="104" y="40"/>
                  </a:lnTo>
                  <a:lnTo>
                    <a:pt x="107" y="54"/>
                  </a:lnTo>
                  <a:lnTo>
                    <a:pt x="105" y="60"/>
                  </a:lnTo>
                  <a:lnTo>
                    <a:pt x="104" y="65"/>
                  </a:lnTo>
                  <a:lnTo>
                    <a:pt x="100" y="70"/>
                  </a:lnTo>
                  <a:lnTo>
                    <a:pt x="97" y="74"/>
                  </a:lnTo>
                  <a:lnTo>
                    <a:pt x="90" y="75"/>
                  </a:lnTo>
                  <a:lnTo>
                    <a:pt x="85" y="77"/>
                  </a:lnTo>
                  <a:lnTo>
                    <a:pt x="109" y="114"/>
                  </a:lnTo>
                  <a:lnTo>
                    <a:pt x="94" y="114"/>
                  </a:lnTo>
                  <a:lnTo>
                    <a:pt x="70" y="77"/>
                  </a:lnTo>
                  <a:lnTo>
                    <a:pt x="59" y="77"/>
                  </a:lnTo>
                  <a:lnTo>
                    <a:pt x="59" y="114"/>
                  </a:lnTo>
                  <a:lnTo>
                    <a:pt x="45" y="114"/>
                  </a:lnTo>
                  <a:lnTo>
                    <a:pt x="45" y="30"/>
                  </a:lnTo>
                  <a:close/>
                  <a:moveTo>
                    <a:pt x="74" y="10"/>
                  </a:moveTo>
                  <a:lnTo>
                    <a:pt x="50" y="15"/>
                  </a:lnTo>
                  <a:lnTo>
                    <a:pt x="32" y="28"/>
                  </a:lnTo>
                  <a:lnTo>
                    <a:pt x="18" y="49"/>
                  </a:lnTo>
                  <a:lnTo>
                    <a:pt x="15" y="72"/>
                  </a:lnTo>
                  <a:lnTo>
                    <a:pt x="18" y="97"/>
                  </a:lnTo>
                  <a:lnTo>
                    <a:pt x="32" y="116"/>
                  </a:lnTo>
                  <a:lnTo>
                    <a:pt x="50" y="129"/>
                  </a:lnTo>
                  <a:lnTo>
                    <a:pt x="74" y="134"/>
                  </a:lnTo>
                  <a:lnTo>
                    <a:pt x="95" y="129"/>
                  </a:lnTo>
                  <a:lnTo>
                    <a:pt x="114" y="116"/>
                  </a:lnTo>
                  <a:lnTo>
                    <a:pt x="127" y="97"/>
                  </a:lnTo>
                  <a:lnTo>
                    <a:pt x="131" y="72"/>
                  </a:lnTo>
                  <a:lnTo>
                    <a:pt x="127" y="49"/>
                  </a:lnTo>
                  <a:lnTo>
                    <a:pt x="114" y="28"/>
                  </a:lnTo>
                  <a:lnTo>
                    <a:pt x="95" y="15"/>
                  </a:lnTo>
                  <a:lnTo>
                    <a:pt x="74" y="10"/>
                  </a:lnTo>
                  <a:close/>
                  <a:moveTo>
                    <a:pt x="74" y="0"/>
                  </a:moveTo>
                  <a:lnTo>
                    <a:pt x="95" y="3"/>
                  </a:lnTo>
                  <a:lnTo>
                    <a:pt x="116" y="13"/>
                  </a:lnTo>
                  <a:lnTo>
                    <a:pt x="131" y="30"/>
                  </a:lnTo>
                  <a:lnTo>
                    <a:pt x="141" y="49"/>
                  </a:lnTo>
                  <a:lnTo>
                    <a:pt x="146" y="72"/>
                  </a:lnTo>
                  <a:lnTo>
                    <a:pt x="141" y="96"/>
                  </a:lnTo>
                  <a:lnTo>
                    <a:pt x="131" y="114"/>
                  </a:lnTo>
                  <a:lnTo>
                    <a:pt x="116" y="131"/>
                  </a:lnTo>
                  <a:lnTo>
                    <a:pt x="95" y="141"/>
                  </a:lnTo>
                  <a:lnTo>
                    <a:pt x="74" y="144"/>
                  </a:lnTo>
                  <a:lnTo>
                    <a:pt x="50" y="141"/>
                  </a:lnTo>
                  <a:lnTo>
                    <a:pt x="30" y="131"/>
                  </a:lnTo>
                  <a:lnTo>
                    <a:pt x="15" y="114"/>
                  </a:lnTo>
                  <a:lnTo>
                    <a:pt x="5" y="96"/>
                  </a:lnTo>
                  <a:lnTo>
                    <a:pt x="0" y="72"/>
                  </a:lnTo>
                  <a:lnTo>
                    <a:pt x="5" y="49"/>
                  </a:lnTo>
                  <a:lnTo>
                    <a:pt x="15" y="30"/>
                  </a:lnTo>
                  <a:lnTo>
                    <a:pt x="30" y="13"/>
                  </a:lnTo>
                  <a:lnTo>
                    <a:pt x="50" y="3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  <p:sp>
        <p:nvSpPr>
          <p:cNvPr id="27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43608" y="6448251"/>
            <a:ext cx="936104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8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123728" y="6448251"/>
            <a:ext cx="504056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29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467544" y="6448251"/>
            <a:ext cx="432048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600" b="1">
                <a:solidFill>
                  <a:schemeClr val="tx2"/>
                </a:solidFill>
              </a:defRPr>
            </a:lvl1pPr>
          </a:lstStyle>
          <a:p>
            <a:fld id="{31EF1479-3489-4788-BFA4-763D4DDB960F}" type="slidenum">
              <a:rPr lang="cs-CZ" smtClean="0"/>
              <a:pPr/>
              <a:t>‹#›</a:t>
            </a:fld>
            <a:endParaRPr lang="cs-CZ" dirty="0"/>
          </a:p>
        </p:txBody>
      </p:sp>
      <p:grpSp>
        <p:nvGrpSpPr>
          <p:cNvPr id="31" name="Skupina 30"/>
          <p:cNvGrpSpPr/>
          <p:nvPr userDrawn="1"/>
        </p:nvGrpSpPr>
        <p:grpSpPr bwMode="gray">
          <a:xfrm>
            <a:off x="0" y="0"/>
            <a:ext cx="9144000" cy="151200"/>
            <a:chOff x="814514" y="2924944"/>
            <a:chExt cx="6400078" cy="90000"/>
          </a:xfrm>
        </p:grpSpPr>
        <p:sp>
          <p:nvSpPr>
            <p:cNvPr id="32" name="Obdélník 31"/>
            <p:cNvSpPr/>
            <p:nvPr/>
          </p:nvSpPr>
          <p:spPr bwMode="gray">
            <a:xfrm>
              <a:off x="814514" y="2924944"/>
              <a:ext cx="914400" cy="90000"/>
            </a:xfrm>
            <a:prstGeom prst="rect">
              <a:avLst/>
            </a:prstGeom>
            <a:solidFill>
              <a:srgbClr val="009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3" name="Obdélník 32"/>
            <p:cNvSpPr/>
            <p:nvPr/>
          </p:nvSpPr>
          <p:spPr bwMode="gray">
            <a:xfrm>
              <a:off x="1728914" y="2924944"/>
              <a:ext cx="914400" cy="90000"/>
            </a:xfrm>
            <a:prstGeom prst="rect">
              <a:avLst/>
            </a:prstGeom>
            <a:solidFill>
              <a:srgbClr val="E500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4" name="Obdélník 33"/>
            <p:cNvSpPr/>
            <p:nvPr/>
          </p:nvSpPr>
          <p:spPr bwMode="gray">
            <a:xfrm>
              <a:off x="2643314" y="2924944"/>
              <a:ext cx="914400" cy="90000"/>
            </a:xfrm>
            <a:prstGeom prst="rect">
              <a:avLst/>
            </a:prstGeom>
            <a:solidFill>
              <a:srgbClr val="C8D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5" name="Obdélník 34"/>
            <p:cNvSpPr/>
            <p:nvPr/>
          </p:nvSpPr>
          <p:spPr bwMode="gray">
            <a:xfrm>
              <a:off x="3557714" y="2924944"/>
              <a:ext cx="914400" cy="90000"/>
            </a:xfrm>
            <a:prstGeom prst="rect">
              <a:avLst/>
            </a:prstGeom>
            <a:solidFill>
              <a:srgbClr val="EA52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6" name="Obdélník 35"/>
            <p:cNvSpPr/>
            <p:nvPr/>
          </p:nvSpPr>
          <p:spPr bwMode="gray">
            <a:xfrm>
              <a:off x="4472114" y="2924944"/>
              <a:ext cx="914400" cy="90000"/>
            </a:xfrm>
            <a:prstGeom prst="rect">
              <a:avLst/>
            </a:prstGeom>
            <a:solidFill>
              <a:srgbClr val="009F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7" name="Obdélník 36"/>
            <p:cNvSpPr/>
            <p:nvPr/>
          </p:nvSpPr>
          <p:spPr bwMode="gray">
            <a:xfrm>
              <a:off x="5386514" y="2924944"/>
              <a:ext cx="914400" cy="90000"/>
            </a:xfrm>
            <a:prstGeom prst="rect">
              <a:avLst/>
            </a:prstGeom>
            <a:solidFill>
              <a:srgbClr val="E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8" name="Obdélník 37"/>
            <p:cNvSpPr/>
            <p:nvPr/>
          </p:nvSpPr>
          <p:spPr bwMode="gray">
            <a:xfrm>
              <a:off x="6300192" y="2924944"/>
              <a:ext cx="914400" cy="90000"/>
            </a:xfrm>
            <a:prstGeom prst="rect">
              <a:avLst/>
            </a:prstGeom>
            <a:solidFill>
              <a:srgbClr val="0332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grpSp>
        <p:nvGrpSpPr>
          <p:cNvPr id="24" name="Skupina 23"/>
          <p:cNvGrpSpPr/>
          <p:nvPr userDrawn="1"/>
        </p:nvGrpSpPr>
        <p:grpSpPr>
          <a:xfrm>
            <a:off x="3320988" y="2708920"/>
            <a:ext cx="2502024" cy="2074729"/>
            <a:chOff x="4355976" y="4077072"/>
            <a:chExt cx="303900" cy="252000"/>
          </a:xfrm>
          <a:solidFill>
            <a:schemeClr val="tx2">
              <a:alpha val="5000"/>
            </a:schemeClr>
          </a:solidFill>
        </p:grpSpPr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4355976" y="4077072"/>
              <a:ext cx="231378" cy="229980"/>
            </a:xfrm>
            <a:custGeom>
              <a:avLst/>
              <a:gdLst>
                <a:gd name="T0" fmla="*/ 544 w 937"/>
                <a:gd name="T1" fmla="*/ 0 h 940"/>
                <a:gd name="T2" fmla="*/ 665 w 937"/>
                <a:gd name="T3" fmla="*/ 22 h 940"/>
                <a:gd name="T4" fmla="*/ 777 w 937"/>
                <a:gd name="T5" fmla="*/ 74 h 940"/>
                <a:gd name="T6" fmla="*/ 879 w 937"/>
                <a:gd name="T7" fmla="*/ 153 h 940"/>
                <a:gd name="T8" fmla="*/ 921 w 937"/>
                <a:gd name="T9" fmla="*/ 210 h 940"/>
                <a:gd name="T10" fmla="*/ 937 w 937"/>
                <a:gd name="T11" fmla="*/ 272 h 940"/>
                <a:gd name="T12" fmla="*/ 934 w 937"/>
                <a:gd name="T13" fmla="*/ 314 h 940"/>
                <a:gd name="T14" fmla="*/ 929 w 937"/>
                <a:gd name="T15" fmla="*/ 321 h 940"/>
                <a:gd name="T16" fmla="*/ 922 w 937"/>
                <a:gd name="T17" fmla="*/ 323 h 940"/>
                <a:gd name="T18" fmla="*/ 917 w 937"/>
                <a:gd name="T19" fmla="*/ 318 h 940"/>
                <a:gd name="T20" fmla="*/ 916 w 937"/>
                <a:gd name="T21" fmla="*/ 307 h 940"/>
                <a:gd name="T22" fmla="*/ 907 w 937"/>
                <a:gd name="T23" fmla="*/ 250 h 940"/>
                <a:gd name="T24" fmla="*/ 870 w 937"/>
                <a:gd name="T25" fmla="*/ 215 h 940"/>
                <a:gd name="T26" fmla="*/ 812 w 937"/>
                <a:gd name="T27" fmla="*/ 205 h 940"/>
                <a:gd name="T28" fmla="*/ 735 w 937"/>
                <a:gd name="T29" fmla="*/ 225 h 940"/>
                <a:gd name="T30" fmla="*/ 645 w 937"/>
                <a:gd name="T31" fmla="*/ 270 h 940"/>
                <a:gd name="T32" fmla="*/ 542 w 937"/>
                <a:gd name="T33" fmla="*/ 341 h 940"/>
                <a:gd name="T34" fmla="*/ 437 w 937"/>
                <a:gd name="T35" fmla="*/ 437 h 940"/>
                <a:gd name="T36" fmla="*/ 342 w 937"/>
                <a:gd name="T37" fmla="*/ 544 h 940"/>
                <a:gd name="T38" fmla="*/ 271 w 937"/>
                <a:gd name="T39" fmla="*/ 645 h 940"/>
                <a:gd name="T40" fmla="*/ 225 w 937"/>
                <a:gd name="T41" fmla="*/ 736 h 940"/>
                <a:gd name="T42" fmla="*/ 206 w 937"/>
                <a:gd name="T43" fmla="*/ 813 h 940"/>
                <a:gd name="T44" fmla="*/ 215 w 937"/>
                <a:gd name="T45" fmla="*/ 874 h 940"/>
                <a:gd name="T46" fmla="*/ 251 w 937"/>
                <a:gd name="T47" fmla="*/ 909 h 940"/>
                <a:gd name="T48" fmla="*/ 308 w 937"/>
                <a:gd name="T49" fmla="*/ 918 h 940"/>
                <a:gd name="T50" fmla="*/ 318 w 937"/>
                <a:gd name="T51" fmla="*/ 921 h 940"/>
                <a:gd name="T52" fmla="*/ 322 w 937"/>
                <a:gd name="T53" fmla="*/ 926 h 940"/>
                <a:gd name="T54" fmla="*/ 322 w 937"/>
                <a:gd name="T55" fmla="*/ 931 h 940"/>
                <a:gd name="T56" fmla="*/ 315 w 937"/>
                <a:gd name="T57" fmla="*/ 936 h 940"/>
                <a:gd name="T58" fmla="*/ 273 w 937"/>
                <a:gd name="T59" fmla="*/ 940 h 940"/>
                <a:gd name="T60" fmla="*/ 211 w 937"/>
                <a:gd name="T61" fmla="*/ 924 h 940"/>
                <a:gd name="T62" fmla="*/ 154 w 937"/>
                <a:gd name="T63" fmla="*/ 881 h 940"/>
                <a:gd name="T64" fmla="*/ 74 w 937"/>
                <a:gd name="T65" fmla="*/ 778 h 940"/>
                <a:gd name="T66" fmla="*/ 24 w 937"/>
                <a:gd name="T67" fmla="*/ 666 h 940"/>
                <a:gd name="T68" fmla="*/ 2 w 937"/>
                <a:gd name="T69" fmla="*/ 544 h 940"/>
                <a:gd name="T70" fmla="*/ 7 w 937"/>
                <a:gd name="T71" fmla="*/ 423 h 940"/>
                <a:gd name="T72" fmla="*/ 42 w 937"/>
                <a:gd name="T73" fmla="*/ 304 h 940"/>
                <a:gd name="T74" fmla="*/ 106 w 937"/>
                <a:gd name="T75" fmla="*/ 196 h 940"/>
                <a:gd name="T76" fmla="*/ 198 w 937"/>
                <a:gd name="T77" fmla="*/ 106 h 940"/>
                <a:gd name="T78" fmla="*/ 305 w 937"/>
                <a:gd name="T79" fmla="*/ 42 h 940"/>
                <a:gd name="T80" fmla="*/ 422 w 937"/>
                <a:gd name="T81" fmla="*/ 6 h 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37" h="940">
                  <a:moveTo>
                    <a:pt x="482" y="0"/>
                  </a:moveTo>
                  <a:lnTo>
                    <a:pt x="544" y="0"/>
                  </a:lnTo>
                  <a:lnTo>
                    <a:pt x="604" y="6"/>
                  </a:lnTo>
                  <a:lnTo>
                    <a:pt x="665" y="22"/>
                  </a:lnTo>
                  <a:lnTo>
                    <a:pt x="721" y="43"/>
                  </a:lnTo>
                  <a:lnTo>
                    <a:pt x="777" y="74"/>
                  </a:lnTo>
                  <a:lnTo>
                    <a:pt x="830" y="109"/>
                  </a:lnTo>
                  <a:lnTo>
                    <a:pt x="879" y="153"/>
                  </a:lnTo>
                  <a:lnTo>
                    <a:pt x="904" y="181"/>
                  </a:lnTo>
                  <a:lnTo>
                    <a:pt x="921" y="210"/>
                  </a:lnTo>
                  <a:lnTo>
                    <a:pt x="932" y="240"/>
                  </a:lnTo>
                  <a:lnTo>
                    <a:pt x="937" y="272"/>
                  </a:lnTo>
                  <a:lnTo>
                    <a:pt x="936" y="309"/>
                  </a:lnTo>
                  <a:lnTo>
                    <a:pt x="934" y="314"/>
                  </a:lnTo>
                  <a:lnTo>
                    <a:pt x="932" y="318"/>
                  </a:lnTo>
                  <a:lnTo>
                    <a:pt x="929" y="321"/>
                  </a:lnTo>
                  <a:lnTo>
                    <a:pt x="926" y="323"/>
                  </a:lnTo>
                  <a:lnTo>
                    <a:pt x="922" y="323"/>
                  </a:lnTo>
                  <a:lnTo>
                    <a:pt x="921" y="321"/>
                  </a:lnTo>
                  <a:lnTo>
                    <a:pt x="917" y="318"/>
                  </a:lnTo>
                  <a:lnTo>
                    <a:pt x="916" y="312"/>
                  </a:lnTo>
                  <a:lnTo>
                    <a:pt x="916" y="307"/>
                  </a:lnTo>
                  <a:lnTo>
                    <a:pt x="914" y="277"/>
                  </a:lnTo>
                  <a:lnTo>
                    <a:pt x="907" y="250"/>
                  </a:lnTo>
                  <a:lnTo>
                    <a:pt x="892" y="230"/>
                  </a:lnTo>
                  <a:lnTo>
                    <a:pt x="870" y="215"/>
                  </a:lnTo>
                  <a:lnTo>
                    <a:pt x="844" y="207"/>
                  </a:lnTo>
                  <a:lnTo>
                    <a:pt x="812" y="205"/>
                  </a:lnTo>
                  <a:lnTo>
                    <a:pt x="775" y="212"/>
                  </a:lnTo>
                  <a:lnTo>
                    <a:pt x="735" y="225"/>
                  </a:lnTo>
                  <a:lnTo>
                    <a:pt x="691" y="244"/>
                  </a:lnTo>
                  <a:lnTo>
                    <a:pt x="645" y="270"/>
                  </a:lnTo>
                  <a:lnTo>
                    <a:pt x="594" y="302"/>
                  </a:lnTo>
                  <a:lnTo>
                    <a:pt x="542" y="341"/>
                  </a:lnTo>
                  <a:lnTo>
                    <a:pt x="491" y="386"/>
                  </a:lnTo>
                  <a:lnTo>
                    <a:pt x="437" y="437"/>
                  </a:lnTo>
                  <a:lnTo>
                    <a:pt x="387" y="491"/>
                  </a:lnTo>
                  <a:lnTo>
                    <a:pt x="342" y="544"/>
                  </a:lnTo>
                  <a:lnTo>
                    <a:pt x="303" y="595"/>
                  </a:lnTo>
                  <a:lnTo>
                    <a:pt x="271" y="645"/>
                  </a:lnTo>
                  <a:lnTo>
                    <a:pt x="245" y="692"/>
                  </a:lnTo>
                  <a:lnTo>
                    <a:pt x="225" y="736"/>
                  </a:lnTo>
                  <a:lnTo>
                    <a:pt x="213" y="776"/>
                  </a:lnTo>
                  <a:lnTo>
                    <a:pt x="206" y="813"/>
                  </a:lnTo>
                  <a:lnTo>
                    <a:pt x="208" y="845"/>
                  </a:lnTo>
                  <a:lnTo>
                    <a:pt x="215" y="874"/>
                  </a:lnTo>
                  <a:lnTo>
                    <a:pt x="230" y="894"/>
                  </a:lnTo>
                  <a:lnTo>
                    <a:pt x="251" y="909"/>
                  </a:lnTo>
                  <a:lnTo>
                    <a:pt x="276" y="918"/>
                  </a:lnTo>
                  <a:lnTo>
                    <a:pt x="308" y="918"/>
                  </a:lnTo>
                  <a:lnTo>
                    <a:pt x="313" y="919"/>
                  </a:lnTo>
                  <a:lnTo>
                    <a:pt x="318" y="921"/>
                  </a:lnTo>
                  <a:lnTo>
                    <a:pt x="320" y="923"/>
                  </a:lnTo>
                  <a:lnTo>
                    <a:pt x="322" y="926"/>
                  </a:lnTo>
                  <a:lnTo>
                    <a:pt x="322" y="929"/>
                  </a:lnTo>
                  <a:lnTo>
                    <a:pt x="322" y="931"/>
                  </a:lnTo>
                  <a:lnTo>
                    <a:pt x="318" y="934"/>
                  </a:lnTo>
                  <a:lnTo>
                    <a:pt x="315" y="936"/>
                  </a:lnTo>
                  <a:lnTo>
                    <a:pt x="310" y="938"/>
                  </a:lnTo>
                  <a:lnTo>
                    <a:pt x="273" y="940"/>
                  </a:lnTo>
                  <a:lnTo>
                    <a:pt x="241" y="934"/>
                  </a:lnTo>
                  <a:lnTo>
                    <a:pt x="211" y="924"/>
                  </a:lnTo>
                  <a:lnTo>
                    <a:pt x="183" y="906"/>
                  </a:lnTo>
                  <a:lnTo>
                    <a:pt x="154" y="881"/>
                  </a:lnTo>
                  <a:lnTo>
                    <a:pt x="111" y="832"/>
                  </a:lnTo>
                  <a:lnTo>
                    <a:pt x="74" y="778"/>
                  </a:lnTo>
                  <a:lnTo>
                    <a:pt x="46" y="723"/>
                  </a:lnTo>
                  <a:lnTo>
                    <a:pt x="24" y="666"/>
                  </a:lnTo>
                  <a:lnTo>
                    <a:pt x="9" y="605"/>
                  </a:lnTo>
                  <a:lnTo>
                    <a:pt x="2" y="544"/>
                  </a:lnTo>
                  <a:lnTo>
                    <a:pt x="0" y="484"/>
                  </a:lnTo>
                  <a:lnTo>
                    <a:pt x="7" y="423"/>
                  </a:lnTo>
                  <a:lnTo>
                    <a:pt x="22" y="363"/>
                  </a:lnTo>
                  <a:lnTo>
                    <a:pt x="42" y="304"/>
                  </a:lnTo>
                  <a:lnTo>
                    <a:pt x="71" y="249"/>
                  </a:lnTo>
                  <a:lnTo>
                    <a:pt x="106" y="196"/>
                  </a:lnTo>
                  <a:lnTo>
                    <a:pt x="149" y="148"/>
                  </a:lnTo>
                  <a:lnTo>
                    <a:pt x="198" y="106"/>
                  </a:lnTo>
                  <a:lnTo>
                    <a:pt x="250" y="70"/>
                  </a:lnTo>
                  <a:lnTo>
                    <a:pt x="305" y="42"/>
                  </a:lnTo>
                  <a:lnTo>
                    <a:pt x="363" y="20"/>
                  </a:lnTo>
                  <a:lnTo>
                    <a:pt x="422" y="6"/>
                  </a:lnTo>
                  <a:lnTo>
                    <a:pt x="4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  <p:sp>
          <p:nvSpPr>
            <p:cNvPr id="26" name="Freeform 7"/>
            <p:cNvSpPr>
              <a:spLocks noEditPoints="1"/>
            </p:cNvSpPr>
            <p:nvPr/>
          </p:nvSpPr>
          <p:spPr bwMode="auto">
            <a:xfrm>
              <a:off x="4428991" y="4099092"/>
              <a:ext cx="230885" cy="229980"/>
            </a:xfrm>
            <a:custGeom>
              <a:avLst/>
              <a:gdLst>
                <a:gd name="T0" fmla="*/ 501 w 936"/>
                <a:gd name="T1" fmla="*/ 502 h 939"/>
                <a:gd name="T2" fmla="*/ 501 w 936"/>
                <a:gd name="T3" fmla="*/ 502 h 939"/>
                <a:gd name="T4" fmla="*/ 697 w 936"/>
                <a:gd name="T5" fmla="*/ 5 h 939"/>
                <a:gd name="T6" fmla="*/ 755 w 936"/>
                <a:gd name="T7" fmla="*/ 33 h 939"/>
                <a:gd name="T8" fmla="*/ 827 w 936"/>
                <a:gd name="T9" fmla="*/ 107 h 939"/>
                <a:gd name="T10" fmla="*/ 892 w 936"/>
                <a:gd name="T11" fmla="*/ 216 h 939"/>
                <a:gd name="T12" fmla="*/ 927 w 936"/>
                <a:gd name="T13" fmla="*/ 334 h 939"/>
                <a:gd name="T14" fmla="*/ 936 w 936"/>
                <a:gd name="T15" fmla="*/ 455 h 939"/>
                <a:gd name="T16" fmla="*/ 916 w 936"/>
                <a:gd name="T17" fmla="*/ 576 h 939"/>
                <a:gd name="T18" fmla="*/ 866 w 936"/>
                <a:gd name="T19" fmla="*/ 691 h 939"/>
                <a:gd name="T20" fmla="*/ 789 w 936"/>
                <a:gd name="T21" fmla="*/ 791 h 939"/>
                <a:gd name="T22" fmla="*/ 688 w 936"/>
                <a:gd name="T23" fmla="*/ 870 h 939"/>
                <a:gd name="T24" fmla="*/ 574 w 936"/>
                <a:gd name="T25" fmla="*/ 919 h 939"/>
                <a:gd name="T26" fmla="*/ 454 w 936"/>
                <a:gd name="T27" fmla="*/ 939 h 939"/>
                <a:gd name="T28" fmla="*/ 333 w 936"/>
                <a:gd name="T29" fmla="*/ 933 h 939"/>
                <a:gd name="T30" fmla="*/ 216 w 936"/>
                <a:gd name="T31" fmla="*/ 896 h 939"/>
                <a:gd name="T32" fmla="*/ 108 w 936"/>
                <a:gd name="T33" fmla="*/ 830 h 939"/>
                <a:gd name="T34" fmla="*/ 34 w 936"/>
                <a:gd name="T35" fmla="*/ 758 h 939"/>
                <a:gd name="T36" fmla="*/ 6 w 936"/>
                <a:gd name="T37" fmla="*/ 699 h 939"/>
                <a:gd name="T38" fmla="*/ 2 w 936"/>
                <a:gd name="T39" fmla="*/ 630 h 939"/>
                <a:gd name="T40" fmla="*/ 6 w 936"/>
                <a:gd name="T41" fmla="*/ 622 h 939"/>
                <a:gd name="T42" fmla="*/ 11 w 936"/>
                <a:gd name="T43" fmla="*/ 618 h 939"/>
                <a:gd name="T44" fmla="*/ 17 w 936"/>
                <a:gd name="T45" fmla="*/ 620 h 939"/>
                <a:gd name="T46" fmla="*/ 21 w 936"/>
                <a:gd name="T47" fmla="*/ 627 h 939"/>
                <a:gd name="T48" fmla="*/ 22 w 936"/>
                <a:gd name="T49" fmla="*/ 662 h 939"/>
                <a:gd name="T50" fmla="*/ 44 w 936"/>
                <a:gd name="T51" fmla="*/ 711 h 939"/>
                <a:gd name="T52" fmla="*/ 93 w 936"/>
                <a:gd name="T53" fmla="*/ 733 h 939"/>
                <a:gd name="T54" fmla="*/ 161 w 936"/>
                <a:gd name="T55" fmla="*/ 727 h 939"/>
                <a:gd name="T56" fmla="*/ 246 w 936"/>
                <a:gd name="T57" fmla="*/ 696 h 939"/>
                <a:gd name="T58" fmla="*/ 344 w 936"/>
                <a:gd name="T59" fmla="*/ 637 h 939"/>
                <a:gd name="T60" fmla="*/ 447 w 936"/>
                <a:gd name="T61" fmla="*/ 553 h 939"/>
                <a:gd name="T62" fmla="*/ 551 w 936"/>
                <a:gd name="T63" fmla="*/ 448 h 939"/>
                <a:gd name="T64" fmla="*/ 635 w 936"/>
                <a:gd name="T65" fmla="*/ 344 h 939"/>
                <a:gd name="T66" fmla="*/ 693 w 936"/>
                <a:gd name="T67" fmla="*/ 247 h 939"/>
                <a:gd name="T68" fmla="*/ 725 w 936"/>
                <a:gd name="T69" fmla="*/ 163 h 939"/>
                <a:gd name="T70" fmla="*/ 730 w 936"/>
                <a:gd name="T71" fmla="*/ 94 h 939"/>
                <a:gd name="T72" fmla="*/ 707 w 936"/>
                <a:gd name="T73" fmla="*/ 45 h 939"/>
                <a:gd name="T74" fmla="*/ 660 w 936"/>
                <a:gd name="T75" fmla="*/ 21 h 939"/>
                <a:gd name="T76" fmla="*/ 623 w 936"/>
                <a:gd name="T77" fmla="*/ 20 h 939"/>
                <a:gd name="T78" fmla="*/ 616 w 936"/>
                <a:gd name="T79" fmla="*/ 16 h 939"/>
                <a:gd name="T80" fmla="*/ 615 w 936"/>
                <a:gd name="T81" fmla="*/ 11 h 939"/>
                <a:gd name="T82" fmla="*/ 618 w 936"/>
                <a:gd name="T83" fmla="*/ 5 h 939"/>
                <a:gd name="T84" fmla="*/ 628 w 936"/>
                <a:gd name="T85" fmla="*/ 1 h 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36" h="939">
                  <a:moveTo>
                    <a:pt x="501" y="502"/>
                  </a:moveTo>
                  <a:lnTo>
                    <a:pt x="501" y="502"/>
                  </a:lnTo>
                  <a:lnTo>
                    <a:pt x="501" y="502"/>
                  </a:lnTo>
                  <a:lnTo>
                    <a:pt x="501" y="502"/>
                  </a:lnTo>
                  <a:close/>
                  <a:moveTo>
                    <a:pt x="665" y="0"/>
                  </a:moveTo>
                  <a:lnTo>
                    <a:pt x="697" y="5"/>
                  </a:lnTo>
                  <a:lnTo>
                    <a:pt x="727" y="16"/>
                  </a:lnTo>
                  <a:lnTo>
                    <a:pt x="755" y="33"/>
                  </a:lnTo>
                  <a:lnTo>
                    <a:pt x="784" y="58"/>
                  </a:lnTo>
                  <a:lnTo>
                    <a:pt x="827" y="107"/>
                  </a:lnTo>
                  <a:lnTo>
                    <a:pt x="862" y="161"/>
                  </a:lnTo>
                  <a:lnTo>
                    <a:pt x="892" y="216"/>
                  </a:lnTo>
                  <a:lnTo>
                    <a:pt x="914" y="274"/>
                  </a:lnTo>
                  <a:lnTo>
                    <a:pt x="927" y="334"/>
                  </a:lnTo>
                  <a:lnTo>
                    <a:pt x="936" y="395"/>
                  </a:lnTo>
                  <a:lnTo>
                    <a:pt x="936" y="455"/>
                  </a:lnTo>
                  <a:lnTo>
                    <a:pt x="929" y="517"/>
                  </a:lnTo>
                  <a:lnTo>
                    <a:pt x="916" y="576"/>
                  </a:lnTo>
                  <a:lnTo>
                    <a:pt x="894" y="635"/>
                  </a:lnTo>
                  <a:lnTo>
                    <a:pt x="866" y="691"/>
                  </a:lnTo>
                  <a:lnTo>
                    <a:pt x="830" y="743"/>
                  </a:lnTo>
                  <a:lnTo>
                    <a:pt x="789" y="791"/>
                  </a:lnTo>
                  <a:lnTo>
                    <a:pt x="740" y="833"/>
                  </a:lnTo>
                  <a:lnTo>
                    <a:pt x="688" y="870"/>
                  </a:lnTo>
                  <a:lnTo>
                    <a:pt x="631" y="897"/>
                  </a:lnTo>
                  <a:lnTo>
                    <a:pt x="574" y="919"/>
                  </a:lnTo>
                  <a:lnTo>
                    <a:pt x="514" y="933"/>
                  </a:lnTo>
                  <a:lnTo>
                    <a:pt x="454" y="939"/>
                  </a:lnTo>
                  <a:lnTo>
                    <a:pt x="394" y="939"/>
                  </a:lnTo>
                  <a:lnTo>
                    <a:pt x="333" y="933"/>
                  </a:lnTo>
                  <a:lnTo>
                    <a:pt x="273" y="917"/>
                  </a:lnTo>
                  <a:lnTo>
                    <a:pt x="216" y="896"/>
                  </a:lnTo>
                  <a:lnTo>
                    <a:pt x="159" y="867"/>
                  </a:lnTo>
                  <a:lnTo>
                    <a:pt x="108" y="830"/>
                  </a:lnTo>
                  <a:lnTo>
                    <a:pt x="59" y="786"/>
                  </a:lnTo>
                  <a:lnTo>
                    <a:pt x="34" y="758"/>
                  </a:lnTo>
                  <a:lnTo>
                    <a:pt x="16" y="729"/>
                  </a:lnTo>
                  <a:lnTo>
                    <a:pt x="6" y="699"/>
                  </a:lnTo>
                  <a:lnTo>
                    <a:pt x="0" y="667"/>
                  </a:lnTo>
                  <a:lnTo>
                    <a:pt x="2" y="630"/>
                  </a:lnTo>
                  <a:lnTo>
                    <a:pt x="4" y="625"/>
                  </a:lnTo>
                  <a:lnTo>
                    <a:pt x="6" y="622"/>
                  </a:lnTo>
                  <a:lnTo>
                    <a:pt x="7" y="618"/>
                  </a:lnTo>
                  <a:lnTo>
                    <a:pt x="11" y="618"/>
                  </a:lnTo>
                  <a:lnTo>
                    <a:pt x="14" y="618"/>
                  </a:lnTo>
                  <a:lnTo>
                    <a:pt x="17" y="620"/>
                  </a:lnTo>
                  <a:lnTo>
                    <a:pt x="19" y="622"/>
                  </a:lnTo>
                  <a:lnTo>
                    <a:pt x="21" y="627"/>
                  </a:lnTo>
                  <a:lnTo>
                    <a:pt x="21" y="632"/>
                  </a:lnTo>
                  <a:lnTo>
                    <a:pt x="22" y="662"/>
                  </a:lnTo>
                  <a:lnTo>
                    <a:pt x="31" y="689"/>
                  </a:lnTo>
                  <a:lnTo>
                    <a:pt x="44" y="711"/>
                  </a:lnTo>
                  <a:lnTo>
                    <a:pt x="66" y="726"/>
                  </a:lnTo>
                  <a:lnTo>
                    <a:pt x="93" y="733"/>
                  </a:lnTo>
                  <a:lnTo>
                    <a:pt x="126" y="734"/>
                  </a:lnTo>
                  <a:lnTo>
                    <a:pt x="161" y="727"/>
                  </a:lnTo>
                  <a:lnTo>
                    <a:pt x="203" y="716"/>
                  </a:lnTo>
                  <a:lnTo>
                    <a:pt x="246" y="696"/>
                  </a:lnTo>
                  <a:lnTo>
                    <a:pt x="293" y="669"/>
                  </a:lnTo>
                  <a:lnTo>
                    <a:pt x="344" y="637"/>
                  </a:lnTo>
                  <a:lnTo>
                    <a:pt x="394" y="598"/>
                  </a:lnTo>
                  <a:lnTo>
                    <a:pt x="447" y="553"/>
                  </a:lnTo>
                  <a:lnTo>
                    <a:pt x="501" y="502"/>
                  </a:lnTo>
                  <a:lnTo>
                    <a:pt x="551" y="448"/>
                  </a:lnTo>
                  <a:lnTo>
                    <a:pt x="596" y="396"/>
                  </a:lnTo>
                  <a:lnTo>
                    <a:pt x="635" y="344"/>
                  </a:lnTo>
                  <a:lnTo>
                    <a:pt x="666" y="294"/>
                  </a:lnTo>
                  <a:lnTo>
                    <a:pt x="693" y="247"/>
                  </a:lnTo>
                  <a:lnTo>
                    <a:pt x="712" y="203"/>
                  </a:lnTo>
                  <a:lnTo>
                    <a:pt x="725" y="163"/>
                  </a:lnTo>
                  <a:lnTo>
                    <a:pt x="732" y="126"/>
                  </a:lnTo>
                  <a:lnTo>
                    <a:pt x="730" y="94"/>
                  </a:lnTo>
                  <a:lnTo>
                    <a:pt x="722" y="67"/>
                  </a:lnTo>
                  <a:lnTo>
                    <a:pt x="707" y="45"/>
                  </a:lnTo>
                  <a:lnTo>
                    <a:pt x="687" y="30"/>
                  </a:lnTo>
                  <a:lnTo>
                    <a:pt x="660" y="21"/>
                  </a:lnTo>
                  <a:lnTo>
                    <a:pt x="630" y="21"/>
                  </a:lnTo>
                  <a:lnTo>
                    <a:pt x="623" y="20"/>
                  </a:lnTo>
                  <a:lnTo>
                    <a:pt x="620" y="20"/>
                  </a:lnTo>
                  <a:lnTo>
                    <a:pt x="616" y="16"/>
                  </a:lnTo>
                  <a:lnTo>
                    <a:pt x="615" y="13"/>
                  </a:lnTo>
                  <a:lnTo>
                    <a:pt x="615" y="11"/>
                  </a:lnTo>
                  <a:lnTo>
                    <a:pt x="616" y="8"/>
                  </a:lnTo>
                  <a:lnTo>
                    <a:pt x="618" y="5"/>
                  </a:lnTo>
                  <a:lnTo>
                    <a:pt x="623" y="3"/>
                  </a:lnTo>
                  <a:lnTo>
                    <a:pt x="628" y="1"/>
                  </a:lnTo>
                  <a:lnTo>
                    <a:pt x="6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cs-CZ"/>
            </a:p>
          </p:txBody>
        </p:sp>
      </p:grpSp>
    </p:spTree>
    <p:extLst>
      <p:ext uri="{BB962C8B-B14F-4D97-AF65-F5344CB8AC3E}">
        <p14:creationId xmlns:p14="http://schemas.microsoft.com/office/powerpoint/2010/main" val="241237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SzPct val="90000"/>
        <a:buFont typeface="Wingdings" pitchFamily="2" charset="2"/>
        <a:buChar char="§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611188" y="1628801"/>
            <a:ext cx="7921252" cy="1368152"/>
          </a:xfrm>
        </p:spPr>
        <p:txBody>
          <a:bodyPr>
            <a:normAutofit/>
          </a:bodyPr>
          <a:lstStyle/>
          <a:p>
            <a:r>
              <a:rPr lang="en-US" dirty="0"/>
              <a:t>NTLM</a:t>
            </a:r>
            <a:endParaRPr lang="cs-CZ" dirty="0"/>
          </a:p>
        </p:txBody>
      </p:sp>
      <p:sp>
        <p:nvSpPr>
          <p:cNvPr id="7" name="Podnadpis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GOPAS: info@gopas</a:t>
            </a:r>
            <a:r>
              <a:rPr lang="en-US"/>
              <a:t>.</a:t>
            </a:r>
            <a:r>
              <a:rPr lang="cs-CZ"/>
              <a:t>cz </a:t>
            </a:r>
            <a:r>
              <a:rPr lang="en-US" dirty="0"/>
              <a:t>|</a:t>
            </a:r>
            <a:r>
              <a:rPr lang="cs-CZ" dirty="0"/>
              <a:t> www.gopas.cz</a:t>
            </a:r>
            <a:r>
              <a:rPr lang="en-US" dirty="0"/>
              <a:t> |</a:t>
            </a:r>
            <a:r>
              <a:rPr lang="cs-CZ" dirty="0"/>
              <a:t> www.facebook.com/P.S.GOPAS</a:t>
            </a:r>
          </a:p>
        </p:txBody>
      </p:sp>
      <p:sp>
        <p:nvSpPr>
          <p:cNvPr id="8" name="Zástupný symbol pro text 7"/>
          <p:cNvSpPr>
            <a:spLocks noGrp="1"/>
          </p:cNvSpPr>
          <p:nvPr>
            <p:ph type="body" sz="quarter" idx="10"/>
          </p:nvPr>
        </p:nvSpPr>
        <p:spPr>
          <a:xfrm>
            <a:off x="611188" y="3285232"/>
            <a:ext cx="7921625" cy="2015976"/>
          </a:xfrm>
        </p:spPr>
        <p:txBody>
          <a:bodyPr/>
          <a:lstStyle/>
          <a:p>
            <a:r>
              <a:rPr lang="en-US" dirty="0"/>
              <a:t>Ing. </a:t>
            </a:r>
            <a:r>
              <a:rPr lang="cs-CZ" dirty="0"/>
              <a:t>Ondřej Ševeček </a:t>
            </a:r>
            <a:r>
              <a:rPr lang="en-US" dirty="0"/>
              <a:t>| GOPAS a.s. |</a:t>
            </a:r>
          </a:p>
          <a:p>
            <a:r>
              <a:rPr lang="en-US" sz="1800" dirty="0"/>
              <a:t>MCSM:Directory2012 | MCM:Directory2008 | MVP:Enterprise Security | Certified Ethical Hacker | CISA |</a:t>
            </a:r>
          </a:p>
          <a:p>
            <a:r>
              <a:rPr lang="en-US" dirty="0"/>
              <a:t>ondrej@sevecek.com | www.sevecek.com |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0281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LM</a:t>
            </a:r>
          </a:p>
          <a:p>
            <a:pPr lvl="1"/>
            <a:r>
              <a:rPr lang="en-US" dirty="0"/>
              <a:t>OS/2</a:t>
            </a:r>
          </a:p>
          <a:p>
            <a:r>
              <a:rPr lang="en-US" dirty="0"/>
              <a:t>NTLM</a:t>
            </a:r>
          </a:p>
          <a:p>
            <a:pPr lvl="1"/>
            <a:r>
              <a:rPr lang="en-US" dirty="0"/>
              <a:t>Windows NT 3.51</a:t>
            </a:r>
          </a:p>
          <a:p>
            <a:r>
              <a:rPr lang="en-US" dirty="0"/>
              <a:t>NTLMv2</a:t>
            </a:r>
          </a:p>
          <a:p>
            <a:pPr lvl="1"/>
            <a:r>
              <a:rPr lang="en-US" dirty="0"/>
              <a:t>Windows NT 4.0 SP4</a:t>
            </a:r>
          </a:p>
          <a:p>
            <a:pPr lvl="1"/>
            <a:r>
              <a:rPr lang="en-US"/>
              <a:t>default since 2008/Vista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23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NTLM family cons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Weak cryptography</a:t>
            </a:r>
          </a:p>
          <a:p>
            <a:pPr lvl="1"/>
            <a:r>
              <a:rPr lang="en-US" dirty="0"/>
              <a:t>LM, MD4, DES, HMAC-MD5</a:t>
            </a:r>
          </a:p>
          <a:p>
            <a:r>
              <a:rPr lang="en-US" dirty="0"/>
              <a:t>No mutual authentication (= </a:t>
            </a:r>
            <a:r>
              <a:rPr lang="en-US" dirty="0">
                <a:solidFill>
                  <a:schemeClr val="accent2"/>
                </a:solidFill>
              </a:rPr>
              <a:t>MITM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requires </a:t>
            </a:r>
            <a:r>
              <a:rPr lang="en-US" dirty="0">
                <a:solidFill>
                  <a:schemeClr val="accent1"/>
                </a:solidFill>
              </a:rPr>
              <a:t>NTLMv2 session security</a:t>
            </a:r>
            <a:r>
              <a:rPr lang="en-US" dirty="0"/>
              <a:t> or other channel authentication (TLS, </a:t>
            </a:r>
            <a:r>
              <a:rPr lang="en-US" dirty="0" err="1"/>
              <a:t>IPSec</a:t>
            </a:r>
            <a:r>
              <a:rPr lang="en-US" dirty="0"/>
              <a:t>)</a:t>
            </a:r>
          </a:p>
          <a:p>
            <a:r>
              <a:rPr lang="en-US" dirty="0"/>
              <a:t>Bad reply protection except for NTLMv2</a:t>
            </a:r>
          </a:p>
          <a:p>
            <a:r>
              <a:rPr lang="en-US" dirty="0"/>
              <a:t>Reflection attacks</a:t>
            </a:r>
          </a:p>
          <a:p>
            <a:r>
              <a:rPr lang="en-US" dirty="0"/>
              <a:t>Bad performance especially over trusts</a:t>
            </a:r>
          </a:p>
          <a:p>
            <a:r>
              <a:rPr lang="en-US" dirty="0"/>
              <a:t>Session security still prone to offline password attacks (no PFS)</a:t>
            </a:r>
          </a:p>
          <a:p>
            <a:pPr lvl="1"/>
            <a:r>
              <a:rPr lang="en-US" dirty="0"/>
              <a:t>yields full transmission data</a:t>
            </a:r>
          </a:p>
        </p:txBody>
      </p:sp>
    </p:spTree>
    <p:extLst>
      <p:ext uri="{BB962C8B-B14F-4D97-AF65-F5344CB8AC3E}">
        <p14:creationId xmlns:p14="http://schemas.microsoft.com/office/powerpoint/2010/main" val="3152419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NTLM family pros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Works from the internet</a:t>
            </a:r>
          </a:p>
          <a:p>
            <a:pPr lvl="1"/>
            <a:r>
              <a:rPr lang="en-US" dirty="0"/>
              <a:t>MITM prevented with TLS/HTTPS/RDPS</a:t>
            </a:r>
          </a:p>
          <a:p>
            <a:r>
              <a:rPr lang="en-US" dirty="0"/>
              <a:t>SSO as against basic authentication</a:t>
            </a:r>
          </a:p>
          <a:p>
            <a:r>
              <a:rPr lang="en-US" dirty="0"/>
              <a:t>Easy, minimum requirements, smooth fallback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932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NTLM gets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Any </a:t>
            </a:r>
            <a:r>
              <a:rPr lang="en-US" dirty="0">
                <a:solidFill>
                  <a:schemeClr val="accent1"/>
                </a:solidFill>
              </a:rPr>
              <a:t>non-domain </a:t>
            </a:r>
            <a:r>
              <a:rPr lang="en-US" dirty="0"/>
              <a:t>account or computer</a:t>
            </a:r>
          </a:p>
          <a:p>
            <a:r>
              <a:rPr lang="en-US" dirty="0"/>
              <a:t>DCs not available (internet)</a:t>
            </a:r>
          </a:p>
          <a:p>
            <a:pPr lvl="1"/>
            <a:r>
              <a:rPr lang="en-US" dirty="0"/>
              <a:t>Kerberos over KDC Proxy</a:t>
            </a:r>
          </a:p>
          <a:p>
            <a:r>
              <a:rPr lang="en-US" dirty="0"/>
              <a:t>External domain trusts</a:t>
            </a:r>
          </a:p>
          <a:p>
            <a:pPr lvl="1"/>
            <a:r>
              <a:rPr lang="en-US" dirty="0"/>
              <a:t>non-transitive</a:t>
            </a:r>
          </a:p>
          <a:p>
            <a:pPr lvl="1"/>
            <a:r>
              <a:rPr lang="en-US" dirty="0"/>
              <a:t>do not require DFL 2003</a:t>
            </a:r>
          </a:p>
          <a:p>
            <a:r>
              <a:rPr lang="en-US" dirty="0">
                <a:solidFill>
                  <a:schemeClr val="accent1"/>
                </a:solidFill>
              </a:rPr>
              <a:t>IP address </a:t>
            </a:r>
            <a:r>
              <a:rPr lang="en-US" dirty="0"/>
              <a:t>or DNS </a:t>
            </a:r>
            <a:r>
              <a:rPr lang="en-US" dirty="0">
                <a:solidFill>
                  <a:schemeClr val="accent1"/>
                </a:solidFill>
              </a:rPr>
              <a:t>A alias </a:t>
            </a:r>
            <a:r>
              <a:rPr lang="en-US" dirty="0"/>
              <a:t>used by client</a:t>
            </a:r>
          </a:p>
          <a:p>
            <a:pPr lvl="1"/>
            <a:r>
              <a:rPr lang="en-US" dirty="0"/>
              <a:t>CNAME translates usually to the target name</a:t>
            </a:r>
          </a:p>
          <a:p>
            <a:pPr lvl="1"/>
            <a:r>
              <a:rPr lang="en-US" dirty="0"/>
              <a:t>PTR records are not used</a:t>
            </a:r>
          </a:p>
          <a:p>
            <a:r>
              <a:rPr lang="en-US" dirty="0"/>
              <a:t>IE not in </a:t>
            </a:r>
            <a:r>
              <a:rPr lang="en-US" dirty="0">
                <a:solidFill>
                  <a:schemeClr val="accent1"/>
                </a:solidFill>
              </a:rPr>
              <a:t>local intranet </a:t>
            </a:r>
            <a:r>
              <a:rPr lang="en-US" dirty="0"/>
              <a:t>or </a:t>
            </a:r>
            <a:r>
              <a:rPr lang="en-US" dirty="0">
                <a:solidFill>
                  <a:schemeClr val="tx2"/>
                </a:solidFill>
              </a:rPr>
              <a:t>trusted sites </a:t>
            </a:r>
            <a:r>
              <a:rPr lang="en-US" dirty="0"/>
              <a:t>(IE 7+)</a:t>
            </a:r>
          </a:p>
          <a:p>
            <a:pPr lvl="1"/>
            <a:r>
              <a:rPr lang="en-US" dirty="0"/>
              <a:t>Chrome, Edge, Edge Chromium, WebDAV, …</a:t>
            </a:r>
          </a:p>
          <a:p>
            <a:r>
              <a:rPr lang="en-US" dirty="0"/>
              <a:t>IE without </a:t>
            </a:r>
            <a:r>
              <a:rPr lang="en-US" dirty="0">
                <a:solidFill>
                  <a:schemeClr val="accent1"/>
                </a:solidFill>
              </a:rPr>
              <a:t>Enable Windows Integrated Authentication </a:t>
            </a:r>
            <a:r>
              <a:rPr lang="en-US" dirty="0"/>
              <a:t>setting</a:t>
            </a:r>
          </a:p>
          <a:p>
            <a:r>
              <a:rPr lang="en-US" dirty="0">
                <a:solidFill>
                  <a:schemeClr val="accent1"/>
                </a:solidFill>
              </a:rPr>
              <a:t>MS-CHAP</a:t>
            </a:r>
            <a:r>
              <a:rPr lang="en-US" dirty="0"/>
              <a:t> = NTLM, </a:t>
            </a:r>
            <a:r>
              <a:rPr lang="en-US" dirty="0">
                <a:solidFill>
                  <a:schemeClr val="accent1"/>
                </a:solidFill>
              </a:rPr>
              <a:t>MS-CHAPv2</a:t>
            </a:r>
            <a:r>
              <a:rPr lang="en-US" dirty="0"/>
              <a:t> = NTLMv2</a:t>
            </a:r>
          </a:p>
        </p:txBody>
      </p:sp>
    </p:spTree>
    <p:extLst>
      <p:ext uri="{BB962C8B-B14F-4D97-AF65-F5344CB8AC3E}">
        <p14:creationId xmlns:p14="http://schemas.microsoft.com/office/powerpoint/2010/main" val="1175947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Services which require Kerberos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3682752" cy="48245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 replication</a:t>
            </a:r>
          </a:p>
          <a:p>
            <a:r>
              <a:rPr lang="en-US" dirty="0"/>
              <a:t>System Center agents</a:t>
            </a:r>
          </a:p>
          <a:p>
            <a:r>
              <a:rPr lang="en-US" dirty="0"/>
              <a:t>DNS dynamic update</a:t>
            </a:r>
          </a:p>
          <a:p>
            <a:r>
              <a:rPr lang="en-US" dirty="0"/>
              <a:t>SYSTEM account</a:t>
            </a:r>
            <a:br>
              <a:rPr lang="en-US" dirty="0"/>
            </a:br>
            <a:r>
              <a:rPr lang="en-US" dirty="0"/>
              <a:t>on Windows</a:t>
            </a:r>
            <a:br>
              <a:rPr lang="en-US" dirty="0"/>
            </a:br>
            <a:r>
              <a:rPr lang="en-US" dirty="0"/>
              <a:t>Vista/2008-</a:t>
            </a:r>
          </a:p>
          <a:p>
            <a:r>
              <a:rPr lang="en-US" dirty="0"/>
              <a:t>PS-Remoting</a:t>
            </a:r>
            <a:endParaRPr lang="cs-CZ" dirty="0"/>
          </a:p>
          <a:p>
            <a:pPr lvl="1"/>
            <a:r>
              <a:rPr lang="cs-CZ" dirty="0"/>
              <a:t>Enter-</a:t>
            </a:r>
            <a:r>
              <a:rPr lang="cs-CZ" dirty="0" err="1"/>
              <a:t>PSSession</a:t>
            </a:r>
            <a:endParaRPr lang="en-US" dirty="0"/>
          </a:p>
          <a:p>
            <a:r>
              <a:rPr lang="en-US" dirty="0"/>
              <a:t>SYSVOL and NETLOGON hardening by default 10/2026+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2781089"/>
            <a:ext cx="5113481" cy="406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1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PS remoting (Enter-</a:t>
            </a:r>
            <a:r>
              <a:rPr lang="en-US" sz="2800" dirty="0" err="1"/>
              <a:t>PSSession</a:t>
            </a:r>
            <a:r>
              <a:rPr lang="en-US" sz="2800" dirty="0"/>
              <a:t>) with NTLM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comma (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separated list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Set-Item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WSMan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:\localhost\Client\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TrustedHosts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must supply </a:t>
            </a:r>
            <a:r>
              <a:rPr lang="en-US" sz="2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explicit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credentials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Enter-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PSSession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-Credential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6699"/>
            <a:ext cx="9144000" cy="12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9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In-band</a:t>
            </a:r>
            <a:r>
              <a:rPr lang="en-US" dirty="0"/>
              <a:t> NTLM with local 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5455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274360" y="1373560"/>
            <a:ext cx="913556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SAM</a:t>
            </a:r>
          </a:p>
        </p:txBody>
      </p:sp>
      <p:sp>
        <p:nvSpPr>
          <p:cNvPr id="3" name="Left-Right Arrow 2"/>
          <p:cNvSpPr/>
          <p:nvPr/>
        </p:nvSpPr>
        <p:spPr>
          <a:xfrm>
            <a:off x="2134072" y="1705980"/>
            <a:ext cx="4176464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440560" y="2094880"/>
            <a:ext cx="1946176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in-band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0560" y="2418928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89612" y="2418928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37684" y="2418928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LDAP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0328" y="2739404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1837380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Pass-through</a:t>
            </a:r>
            <a:r>
              <a:rPr lang="en-US" dirty="0"/>
              <a:t> NTLM with domain 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5455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54552" y="4930824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8752" y="5476056"/>
            <a:ext cx="1442120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Active Directory</a:t>
            </a:r>
          </a:p>
        </p:txBody>
      </p:sp>
      <p:sp>
        <p:nvSpPr>
          <p:cNvPr id="3" name="Left-Right Arrow 2"/>
          <p:cNvSpPr/>
          <p:nvPr/>
        </p:nvSpPr>
        <p:spPr>
          <a:xfrm>
            <a:off x="2134072" y="1705980"/>
            <a:ext cx="4176464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-Right Arrow 24"/>
          <p:cNvSpPr/>
          <p:nvPr/>
        </p:nvSpPr>
        <p:spPr>
          <a:xfrm rot="16200000">
            <a:off x="6040531" y="3392295"/>
            <a:ext cx="1918506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440560" y="2094880"/>
            <a:ext cx="1946176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in-band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0560" y="2418928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89612" y="2418928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37684" y="2418928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LDAP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0328" y="2739404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9784" y="3480320"/>
            <a:ext cx="1584176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secure channel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9784" y="3843572"/>
            <a:ext cx="792088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SMB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91872" y="3843572"/>
            <a:ext cx="792088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DCOM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7696" y="3372508"/>
            <a:ext cx="913556" cy="362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encrypted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2BC5F4-8DE5-4B0E-9B4D-C6290F0A7A45}"/>
              </a:ext>
            </a:extLst>
          </p:cNvPr>
          <p:cNvSpPr/>
          <p:nvPr/>
        </p:nvSpPr>
        <p:spPr>
          <a:xfrm>
            <a:off x="5784041" y="3710880"/>
            <a:ext cx="913556" cy="362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server$</a:t>
            </a:r>
          </a:p>
        </p:txBody>
      </p:sp>
    </p:spTree>
    <p:extLst>
      <p:ext uri="{BB962C8B-B14F-4D97-AF65-F5344CB8AC3E}">
        <p14:creationId xmlns:p14="http://schemas.microsoft.com/office/powerpoint/2010/main" val="2944161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Pass-through</a:t>
            </a:r>
            <a:r>
              <a:rPr lang="en-US" dirty="0"/>
              <a:t> NTLM with domain accounts with </a:t>
            </a:r>
            <a:r>
              <a:rPr lang="en-US" dirty="0">
                <a:solidFill>
                  <a:schemeClr val="accent2"/>
                </a:solidFill>
              </a:rPr>
              <a:t>non-Windows</a:t>
            </a:r>
            <a:r>
              <a:rPr lang="en-US" dirty="0"/>
              <a:t> servers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54552" y="1556792"/>
            <a:ext cx="1090464" cy="109046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NAS</a:t>
            </a:r>
          </a:p>
          <a:p>
            <a:pPr algn="ctr"/>
            <a:r>
              <a:rPr lang="en-US" sz="1050" dirty="0"/>
              <a:t>printer</a:t>
            </a:r>
          </a:p>
          <a:p>
            <a:pPr algn="ctr"/>
            <a:r>
              <a:rPr lang="en-US" sz="1050" dirty="0"/>
              <a:t>Linux web</a:t>
            </a:r>
          </a:p>
          <a:p>
            <a:pPr algn="ctr"/>
            <a:r>
              <a:rPr lang="en-US" sz="1050" dirty="0"/>
              <a:t>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6454552" y="4930824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8752" y="5476056"/>
            <a:ext cx="1442120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Active Directory</a:t>
            </a:r>
          </a:p>
        </p:txBody>
      </p:sp>
      <p:sp>
        <p:nvSpPr>
          <p:cNvPr id="3" name="Left-Right Arrow 2"/>
          <p:cNvSpPr/>
          <p:nvPr/>
        </p:nvSpPr>
        <p:spPr>
          <a:xfrm>
            <a:off x="2134072" y="1705980"/>
            <a:ext cx="4176464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-Right Arrow 24"/>
          <p:cNvSpPr/>
          <p:nvPr/>
        </p:nvSpPr>
        <p:spPr>
          <a:xfrm rot="16200000">
            <a:off x="6040531" y="3392295"/>
            <a:ext cx="1918506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440560" y="2094880"/>
            <a:ext cx="1946176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in-band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0560" y="2418928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89612" y="2418928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37684" y="2418928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LDAP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0328" y="2739404"/>
            <a:ext cx="648072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HTTP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9784" y="3480320"/>
            <a:ext cx="1584176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secure channel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9784" y="3843572"/>
            <a:ext cx="792088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SMB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91872" y="3843572"/>
            <a:ext cx="792088" cy="3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DCOM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7696" y="3372508"/>
            <a:ext cx="913556" cy="362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encrypted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7D3E35-F285-41AA-8F86-6CEB6A5015BA}"/>
              </a:ext>
            </a:extLst>
          </p:cNvPr>
          <p:cNvSpPr/>
          <p:nvPr/>
        </p:nvSpPr>
        <p:spPr>
          <a:xfrm>
            <a:off x="7186353" y="1319694"/>
            <a:ext cx="1274079" cy="3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service account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6A7B78-FD4F-476D-8DEA-68408A77AF28}"/>
              </a:ext>
            </a:extLst>
          </p:cNvPr>
          <p:cNvSpPr/>
          <p:nvPr/>
        </p:nvSpPr>
        <p:spPr>
          <a:xfrm>
            <a:off x="5336793" y="3681634"/>
            <a:ext cx="1274079" cy="362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service account</a:t>
            </a:r>
          </a:p>
        </p:txBody>
      </p:sp>
    </p:spTree>
    <p:extLst>
      <p:ext uri="{BB962C8B-B14F-4D97-AF65-F5344CB8AC3E}">
        <p14:creationId xmlns:p14="http://schemas.microsoft.com/office/powerpoint/2010/main" val="3586028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 authentication (ultra weak)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72816"/>
            <a:ext cx="586408" cy="40324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100392" y="1772816"/>
            <a:ext cx="586408" cy="40324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Server ... DC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331640" y="2132855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91880" y="1916831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NEGOTIATE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331640" y="4653135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91880" y="4437111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AUTHENTICATE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1331640" y="3284983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91880" y="3068959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1880" y="3428999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 challenge 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1880" y="4797150"/>
            <a:ext cx="3528392" cy="93610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DES (56-bit)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3888" y="5228404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LM hash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92080" y="5228404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 challenge #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1880" y="2271884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hello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63068" y="4797150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63068" y="5157190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domain</a:t>
            </a:r>
          </a:p>
        </p:txBody>
      </p:sp>
    </p:spTree>
    <p:extLst>
      <p:ext uri="{BB962C8B-B14F-4D97-AF65-F5344CB8AC3E}">
        <p14:creationId xmlns:p14="http://schemas.microsoft.com/office/powerpoint/2010/main" val="2116406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authentication (weak)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72816"/>
            <a:ext cx="586408" cy="40324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100392" y="1772816"/>
            <a:ext cx="586408" cy="40324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Server ... DC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331640" y="2132855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91880" y="1916831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NEGOTIATE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331640" y="4653135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91880" y="4437111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AUTHENTICATE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1331640" y="3284983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91880" y="3068959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1880" y="3428999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 challenge 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1880" y="4797150"/>
            <a:ext cx="3528392" cy="93610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DES (56-bit)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3888" y="5228404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NT MD4 hash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92080" y="5228404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 challenge #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1880" y="2271884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hello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63068" y="4797150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63068" y="5157190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domain</a:t>
            </a:r>
          </a:p>
        </p:txBody>
      </p:sp>
    </p:spTree>
    <p:extLst>
      <p:ext uri="{BB962C8B-B14F-4D97-AF65-F5344CB8AC3E}">
        <p14:creationId xmlns:p14="http://schemas.microsoft.com/office/powerpoint/2010/main" val="496660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NTLMv2 authentication (best, yet not ideal)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2776"/>
            <a:ext cx="586408" cy="40324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100392" y="1412776"/>
            <a:ext cx="586408" cy="40324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Server ... DC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331640" y="1772815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20492" y="1556791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NEGOTIATE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331640" y="4293095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20492" y="4077071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AUTHENTICATE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1331640" y="2924943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20492" y="2708919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0492" y="3068959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 challenge 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0492" y="4437110"/>
            <a:ext cx="3528392" cy="216024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HMAC-MD5 (128-bit, 112 effectively)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2500" y="4868364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NT MD4 hash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20692" y="4868364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 challenge #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0492" y="1911844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hello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92500" y="5301207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20692" y="5301207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domain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2500" y="5734050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20692" y="5734050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6165701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 challenge #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91680" y="5157189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 challenge #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80" y="4437109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80" y="4797149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domain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80" y="5517229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680" y="5891331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 name</a:t>
            </a:r>
          </a:p>
        </p:txBody>
      </p:sp>
    </p:spTree>
    <p:extLst>
      <p:ext uri="{BB962C8B-B14F-4D97-AF65-F5344CB8AC3E}">
        <p14:creationId xmlns:p14="http://schemas.microsoft.com/office/powerpoint/2010/main" val="3317330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with domain 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7584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44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44" y="4930824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7" name="Rectangle 6"/>
          <p:cNvSpPr/>
          <p:nvPr/>
        </p:nvSpPr>
        <p:spPr>
          <a:xfrm>
            <a:off x="5096744" y="5476056"/>
            <a:ext cx="1442120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Active Directory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70076" y="1464096"/>
            <a:ext cx="3960440" cy="29837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66220" y="1340768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NEGOTIATE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2170076" y="1992901"/>
            <a:ext cx="3960440" cy="29837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66220" y="1869573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CHALLENGE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70076" y="2538133"/>
            <a:ext cx="3960440" cy="29837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66220" y="2414805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8512" y="1332755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8512" y="1867241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08512" y="2414606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17" name="Right Arrow 16"/>
          <p:cNvSpPr/>
          <p:nvPr/>
        </p:nvSpPr>
        <p:spPr>
          <a:xfrm rot="5400000">
            <a:off x="5763342" y="3612033"/>
            <a:ext cx="1911084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470594" y="3674126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3914" y="3449057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70594" y="3390863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CHALLENGE</a:t>
            </a:r>
          </a:p>
        </p:txBody>
      </p:sp>
      <p:sp>
        <p:nvSpPr>
          <p:cNvPr id="21" name="Right Arrow 20"/>
          <p:cNvSpPr/>
          <p:nvPr/>
        </p:nvSpPr>
        <p:spPr>
          <a:xfrm rot="16200000">
            <a:off x="6193884" y="3606007"/>
            <a:ext cx="1911084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331932" y="3899185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groups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5252" y="3674116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1932" y="3615922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474248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8245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Invoke-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WebRequest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http://intranet -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UseDefaultCredentials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Note: Pooling=False means that the connection is going to be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      reestablished every time you use even the same connection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      string. For our purposes no need then to use the cleanup: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conn.Close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conn.Dispose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$conn = $null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[GC]::Collect()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        [GC]::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WaitForPendingFinalizers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$conn = New-Object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Data.SqlClient.SqlConnection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'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Pooling=</a:t>
            </a:r>
            <a:r>
              <a:rPr lang="en-US" sz="1600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Server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data\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INFOSYS;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Database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master;</a:t>
            </a:r>
            <a:r>
              <a:rPr lang="en-US" sz="1600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Integrated</a:t>
            </a:r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Security</a:t>
            </a:r>
            <a:r>
              <a:rPr lang="en-US" sz="16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true'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conn.Open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Note: shared files are going to keep the connection established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       for at least 20seconds or even more, so be slow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net view \\data /all</a:t>
            </a:r>
          </a:p>
        </p:txBody>
      </p:sp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authentication with default credentials</a:t>
            </a:r>
          </a:p>
        </p:txBody>
      </p:sp>
    </p:spTree>
    <p:extLst>
      <p:ext uri="{BB962C8B-B14F-4D97-AF65-F5344CB8AC3E}">
        <p14:creationId xmlns:p14="http://schemas.microsoft.com/office/powerpoint/2010/main" val="199257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FC54-1850-4A97-828F-BC5CF344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LM/NTLM/NTLMv2 in HTTP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5A6D87-3893-4E35-BE0D-97D8CB750C72}"/>
              </a:ext>
            </a:extLst>
          </p:cNvPr>
          <p:cNvSpPr/>
          <p:nvPr/>
        </p:nvSpPr>
        <p:spPr>
          <a:xfrm>
            <a:off x="290872" y="899592"/>
            <a:ext cx="1162472" cy="5409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BC58BA-B71E-4550-A83C-689D29092972}"/>
              </a:ext>
            </a:extLst>
          </p:cNvPr>
          <p:cNvSpPr/>
          <p:nvPr/>
        </p:nvSpPr>
        <p:spPr>
          <a:xfrm>
            <a:off x="7690656" y="899592"/>
            <a:ext cx="1162472" cy="5409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server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AD0A6CD-995C-49EE-ADB9-D10E2FC6D1C4}"/>
              </a:ext>
            </a:extLst>
          </p:cNvPr>
          <p:cNvSpPr/>
          <p:nvPr/>
        </p:nvSpPr>
        <p:spPr>
          <a:xfrm>
            <a:off x="1763688" y="1196752"/>
            <a:ext cx="5688632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61C221-6BBB-4AE8-BCFE-4A833AB8C3D0}"/>
              </a:ext>
            </a:extLst>
          </p:cNvPr>
          <p:cNvSpPr/>
          <p:nvPr/>
        </p:nvSpPr>
        <p:spPr>
          <a:xfrm>
            <a:off x="3135626" y="980728"/>
            <a:ext cx="79208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C5F5B-8EE7-44AC-A385-9D5844972680}"/>
              </a:ext>
            </a:extLst>
          </p:cNvPr>
          <p:cNvSpPr/>
          <p:nvPr/>
        </p:nvSpPr>
        <p:spPr>
          <a:xfrm>
            <a:off x="3927714" y="980728"/>
            <a:ext cx="194421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anonymous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1F6A618-27C7-4FFB-904F-847046C5B05C}"/>
              </a:ext>
            </a:extLst>
          </p:cNvPr>
          <p:cNvSpPr/>
          <p:nvPr/>
        </p:nvSpPr>
        <p:spPr>
          <a:xfrm rot="10800000">
            <a:off x="1763688" y="1862809"/>
            <a:ext cx="5688632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25FEF3-9EA7-42C1-BC86-A9D84483FAAA}"/>
              </a:ext>
            </a:extLst>
          </p:cNvPr>
          <p:cNvSpPr/>
          <p:nvPr/>
        </p:nvSpPr>
        <p:spPr>
          <a:xfrm>
            <a:off x="3135626" y="1628800"/>
            <a:ext cx="79208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401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E731FC-28E0-4585-81AA-7E3059935D28}"/>
              </a:ext>
            </a:extLst>
          </p:cNvPr>
          <p:cNvSpPr/>
          <p:nvPr/>
        </p:nvSpPr>
        <p:spPr>
          <a:xfrm>
            <a:off x="3927714" y="1628800"/>
            <a:ext cx="194421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unauthorized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CC700-E8AF-41D1-87C9-6C773B9CF7A8}"/>
              </a:ext>
            </a:extLst>
          </p:cNvPr>
          <p:cNvSpPr/>
          <p:nvPr/>
        </p:nvSpPr>
        <p:spPr>
          <a:xfrm>
            <a:off x="3135626" y="1988840"/>
            <a:ext cx="158417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WWW-Authenticate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7FEA0D-4542-47E3-AC93-85D224FAC776}"/>
              </a:ext>
            </a:extLst>
          </p:cNvPr>
          <p:cNvSpPr/>
          <p:nvPr/>
        </p:nvSpPr>
        <p:spPr>
          <a:xfrm>
            <a:off x="4719802" y="1988840"/>
            <a:ext cx="158417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BD87C6-D5B9-428C-8EBB-ABB2FA34BCD0}"/>
              </a:ext>
            </a:extLst>
          </p:cNvPr>
          <p:cNvSpPr/>
          <p:nvPr/>
        </p:nvSpPr>
        <p:spPr>
          <a:xfrm>
            <a:off x="3131840" y="2348880"/>
            <a:ext cx="158417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WWW-Authenticate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D24559-2381-4906-B403-BDC2BCEA3253}"/>
              </a:ext>
            </a:extLst>
          </p:cNvPr>
          <p:cNvSpPr/>
          <p:nvPr/>
        </p:nvSpPr>
        <p:spPr>
          <a:xfrm>
            <a:off x="4716016" y="2348880"/>
            <a:ext cx="158417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Negotiate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C924678-F4AE-4393-8392-3095EE44CD09}"/>
              </a:ext>
            </a:extLst>
          </p:cNvPr>
          <p:cNvSpPr/>
          <p:nvPr/>
        </p:nvSpPr>
        <p:spPr>
          <a:xfrm>
            <a:off x="1763688" y="3140968"/>
            <a:ext cx="5688632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C4407A-26E1-4AD1-91BF-32B7257DA77C}"/>
              </a:ext>
            </a:extLst>
          </p:cNvPr>
          <p:cNvSpPr/>
          <p:nvPr/>
        </p:nvSpPr>
        <p:spPr>
          <a:xfrm>
            <a:off x="3135626" y="2924944"/>
            <a:ext cx="792088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1A48FD-44F8-4BD0-B1F2-380BF0E127B5}"/>
              </a:ext>
            </a:extLst>
          </p:cNvPr>
          <p:cNvSpPr/>
          <p:nvPr/>
        </p:nvSpPr>
        <p:spPr>
          <a:xfrm>
            <a:off x="3927714" y="2924944"/>
            <a:ext cx="1944216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anonymous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DDED1B2-BFA4-451D-ACDA-A6A3DA451884}"/>
              </a:ext>
            </a:extLst>
          </p:cNvPr>
          <p:cNvSpPr/>
          <p:nvPr/>
        </p:nvSpPr>
        <p:spPr>
          <a:xfrm rot="10800000">
            <a:off x="1763688" y="4005063"/>
            <a:ext cx="5688632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3BE3B9-BC96-470C-A6CB-66E33B4BC3EA}"/>
              </a:ext>
            </a:extLst>
          </p:cNvPr>
          <p:cNvSpPr/>
          <p:nvPr/>
        </p:nvSpPr>
        <p:spPr>
          <a:xfrm>
            <a:off x="3135626" y="3771054"/>
            <a:ext cx="792088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401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F2F2A5-6714-4647-83BA-D03998E9CFD6}"/>
              </a:ext>
            </a:extLst>
          </p:cNvPr>
          <p:cNvSpPr/>
          <p:nvPr/>
        </p:nvSpPr>
        <p:spPr>
          <a:xfrm>
            <a:off x="3927714" y="3771054"/>
            <a:ext cx="1944216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unauthorized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0E6983-2BC4-4458-A63B-3C885876EC18}"/>
              </a:ext>
            </a:extLst>
          </p:cNvPr>
          <p:cNvSpPr/>
          <p:nvPr/>
        </p:nvSpPr>
        <p:spPr>
          <a:xfrm>
            <a:off x="3135626" y="4131094"/>
            <a:ext cx="1584176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WWW-Authenticate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5D6312-E726-4E49-8F59-2409C89BE5A0}"/>
              </a:ext>
            </a:extLst>
          </p:cNvPr>
          <p:cNvSpPr/>
          <p:nvPr/>
        </p:nvSpPr>
        <p:spPr>
          <a:xfrm>
            <a:off x="4719802" y="4131094"/>
            <a:ext cx="1584176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NTLM Challenge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50FEEC-D687-424A-B3F6-DFCC13CE8DDD}"/>
              </a:ext>
            </a:extLst>
          </p:cNvPr>
          <p:cNvSpPr/>
          <p:nvPr/>
        </p:nvSpPr>
        <p:spPr>
          <a:xfrm>
            <a:off x="3131840" y="3284984"/>
            <a:ext cx="1584176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Authorization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1C7FC7-63AA-4793-9EC1-B284AD8ADC75}"/>
              </a:ext>
            </a:extLst>
          </p:cNvPr>
          <p:cNvSpPr/>
          <p:nvPr/>
        </p:nvSpPr>
        <p:spPr>
          <a:xfrm>
            <a:off x="4716016" y="3284984"/>
            <a:ext cx="1584176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NTLM Negotiate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A7218E94-C5A8-4099-86E5-0D75658D478C}"/>
              </a:ext>
            </a:extLst>
          </p:cNvPr>
          <p:cNvSpPr/>
          <p:nvPr/>
        </p:nvSpPr>
        <p:spPr>
          <a:xfrm>
            <a:off x="1763688" y="4941168"/>
            <a:ext cx="5688632" cy="36004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18A25D-AF8A-427E-BBC8-E31E75845360}"/>
              </a:ext>
            </a:extLst>
          </p:cNvPr>
          <p:cNvSpPr/>
          <p:nvPr/>
        </p:nvSpPr>
        <p:spPr>
          <a:xfrm>
            <a:off x="3135626" y="4725144"/>
            <a:ext cx="792088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9C9F1C-157F-49B4-BDF2-D26E95C94626}"/>
              </a:ext>
            </a:extLst>
          </p:cNvPr>
          <p:cNvSpPr/>
          <p:nvPr/>
        </p:nvSpPr>
        <p:spPr>
          <a:xfrm>
            <a:off x="3927714" y="4725144"/>
            <a:ext cx="194421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GPS\</a:t>
            </a:r>
            <a:r>
              <a:rPr lang="en-US" sz="1200" dirty="0" err="1"/>
              <a:t>kamil</a:t>
            </a:r>
            <a:r>
              <a:rPr lang="en-US" sz="1200" dirty="0"/>
              <a:t> MD5#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BE6B85EF-5167-4FA1-B2D0-E0C7C7BE8F8C}"/>
              </a:ext>
            </a:extLst>
          </p:cNvPr>
          <p:cNvSpPr/>
          <p:nvPr/>
        </p:nvSpPr>
        <p:spPr>
          <a:xfrm rot="10800000">
            <a:off x="1763688" y="5805263"/>
            <a:ext cx="5688632" cy="36004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86FCDD-024E-46B5-9F9E-DF689A8E3861}"/>
              </a:ext>
            </a:extLst>
          </p:cNvPr>
          <p:cNvSpPr/>
          <p:nvPr/>
        </p:nvSpPr>
        <p:spPr>
          <a:xfrm>
            <a:off x="3135626" y="5571254"/>
            <a:ext cx="792088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200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76B852-E66D-4982-89DC-2B4A1650814F}"/>
              </a:ext>
            </a:extLst>
          </p:cNvPr>
          <p:cNvSpPr/>
          <p:nvPr/>
        </p:nvSpPr>
        <p:spPr>
          <a:xfrm>
            <a:off x="3927714" y="5571254"/>
            <a:ext cx="194421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18BBE4-F33F-4B49-BA95-D643A435F0D2}"/>
              </a:ext>
            </a:extLst>
          </p:cNvPr>
          <p:cNvSpPr/>
          <p:nvPr/>
        </p:nvSpPr>
        <p:spPr>
          <a:xfrm>
            <a:off x="3131840" y="5085184"/>
            <a:ext cx="158417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Authorization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CB4D12-C329-4890-B900-9318BED070D5}"/>
              </a:ext>
            </a:extLst>
          </p:cNvPr>
          <p:cNvSpPr/>
          <p:nvPr/>
        </p:nvSpPr>
        <p:spPr>
          <a:xfrm>
            <a:off x="4716016" y="5085184"/>
            <a:ext cx="158417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NTLM Authenticate</a:t>
            </a:r>
          </a:p>
        </p:txBody>
      </p:sp>
    </p:spTree>
    <p:extLst>
      <p:ext uri="{BB962C8B-B14F-4D97-AF65-F5344CB8AC3E}">
        <p14:creationId xmlns:p14="http://schemas.microsoft.com/office/powerpoint/2010/main" val="3926265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FC54-1850-4A97-828F-BC5CF344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Kerberos in HTTP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5A6D87-3893-4E35-BE0D-97D8CB750C72}"/>
              </a:ext>
            </a:extLst>
          </p:cNvPr>
          <p:cNvSpPr/>
          <p:nvPr/>
        </p:nvSpPr>
        <p:spPr>
          <a:xfrm>
            <a:off x="290872" y="899592"/>
            <a:ext cx="1162472" cy="5409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BC58BA-B71E-4550-A83C-689D29092972}"/>
              </a:ext>
            </a:extLst>
          </p:cNvPr>
          <p:cNvSpPr/>
          <p:nvPr/>
        </p:nvSpPr>
        <p:spPr>
          <a:xfrm>
            <a:off x="7690656" y="899592"/>
            <a:ext cx="1162472" cy="54097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server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AD0A6CD-995C-49EE-ADB9-D10E2FC6D1C4}"/>
              </a:ext>
            </a:extLst>
          </p:cNvPr>
          <p:cNvSpPr/>
          <p:nvPr/>
        </p:nvSpPr>
        <p:spPr>
          <a:xfrm>
            <a:off x="1763688" y="1988840"/>
            <a:ext cx="5688632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61C221-6BBB-4AE8-BCFE-4A833AB8C3D0}"/>
              </a:ext>
            </a:extLst>
          </p:cNvPr>
          <p:cNvSpPr/>
          <p:nvPr/>
        </p:nvSpPr>
        <p:spPr>
          <a:xfrm>
            <a:off x="3135626" y="1772816"/>
            <a:ext cx="79208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C5F5B-8EE7-44AC-A385-9D5844972680}"/>
              </a:ext>
            </a:extLst>
          </p:cNvPr>
          <p:cNvSpPr/>
          <p:nvPr/>
        </p:nvSpPr>
        <p:spPr>
          <a:xfrm>
            <a:off x="3927714" y="1772816"/>
            <a:ext cx="194421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anonymous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1F6A618-27C7-4FFB-904F-847046C5B05C}"/>
              </a:ext>
            </a:extLst>
          </p:cNvPr>
          <p:cNvSpPr/>
          <p:nvPr/>
        </p:nvSpPr>
        <p:spPr>
          <a:xfrm rot="10800000">
            <a:off x="1763688" y="2654897"/>
            <a:ext cx="5688632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25FEF3-9EA7-42C1-BC86-A9D84483FAAA}"/>
              </a:ext>
            </a:extLst>
          </p:cNvPr>
          <p:cNvSpPr/>
          <p:nvPr/>
        </p:nvSpPr>
        <p:spPr>
          <a:xfrm>
            <a:off x="3135626" y="2420888"/>
            <a:ext cx="792088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401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E731FC-28E0-4585-81AA-7E3059935D28}"/>
              </a:ext>
            </a:extLst>
          </p:cNvPr>
          <p:cNvSpPr/>
          <p:nvPr/>
        </p:nvSpPr>
        <p:spPr>
          <a:xfrm>
            <a:off x="3927714" y="2420888"/>
            <a:ext cx="194421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unauthorized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BD87C6-D5B9-428C-8EBB-ABB2FA34BCD0}"/>
              </a:ext>
            </a:extLst>
          </p:cNvPr>
          <p:cNvSpPr/>
          <p:nvPr/>
        </p:nvSpPr>
        <p:spPr>
          <a:xfrm>
            <a:off x="3135626" y="2780928"/>
            <a:ext cx="158417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WWW-Authenticate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D24559-2381-4906-B403-BDC2BCEA3253}"/>
              </a:ext>
            </a:extLst>
          </p:cNvPr>
          <p:cNvSpPr/>
          <p:nvPr/>
        </p:nvSpPr>
        <p:spPr>
          <a:xfrm>
            <a:off x="4719802" y="2780928"/>
            <a:ext cx="158417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Negotiate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A7218E94-C5A8-4099-86E5-0D75658D478C}"/>
              </a:ext>
            </a:extLst>
          </p:cNvPr>
          <p:cNvSpPr/>
          <p:nvPr/>
        </p:nvSpPr>
        <p:spPr>
          <a:xfrm>
            <a:off x="1763688" y="4077072"/>
            <a:ext cx="5688632" cy="36004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A18A25D-AF8A-427E-BBC8-E31E75845360}"/>
              </a:ext>
            </a:extLst>
          </p:cNvPr>
          <p:cNvSpPr/>
          <p:nvPr/>
        </p:nvSpPr>
        <p:spPr>
          <a:xfrm>
            <a:off x="3135626" y="3861048"/>
            <a:ext cx="792088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GET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9C9F1C-157F-49B4-BDF2-D26E95C94626}"/>
              </a:ext>
            </a:extLst>
          </p:cNvPr>
          <p:cNvSpPr/>
          <p:nvPr/>
        </p:nvSpPr>
        <p:spPr>
          <a:xfrm>
            <a:off x="3927714" y="3861048"/>
            <a:ext cx="194421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GPS\</a:t>
            </a:r>
            <a:r>
              <a:rPr lang="en-US" sz="1200" dirty="0" err="1"/>
              <a:t>kamil</a:t>
            </a:r>
            <a:r>
              <a:rPr lang="en-US" sz="1200" dirty="0"/>
              <a:t> TGS ticket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BE6B85EF-5167-4FA1-B2D0-E0C7C7BE8F8C}"/>
              </a:ext>
            </a:extLst>
          </p:cNvPr>
          <p:cNvSpPr/>
          <p:nvPr/>
        </p:nvSpPr>
        <p:spPr>
          <a:xfrm rot="10800000">
            <a:off x="1763688" y="4941167"/>
            <a:ext cx="5688632" cy="360040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786FCDD-024E-46B5-9F9E-DF689A8E3861}"/>
              </a:ext>
            </a:extLst>
          </p:cNvPr>
          <p:cNvSpPr/>
          <p:nvPr/>
        </p:nvSpPr>
        <p:spPr>
          <a:xfrm>
            <a:off x="3135626" y="4707158"/>
            <a:ext cx="792088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200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76B852-E66D-4982-89DC-2B4A1650814F}"/>
              </a:ext>
            </a:extLst>
          </p:cNvPr>
          <p:cNvSpPr/>
          <p:nvPr/>
        </p:nvSpPr>
        <p:spPr>
          <a:xfrm>
            <a:off x="3927714" y="4707158"/>
            <a:ext cx="194421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18BBE4-F33F-4B49-BA95-D643A435F0D2}"/>
              </a:ext>
            </a:extLst>
          </p:cNvPr>
          <p:cNvSpPr/>
          <p:nvPr/>
        </p:nvSpPr>
        <p:spPr>
          <a:xfrm>
            <a:off x="3131840" y="4221088"/>
            <a:ext cx="158417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Authorization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CB4D12-C329-4890-B900-9318BED070D5}"/>
              </a:ext>
            </a:extLst>
          </p:cNvPr>
          <p:cNvSpPr/>
          <p:nvPr/>
        </p:nvSpPr>
        <p:spPr>
          <a:xfrm>
            <a:off x="4716016" y="4221088"/>
            <a:ext cx="158417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AP Request</a:t>
            </a:r>
          </a:p>
        </p:txBody>
      </p:sp>
    </p:spTree>
    <p:extLst>
      <p:ext uri="{BB962C8B-B14F-4D97-AF65-F5344CB8AC3E}">
        <p14:creationId xmlns:p14="http://schemas.microsoft.com/office/powerpoint/2010/main" val="1255683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LM</a:t>
            </a:r>
            <a:r>
              <a:rPr lang="en-US" dirty="0"/>
              <a:t>/</a:t>
            </a:r>
            <a:r>
              <a:rPr lang="en-US" dirty="0">
                <a:solidFill>
                  <a:schemeClr val="accent1"/>
                </a:solidFill>
              </a:rPr>
              <a:t>NTLM</a:t>
            </a:r>
            <a:r>
              <a:rPr lang="en-US" dirty="0"/>
              <a:t>/</a:t>
            </a:r>
            <a:r>
              <a:rPr lang="en-US" dirty="0">
                <a:solidFill>
                  <a:schemeClr val="accent1"/>
                </a:solidFill>
              </a:rPr>
              <a:t>NTLMv2</a:t>
            </a:r>
            <a:r>
              <a:rPr lang="en-US" dirty="0"/>
              <a:t> negotiate message (Client to Server)</a:t>
            </a:r>
            <a:endParaRPr lang="cs-CZ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8051" y="2253408"/>
            <a:ext cx="8261576" cy="2024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79005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LM</a:t>
            </a:r>
            <a:r>
              <a:rPr lang="en-US" dirty="0"/>
              <a:t>/</a:t>
            </a:r>
            <a:r>
              <a:rPr lang="en-US" dirty="0">
                <a:solidFill>
                  <a:schemeClr val="accent1"/>
                </a:solidFill>
              </a:rPr>
              <a:t>NTLM</a:t>
            </a:r>
            <a:r>
              <a:rPr lang="en-US" dirty="0"/>
              <a:t>/</a:t>
            </a:r>
            <a:r>
              <a:rPr lang="en-US" dirty="0">
                <a:solidFill>
                  <a:schemeClr val="accent1"/>
                </a:solidFill>
              </a:rPr>
              <a:t>NTLMv2</a:t>
            </a:r>
            <a:r>
              <a:rPr lang="en-US" dirty="0"/>
              <a:t> challenge message (Server to Client)</a:t>
            </a:r>
            <a:endParaRPr lang="cs-CZ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187" y="2122787"/>
            <a:ext cx="8842606" cy="3853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9956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LM and NTLM</a:t>
            </a:r>
            <a:r>
              <a:rPr lang="en-US" dirty="0">
                <a:solidFill>
                  <a:schemeClr val="accent2"/>
                </a:solidFill>
              </a:rPr>
              <a:t>v1</a:t>
            </a:r>
            <a:r>
              <a:rPr lang="en-US" dirty="0"/>
              <a:t> response (Client to Server)</a:t>
            </a:r>
            <a:endParaRPr lang="cs-CZ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" y="1992166"/>
            <a:ext cx="9067466" cy="4179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6C8A79-4630-4CAE-8313-18F749E558DA}"/>
              </a:ext>
            </a:extLst>
          </p:cNvPr>
          <p:cNvSpPr/>
          <p:nvPr/>
        </p:nvSpPr>
        <p:spPr>
          <a:xfrm>
            <a:off x="3059832" y="3861048"/>
            <a:ext cx="792088" cy="43204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43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NTLMv2 response (Client to Server)</a:t>
            </a:r>
            <a:endParaRPr lang="cs-CZ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" y="1926856"/>
            <a:ext cx="9036353" cy="4245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079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F0E6F-C766-416E-B17E-9FE40980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782960"/>
          </a:xfrm>
        </p:spPr>
        <p:txBody>
          <a:bodyPr>
            <a:normAutofit/>
          </a:bodyPr>
          <a:lstStyle/>
          <a:p>
            <a:r>
              <a:rPr lang="en-US" sz="2800" dirty="0"/>
              <a:t>Values hashed together in an NTLMv2 response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B49C01-C8C1-4B0D-B993-C622E142B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9" y="1163189"/>
            <a:ext cx="7020272" cy="56959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83E455-472A-46F5-8F2D-5FBBA0305CE8}"/>
              </a:ext>
            </a:extLst>
          </p:cNvPr>
          <p:cNvSpPr txBox="1"/>
          <p:nvPr/>
        </p:nvSpPr>
        <p:spPr>
          <a:xfrm>
            <a:off x="251520" y="4437112"/>
            <a:ext cx="16177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note points:</a:t>
            </a:r>
          </a:p>
          <a:p>
            <a:r>
              <a:rPr lang="en-US" sz="1600" dirty="0"/>
              <a:t>timestamp</a:t>
            </a:r>
          </a:p>
          <a:p>
            <a:r>
              <a:rPr lang="en-US" sz="1600" dirty="0"/>
              <a:t>channel binding</a:t>
            </a:r>
          </a:p>
        </p:txBody>
      </p:sp>
    </p:spTree>
    <p:extLst>
      <p:ext uri="{BB962C8B-B14F-4D97-AF65-F5344CB8AC3E}">
        <p14:creationId xmlns:p14="http://schemas.microsoft.com/office/powerpoint/2010/main" val="3702869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7EA5-81DF-4117-8D5D-CB8C9F54F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82960"/>
          </a:xfrm>
        </p:spPr>
        <p:txBody>
          <a:bodyPr/>
          <a:lstStyle/>
          <a:p>
            <a:r>
              <a:rPr lang="en-US" dirty="0"/>
              <a:t>Fiddler LM+NTLM vs. NTLMv2 (just bigger)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6AB07-3AF5-4706-B2BB-3D8262CB8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1731"/>
            <a:ext cx="9144000" cy="971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54C8A1-D88F-4D4D-B594-A471993CF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8" y="3284984"/>
            <a:ext cx="9144000" cy="256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228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success audit on </a:t>
            </a:r>
            <a:r>
              <a:rPr lang="en-US" dirty="0">
                <a:solidFill>
                  <a:schemeClr val="accent1"/>
                </a:solidFill>
              </a:rPr>
              <a:t>DC</a:t>
            </a:r>
            <a:endParaRPr lang="cs-CZ" dirty="0">
              <a:solidFill>
                <a:schemeClr val="accent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7711" y="1534992"/>
            <a:ext cx="6428465" cy="5323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8274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failure audit on </a:t>
            </a:r>
            <a:r>
              <a:rPr lang="en-US" dirty="0">
                <a:solidFill>
                  <a:schemeClr val="accent1"/>
                </a:solidFill>
              </a:rPr>
              <a:t>DC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988840"/>
            <a:ext cx="7632848" cy="46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24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188" y="2416877"/>
            <a:ext cx="5813143" cy="3885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NTLM success audit on </a:t>
            </a:r>
            <a:r>
              <a:rPr lang="en-US" dirty="0">
                <a:solidFill>
                  <a:schemeClr val="accent1"/>
                </a:solidFill>
              </a:rPr>
              <a:t>resource server</a:t>
            </a:r>
            <a:endParaRPr lang="cs-CZ" dirty="0">
              <a:solidFill>
                <a:schemeClr val="accent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65787" y="1404370"/>
            <a:ext cx="5762622" cy="3788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6897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99F5547-6D33-53EE-88A4-4A4D65BD8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113423"/>
              </p:ext>
            </p:extLst>
          </p:nvPr>
        </p:nvGraphicFramePr>
        <p:xfrm>
          <a:off x="0" y="2818526"/>
          <a:ext cx="4139952" cy="3706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914640" imgH="3505320" progId="">
                  <p:embed/>
                </p:oleObj>
              </mc:Choice>
              <mc:Fallback>
                <p:oleObj r:id="rId2" imgW="3914640" imgH="35053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2818526"/>
                        <a:ext cx="4139952" cy="37068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3106688" cy="2151112"/>
          </a:xfrm>
        </p:spPr>
        <p:txBody>
          <a:bodyPr>
            <a:normAutofit fontScale="90000"/>
          </a:bodyPr>
          <a:lstStyle/>
          <a:p>
            <a:r>
              <a:rPr lang="en-US" dirty="0"/>
              <a:t>Restricting client computers (</a:t>
            </a:r>
            <a:r>
              <a:rPr lang="en-US" dirty="0" err="1"/>
              <a:t>userWorkstations</a:t>
            </a:r>
            <a:r>
              <a:rPr lang="en-US" dirty="0"/>
              <a:t> attribute)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5" y="277569"/>
            <a:ext cx="5436096" cy="657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186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426A11-38B6-4A49-AB70-9C0A4384267B}"/>
              </a:ext>
            </a:extLst>
          </p:cNvPr>
          <p:cNvSpPr/>
          <p:nvPr/>
        </p:nvSpPr>
        <p:spPr>
          <a:xfrm>
            <a:off x="1774573" y="1630286"/>
            <a:ext cx="5018790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RDP TCP 3389 + TLS (certificate)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DB7BB-BAE8-4573-85BB-323F005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RDP </a:t>
            </a:r>
            <a:r>
              <a:rPr lang="en-US" dirty="0">
                <a:solidFill>
                  <a:schemeClr val="accent1"/>
                </a:solidFill>
              </a:rPr>
              <a:t>without</a:t>
            </a:r>
            <a:r>
              <a:rPr lang="en-US" dirty="0"/>
              <a:t> NLA (Network Level Authentication)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0653F-663F-4D9D-B2FB-1AFFF89BB995}"/>
              </a:ext>
            </a:extLst>
          </p:cNvPr>
          <p:cNvSpPr/>
          <p:nvPr/>
        </p:nvSpPr>
        <p:spPr>
          <a:xfrm>
            <a:off x="6793363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RDP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8C4FE-2B00-4E8B-AC8A-D203F499CA2F}"/>
              </a:ext>
            </a:extLst>
          </p:cNvPr>
          <p:cNvSpPr/>
          <p:nvPr/>
        </p:nvSpPr>
        <p:spPr>
          <a:xfrm>
            <a:off x="6793363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D81B4-BE2E-4CD7-A791-509F3BE148B4}"/>
              </a:ext>
            </a:extLst>
          </p:cNvPr>
          <p:cNvSpPr/>
          <p:nvPr/>
        </p:nvSpPr>
        <p:spPr>
          <a:xfrm>
            <a:off x="622445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349812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426A11-38B6-4A49-AB70-9C0A4384267B}"/>
              </a:ext>
            </a:extLst>
          </p:cNvPr>
          <p:cNvSpPr/>
          <p:nvPr/>
        </p:nvSpPr>
        <p:spPr>
          <a:xfrm>
            <a:off x="1774573" y="1630286"/>
            <a:ext cx="5018790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RDP TCP 3389 + TLS (certificate)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DB7BB-BAE8-4573-85BB-323F005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RDP </a:t>
            </a:r>
            <a:r>
              <a:rPr lang="en-US" dirty="0">
                <a:solidFill>
                  <a:schemeClr val="accent1"/>
                </a:solidFill>
              </a:rPr>
              <a:t>without</a:t>
            </a:r>
            <a:r>
              <a:rPr lang="en-US" dirty="0"/>
              <a:t> NLA (Network Level Authentication)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0653F-663F-4D9D-B2FB-1AFFF89BB995}"/>
              </a:ext>
            </a:extLst>
          </p:cNvPr>
          <p:cNvSpPr/>
          <p:nvPr/>
        </p:nvSpPr>
        <p:spPr>
          <a:xfrm>
            <a:off x="6793363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RDP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8C4FE-2B00-4E8B-AC8A-D203F499CA2F}"/>
              </a:ext>
            </a:extLst>
          </p:cNvPr>
          <p:cNvSpPr/>
          <p:nvPr/>
        </p:nvSpPr>
        <p:spPr>
          <a:xfrm>
            <a:off x="6793363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D81B4-BE2E-4CD7-A791-509F3BE148B4}"/>
              </a:ext>
            </a:extLst>
          </p:cNvPr>
          <p:cNvSpPr/>
          <p:nvPr/>
        </p:nvSpPr>
        <p:spPr>
          <a:xfrm>
            <a:off x="622445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D11B35D-9568-4548-B5A1-155608E0FC97}"/>
              </a:ext>
            </a:extLst>
          </p:cNvPr>
          <p:cNvSpPr/>
          <p:nvPr/>
        </p:nvSpPr>
        <p:spPr>
          <a:xfrm>
            <a:off x="1841138" y="1988840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login + password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41B50FF-9318-4EFE-954F-EB3BCD6009D6}"/>
              </a:ext>
            </a:extLst>
          </p:cNvPr>
          <p:cNvSpPr/>
          <p:nvPr/>
        </p:nvSpPr>
        <p:spPr>
          <a:xfrm rot="5400000">
            <a:off x="5881167" y="3590648"/>
            <a:ext cx="2674997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 login (RDP/interactive/TGT)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E36C4-0627-470B-919D-D29EA5C6DD60}"/>
              </a:ext>
            </a:extLst>
          </p:cNvPr>
          <p:cNvSpPr txBox="1"/>
          <p:nvPr/>
        </p:nvSpPr>
        <p:spPr>
          <a:xfrm>
            <a:off x="4427984" y="6113379"/>
            <a:ext cx="3180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4768 Kerberos Authentication Service</a:t>
            </a:r>
          </a:p>
        </p:txBody>
      </p:sp>
    </p:spTree>
    <p:extLst>
      <p:ext uri="{BB962C8B-B14F-4D97-AF65-F5344CB8AC3E}">
        <p14:creationId xmlns:p14="http://schemas.microsoft.com/office/powerpoint/2010/main" val="1373665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426A11-38B6-4A49-AB70-9C0A4384267B}"/>
              </a:ext>
            </a:extLst>
          </p:cNvPr>
          <p:cNvSpPr/>
          <p:nvPr/>
        </p:nvSpPr>
        <p:spPr>
          <a:xfrm>
            <a:off x="1774573" y="1630286"/>
            <a:ext cx="5018790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RDP TCP 3389 + TLS (certificate)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DB7BB-BAE8-4573-85BB-323F005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RDP </a:t>
            </a:r>
            <a:r>
              <a:rPr lang="en-US" dirty="0">
                <a:solidFill>
                  <a:schemeClr val="accent1"/>
                </a:solidFill>
              </a:rPr>
              <a:t>without</a:t>
            </a:r>
            <a:r>
              <a:rPr lang="en-US" dirty="0"/>
              <a:t> NLA (Network Level Authentication)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0653F-663F-4D9D-B2FB-1AFFF89BB995}"/>
              </a:ext>
            </a:extLst>
          </p:cNvPr>
          <p:cNvSpPr/>
          <p:nvPr/>
        </p:nvSpPr>
        <p:spPr>
          <a:xfrm>
            <a:off x="6793363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RDP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8C4FE-2B00-4E8B-AC8A-D203F499CA2F}"/>
              </a:ext>
            </a:extLst>
          </p:cNvPr>
          <p:cNvSpPr/>
          <p:nvPr/>
        </p:nvSpPr>
        <p:spPr>
          <a:xfrm>
            <a:off x="6793363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D81B4-BE2E-4CD7-A791-509F3BE148B4}"/>
              </a:ext>
            </a:extLst>
          </p:cNvPr>
          <p:cNvSpPr/>
          <p:nvPr/>
        </p:nvSpPr>
        <p:spPr>
          <a:xfrm>
            <a:off x="622445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D11B35D-9568-4548-B5A1-155608E0FC97}"/>
              </a:ext>
            </a:extLst>
          </p:cNvPr>
          <p:cNvSpPr/>
          <p:nvPr/>
        </p:nvSpPr>
        <p:spPr>
          <a:xfrm>
            <a:off x="1841138" y="1988840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login + password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41B50FF-9318-4EFE-954F-EB3BCD6009D6}"/>
              </a:ext>
            </a:extLst>
          </p:cNvPr>
          <p:cNvSpPr/>
          <p:nvPr/>
        </p:nvSpPr>
        <p:spPr>
          <a:xfrm rot="5400000">
            <a:off x="5881167" y="3590648"/>
            <a:ext cx="2674997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 login (RDP/interactive/TGT)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4E36C4-0627-470B-919D-D29EA5C6DD60}"/>
              </a:ext>
            </a:extLst>
          </p:cNvPr>
          <p:cNvSpPr txBox="1"/>
          <p:nvPr/>
        </p:nvSpPr>
        <p:spPr>
          <a:xfrm>
            <a:off x="4427984" y="6113379"/>
            <a:ext cx="3180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4768 Kerberos Authentication Service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FA125A-8110-4C20-B378-CA75CEE1FD7A}"/>
              </a:ext>
            </a:extLst>
          </p:cNvPr>
          <p:cNvSpPr txBox="1"/>
          <p:nvPr/>
        </p:nvSpPr>
        <p:spPr>
          <a:xfrm>
            <a:off x="4996582" y="3159289"/>
            <a:ext cx="1874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4624 Logon - type 10</a:t>
            </a:r>
          </a:p>
        </p:txBody>
      </p:sp>
    </p:spTree>
    <p:extLst>
      <p:ext uri="{BB962C8B-B14F-4D97-AF65-F5344CB8AC3E}">
        <p14:creationId xmlns:p14="http://schemas.microsoft.com/office/powerpoint/2010/main" val="3715809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426A11-38B6-4A49-AB70-9C0A4384267B}"/>
              </a:ext>
            </a:extLst>
          </p:cNvPr>
          <p:cNvSpPr/>
          <p:nvPr/>
        </p:nvSpPr>
        <p:spPr>
          <a:xfrm>
            <a:off x="1774573" y="1630286"/>
            <a:ext cx="5018790" cy="11521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RDP TCP 3389 + TLS (certificate) + Nego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DB7BB-BAE8-4573-85BB-323F005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RDP </a:t>
            </a:r>
            <a:r>
              <a:rPr lang="en-US" dirty="0">
                <a:solidFill>
                  <a:schemeClr val="accent5"/>
                </a:solidFill>
              </a:rPr>
              <a:t>with</a:t>
            </a:r>
            <a:r>
              <a:rPr lang="en-US" dirty="0"/>
              <a:t> NLA (Network Level Authentication)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0653F-663F-4D9D-B2FB-1AFFF89BB995}"/>
              </a:ext>
            </a:extLst>
          </p:cNvPr>
          <p:cNvSpPr/>
          <p:nvPr/>
        </p:nvSpPr>
        <p:spPr>
          <a:xfrm>
            <a:off x="6793363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RDP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8C4FE-2B00-4E8B-AC8A-D203F499CA2F}"/>
              </a:ext>
            </a:extLst>
          </p:cNvPr>
          <p:cNvSpPr/>
          <p:nvPr/>
        </p:nvSpPr>
        <p:spPr>
          <a:xfrm>
            <a:off x="6793363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D81B4-BE2E-4CD7-A791-509F3BE148B4}"/>
              </a:ext>
            </a:extLst>
          </p:cNvPr>
          <p:cNvSpPr/>
          <p:nvPr/>
        </p:nvSpPr>
        <p:spPr>
          <a:xfrm>
            <a:off x="622445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D051A9-8FB8-4202-9F60-F138743A3182}"/>
              </a:ext>
            </a:extLst>
          </p:cNvPr>
          <p:cNvSpPr/>
          <p:nvPr/>
        </p:nvSpPr>
        <p:spPr>
          <a:xfrm>
            <a:off x="1841138" y="2312134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C6E3B25-F434-4B79-BF7F-21BD91826701}"/>
              </a:ext>
            </a:extLst>
          </p:cNvPr>
          <p:cNvSpPr/>
          <p:nvPr/>
        </p:nvSpPr>
        <p:spPr>
          <a:xfrm rot="5400000">
            <a:off x="6010600" y="3720081"/>
            <a:ext cx="2416132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C9340-4340-4DCC-A1E0-A00B8A58CF96}"/>
              </a:ext>
            </a:extLst>
          </p:cNvPr>
          <p:cNvSpPr/>
          <p:nvPr/>
        </p:nvSpPr>
        <p:spPr>
          <a:xfrm>
            <a:off x="622445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758A7-FFF5-466C-BA48-5C285960C0A8}"/>
              </a:ext>
            </a:extLst>
          </p:cNvPr>
          <p:cNvSpPr txBox="1"/>
          <p:nvPr/>
        </p:nvSpPr>
        <p:spPr>
          <a:xfrm>
            <a:off x="4427984" y="5805264"/>
            <a:ext cx="2271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4776 Credential Validation</a:t>
            </a:r>
          </a:p>
        </p:txBody>
      </p:sp>
    </p:spTree>
    <p:extLst>
      <p:ext uri="{BB962C8B-B14F-4D97-AF65-F5344CB8AC3E}">
        <p14:creationId xmlns:p14="http://schemas.microsoft.com/office/powerpoint/2010/main" val="19988101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426A11-38B6-4A49-AB70-9C0A4384267B}"/>
              </a:ext>
            </a:extLst>
          </p:cNvPr>
          <p:cNvSpPr/>
          <p:nvPr/>
        </p:nvSpPr>
        <p:spPr>
          <a:xfrm>
            <a:off x="1774573" y="1630286"/>
            <a:ext cx="5018790" cy="11521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RDP TCP 3389 + TLS (certificate) + Nego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DB7BB-BAE8-4573-85BB-323F005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RDP </a:t>
            </a:r>
            <a:r>
              <a:rPr lang="en-US" dirty="0">
                <a:solidFill>
                  <a:schemeClr val="accent5"/>
                </a:solidFill>
              </a:rPr>
              <a:t>with</a:t>
            </a:r>
            <a:r>
              <a:rPr lang="en-US" dirty="0"/>
              <a:t> NLA (Network Level Authentication)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0653F-663F-4D9D-B2FB-1AFFF89BB995}"/>
              </a:ext>
            </a:extLst>
          </p:cNvPr>
          <p:cNvSpPr/>
          <p:nvPr/>
        </p:nvSpPr>
        <p:spPr>
          <a:xfrm>
            <a:off x="6793363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RDP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8C4FE-2B00-4E8B-AC8A-D203F499CA2F}"/>
              </a:ext>
            </a:extLst>
          </p:cNvPr>
          <p:cNvSpPr/>
          <p:nvPr/>
        </p:nvSpPr>
        <p:spPr>
          <a:xfrm>
            <a:off x="6793363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D81B4-BE2E-4CD7-A791-509F3BE148B4}"/>
              </a:ext>
            </a:extLst>
          </p:cNvPr>
          <p:cNvSpPr/>
          <p:nvPr/>
        </p:nvSpPr>
        <p:spPr>
          <a:xfrm>
            <a:off x="622445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D051A9-8FB8-4202-9F60-F138743A3182}"/>
              </a:ext>
            </a:extLst>
          </p:cNvPr>
          <p:cNvSpPr/>
          <p:nvPr/>
        </p:nvSpPr>
        <p:spPr>
          <a:xfrm>
            <a:off x="1841138" y="2312134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C6E3B25-F434-4B79-BF7F-21BD91826701}"/>
              </a:ext>
            </a:extLst>
          </p:cNvPr>
          <p:cNvSpPr/>
          <p:nvPr/>
        </p:nvSpPr>
        <p:spPr>
          <a:xfrm rot="5400000">
            <a:off x="6010600" y="3720081"/>
            <a:ext cx="2416132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C9340-4340-4DCC-A1E0-A00B8A58CF96}"/>
              </a:ext>
            </a:extLst>
          </p:cNvPr>
          <p:cNvSpPr/>
          <p:nvPr/>
        </p:nvSpPr>
        <p:spPr>
          <a:xfrm>
            <a:off x="622445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758A7-FFF5-466C-BA48-5C285960C0A8}"/>
              </a:ext>
            </a:extLst>
          </p:cNvPr>
          <p:cNvSpPr txBox="1"/>
          <p:nvPr/>
        </p:nvSpPr>
        <p:spPr>
          <a:xfrm>
            <a:off x="4427984" y="5805264"/>
            <a:ext cx="2271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4776 Credential Validation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E4D9A-A0BF-4738-91E2-C8C43ABF10B3}"/>
              </a:ext>
            </a:extLst>
          </p:cNvPr>
          <p:cNvSpPr txBox="1"/>
          <p:nvPr/>
        </p:nvSpPr>
        <p:spPr>
          <a:xfrm>
            <a:off x="4677720" y="2924944"/>
            <a:ext cx="1774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4624 Logon - type 3</a:t>
            </a:r>
          </a:p>
        </p:txBody>
      </p:sp>
    </p:spTree>
    <p:extLst>
      <p:ext uri="{BB962C8B-B14F-4D97-AF65-F5344CB8AC3E}">
        <p14:creationId xmlns:p14="http://schemas.microsoft.com/office/powerpoint/2010/main" val="2935167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426A11-38B6-4A49-AB70-9C0A4384267B}"/>
              </a:ext>
            </a:extLst>
          </p:cNvPr>
          <p:cNvSpPr/>
          <p:nvPr/>
        </p:nvSpPr>
        <p:spPr>
          <a:xfrm>
            <a:off x="1774573" y="1630286"/>
            <a:ext cx="5018790" cy="11521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RDP TCP 3389 + TLS (certificate) + Nego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DB7BB-BAE8-4573-85BB-323F005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RDP </a:t>
            </a:r>
            <a:r>
              <a:rPr lang="en-US" dirty="0">
                <a:solidFill>
                  <a:schemeClr val="accent5"/>
                </a:solidFill>
              </a:rPr>
              <a:t>with</a:t>
            </a:r>
            <a:r>
              <a:rPr lang="en-US" dirty="0"/>
              <a:t> NLA (Network Level Authentication)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0653F-663F-4D9D-B2FB-1AFFF89BB995}"/>
              </a:ext>
            </a:extLst>
          </p:cNvPr>
          <p:cNvSpPr/>
          <p:nvPr/>
        </p:nvSpPr>
        <p:spPr>
          <a:xfrm>
            <a:off x="6793363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RDP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8C4FE-2B00-4E8B-AC8A-D203F499CA2F}"/>
              </a:ext>
            </a:extLst>
          </p:cNvPr>
          <p:cNvSpPr/>
          <p:nvPr/>
        </p:nvSpPr>
        <p:spPr>
          <a:xfrm>
            <a:off x="6793363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D81B4-BE2E-4CD7-A791-509F3BE148B4}"/>
              </a:ext>
            </a:extLst>
          </p:cNvPr>
          <p:cNvSpPr/>
          <p:nvPr/>
        </p:nvSpPr>
        <p:spPr>
          <a:xfrm>
            <a:off x="622445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D051A9-8FB8-4202-9F60-F138743A3182}"/>
              </a:ext>
            </a:extLst>
          </p:cNvPr>
          <p:cNvSpPr/>
          <p:nvPr/>
        </p:nvSpPr>
        <p:spPr>
          <a:xfrm>
            <a:off x="1841138" y="2312134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C6E3B25-F434-4B79-BF7F-21BD91826701}"/>
              </a:ext>
            </a:extLst>
          </p:cNvPr>
          <p:cNvSpPr/>
          <p:nvPr/>
        </p:nvSpPr>
        <p:spPr>
          <a:xfrm rot="5400000">
            <a:off x="6010600" y="3720081"/>
            <a:ext cx="2416132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C9340-4340-4DCC-A1E0-A00B8A58CF96}"/>
              </a:ext>
            </a:extLst>
          </p:cNvPr>
          <p:cNvSpPr/>
          <p:nvPr/>
        </p:nvSpPr>
        <p:spPr>
          <a:xfrm>
            <a:off x="622445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AE11786-0852-4113-B820-6C4F309DCEB5}"/>
              </a:ext>
            </a:extLst>
          </p:cNvPr>
          <p:cNvSpPr/>
          <p:nvPr/>
        </p:nvSpPr>
        <p:spPr>
          <a:xfrm>
            <a:off x="1841138" y="1988840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login + password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A734595-03CF-4D49-84CA-68DE05A92539}"/>
              </a:ext>
            </a:extLst>
          </p:cNvPr>
          <p:cNvSpPr/>
          <p:nvPr/>
        </p:nvSpPr>
        <p:spPr>
          <a:xfrm rot="5400000">
            <a:off x="5650559" y="3822741"/>
            <a:ext cx="2416132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796ADB0-C8F1-4711-88BD-1040343CAF52}"/>
              </a:ext>
            </a:extLst>
          </p:cNvPr>
          <p:cNvSpPr/>
          <p:nvPr/>
        </p:nvSpPr>
        <p:spPr>
          <a:xfrm rot="5400000">
            <a:off x="5881167" y="3590648"/>
            <a:ext cx="2674997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 login (RDP/interactive/TGT)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F47805-6476-4288-BBA7-21DF93305C28}"/>
              </a:ext>
            </a:extLst>
          </p:cNvPr>
          <p:cNvSpPr txBox="1"/>
          <p:nvPr/>
        </p:nvSpPr>
        <p:spPr>
          <a:xfrm>
            <a:off x="4427984" y="5805264"/>
            <a:ext cx="2271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4776 Credential Validation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762B5F-3F7E-45CB-9EB7-03CDE4F1551E}"/>
              </a:ext>
            </a:extLst>
          </p:cNvPr>
          <p:cNvSpPr txBox="1"/>
          <p:nvPr/>
        </p:nvSpPr>
        <p:spPr>
          <a:xfrm>
            <a:off x="4427984" y="6113379"/>
            <a:ext cx="3180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4768 Kerberos Authentication Service</a:t>
            </a:r>
          </a:p>
        </p:txBody>
      </p:sp>
    </p:spTree>
    <p:extLst>
      <p:ext uri="{BB962C8B-B14F-4D97-AF65-F5344CB8AC3E}">
        <p14:creationId xmlns:p14="http://schemas.microsoft.com/office/powerpoint/2010/main" val="41440922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426A11-38B6-4A49-AB70-9C0A4384267B}"/>
              </a:ext>
            </a:extLst>
          </p:cNvPr>
          <p:cNvSpPr/>
          <p:nvPr/>
        </p:nvSpPr>
        <p:spPr>
          <a:xfrm>
            <a:off x="1774573" y="1630286"/>
            <a:ext cx="5018790" cy="11521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RDP TCP 3389 + TLS (certificate) + Nego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DB7BB-BAE8-4573-85BB-323F005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RDP </a:t>
            </a:r>
            <a:r>
              <a:rPr lang="en-US" dirty="0">
                <a:solidFill>
                  <a:schemeClr val="accent5"/>
                </a:solidFill>
              </a:rPr>
              <a:t>with</a:t>
            </a:r>
            <a:r>
              <a:rPr lang="en-US" dirty="0"/>
              <a:t> NLA (Network Level Authentication)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0653F-663F-4D9D-B2FB-1AFFF89BB995}"/>
              </a:ext>
            </a:extLst>
          </p:cNvPr>
          <p:cNvSpPr/>
          <p:nvPr/>
        </p:nvSpPr>
        <p:spPr>
          <a:xfrm>
            <a:off x="6793363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RDP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8C4FE-2B00-4E8B-AC8A-D203F499CA2F}"/>
              </a:ext>
            </a:extLst>
          </p:cNvPr>
          <p:cNvSpPr/>
          <p:nvPr/>
        </p:nvSpPr>
        <p:spPr>
          <a:xfrm>
            <a:off x="6793363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D81B4-BE2E-4CD7-A791-509F3BE148B4}"/>
              </a:ext>
            </a:extLst>
          </p:cNvPr>
          <p:cNvSpPr/>
          <p:nvPr/>
        </p:nvSpPr>
        <p:spPr>
          <a:xfrm>
            <a:off x="622445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D051A9-8FB8-4202-9F60-F138743A3182}"/>
              </a:ext>
            </a:extLst>
          </p:cNvPr>
          <p:cNvSpPr/>
          <p:nvPr/>
        </p:nvSpPr>
        <p:spPr>
          <a:xfrm>
            <a:off x="1841138" y="2312134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C6E3B25-F434-4B79-BF7F-21BD91826701}"/>
              </a:ext>
            </a:extLst>
          </p:cNvPr>
          <p:cNvSpPr/>
          <p:nvPr/>
        </p:nvSpPr>
        <p:spPr>
          <a:xfrm rot="5400000">
            <a:off x="6010600" y="3720081"/>
            <a:ext cx="2416132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C9340-4340-4DCC-A1E0-A00B8A58CF96}"/>
              </a:ext>
            </a:extLst>
          </p:cNvPr>
          <p:cNvSpPr/>
          <p:nvPr/>
        </p:nvSpPr>
        <p:spPr>
          <a:xfrm>
            <a:off x="622445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AE11786-0852-4113-B820-6C4F309DCEB5}"/>
              </a:ext>
            </a:extLst>
          </p:cNvPr>
          <p:cNvSpPr/>
          <p:nvPr/>
        </p:nvSpPr>
        <p:spPr>
          <a:xfrm>
            <a:off x="1841138" y="1988840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login + password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A734595-03CF-4D49-84CA-68DE05A92539}"/>
              </a:ext>
            </a:extLst>
          </p:cNvPr>
          <p:cNvSpPr/>
          <p:nvPr/>
        </p:nvSpPr>
        <p:spPr>
          <a:xfrm rot="5400000">
            <a:off x="5650559" y="3822741"/>
            <a:ext cx="2416132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796ADB0-C8F1-4711-88BD-1040343CAF52}"/>
              </a:ext>
            </a:extLst>
          </p:cNvPr>
          <p:cNvSpPr/>
          <p:nvPr/>
        </p:nvSpPr>
        <p:spPr>
          <a:xfrm rot="5400000">
            <a:off x="5881167" y="3590648"/>
            <a:ext cx="2674997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 login (RDP/interactive/TGT)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F47805-6476-4288-BBA7-21DF93305C28}"/>
              </a:ext>
            </a:extLst>
          </p:cNvPr>
          <p:cNvSpPr txBox="1"/>
          <p:nvPr/>
        </p:nvSpPr>
        <p:spPr>
          <a:xfrm>
            <a:off x="4427984" y="5805264"/>
            <a:ext cx="22712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5"/>
                </a:solidFill>
              </a:rPr>
              <a:t>4776 Credential Validation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762B5F-3F7E-45CB-9EB7-03CDE4F1551E}"/>
              </a:ext>
            </a:extLst>
          </p:cNvPr>
          <p:cNvSpPr txBox="1"/>
          <p:nvPr/>
        </p:nvSpPr>
        <p:spPr>
          <a:xfrm>
            <a:off x="4427984" y="6113379"/>
            <a:ext cx="3180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4768 Kerberos Authentication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793FDF-1AD7-49BC-8597-1B44109E4E4B}"/>
              </a:ext>
            </a:extLst>
          </p:cNvPr>
          <p:cNvSpPr txBox="1"/>
          <p:nvPr/>
        </p:nvSpPr>
        <p:spPr>
          <a:xfrm>
            <a:off x="4677721" y="3229403"/>
            <a:ext cx="1874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4624 Logon - type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B1645B-9E7E-4BAD-8C81-6630EECDF0E8}"/>
              </a:ext>
            </a:extLst>
          </p:cNvPr>
          <p:cNvSpPr txBox="1"/>
          <p:nvPr/>
        </p:nvSpPr>
        <p:spPr>
          <a:xfrm>
            <a:off x="4677720" y="2924944"/>
            <a:ext cx="1774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</a:rPr>
              <a:t>4624 Logon - type 3</a:t>
            </a:r>
          </a:p>
        </p:txBody>
      </p:sp>
    </p:spTree>
    <p:extLst>
      <p:ext uri="{BB962C8B-B14F-4D97-AF65-F5344CB8AC3E}">
        <p14:creationId xmlns:p14="http://schemas.microsoft.com/office/powerpoint/2010/main" val="672240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426A11-38B6-4A49-AB70-9C0A4384267B}"/>
              </a:ext>
            </a:extLst>
          </p:cNvPr>
          <p:cNvSpPr/>
          <p:nvPr/>
        </p:nvSpPr>
        <p:spPr>
          <a:xfrm>
            <a:off x="1774573" y="1630286"/>
            <a:ext cx="5018790" cy="11521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RDP TCP 3389 + TLS (certificate) + Nego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DB7BB-BAE8-4573-85BB-323F005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RDP </a:t>
            </a:r>
            <a:r>
              <a:rPr lang="en-US" dirty="0">
                <a:solidFill>
                  <a:schemeClr val="accent5"/>
                </a:solidFill>
              </a:rPr>
              <a:t>with</a:t>
            </a:r>
            <a:r>
              <a:rPr lang="en-US" dirty="0"/>
              <a:t> NLA (Network Level Authentication)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0653F-663F-4D9D-B2FB-1AFFF89BB995}"/>
              </a:ext>
            </a:extLst>
          </p:cNvPr>
          <p:cNvSpPr/>
          <p:nvPr/>
        </p:nvSpPr>
        <p:spPr>
          <a:xfrm>
            <a:off x="6793363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RDP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8C4FE-2B00-4E8B-AC8A-D203F499CA2F}"/>
              </a:ext>
            </a:extLst>
          </p:cNvPr>
          <p:cNvSpPr/>
          <p:nvPr/>
        </p:nvSpPr>
        <p:spPr>
          <a:xfrm>
            <a:off x="6793363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D81B4-BE2E-4CD7-A791-509F3BE148B4}"/>
              </a:ext>
            </a:extLst>
          </p:cNvPr>
          <p:cNvSpPr/>
          <p:nvPr/>
        </p:nvSpPr>
        <p:spPr>
          <a:xfrm>
            <a:off x="622445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D051A9-8FB8-4202-9F60-F138743A3182}"/>
              </a:ext>
            </a:extLst>
          </p:cNvPr>
          <p:cNvSpPr/>
          <p:nvPr/>
        </p:nvSpPr>
        <p:spPr>
          <a:xfrm>
            <a:off x="1841138" y="2312134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C9340-4340-4DCC-A1E0-A00B8A58CF96}"/>
              </a:ext>
            </a:extLst>
          </p:cNvPr>
          <p:cNvSpPr/>
          <p:nvPr/>
        </p:nvSpPr>
        <p:spPr>
          <a:xfrm>
            <a:off x="622445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260BF3E-D31B-4EF8-BAC2-BFA1CF9FC3A1}"/>
              </a:ext>
            </a:extLst>
          </p:cNvPr>
          <p:cNvSpPr/>
          <p:nvPr/>
        </p:nvSpPr>
        <p:spPr>
          <a:xfrm rot="5400000">
            <a:off x="14819" y="3720081"/>
            <a:ext cx="2416132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9E12AD-C752-4F48-B945-28AF40DF269B}"/>
              </a:ext>
            </a:extLst>
          </p:cNvPr>
          <p:cNvSpPr txBox="1"/>
          <p:nvPr/>
        </p:nvSpPr>
        <p:spPr>
          <a:xfrm>
            <a:off x="683568" y="6113379"/>
            <a:ext cx="3180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4768 Kerberos Authentication Service</a:t>
            </a:r>
          </a:p>
        </p:txBody>
      </p:sp>
    </p:spTree>
    <p:extLst>
      <p:ext uri="{BB962C8B-B14F-4D97-AF65-F5344CB8AC3E}">
        <p14:creationId xmlns:p14="http://schemas.microsoft.com/office/powerpoint/2010/main" val="41845034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426A11-38B6-4A49-AB70-9C0A4384267B}"/>
              </a:ext>
            </a:extLst>
          </p:cNvPr>
          <p:cNvSpPr/>
          <p:nvPr/>
        </p:nvSpPr>
        <p:spPr>
          <a:xfrm>
            <a:off x="1774573" y="1630286"/>
            <a:ext cx="5018790" cy="115212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/>
              <a:t>RDP TCP 3389 + TLS (certificate) + Nego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DB7BB-BAE8-4573-85BB-323F0058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RDP </a:t>
            </a:r>
            <a:r>
              <a:rPr lang="en-US" dirty="0">
                <a:solidFill>
                  <a:schemeClr val="accent5"/>
                </a:solidFill>
              </a:rPr>
              <a:t>with</a:t>
            </a:r>
            <a:r>
              <a:rPr lang="en-US" dirty="0"/>
              <a:t> NLA (Network Level Authentication)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0653F-663F-4D9D-B2FB-1AFFF89BB995}"/>
              </a:ext>
            </a:extLst>
          </p:cNvPr>
          <p:cNvSpPr/>
          <p:nvPr/>
        </p:nvSpPr>
        <p:spPr>
          <a:xfrm>
            <a:off x="6793363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RDP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38C4FE-2B00-4E8B-AC8A-D203F499CA2F}"/>
              </a:ext>
            </a:extLst>
          </p:cNvPr>
          <p:cNvSpPr/>
          <p:nvPr/>
        </p:nvSpPr>
        <p:spPr>
          <a:xfrm>
            <a:off x="6793363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D81B4-BE2E-4CD7-A791-509F3BE148B4}"/>
              </a:ext>
            </a:extLst>
          </p:cNvPr>
          <p:cNvSpPr/>
          <p:nvPr/>
        </p:nvSpPr>
        <p:spPr>
          <a:xfrm>
            <a:off x="622445" y="1484784"/>
            <a:ext cx="1152128" cy="15121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D051A9-8FB8-4202-9F60-F138743A3182}"/>
              </a:ext>
            </a:extLst>
          </p:cNvPr>
          <p:cNvSpPr/>
          <p:nvPr/>
        </p:nvSpPr>
        <p:spPr>
          <a:xfrm>
            <a:off x="1841138" y="2312134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C6E3B25-F434-4B79-BF7F-21BD91826701}"/>
              </a:ext>
            </a:extLst>
          </p:cNvPr>
          <p:cNvSpPr/>
          <p:nvPr/>
        </p:nvSpPr>
        <p:spPr>
          <a:xfrm rot="5400000">
            <a:off x="6010600" y="3720081"/>
            <a:ext cx="2416132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NTLM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C9340-4340-4DCC-A1E0-A00B8A58CF96}"/>
              </a:ext>
            </a:extLst>
          </p:cNvPr>
          <p:cNvSpPr/>
          <p:nvPr/>
        </p:nvSpPr>
        <p:spPr>
          <a:xfrm>
            <a:off x="622445" y="4869160"/>
            <a:ext cx="1152128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DC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260BF3E-D31B-4EF8-BAC2-BFA1CF9FC3A1}"/>
              </a:ext>
            </a:extLst>
          </p:cNvPr>
          <p:cNvSpPr/>
          <p:nvPr/>
        </p:nvSpPr>
        <p:spPr>
          <a:xfrm rot="5400000">
            <a:off x="14819" y="3720081"/>
            <a:ext cx="2416132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Kerberos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AE11786-0852-4113-B820-6C4F309DCEB5}"/>
              </a:ext>
            </a:extLst>
          </p:cNvPr>
          <p:cNvSpPr/>
          <p:nvPr/>
        </p:nvSpPr>
        <p:spPr>
          <a:xfrm>
            <a:off x="1841138" y="1988840"/>
            <a:ext cx="5257888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login + password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796ADB0-C8F1-4711-88BD-1040343CAF52}"/>
              </a:ext>
            </a:extLst>
          </p:cNvPr>
          <p:cNvSpPr/>
          <p:nvPr/>
        </p:nvSpPr>
        <p:spPr>
          <a:xfrm rot="5400000">
            <a:off x="5881167" y="3590648"/>
            <a:ext cx="2674997" cy="540802"/>
          </a:xfrm>
          <a:prstGeom prst="rightArrow">
            <a:avLst>
              <a:gd name="adj1" fmla="val 50000"/>
              <a:gd name="adj2" fmla="val 3774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full login (RDP/interactive/TGT)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6D66BC-4F90-45B9-8309-CDC0885CCD76}"/>
              </a:ext>
            </a:extLst>
          </p:cNvPr>
          <p:cNvSpPr txBox="1"/>
          <p:nvPr/>
        </p:nvSpPr>
        <p:spPr>
          <a:xfrm>
            <a:off x="4427984" y="6113379"/>
            <a:ext cx="3180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4768 Kerberos Authentication Service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53411B-5467-438E-ACE3-C686D19C7EA7}"/>
              </a:ext>
            </a:extLst>
          </p:cNvPr>
          <p:cNvSpPr txBox="1"/>
          <p:nvPr/>
        </p:nvSpPr>
        <p:spPr>
          <a:xfrm>
            <a:off x="683568" y="6113379"/>
            <a:ext cx="31804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4768 Kerberos Authentication Service</a:t>
            </a:r>
          </a:p>
        </p:txBody>
      </p:sp>
    </p:spTree>
    <p:extLst>
      <p:ext uri="{BB962C8B-B14F-4D97-AF65-F5344CB8AC3E}">
        <p14:creationId xmlns:p14="http://schemas.microsoft.com/office/powerpoint/2010/main" val="8145764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7E20-42F8-4D2E-B9D6-66FB4A149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RDP connection - the </a:t>
            </a:r>
            <a:r>
              <a:rPr lang="en-US" sz="2400" dirty="0">
                <a:solidFill>
                  <a:schemeClr val="accent1"/>
                </a:solidFill>
              </a:rPr>
              <a:t>RDP server </a:t>
            </a:r>
            <a:r>
              <a:rPr lang="en-US" sz="2400" dirty="0"/>
              <a:t>missing from the list of the "log on to" (</a:t>
            </a:r>
            <a:r>
              <a:rPr lang="en-US" sz="2400" dirty="0" err="1"/>
              <a:t>userWorkstations</a:t>
            </a:r>
            <a:r>
              <a:rPr lang="en-US" sz="2400" dirty="0"/>
              <a:t>)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7D3C858-DE49-F645-7573-A793A5545B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548912"/>
              </p:ext>
            </p:extLst>
          </p:nvPr>
        </p:nvGraphicFramePr>
        <p:xfrm>
          <a:off x="2267745" y="2187549"/>
          <a:ext cx="6876256" cy="4670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819760" imgH="3952800" progId="">
                  <p:embed/>
                </p:oleObj>
              </mc:Choice>
              <mc:Fallback>
                <p:oleObj r:id="rId2" imgW="5819760" imgH="39528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67745" y="2187549"/>
                        <a:ext cx="6876256" cy="46704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8316C3E-754F-4A70-B21D-559B45C7B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56792"/>
            <a:ext cx="9151167" cy="22914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939521-0AC6-CC4D-5A24-24D0FDACDB25}"/>
              </a:ext>
            </a:extLst>
          </p:cNvPr>
          <p:cNvSpPr txBox="1"/>
          <p:nvPr/>
        </p:nvSpPr>
        <p:spPr>
          <a:xfrm>
            <a:off x="186965" y="3954357"/>
            <a:ext cx="19442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your account is configured to prevent you from using this computer</a:t>
            </a:r>
          </a:p>
        </p:txBody>
      </p:sp>
    </p:spTree>
    <p:extLst>
      <p:ext uri="{BB962C8B-B14F-4D97-AF65-F5344CB8AC3E}">
        <p14:creationId xmlns:p14="http://schemas.microsoft.com/office/powerpoint/2010/main" val="25131024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7E20-42F8-4D2E-B9D6-66FB4A149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7768"/>
            <a:ext cx="8229600" cy="782960"/>
          </a:xfrm>
        </p:spPr>
        <p:txBody>
          <a:bodyPr>
            <a:noAutofit/>
          </a:bodyPr>
          <a:lstStyle/>
          <a:p>
            <a:r>
              <a:rPr lang="en-US" sz="2400" dirty="0"/>
              <a:t>RDP connection - the </a:t>
            </a:r>
            <a:r>
              <a:rPr lang="en-US" sz="2400" dirty="0">
                <a:solidFill>
                  <a:schemeClr val="accent1"/>
                </a:solidFill>
              </a:rPr>
              <a:t>RDP client </a:t>
            </a:r>
            <a:r>
              <a:rPr lang="en-US" sz="2400" dirty="0"/>
              <a:t>missing from the list of the "log on to" (</a:t>
            </a:r>
            <a:r>
              <a:rPr lang="en-US" sz="2400" dirty="0" err="1"/>
              <a:t>userWorkstations</a:t>
            </a:r>
            <a:r>
              <a:rPr lang="en-US" sz="2400" dirty="0"/>
              <a:t>) with </a:t>
            </a:r>
            <a:r>
              <a:rPr lang="en-US" sz="2400" dirty="0">
                <a:solidFill>
                  <a:schemeClr val="accent1"/>
                </a:solidFill>
              </a:rPr>
              <a:t>NLA required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D86BB-3626-401B-9235-D9FF542D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2"/>
            <a:ext cx="5622162" cy="2880320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8DC9A7B-5E28-E8E2-AA41-56E6D82A65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653776"/>
              </p:ext>
            </p:extLst>
          </p:nvPr>
        </p:nvGraphicFramePr>
        <p:xfrm>
          <a:off x="1116053" y="3573017"/>
          <a:ext cx="8018804" cy="32849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324400" imgH="2181240" progId="">
                  <p:embed/>
                </p:oleObj>
              </mc:Choice>
              <mc:Fallback>
                <p:oleObj r:id="rId3" imgW="5324400" imgH="218124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53" y="3573017"/>
                        <a:ext cx="8018804" cy="32849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rrow: Left 4">
            <a:extLst>
              <a:ext uri="{FF2B5EF4-FFF2-40B4-BE49-F238E27FC236}">
                <a16:creationId xmlns:a16="http://schemas.microsoft.com/office/drawing/2014/main" id="{82C5D601-5750-4D9A-4FA4-8D95CA0F8723}"/>
              </a:ext>
            </a:extLst>
          </p:cNvPr>
          <p:cNvSpPr/>
          <p:nvPr/>
        </p:nvSpPr>
        <p:spPr>
          <a:xfrm>
            <a:off x="3944953" y="2348880"/>
            <a:ext cx="2859295" cy="504056"/>
          </a:xfrm>
          <a:prstGeom prst="lef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NTLM authentication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C072150D-E520-1382-863A-5FB422230ECC}"/>
              </a:ext>
            </a:extLst>
          </p:cNvPr>
          <p:cNvSpPr/>
          <p:nvPr/>
        </p:nvSpPr>
        <p:spPr>
          <a:xfrm rot="1876372">
            <a:off x="3944952" y="5409220"/>
            <a:ext cx="2859295" cy="504056"/>
          </a:xfrm>
          <a:prstGeom prst="lef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Kerberos authentication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9E181C-35D6-188D-D1C6-CDEC44DD776B}"/>
              </a:ext>
            </a:extLst>
          </p:cNvPr>
          <p:cNvSpPr txBox="1"/>
          <p:nvPr/>
        </p:nvSpPr>
        <p:spPr>
          <a:xfrm>
            <a:off x="5622162" y="1168839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An authentication error occurred. The Local Security Authority cannot be contacted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EC4A30-37A8-184A-FD09-25147E0F3F54}"/>
              </a:ext>
            </a:extLst>
          </p:cNvPr>
          <p:cNvSpPr txBox="1"/>
          <p:nvPr/>
        </p:nvSpPr>
        <p:spPr>
          <a:xfrm>
            <a:off x="6462521" y="3015574"/>
            <a:ext cx="266429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The system administrator has limited the computers you can log on with. Try logging on at a different computer. Error code 0x1107</a:t>
            </a:r>
          </a:p>
        </p:txBody>
      </p:sp>
    </p:spTree>
    <p:extLst>
      <p:ext uri="{BB962C8B-B14F-4D97-AF65-F5344CB8AC3E}">
        <p14:creationId xmlns:p14="http://schemas.microsoft.com/office/powerpoint/2010/main" val="1848533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4FF1E-F0C0-28E0-6D59-D7CA60983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Disable NLA on RDP </a:t>
            </a:r>
            <a:r>
              <a:rPr lang="en-US" dirty="0">
                <a:solidFill>
                  <a:schemeClr val="accent2"/>
                </a:solidFill>
              </a:rPr>
              <a:t>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08650-2668-ED49-C56C-ECD03F85B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enablecredsspsupport:i:0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640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NTLMv2 time constraints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Response calculated with client's timestamp</a:t>
            </a:r>
          </a:p>
          <a:p>
            <a:r>
              <a:rPr lang="en-US" dirty="0"/>
              <a:t>Some services check the time against </a:t>
            </a:r>
            <a:r>
              <a:rPr lang="en-US" dirty="0">
                <a:solidFill>
                  <a:schemeClr val="accent1"/>
                </a:solidFill>
              </a:rPr>
              <a:t>30 minutes </a:t>
            </a:r>
            <a:r>
              <a:rPr lang="en-US" dirty="0"/>
              <a:t>time skew</a:t>
            </a:r>
          </a:p>
          <a:p>
            <a:pPr lvl="1"/>
            <a:r>
              <a:rPr lang="en-US" dirty="0"/>
              <a:t>MS-CHAP, MS-CHAPv2</a:t>
            </a:r>
          </a:p>
          <a:p>
            <a:pPr lvl="1"/>
            <a:r>
              <a:rPr lang="en-US" dirty="0"/>
              <a:t>DCOM, WMI, Exchange, ...</a:t>
            </a:r>
          </a:p>
        </p:txBody>
      </p:sp>
    </p:spTree>
    <p:extLst>
      <p:ext uri="{BB962C8B-B14F-4D97-AF65-F5344CB8AC3E}">
        <p14:creationId xmlns:p14="http://schemas.microsoft.com/office/powerpoint/2010/main" val="2210034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session security (~ SASL ~ GSSAPI)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accent1"/>
                </a:solidFill>
              </a:rPr>
              <a:t>LM</a:t>
            </a:r>
            <a:r>
              <a:rPr lang="cs-CZ" dirty="0"/>
              <a:t>/</a:t>
            </a:r>
            <a:r>
              <a:rPr lang="cs-CZ" dirty="0">
                <a:solidFill>
                  <a:schemeClr val="accent1"/>
                </a:solidFill>
              </a:rPr>
              <a:t>NTLM</a:t>
            </a:r>
            <a:r>
              <a:rPr lang="cs-CZ" dirty="0"/>
              <a:t>/</a:t>
            </a:r>
            <a:r>
              <a:rPr lang="cs-CZ" dirty="0">
                <a:solidFill>
                  <a:schemeClr val="accent1"/>
                </a:solidFill>
              </a:rPr>
              <a:t>NTLMv2</a:t>
            </a:r>
            <a:r>
              <a:rPr lang="cs-CZ" dirty="0"/>
              <a:t> has no </a:t>
            </a:r>
            <a:r>
              <a:rPr lang="cs-CZ" dirty="0">
                <a:solidFill>
                  <a:schemeClr val="accent1"/>
                </a:solidFill>
              </a:rPr>
              <a:t>mutual</a:t>
            </a:r>
            <a:r>
              <a:rPr lang="cs-CZ" dirty="0"/>
              <a:t> client/server authentiation capabilities</a:t>
            </a:r>
          </a:p>
          <a:p>
            <a:pPr lvl="1"/>
            <a:r>
              <a:rPr lang="cs-CZ" dirty="0"/>
              <a:t>except for NTLM</a:t>
            </a:r>
            <a:r>
              <a:rPr lang="en-US" dirty="0"/>
              <a:t>v2</a:t>
            </a:r>
            <a:r>
              <a:rPr lang="cs-CZ" dirty="0"/>
              <a:t> session security (SASL signature/encryption)</a:t>
            </a:r>
            <a:r>
              <a:rPr lang="en-US" dirty="0"/>
              <a:t> connections</a:t>
            </a:r>
          </a:p>
          <a:p>
            <a:r>
              <a:rPr lang="cs-CZ" dirty="0"/>
              <a:t>No session security in HTTP</a:t>
            </a:r>
          </a:p>
          <a:p>
            <a:pPr lvl="1"/>
            <a:r>
              <a:rPr lang="cs-CZ" dirty="0"/>
              <a:t>must use HTTPS</a:t>
            </a:r>
          </a:p>
          <a:p>
            <a:r>
              <a:rPr lang="en-US" dirty="0"/>
              <a:t>Client generates random session key and encrypts it with user's password hash (response exactly)</a:t>
            </a:r>
          </a:p>
          <a:p>
            <a:pPr lvl="1"/>
            <a:r>
              <a:rPr lang="en-US" dirty="0"/>
              <a:t>if the DC/server knows the password hash, it can decrypt the session key and use it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mutual authentication of the client and DC</a:t>
            </a:r>
            <a:r>
              <a:rPr lang="en-US" dirty="0"/>
              <a:t> + server must be domain member (</a:t>
            </a:r>
            <a:r>
              <a:rPr lang="en-US" dirty="0">
                <a:solidFill>
                  <a:schemeClr val="accent1"/>
                </a:solidFill>
              </a:rPr>
              <a:t>no server authentication</a:t>
            </a:r>
            <a:r>
              <a:rPr lang="en-US" dirty="0"/>
              <a:t>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418257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NTLMv2 session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3394"/>
            <a:ext cx="586408" cy="51119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100392" y="1412776"/>
            <a:ext cx="586408" cy="51125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Server ... DC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331640" y="1700808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91880" y="1484784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NEGOTIATE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331640" y="4221088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91880" y="4005064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AUTHENTICATE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1331640" y="2852936"/>
            <a:ext cx="648072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91880" y="2636912"/>
            <a:ext cx="2088232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1880" y="2996952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 challenge 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1880" y="4365103"/>
            <a:ext cx="3528392" cy="13681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authenticator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3888" y="4796357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hash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92080" y="4796357"/>
            <a:ext cx="1656184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 challenge #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1880" y="1839837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hello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63068" y="4365103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63068" y="4725143"/>
            <a:ext cx="1728812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domain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63068" y="5086174"/>
            <a:ext cx="1728812" cy="9351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EncryptedRandomSessionKey</a:t>
            </a:r>
            <a:endParaRPr lang="en-US" sz="1400" dirty="0"/>
          </a:p>
          <a:p>
            <a:pPr algn="ctr"/>
            <a:r>
              <a:rPr lang="en-US" sz="1400" dirty="0"/>
              <a:t>by authenticator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3888" y="5229199"/>
            <a:ext cx="2880320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NTLMv2 fields if NTLMv2 used</a:t>
            </a:r>
          </a:p>
        </p:txBody>
      </p:sp>
    </p:spTree>
    <p:extLst>
      <p:ext uri="{BB962C8B-B14F-4D97-AF65-F5344CB8AC3E}">
        <p14:creationId xmlns:p14="http://schemas.microsoft.com/office/powerpoint/2010/main" val="24595445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NTLMv2 session security with domain 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7584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82544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2544" y="4930824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7" name="Rectangle 6"/>
          <p:cNvSpPr/>
          <p:nvPr/>
        </p:nvSpPr>
        <p:spPr>
          <a:xfrm>
            <a:off x="5096744" y="5476056"/>
            <a:ext cx="1442120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Active Directory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70076" y="1464096"/>
            <a:ext cx="3960440" cy="29837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66220" y="1340768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NEGOTIATE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2170076" y="1992901"/>
            <a:ext cx="3960440" cy="29837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466220" y="1869573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CHALLENGE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70076" y="2538133"/>
            <a:ext cx="3960440" cy="29837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66220" y="2414805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8512" y="1332755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08512" y="1867241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08512" y="2414606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17" name="Right Arrow 16"/>
          <p:cNvSpPr/>
          <p:nvPr/>
        </p:nvSpPr>
        <p:spPr>
          <a:xfrm rot="5400000">
            <a:off x="5763342" y="3612033"/>
            <a:ext cx="1911084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470594" y="3568247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3914" y="3343178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70594" y="3284984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CHALLENGE</a:t>
            </a:r>
          </a:p>
        </p:txBody>
      </p:sp>
      <p:sp>
        <p:nvSpPr>
          <p:cNvPr id="21" name="Right Arrow 20"/>
          <p:cNvSpPr/>
          <p:nvPr/>
        </p:nvSpPr>
        <p:spPr>
          <a:xfrm rot="16200000">
            <a:off x="6193884" y="3606007"/>
            <a:ext cx="1911084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331932" y="3640255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groups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5252" y="3415186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1932" y="3356992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3396" y="2702836"/>
            <a:ext cx="1270484" cy="5101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EncryptedRandomSessionKey</a:t>
            </a: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5471499" y="3863178"/>
            <a:ext cx="1270484" cy="5101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EncryptedRandomSessionKey</a:t>
            </a:r>
            <a:endParaRPr lang="en-US" sz="1000" dirty="0"/>
          </a:p>
        </p:txBody>
      </p:sp>
      <p:sp>
        <p:nvSpPr>
          <p:cNvPr id="27" name="Rectangle 26"/>
          <p:cNvSpPr/>
          <p:nvPr/>
        </p:nvSpPr>
        <p:spPr>
          <a:xfrm>
            <a:off x="7331932" y="3928287"/>
            <a:ext cx="1270484" cy="5101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DencryptedRandomSessionKey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536320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NTLMv2</a:t>
            </a:r>
            <a:r>
              <a:rPr lang="en-US" sz="2800" dirty="0"/>
              <a:t> session security and </a:t>
            </a:r>
            <a:r>
              <a:rPr lang="en-US" sz="2800" dirty="0">
                <a:solidFill>
                  <a:schemeClr val="accent1"/>
                </a:solidFill>
              </a:rPr>
              <a:t>domain based MITM</a:t>
            </a:r>
          </a:p>
        </p:txBody>
      </p:sp>
      <p:sp>
        <p:nvSpPr>
          <p:cNvPr id="4" name="Rectangle 3"/>
          <p:cNvSpPr/>
          <p:nvPr/>
        </p:nvSpPr>
        <p:spPr>
          <a:xfrm>
            <a:off x="240949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874024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051966" y="5589240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6166" y="6134472"/>
            <a:ext cx="1442120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Active Directory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439424" y="1464096"/>
            <a:ext cx="6300928" cy="29837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57173" y="1340768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NEGOTIATE</a:t>
            </a:r>
          </a:p>
        </p:txBody>
      </p:sp>
      <p:sp>
        <p:nvSpPr>
          <p:cNvPr id="10" name="Right Arrow 9"/>
          <p:cNvSpPr/>
          <p:nvPr/>
        </p:nvSpPr>
        <p:spPr>
          <a:xfrm rot="10800000">
            <a:off x="1439423" y="1992901"/>
            <a:ext cx="6300928" cy="29837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57173" y="1869573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CHALLENGE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99465" y="1332755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99465" y="1867241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17" name="Right Arrow 16"/>
          <p:cNvSpPr/>
          <p:nvPr/>
        </p:nvSpPr>
        <p:spPr>
          <a:xfrm rot="5400000">
            <a:off x="6789881" y="3894011"/>
            <a:ext cx="274239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046912" y="3208207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0232" y="2983138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6912" y="2924944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CHALLENGE</a:t>
            </a:r>
          </a:p>
        </p:txBody>
      </p:sp>
      <p:sp>
        <p:nvSpPr>
          <p:cNvPr id="21" name="Right Arrow 20"/>
          <p:cNvSpPr/>
          <p:nvPr/>
        </p:nvSpPr>
        <p:spPr>
          <a:xfrm rot="16200000">
            <a:off x="7220423" y="3894011"/>
            <a:ext cx="2742390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76356" y="4362707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groups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9676" y="4137638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6356" y="4079444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9782" y="3502073"/>
            <a:ext cx="1270484" cy="5101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EncryptedRandomSessionKey</a:t>
            </a:r>
            <a:endParaRPr lang="en-US" sz="1000" dirty="0"/>
          </a:p>
        </p:txBody>
      </p:sp>
      <p:sp>
        <p:nvSpPr>
          <p:cNvPr id="27" name="Rectangle 26"/>
          <p:cNvSpPr/>
          <p:nvPr/>
        </p:nvSpPr>
        <p:spPr>
          <a:xfrm>
            <a:off x="7776356" y="4650739"/>
            <a:ext cx="1270484" cy="5101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DencryptedRandomSessionKey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7874024" y="5589240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8224" y="6134472"/>
            <a:ext cx="1442120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Active Directory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57600" y="1254947"/>
            <a:ext cx="1090464" cy="20657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Attacker</a:t>
            </a:r>
          </a:p>
        </p:txBody>
      </p:sp>
      <p:sp>
        <p:nvSpPr>
          <p:cNvPr id="47" name="Right Arrow 46"/>
          <p:cNvSpPr/>
          <p:nvPr/>
        </p:nvSpPr>
        <p:spPr>
          <a:xfrm rot="5400000">
            <a:off x="3021240" y="3894012"/>
            <a:ext cx="2742388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144144" y="4503037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RESPONSE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57464" y="4277968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44144" y="4219774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CHALLENGE</a:t>
            </a:r>
          </a:p>
        </p:txBody>
      </p:sp>
      <p:sp>
        <p:nvSpPr>
          <p:cNvPr id="51" name="Right Arrow 50"/>
          <p:cNvSpPr/>
          <p:nvPr/>
        </p:nvSpPr>
        <p:spPr>
          <a:xfrm rot="16200000">
            <a:off x="3451781" y="3894011"/>
            <a:ext cx="2742389" cy="36004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5005482" y="4575045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groups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8802" y="4349976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05482" y="4291782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OK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45049" y="4797968"/>
            <a:ext cx="1270484" cy="5101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EncryptedRandomSessionKey</a:t>
            </a:r>
            <a:endParaRPr lang="en-US" sz="1000" dirty="0"/>
          </a:p>
        </p:txBody>
      </p:sp>
      <p:sp>
        <p:nvSpPr>
          <p:cNvPr id="56" name="Rectangle 55"/>
          <p:cNvSpPr/>
          <p:nvPr/>
        </p:nvSpPr>
        <p:spPr>
          <a:xfrm>
            <a:off x="5005482" y="4863077"/>
            <a:ext cx="1270484" cy="5101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DencryptedRandomSessionKey</a:t>
            </a:r>
            <a:endParaRPr lang="en-US" sz="1000" dirty="0"/>
          </a:p>
        </p:txBody>
      </p:sp>
      <p:sp>
        <p:nvSpPr>
          <p:cNvPr id="57" name="Right Arrow 56"/>
          <p:cNvSpPr/>
          <p:nvPr/>
        </p:nvSpPr>
        <p:spPr>
          <a:xfrm>
            <a:off x="5027150" y="2548880"/>
            <a:ext cx="2713202" cy="29837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1403648" y="2538133"/>
            <a:ext cx="2808312" cy="29837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257173" y="2414805"/>
            <a:ext cx="1270484" cy="2880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99465" y="2414606"/>
            <a:ext cx="457708" cy="40314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54349" y="2702836"/>
            <a:ext cx="1270484" cy="5101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EncryptedRandomSessionKey</a:t>
            </a:r>
            <a:endParaRPr lang="en-US" sz="1000" dirty="0"/>
          </a:p>
        </p:txBody>
      </p:sp>
      <p:sp>
        <p:nvSpPr>
          <p:cNvPr id="3" name="TextBox 2"/>
          <p:cNvSpPr txBox="1"/>
          <p:nvPr/>
        </p:nvSpPr>
        <p:spPr>
          <a:xfrm>
            <a:off x="240949" y="3496239"/>
            <a:ext cx="21537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EncryptedRandomSessionKey</a:t>
            </a:r>
            <a:r>
              <a:rPr lang="en-US" dirty="0"/>
              <a:t> is encrypted by "response" authenticator but the response does include </a:t>
            </a:r>
            <a:r>
              <a:rPr lang="en-US" dirty="0">
                <a:solidFill>
                  <a:schemeClr val="accent1"/>
                </a:solidFill>
              </a:rPr>
              <a:t>server name</a:t>
            </a:r>
            <a:r>
              <a:rPr lang="en-US" dirty="0"/>
              <a:t> only with </a:t>
            </a:r>
            <a:r>
              <a:rPr lang="en-US" dirty="0">
                <a:solidFill>
                  <a:schemeClr val="accent1"/>
                </a:solidFill>
              </a:rPr>
              <a:t>NTLMv2</a:t>
            </a:r>
          </a:p>
        </p:txBody>
      </p:sp>
    </p:spTree>
    <p:extLst>
      <p:ext uri="{BB962C8B-B14F-4D97-AF65-F5344CB8AC3E}">
        <p14:creationId xmlns:p14="http://schemas.microsoft.com/office/powerpoint/2010/main" val="29995886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security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LM, NTLM</a:t>
            </a:r>
          </a:p>
          <a:p>
            <a:pPr lvl="1"/>
            <a:r>
              <a:rPr lang="en-US" dirty="0"/>
              <a:t>weak algorithms</a:t>
            </a:r>
          </a:p>
          <a:p>
            <a:pPr lvl="1"/>
            <a:r>
              <a:rPr lang="en-US" dirty="0"/>
              <a:t>weak protection against replay</a:t>
            </a:r>
          </a:p>
          <a:p>
            <a:pPr lvl="1"/>
            <a:r>
              <a:rPr lang="en-US" dirty="0"/>
              <a:t>no mutual authentication</a:t>
            </a:r>
          </a:p>
          <a:p>
            <a:r>
              <a:rPr lang="en-US" dirty="0"/>
              <a:t>NTLMv2 + NTLMv2 session security</a:t>
            </a:r>
          </a:p>
          <a:p>
            <a:pPr lvl="1"/>
            <a:r>
              <a:rPr lang="en-US" dirty="0"/>
              <a:t>better algorithms</a:t>
            </a:r>
          </a:p>
          <a:p>
            <a:pPr lvl="1"/>
            <a:r>
              <a:rPr lang="en-US" dirty="0"/>
              <a:t>good protections against replay</a:t>
            </a:r>
          </a:p>
          <a:p>
            <a:pPr lvl="1"/>
            <a:r>
              <a:rPr lang="en-US" dirty="0"/>
              <a:t>MITM must be domain member</a:t>
            </a:r>
          </a:p>
          <a:p>
            <a:r>
              <a:rPr lang="en-US" dirty="0"/>
              <a:t>We can always combine with TLS/</a:t>
            </a:r>
            <a:r>
              <a:rPr lang="en-US" dirty="0" err="1"/>
              <a:t>IPSec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938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Network security: Minimum session security for NTLM SSP based clients</a:t>
            </a:r>
            <a:endParaRPr lang="cs-CZ" sz="2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36" y="1196752"/>
            <a:ext cx="8046496" cy="5661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447927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compatibility level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version negotiation</a:t>
            </a:r>
          </a:p>
          <a:p>
            <a:r>
              <a:rPr lang="en-US" dirty="0"/>
              <a:t>Client is configured statically</a:t>
            </a:r>
          </a:p>
          <a:p>
            <a:pPr lvl="1"/>
            <a:r>
              <a:rPr lang="en-US" dirty="0"/>
              <a:t>Send LM &amp; NTLM response</a:t>
            </a:r>
          </a:p>
          <a:p>
            <a:pPr lvl="1"/>
            <a:r>
              <a:rPr lang="en-US" dirty="0"/>
              <a:t>Send NTLM response only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Send NTLMv2 response</a:t>
            </a:r>
          </a:p>
          <a:p>
            <a:r>
              <a:rPr lang="en-US" dirty="0"/>
              <a:t>Server can refuse older protocols</a:t>
            </a:r>
          </a:p>
          <a:p>
            <a:pPr lvl="1"/>
            <a:r>
              <a:rPr lang="en-US" dirty="0"/>
              <a:t>... refuse LM</a:t>
            </a:r>
          </a:p>
          <a:p>
            <a:pPr lvl="1"/>
            <a:r>
              <a:rPr lang="en-US" dirty="0"/>
              <a:t>... refuse LM &amp; NTLM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243474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LAN manager authentication level</a:t>
            </a:r>
            <a:endParaRPr lang="cs-C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34" y="1340768"/>
            <a:ext cx="8930332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6893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NTLM compatibility level is </a:t>
            </a:r>
            <a:r>
              <a:rPr lang="en-US" dirty="0">
                <a:solidFill>
                  <a:schemeClr val="accent1"/>
                </a:solidFill>
              </a:rPr>
              <a:t>client - DC </a:t>
            </a:r>
            <a:r>
              <a:rPr lang="en-US" dirty="0"/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5455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54552" y="4930824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8752" y="5476056"/>
            <a:ext cx="1442120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Active Directory</a:t>
            </a:r>
          </a:p>
        </p:txBody>
      </p:sp>
      <p:sp>
        <p:nvSpPr>
          <p:cNvPr id="3" name="Left-Right Arrow 2"/>
          <p:cNvSpPr/>
          <p:nvPr/>
        </p:nvSpPr>
        <p:spPr>
          <a:xfrm>
            <a:off x="2134072" y="1705980"/>
            <a:ext cx="4176464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-Right Arrow 24"/>
          <p:cNvSpPr/>
          <p:nvPr/>
        </p:nvSpPr>
        <p:spPr>
          <a:xfrm rot="16200000">
            <a:off x="6040531" y="3392295"/>
            <a:ext cx="1918506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115616" y="2520788"/>
            <a:ext cx="1584176" cy="362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Send LM</a:t>
            </a:r>
          </a:p>
        </p:txBody>
      </p:sp>
      <p:sp>
        <p:nvSpPr>
          <p:cNvPr id="19" name="Left-Right Arrow 18"/>
          <p:cNvSpPr/>
          <p:nvPr/>
        </p:nvSpPr>
        <p:spPr>
          <a:xfrm rot="13500000">
            <a:off x="5883747" y="2249809"/>
            <a:ext cx="1190042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5561708" y="2815949"/>
            <a:ext cx="1256965" cy="3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pass-through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1264" y="4853298"/>
            <a:ext cx="1707504" cy="362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... refuse LM &amp; NTLM</a:t>
            </a:r>
          </a:p>
        </p:txBody>
      </p:sp>
      <p:sp>
        <p:nvSpPr>
          <p:cNvPr id="8" name="Cross 7"/>
          <p:cNvSpPr/>
          <p:nvPr/>
        </p:nvSpPr>
        <p:spPr>
          <a:xfrm rot="18900000">
            <a:off x="6902062" y="4274422"/>
            <a:ext cx="720080" cy="720080"/>
          </a:xfrm>
          <a:prstGeom prst="plus">
            <a:avLst>
              <a:gd name="adj" fmla="val 40873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607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LM compatibility </a:t>
            </a:r>
            <a:r>
              <a:rPr lang="cs-CZ" sz="2400" dirty="0">
                <a:solidFill>
                  <a:schemeClr val="accent1"/>
                </a:solidFill>
              </a:rPr>
              <a:t>account logon </a:t>
            </a:r>
            <a:r>
              <a:rPr lang="cs-CZ" sz="2400" dirty="0"/>
              <a:t>failure on a DC</a:t>
            </a:r>
            <a:br>
              <a:rPr lang="cs-CZ" sz="2400" dirty="0"/>
            </a:br>
            <a:r>
              <a:rPr lang="cs-CZ" sz="2400" dirty="0"/>
              <a:t>0xC000006A = STATUS_WRONG_PASSWORD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1507821"/>
            <a:ext cx="6291618" cy="53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865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NTLM compatibility level is </a:t>
            </a:r>
            <a:r>
              <a:rPr lang="en-US" dirty="0">
                <a:solidFill>
                  <a:schemeClr val="accent1"/>
                </a:solidFill>
              </a:rPr>
              <a:t>client - DC </a:t>
            </a:r>
            <a:r>
              <a:rPr lang="en-US" dirty="0"/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5455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54552" y="4930824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8752" y="5476056"/>
            <a:ext cx="1442120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Active Directory</a:t>
            </a:r>
          </a:p>
        </p:txBody>
      </p:sp>
      <p:sp>
        <p:nvSpPr>
          <p:cNvPr id="3" name="Left-Right Arrow 2"/>
          <p:cNvSpPr/>
          <p:nvPr/>
        </p:nvSpPr>
        <p:spPr>
          <a:xfrm>
            <a:off x="2134072" y="1705980"/>
            <a:ext cx="4176464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-Right Arrow 24"/>
          <p:cNvSpPr/>
          <p:nvPr/>
        </p:nvSpPr>
        <p:spPr>
          <a:xfrm rot="16200000">
            <a:off x="6040531" y="3392295"/>
            <a:ext cx="1918506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115616" y="2520788"/>
            <a:ext cx="1584176" cy="36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Send NTLMv2</a:t>
            </a:r>
          </a:p>
        </p:txBody>
      </p:sp>
      <p:sp>
        <p:nvSpPr>
          <p:cNvPr id="19" name="Left-Right Arrow 18"/>
          <p:cNvSpPr/>
          <p:nvPr/>
        </p:nvSpPr>
        <p:spPr>
          <a:xfrm rot="13500000">
            <a:off x="5883747" y="2249809"/>
            <a:ext cx="1190042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5561708" y="2815949"/>
            <a:ext cx="1256965" cy="3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pass-through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1264" y="4853298"/>
            <a:ext cx="1707504" cy="36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... refuse LM &amp; NTLM</a:t>
            </a:r>
          </a:p>
        </p:txBody>
      </p:sp>
      <p:sp>
        <p:nvSpPr>
          <p:cNvPr id="9" name="Smiley Face 8"/>
          <p:cNvSpPr/>
          <p:nvPr/>
        </p:nvSpPr>
        <p:spPr>
          <a:xfrm>
            <a:off x="7071792" y="4243989"/>
            <a:ext cx="648072" cy="648072"/>
          </a:xfrm>
          <a:prstGeom prst="smileyFac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73435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2400" dirty="0">
                <a:solidFill>
                  <a:schemeClr val="accent1"/>
                </a:solidFill>
              </a:rPr>
              <a:t>Most secure </a:t>
            </a:r>
            <a:r>
              <a:rPr lang="cs-CZ" sz="2400" dirty="0"/>
              <a:t>NTLMv2 and NTLMv2 128bit session security settings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44" y="1340768"/>
            <a:ext cx="7536256" cy="553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222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NTLM reflection (loopback) attack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solidFill>
                  <a:schemeClr val="accent1"/>
                </a:solidFill>
              </a:rPr>
              <a:t>LM</a:t>
            </a:r>
            <a:r>
              <a:rPr lang="cs-CZ" dirty="0"/>
              <a:t>/</a:t>
            </a:r>
            <a:r>
              <a:rPr lang="cs-CZ" dirty="0">
                <a:solidFill>
                  <a:schemeClr val="accent1"/>
                </a:solidFill>
              </a:rPr>
              <a:t>NTLM</a:t>
            </a:r>
            <a:r>
              <a:rPr lang="cs-CZ" dirty="0"/>
              <a:t>/</a:t>
            </a:r>
            <a:r>
              <a:rPr lang="cs-CZ" dirty="0">
                <a:solidFill>
                  <a:schemeClr val="accent1"/>
                </a:solidFill>
              </a:rPr>
              <a:t>NTLMv2</a:t>
            </a:r>
            <a:r>
              <a:rPr lang="cs-CZ" dirty="0"/>
              <a:t> has no mutual client/server authentiation capabilities</a:t>
            </a:r>
          </a:p>
          <a:p>
            <a:pPr lvl="1"/>
            <a:r>
              <a:rPr lang="cs-CZ" dirty="0"/>
              <a:t>except for NTLMv2 session security (SASL signature/encryption)</a:t>
            </a:r>
            <a:r>
              <a:rPr lang="en-US" dirty="0"/>
              <a:t> connections</a:t>
            </a:r>
            <a:endParaRPr lang="cs-CZ" dirty="0"/>
          </a:p>
          <a:p>
            <a:r>
              <a:rPr lang="cs-CZ" dirty="0">
                <a:solidFill>
                  <a:schemeClr val="accent1"/>
                </a:solidFill>
              </a:rPr>
              <a:t>social engineering</a:t>
            </a:r>
            <a:r>
              <a:rPr lang="cs-CZ" dirty="0"/>
              <a:t> or </a:t>
            </a:r>
            <a:r>
              <a:rPr lang="cs-CZ" dirty="0">
                <a:solidFill>
                  <a:schemeClr val="accent1"/>
                </a:solidFill>
              </a:rPr>
              <a:t>cross-site-scripting</a:t>
            </a:r>
            <a:r>
              <a:rPr lang="cs-CZ" dirty="0"/>
              <a:t> initiation</a:t>
            </a:r>
            <a:endParaRPr lang="en-US" dirty="0"/>
          </a:p>
          <a:p>
            <a:r>
              <a:rPr lang="en-US" dirty="0"/>
              <a:t>relatively limited attack surface</a:t>
            </a:r>
          </a:p>
          <a:p>
            <a:pPr lvl="1"/>
            <a:r>
              <a:rPr lang="en-US" dirty="0"/>
              <a:t>victim is </a:t>
            </a:r>
            <a:r>
              <a:rPr lang="en-US" dirty="0">
                <a:solidFill>
                  <a:schemeClr val="accent4"/>
                </a:solidFill>
              </a:rPr>
              <a:t>local Administrators </a:t>
            </a:r>
            <a:r>
              <a:rPr lang="en-US" dirty="0"/>
              <a:t>member on its workstation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no firewall </a:t>
            </a:r>
            <a:r>
              <a:rPr lang="en-US" dirty="0"/>
              <a:t>on the workstation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no SASL session security required </a:t>
            </a:r>
            <a:r>
              <a:rPr lang="en-US" dirty="0"/>
              <a:t>on some connection to the workstation</a:t>
            </a:r>
          </a:p>
          <a:p>
            <a:pPr lvl="1"/>
            <a:r>
              <a:rPr lang="en-US" dirty="0"/>
              <a:t>attacker must have </a:t>
            </a:r>
            <a:r>
              <a:rPr lang="en-US" dirty="0">
                <a:solidFill>
                  <a:schemeClr val="accent4"/>
                </a:solidFill>
              </a:rPr>
              <a:t>direct local access </a:t>
            </a:r>
            <a:r>
              <a:rPr lang="en-US" dirty="0"/>
              <a:t>to the victim</a:t>
            </a:r>
            <a:endParaRPr lang="cs-CZ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9457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NTLM reflection (loopback) attack</a:t>
            </a:r>
            <a:r>
              <a:rPr lang="en-US" dirty="0"/>
              <a:t> #1</a:t>
            </a:r>
          </a:p>
        </p:txBody>
      </p:sp>
      <p:sp>
        <p:nvSpPr>
          <p:cNvPr id="5" name="Rectangle 4"/>
          <p:cNvSpPr/>
          <p:nvPr/>
        </p:nvSpPr>
        <p:spPr>
          <a:xfrm>
            <a:off x="611560" y="2266528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victim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948264" y="2266528"/>
            <a:ext cx="1234480" cy="12344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attacker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 rot="10800000">
            <a:off x="2092896" y="2703748"/>
            <a:ext cx="4608512" cy="360040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059832" y="2122512"/>
            <a:ext cx="2808312" cy="7612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click here</a:t>
            </a:r>
            <a:r>
              <a:rPr lang="cs-CZ" sz="1400" dirty="0"/>
              <a:t>, I have beautiful photos </a:t>
            </a:r>
            <a:r>
              <a:rPr lang="en-US" sz="1400" dirty="0"/>
              <a:t>you must take a look 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59832" y="2883769"/>
            <a:ext cx="2808312" cy="7612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\\attacker\photos</a:t>
            </a:r>
          </a:p>
          <a:p>
            <a:pPr algn="ctr"/>
            <a:r>
              <a:rPr lang="en-US" sz="1400" dirty="0"/>
              <a:t>http://attacker/photos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236" y="3410998"/>
            <a:ext cx="1076908" cy="4732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gps</a:t>
            </a:r>
            <a:r>
              <a:rPr lang="en-US" sz="1400" dirty="0"/>
              <a:t>\</a:t>
            </a:r>
            <a:r>
              <a:rPr lang="en-US" sz="1400" dirty="0" err="1"/>
              <a:t>kamil</a:t>
            </a:r>
            <a:endParaRPr lang="en-US" sz="1400" dirty="0"/>
          </a:p>
        </p:txBody>
      </p:sp>
      <p:sp>
        <p:nvSpPr>
          <p:cNvPr id="11" name="Rectangle 10"/>
          <p:cNvSpPr/>
          <p:nvPr/>
        </p:nvSpPr>
        <p:spPr>
          <a:xfrm>
            <a:off x="1016236" y="3884222"/>
            <a:ext cx="1076908" cy="4732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Administrators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128" y="4357446"/>
            <a:ext cx="1076908" cy="4732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PWD#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192" y="1939906"/>
            <a:ext cx="1705968" cy="4732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\\attacker\photos</a:t>
            </a:r>
          </a:p>
        </p:txBody>
      </p:sp>
    </p:spTree>
    <p:extLst>
      <p:ext uri="{BB962C8B-B14F-4D97-AF65-F5344CB8AC3E}">
        <p14:creationId xmlns:p14="http://schemas.microsoft.com/office/powerpoint/2010/main" val="3968699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ight Arrow 22"/>
          <p:cNvSpPr/>
          <p:nvPr/>
        </p:nvSpPr>
        <p:spPr>
          <a:xfrm rot="10800000">
            <a:off x="2874639" y="5097146"/>
            <a:ext cx="4608512" cy="3600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NTLM reflection (loopback) attack</a:t>
            </a:r>
            <a:r>
              <a:rPr lang="en-US" dirty="0"/>
              <a:t> #2</a:t>
            </a:r>
          </a:p>
        </p:txBody>
      </p:sp>
      <p:sp>
        <p:nvSpPr>
          <p:cNvPr id="5" name="Rectangle 4"/>
          <p:cNvSpPr/>
          <p:nvPr/>
        </p:nvSpPr>
        <p:spPr>
          <a:xfrm>
            <a:off x="971600" y="1546448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victim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308304" y="1546448"/>
            <a:ext cx="1234480" cy="12344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attacker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2452936" y="1983668"/>
            <a:ext cx="4608512" cy="360040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53036" y="1690464"/>
            <a:ext cx="2808312" cy="4732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want access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0080" y="2564904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victim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526784" y="2564904"/>
            <a:ext cx="1234480" cy="12344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attacker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 rot="10800000">
            <a:off x="2671416" y="3002124"/>
            <a:ext cx="4608512" cy="360040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571516" y="2708920"/>
            <a:ext cx="2808312" cy="4732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only NTLM possible with 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3304" y="3562672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victim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730008" y="3562672"/>
            <a:ext cx="1234480" cy="12344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attacker</a:t>
            </a:r>
            <a:endParaRPr lang="en-US" dirty="0"/>
          </a:p>
        </p:txBody>
      </p:sp>
      <p:sp>
        <p:nvSpPr>
          <p:cNvPr id="16" name="Right Arrow 15"/>
          <p:cNvSpPr/>
          <p:nvPr/>
        </p:nvSpPr>
        <p:spPr>
          <a:xfrm>
            <a:off x="2874640" y="3999892"/>
            <a:ext cx="4608512" cy="360040"/>
          </a:xfrm>
          <a:prstGeom prst="right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774740" y="3706688"/>
            <a:ext cx="2808312" cy="4732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ok, NTLM NEGOTIATE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93304" y="5028244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victim</a:t>
            </a:r>
            <a:endParaRPr lang="en-US" dirty="0"/>
          </a:p>
        </p:txBody>
      </p:sp>
      <p:sp>
        <p:nvSpPr>
          <p:cNvPr id="3" name="Curved Left Arrow 2"/>
          <p:cNvSpPr/>
          <p:nvPr/>
        </p:nvSpPr>
        <p:spPr>
          <a:xfrm>
            <a:off x="7561312" y="4282752"/>
            <a:ext cx="727708" cy="1296144"/>
          </a:xfrm>
          <a:prstGeom prst="curvedLef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72472" y="4088184"/>
            <a:ext cx="1076908" cy="4732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gps</a:t>
            </a:r>
            <a:r>
              <a:rPr lang="en-US" sz="1400" dirty="0"/>
              <a:t>\</a:t>
            </a:r>
            <a:r>
              <a:rPr lang="en-US" sz="1400" dirty="0" err="1"/>
              <a:t>kamil</a:t>
            </a:r>
            <a:endParaRPr lang="en-US" sz="1400" dirty="0"/>
          </a:p>
        </p:txBody>
      </p:sp>
      <p:sp>
        <p:nvSpPr>
          <p:cNvPr id="20" name="Right Arrow 19"/>
          <p:cNvSpPr/>
          <p:nvPr/>
        </p:nvSpPr>
        <p:spPr>
          <a:xfrm rot="10800000">
            <a:off x="2874640" y="5603788"/>
            <a:ext cx="4608512" cy="3600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5372472" y="5692080"/>
            <a:ext cx="1076908" cy="4732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gps</a:t>
            </a:r>
            <a:r>
              <a:rPr lang="en-US" sz="1400" dirty="0"/>
              <a:t>\</a:t>
            </a:r>
            <a:r>
              <a:rPr lang="en-US" sz="1400" dirty="0" err="1"/>
              <a:t>kamil</a:t>
            </a:r>
            <a:endParaRPr lang="en-US" sz="1400" dirty="0"/>
          </a:p>
        </p:txBody>
      </p:sp>
      <p:sp>
        <p:nvSpPr>
          <p:cNvPr id="24" name="Rectangle 23"/>
          <p:cNvSpPr/>
          <p:nvPr/>
        </p:nvSpPr>
        <p:spPr>
          <a:xfrm>
            <a:off x="3501864" y="4907285"/>
            <a:ext cx="3662423" cy="4732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5"/>
                </a:solidFill>
              </a:rPr>
              <a:t>some</a:t>
            </a:r>
            <a:r>
              <a:rPr lang="en-US" sz="1200" dirty="0"/>
              <a:t> NTLM connection (SMB, SQL, HTTP, WMI)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052" y="1236536"/>
            <a:ext cx="1705968" cy="4732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\\attacker\photos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5564" y="4088184"/>
            <a:ext cx="1076908" cy="4732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\\attacker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1006" y="5685987"/>
            <a:ext cx="1076908" cy="4732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\\attacker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74740" y="5310584"/>
            <a:ext cx="2808312" cy="4732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ok, NTLM NEGOTIATE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800" y="3002124"/>
            <a:ext cx="1076908" cy="4732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gps</a:t>
            </a:r>
            <a:r>
              <a:rPr lang="en-US" sz="1400" dirty="0"/>
              <a:t>\</a:t>
            </a:r>
            <a:r>
              <a:rPr lang="en-US" sz="1400" dirty="0" err="1"/>
              <a:t>kamil</a:t>
            </a:r>
            <a:endParaRPr lang="en-US" sz="1400" dirty="0"/>
          </a:p>
        </p:txBody>
      </p:sp>
      <p:sp>
        <p:nvSpPr>
          <p:cNvPr id="29" name="Rectangle 28"/>
          <p:cNvSpPr/>
          <p:nvPr/>
        </p:nvSpPr>
        <p:spPr>
          <a:xfrm>
            <a:off x="235800" y="3475348"/>
            <a:ext cx="1076908" cy="4732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Administrators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800" y="3948572"/>
            <a:ext cx="1076908" cy="4732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PWD#</a:t>
            </a:r>
          </a:p>
        </p:txBody>
      </p:sp>
    </p:spTree>
    <p:extLst>
      <p:ext uri="{BB962C8B-B14F-4D97-AF65-F5344CB8AC3E}">
        <p14:creationId xmlns:p14="http://schemas.microsoft.com/office/powerpoint/2010/main" val="36717172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NTLM reflection (loopback) attack</a:t>
            </a:r>
            <a:r>
              <a:rPr lang="en-US" dirty="0"/>
              <a:t> #3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2894" y="1700808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victim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441976" y="1340768"/>
            <a:ext cx="1234480" cy="12344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attacker</a:t>
            </a:r>
            <a:endParaRPr lang="en-US" dirty="0"/>
          </a:p>
        </p:txBody>
      </p:sp>
      <p:sp>
        <p:nvSpPr>
          <p:cNvPr id="3" name="Curved Left Arrow 2"/>
          <p:cNvSpPr/>
          <p:nvPr/>
        </p:nvSpPr>
        <p:spPr>
          <a:xfrm rot="10800000" flipH="1">
            <a:off x="7273280" y="1772816"/>
            <a:ext cx="727708" cy="1296144"/>
          </a:xfrm>
          <a:prstGeom prst="curvedLef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2586608" y="2714092"/>
            <a:ext cx="4608512" cy="3600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486708" y="2420888"/>
            <a:ext cx="2808312" cy="4732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random # challenge</a:t>
            </a:r>
          </a:p>
        </p:txBody>
      </p:sp>
      <p:sp>
        <p:nvSpPr>
          <p:cNvPr id="23" name="Right Arrow 22"/>
          <p:cNvSpPr/>
          <p:nvPr/>
        </p:nvSpPr>
        <p:spPr>
          <a:xfrm rot="10800000">
            <a:off x="2580419" y="1783160"/>
            <a:ext cx="4608512" cy="3600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480519" y="1489956"/>
            <a:ext cx="2808312" cy="4732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random # challenge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2219" y="2657500"/>
            <a:ext cx="1096293" cy="7104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generated challenge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2894" y="4473822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victim</a:t>
            </a:r>
            <a:endParaRPr lang="en-US" dirty="0"/>
          </a:p>
        </p:txBody>
      </p:sp>
      <p:sp>
        <p:nvSpPr>
          <p:cNvPr id="27" name="Rectangle 26"/>
          <p:cNvSpPr/>
          <p:nvPr/>
        </p:nvSpPr>
        <p:spPr>
          <a:xfrm>
            <a:off x="7441976" y="3938090"/>
            <a:ext cx="1234480" cy="12344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dirty="0"/>
              <a:t>attacker</a:t>
            </a:r>
            <a:endParaRPr lang="en-US" dirty="0"/>
          </a:p>
        </p:txBody>
      </p:sp>
      <p:sp>
        <p:nvSpPr>
          <p:cNvPr id="28" name="Curved Left Arrow 27"/>
          <p:cNvSpPr/>
          <p:nvPr/>
        </p:nvSpPr>
        <p:spPr>
          <a:xfrm>
            <a:off x="7273280" y="4370138"/>
            <a:ext cx="727708" cy="1296144"/>
          </a:xfrm>
          <a:prstGeom prst="curvedLef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ight Arrow 28"/>
          <p:cNvSpPr/>
          <p:nvPr/>
        </p:nvSpPr>
        <p:spPr>
          <a:xfrm rot="10800000">
            <a:off x="2555777" y="5373215"/>
            <a:ext cx="4608512" cy="3600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>
            <a:off x="2580419" y="4380482"/>
            <a:ext cx="4608512" cy="36004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480519" y="4087278"/>
            <a:ext cx="2808312" cy="4732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NTLMv2 HMAC-MD5 response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3460" y="4200113"/>
            <a:ext cx="1096293" cy="71043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generate response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0519" y="5090218"/>
            <a:ext cx="2808312" cy="4732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NTLMv2 HMAC-MD5 response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1894" y="3726889"/>
            <a:ext cx="1076908" cy="4732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gps</a:t>
            </a:r>
            <a:r>
              <a:rPr lang="en-US" sz="1400" dirty="0"/>
              <a:t>\</a:t>
            </a:r>
            <a:r>
              <a:rPr lang="en-US" sz="1400" dirty="0" err="1"/>
              <a:t>kamil</a:t>
            </a:r>
            <a:endParaRPr lang="en-US" sz="1400" dirty="0"/>
          </a:p>
        </p:txBody>
      </p:sp>
      <p:sp>
        <p:nvSpPr>
          <p:cNvPr id="37" name="Rectangle 36"/>
          <p:cNvSpPr/>
          <p:nvPr/>
        </p:nvSpPr>
        <p:spPr>
          <a:xfrm>
            <a:off x="211894" y="4200113"/>
            <a:ext cx="1076908" cy="4732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Administrators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1894" y="4673337"/>
            <a:ext cx="1076908" cy="47322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PWD#</a:t>
            </a:r>
          </a:p>
        </p:txBody>
      </p:sp>
      <p:sp>
        <p:nvSpPr>
          <p:cNvPr id="39" name="Curved Left Arrow 38"/>
          <p:cNvSpPr/>
          <p:nvPr/>
        </p:nvSpPr>
        <p:spPr>
          <a:xfrm flipH="1">
            <a:off x="1684052" y="5445224"/>
            <a:ext cx="727708" cy="1080120"/>
          </a:xfrm>
          <a:prstGeom prst="curvedLef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1" name="Right Arrow 40"/>
          <p:cNvSpPr/>
          <p:nvPr/>
        </p:nvSpPr>
        <p:spPr>
          <a:xfrm>
            <a:off x="2555777" y="6165304"/>
            <a:ext cx="4608512" cy="36004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5011203" y="4501238"/>
            <a:ext cx="1076908" cy="4732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gps</a:t>
            </a:r>
            <a:r>
              <a:rPr lang="en-US" sz="1400" dirty="0"/>
              <a:t>\</a:t>
            </a:r>
            <a:r>
              <a:rPr lang="en-US" sz="1400" dirty="0" err="1"/>
              <a:t>kamil</a:t>
            </a:r>
            <a:endParaRPr lang="en-US" sz="1400" dirty="0"/>
          </a:p>
        </p:txBody>
      </p:sp>
      <p:sp>
        <p:nvSpPr>
          <p:cNvPr id="44" name="Rectangle 43"/>
          <p:cNvSpPr/>
          <p:nvPr/>
        </p:nvSpPr>
        <p:spPr>
          <a:xfrm>
            <a:off x="3934295" y="4507240"/>
            <a:ext cx="1076908" cy="4732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\\attacker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11203" y="5490642"/>
            <a:ext cx="1076908" cy="4732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gps</a:t>
            </a:r>
            <a:r>
              <a:rPr lang="en-US" sz="1400" dirty="0"/>
              <a:t>\</a:t>
            </a:r>
            <a:r>
              <a:rPr lang="en-US" sz="1400" dirty="0" err="1"/>
              <a:t>kamil</a:t>
            </a:r>
            <a:endParaRPr lang="en-US" sz="1400" dirty="0"/>
          </a:p>
        </p:txBody>
      </p:sp>
      <p:sp>
        <p:nvSpPr>
          <p:cNvPr id="46" name="Rectangle 45"/>
          <p:cNvSpPr/>
          <p:nvPr/>
        </p:nvSpPr>
        <p:spPr>
          <a:xfrm>
            <a:off x="3934295" y="5496644"/>
            <a:ext cx="1076908" cy="4732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\\attacker</a:t>
            </a:r>
          </a:p>
        </p:txBody>
      </p:sp>
    </p:spTree>
    <p:extLst>
      <p:ext uri="{BB962C8B-B14F-4D97-AF65-F5344CB8AC3E}">
        <p14:creationId xmlns:p14="http://schemas.microsoft.com/office/powerpoint/2010/main" val="7925729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Loopback Check</a:t>
            </a:r>
            <a:endParaRPr lang="cs-C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Loopback access with </a:t>
            </a:r>
            <a:r>
              <a:rPr lang="en-US" dirty="0">
                <a:solidFill>
                  <a:schemeClr val="accent1"/>
                </a:solidFill>
              </a:rPr>
              <a:t>NTLM </a:t>
            </a:r>
            <a:r>
              <a:rPr lang="en-US" dirty="0"/>
              <a:t>on </a:t>
            </a:r>
            <a:r>
              <a:rPr lang="en-US" dirty="0">
                <a:solidFill>
                  <a:schemeClr val="accent1"/>
                </a:solidFill>
              </a:rPr>
              <a:t>alias</a:t>
            </a:r>
          </a:p>
          <a:p>
            <a:pPr lvl="1"/>
            <a:r>
              <a:rPr lang="en-US" dirty="0"/>
              <a:t>LSASS has the same NTLM token with different server name in cache</a:t>
            </a:r>
          </a:p>
          <a:p>
            <a:r>
              <a:rPr lang="en-US" dirty="0"/>
              <a:t>HKLM\System\CCS\Control\LSA\MSV1_0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BackConnectionHostNames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= MULTI_SZ</a:t>
            </a:r>
          </a:p>
          <a:p>
            <a:pPr lvl="1"/>
            <a:r>
              <a:rPr lang="en-US" dirty="0"/>
              <a:t>always type both short and FQDN</a:t>
            </a:r>
          </a:p>
          <a:p>
            <a:r>
              <a:rPr lang="en-US" dirty="0"/>
              <a:t>HKLM\System\CCS\Control\LSA</a:t>
            </a:r>
          </a:p>
          <a:p>
            <a:pPr lvl="1"/>
            <a:r>
              <a:rPr lang="en-US" dirty="0" err="1">
                <a:solidFill>
                  <a:schemeClr val="accent1"/>
                </a:solidFill>
              </a:rPr>
              <a:t>DisableLoopbackCheck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= DWORD = 1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do not do this!</a:t>
            </a:r>
            <a:endParaRPr lang="cs-CZ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9272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188" y="2775893"/>
            <a:ext cx="6032818" cy="3657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Loopback Check and </a:t>
            </a:r>
            <a:r>
              <a:rPr lang="cs-CZ" sz="2400" dirty="0">
                <a:solidFill>
                  <a:schemeClr val="accent1"/>
                </a:solidFill>
              </a:rPr>
              <a:t>logon</a:t>
            </a:r>
            <a:r>
              <a:rPr lang="cs-CZ" sz="2400" dirty="0"/>
              <a:t> </a:t>
            </a:r>
            <a:r>
              <a:rPr lang="en-US" sz="2400" dirty="0"/>
              <a:t>audit failure</a:t>
            </a:r>
            <a:br>
              <a:rPr lang="cs-CZ" sz="2400" dirty="0"/>
            </a:br>
            <a:r>
              <a:rPr lang="en-US" sz="2400" dirty="0"/>
              <a:t>S</a:t>
            </a:r>
            <a:r>
              <a:rPr lang="cs-CZ" sz="2400" dirty="0"/>
              <a:t>ub</a:t>
            </a:r>
            <a:r>
              <a:rPr lang="en-US" sz="2400" dirty="0"/>
              <a:t> S</a:t>
            </a:r>
            <a:r>
              <a:rPr lang="cs-CZ" sz="2400" dirty="0"/>
              <a:t>tatus = 0</a:t>
            </a:r>
            <a:r>
              <a:rPr lang="en-US" sz="2400" dirty="0"/>
              <a:t> and Status = 0xC000006D</a:t>
            </a:r>
            <a:endParaRPr lang="cs-CZ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5165" y="1273749"/>
            <a:ext cx="6008355" cy="5398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698811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computer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223224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netdom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computername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localhost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add:canteen.gopas.virtual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:gps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\domain-admin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passwor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dD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:Pa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$$w0rd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861048"/>
            <a:ext cx="8229600" cy="2232248"/>
          </a:xfrm>
          <a:prstGeom prst="rect">
            <a:avLst/>
          </a:prstGeom>
        </p:spPr>
        <p:txBody>
          <a:bodyPr vert="horz" lIns="0" tIns="0" rIns="0" bIns="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itchFamily="2" charset="2"/>
              <a:buChar char="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90000"/>
              <a:buFont typeface="Wingdings" pitchFamily="2" charset="2"/>
              <a:buChar char="§"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ourier New" panose="02070309020205020404" pitchFamily="49" charset="0"/>
              </a:rPr>
              <a:t>Solves automatically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NTLM loopback-check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DNS A record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msDS-AdditionalDnsHostName</a:t>
            </a:r>
            <a:endParaRPr lang="en-US" dirty="0"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Kerberos SPNs</a:t>
            </a:r>
          </a:p>
          <a:p>
            <a:pPr lvl="1"/>
            <a:r>
              <a:rPr lang="en-US" dirty="0" err="1">
                <a:cs typeface="Courier New" panose="02070309020205020404" pitchFamily="49" charset="0"/>
              </a:rPr>
              <a:t>DisableLoopbackCheck</a:t>
            </a:r>
            <a:r>
              <a:rPr lang="en-US" dirty="0">
                <a:cs typeface="Courier New" panose="02070309020205020404" pitchFamily="49" charset="0"/>
              </a:rPr>
              <a:t> for SMBv1</a:t>
            </a:r>
          </a:p>
        </p:txBody>
      </p:sp>
    </p:spTree>
    <p:extLst>
      <p:ext uri="{BB962C8B-B14F-4D97-AF65-F5344CB8AC3E}">
        <p14:creationId xmlns:p14="http://schemas.microsoft.com/office/powerpoint/2010/main" val="40596077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NTLM pass-the-hash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40768"/>
            <a:ext cx="8208912" cy="34861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" y="5079454"/>
            <a:ext cx="9062171" cy="122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932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Disab</a:t>
            </a:r>
            <a:r>
              <a:rPr lang="cs-CZ" dirty="0"/>
              <a:t>l</a:t>
            </a:r>
            <a:r>
              <a:rPr lang="en-US" dirty="0" err="1"/>
              <a:t>ing</a:t>
            </a:r>
            <a:r>
              <a:rPr lang="en-US" dirty="0"/>
              <a:t>/</a:t>
            </a:r>
            <a:r>
              <a:rPr lang="en-US" dirty="0">
                <a:solidFill>
                  <a:schemeClr val="accent1"/>
                </a:solidFill>
              </a:rPr>
              <a:t>auditing</a:t>
            </a:r>
            <a:r>
              <a:rPr lang="en-US" dirty="0"/>
              <a:t> NTLM (since 7/2008R2)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Network Security: Restrict NTLM: Outgoing NTLM traffic to remote servers</a:t>
            </a:r>
          </a:p>
          <a:p>
            <a:pPr lvl="1"/>
            <a:r>
              <a:rPr lang="en-US" sz="1400" dirty="0"/>
              <a:t>on the </a:t>
            </a:r>
            <a:r>
              <a:rPr lang="en-US" sz="1400" dirty="0">
                <a:solidFill>
                  <a:schemeClr val="accent1"/>
                </a:solidFill>
              </a:rPr>
              <a:t>clients </a:t>
            </a:r>
            <a:r>
              <a:rPr lang="en-US" sz="1400" dirty="0"/>
              <a:t>from which the connection starts</a:t>
            </a:r>
          </a:p>
          <a:p>
            <a:r>
              <a:rPr lang="en-US" sz="1800" dirty="0"/>
              <a:t>Network Security: Restrict NTLM: Audit incoming NTLM traffic</a:t>
            </a:r>
          </a:p>
          <a:p>
            <a:pPr lvl="1"/>
            <a:r>
              <a:rPr lang="en-US" sz="1400" dirty="0"/>
              <a:t>on the </a:t>
            </a:r>
            <a:r>
              <a:rPr lang="en-US" sz="1400" dirty="0">
                <a:solidFill>
                  <a:schemeClr val="accent1"/>
                </a:solidFill>
              </a:rPr>
              <a:t>resource server</a:t>
            </a:r>
          </a:p>
          <a:p>
            <a:r>
              <a:rPr lang="en-US" sz="1800" dirty="0"/>
              <a:t>Network Security: Restrict NTLM: Audit NTLM authentication in this domain</a:t>
            </a:r>
          </a:p>
          <a:p>
            <a:pPr lvl="1"/>
            <a:r>
              <a:rPr lang="en-US" sz="1400" dirty="0"/>
              <a:t>on the </a:t>
            </a:r>
            <a:r>
              <a:rPr lang="en-US" sz="1400" dirty="0">
                <a:solidFill>
                  <a:schemeClr val="accent1"/>
                </a:solidFill>
              </a:rPr>
              <a:t>DC </a:t>
            </a:r>
            <a:r>
              <a:rPr lang="en-US" sz="1400" dirty="0"/>
              <a:t>or resource server in case of local accounts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54" y="3545632"/>
            <a:ext cx="8985046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8832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Disab</a:t>
            </a:r>
            <a:r>
              <a:rPr lang="cs-CZ" dirty="0">
                <a:solidFill>
                  <a:schemeClr val="accent1"/>
                </a:solidFill>
              </a:rPr>
              <a:t>l</a:t>
            </a:r>
            <a:r>
              <a:rPr lang="en-US" dirty="0" err="1">
                <a:solidFill>
                  <a:schemeClr val="accent1"/>
                </a:solidFill>
              </a:rPr>
              <a:t>ing</a:t>
            </a:r>
            <a:r>
              <a:rPr lang="en-US" dirty="0"/>
              <a:t>/auditing NTLM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Network Security: Restrict NTLM: Outgoing NTLM traffic to remote servers</a:t>
            </a:r>
          </a:p>
          <a:p>
            <a:pPr lvl="1"/>
            <a:r>
              <a:rPr lang="en-US" sz="1400" dirty="0"/>
              <a:t>on the </a:t>
            </a:r>
            <a:r>
              <a:rPr lang="en-US" sz="1400" dirty="0">
                <a:solidFill>
                  <a:schemeClr val="accent1"/>
                </a:solidFill>
              </a:rPr>
              <a:t>clients </a:t>
            </a:r>
            <a:r>
              <a:rPr lang="en-US" sz="1400" dirty="0"/>
              <a:t>from which the connection starts</a:t>
            </a:r>
          </a:p>
          <a:p>
            <a:r>
              <a:rPr lang="en-US" sz="1800" dirty="0"/>
              <a:t>Network Security: Restrict NTLM: Incoming NTLM traffic</a:t>
            </a:r>
          </a:p>
          <a:p>
            <a:pPr lvl="1"/>
            <a:r>
              <a:rPr lang="en-US" sz="1400" dirty="0"/>
              <a:t>on the </a:t>
            </a:r>
            <a:r>
              <a:rPr lang="en-US" sz="1400" dirty="0">
                <a:solidFill>
                  <a:schemeClr val="accent1"/>
                </a:solidFill>
              </a:rPr>
              <a:t>resource server</a:t>
            </a:r>
          </a:p>
          <a:p>
            <a:r>
              <a:rPr lang="en-US" sz="1800" dirty="0"/>
              <a:t>Network Security: Restrict NTLM: NTLM authentication in this domain</a:t>
            </a:r>
          </a:p>
          <a:p>
            <a:pPr lvl="1"/>
            <a:r>
              <a:rPr lang="en-US" sz="1400" dirty="0"/>
              <a:t>on the </a:t>
            </a:r>
            <a:r>
              <a:rPr lang="en-US" sz="1400" dirty="0">
                <a:solidFill>
                  <a:schemeClr val="accent1"/>
                </a:solidFill>
              </a:rPr>
              <a:t>DCs</a:t>
            </a:r>
            <a:r>
              <a:rPr lang="en-US" sz="1400" dirty="0"/>
              <a:t> or resource servers in case of local accounts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2" y="3933057"/>
            <a:ext cx="8948174" cy="291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5272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NTLM auditing or disabling (domain accounts)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5455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54552" y="4930824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DC</a:t>
            </a:r>
          </a:p>
        </p:txBody>
      </p:sp>
      <p:sp>
        <p:nvSpPr>
          <p:cNvPr id="7" name="Rectangle 6"/>
          <p:cNvSpPr/>
          <p:nvPr/>
        </p:nvSpPr>
        <p:spPr>
          <a:xfrm>
            <a:off x="5168752" y="5476056"/>
            <a:ext cx="1442120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Active Directory</a:t>
            </a:r>
          </a:p>
        </p:txBody>
      </p:sp>
      <p:sp>
        <p:nvSpPr>
          <p:cNvPr id="25" name="Left-Right Arrow 24"/>
          <p:cNvSpPr/>
          <p:nvPr/>
        </p:nvSpPr>
        <p:spPr>
          <a:xfrm rot="16200000">
            <a:off x="6040531" y="3392295"/>
            <a:ext cx="1918506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-Right Arrow 18"/>
          <p:cNvSpPr/>
          <p:nvPr/>
        </p:nvSpPr>
        <p:spPr>
          <a:xfrm rot="13500000">
            <a:off x="5883747" y="2249809"/>
            <a:ext cx="1190042" cy="79208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5561708" y="2815949"/>
            <a:ext cx="1256965" cy="3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pass-through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7738876-F686-F329-2AA1-FCF378977C68}"/>
              </a:ext>
            </a:extLst>
          </p:cNvPr>
          <p:cNvSpPr/>
          <p:nvPr/>
        </p:nvSpPr>
        <p:spPr>
          <a:xfrm>
            <a:off x="2386471" y="1704312"/>
            <a:ext cx="3924065" cy="78296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841238" y="2148144"/>
            <a:ext cx="1090465" cy="36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outgoing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4F357F-A306-86D5-61C7-9850E4BEC80C}"/>
              </a:ext>
            </a:extLst>
          </p:cNvPr>
          <p:cNvSpPr/>
          <p:nvPr/>
        </p:nvSpPr>
        <p:spPr>
          <a:xfrm>
            <a:off x="5723181" y="1444061"/>
            <a:ext cx="1090465" cy="36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incoming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0D27F9-6E06-678A-CD46-A8758672D3C1}"/>
              </a:ext>
            </a:extLst>
          </p:cNvPr>
          <p:cNvSpPr/>
          <p:nvPr/>
        </p:nvSpPr>
        <p:spPr>
          <a:xfrm>
            <a:off x="7183956" y="4735352"/>
            <a:ext cx="1401578" cy="36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 this domain</a:t>
            </a:r>
          </a:p>
        </p:txBody>
      </p:sp>
    </p:spTree>
    <p:extLst>
      <p:ext uri="{BB962C8B-B14F-4D97-AF65-F5344CB8AC3E}">
        <p14:creationId xmlns:p14="http://schemas.microsoft.com/office/powerpoint/2010/main" val="36814158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NTLM auditing or disabling (local accounts)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89959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54552" y="1556792"/>
            <a:ext cx="1090464" cy="10904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94799" y="1305422"/>
            <a:ext cx="771400" cy="362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SAM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7738876-F686-F329-2AA1-FCF378977C68}"/>
              </a:ext>
            </a:extLst>
          </p:cNvPr>
          <p:cNvSpPr/>
          <p:nvPr/>
        </p:nvSpPr>
        <p:spPr>
          <a:xfrm>
            <a:off x="2386471" y="1704312"/>
            <a:ext cx="3924065" cy="782960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841238" y="2148144"/>
            <a:ext cx="1090465" cy="36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outgoing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4F357F-A306-86D5-61C7-9850E4BEC80C}"/>
              </a:ext>
            </a:extLst>
          </p:cNvPr>
          <p:cNvSpPr/>
          <p:nvPr/>
        </p:nvSpPr>
        <p:spPr>
          <a:xfrm>
            <a:off x="5723181" y="1444061"/>
            <a:ext cx="1090465" cy="36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incoming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0D27F9-6E06-678A-CD46-A8758672D3C1}"/>
              </a:ext>
            </a:extLst>
          </p:cNvPr>
          <p:cNvSpPr/>
          <p:nvPr/>
        </p:nvSpPr>
        <p:spPr>
          <a:xfrm>
            <a:off x="7465410" y="1786144"/>
            <a:ext cx="1401578" cy="362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in this domain</a:t>
            </a:r>
          </a:p>
        </p:txBody>
      </p:sp>
    </p:spTree>
    <p:extLst>
      <p:ext uri="{BB962C8B-B14F-4D97-AF65-F5344CB8AC3E}">
        <p14:creationId xmlns:p14="http://schemas.microsoft.com/office/powerpoint/2010/main" val="40982439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NTLM </a:t>
            </a:r>
            <a:r>
              <a:rPr lang="en-US" sz="3200" dirty="0">
                <a:solidFill>
                  <a:schemeClr val="accent1"/>
                </a:solidFill>
              </a:rPr>
              <a:t>audit</a:t>
            </a:r>
            <a:r>
              <a:rPr lang="en-US" sz="3200" dirty="0"/>
              <a:t> example (</a:t>
            </a:r>
            <a:r>
              <a:rPr lang="en-US" sz="3200" dirty="0" err="1"/>
              <a:t>EventID</a:t>
            </a:r>
            <a:r>
              <a:rPr lang="en-US" sz="3200" dirty="0"/>
              <a:t> 8003)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Log name: </a:t>
            </a:r>
            <a:r>
              <a:rPr lang="en-US" sz="2000" dirty="0">
                <a:solidFill>
                  <a:schemeClr val="accent1"/>
                </a:solidFill>
              </a:rPr>
              <a:t>Microsoft</a:t>
            </a:r>
            <a:r>
              <a:rPr lang="en-US" sz="2000" dirty="0"/>
              <a:t>-</a:t>
            </a:r>
            <a:r>
              <a:rPr lang="en-US" sz="2000" dirty="0">
                <a:solidFill>
                  <a:schemeClr val="accent1"/>
                </a:solidFill>
              </a:rPr>
              <a:t>Windows</a:t>
            </a:r>
            <a:r>
              <a:rPr lang="en-US" sz="2000" dirty="0"/>
              <a:t>-</a:t>
            </a:r>
            <a:r>
              <a:rPr lang="en-US" sz="2000" dirty="0">
                <a:solidFill>
                  <a:schemeClr val="accent1"/>
                </a:solidFill>
              </a:rPr>
              <a:t>NTLM</a:t>
            </a:r>
            <a:r>
              <a:rPr lang="en-US" sz="2000" dirty="0"/>
              <a:t>/Operational, Event ID: 8003, Category: Auditing NTLM, ...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209" y="2420888"/>
            <a:ext cx="6311792" cy="44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599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3C4D4-6EF8-C827-2698-36C129EFB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NTLM </a:t>
            </a:r>
            <a:r>
              <a:rPr lang="en-US" sz="2400" dirty="0">
                <a:solidFill>
                  <a:schemeClr val="accent1"/>
                </a:solidFill>
              </a:rPr>
              <a:t>audit</a:t>
            </a:r>
            <a:r>
              <a:rPr lang="en-US" sz="2400" dirty="0"/>
              <a:t> examples (</a:t>
            </a:r>
            <a:r>
              <a:rPr lang="en-US" sz="2400" dirty="0" err="1"/>
              <a:t>EventID</a:t>
            </a:r>
            <a:r>
              <a:rPr lang="en-US" sz="2400" dirty="0"/>
              <a:t> 8001, 8002, 8004)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E2BFF9D-87A1-4114-0D3D-EDB58507A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754377"/>
            <a:ext cx="5934802" cy="210362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34C0D5-D2FE-3C10-0648-9FA0CD825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4704"/>
            <a:ext cx="6402488" cy="2808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7E8A5F-30F0-EE23-51D7-6B939BA85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603" y="2868327"/>
            <a:ext cx="5485769" cy="2304256"/>
          </a:xfrm>
          <a:prstGeom prst="rect">
            <a:avLst/>
          </a:prstGeom>
        </p:spPr>
      </p:pic>
      <p:sp>
        <p:nvSpPr>
          <p:cNvPr id="11" name="Arrow: Left 10">
            <a:extLst>
              <a:ext uri="{FF2B5EF4-FFF2-40B4-BE49-F238E27FC236}">
                <a16:creationId xmlns:a16="http://schemas.microsoft.com/office/drawing/2014/main" id="{06643155-BE43-1A42-E4D7-D38644D4C470}"/>
              </a:ext>
            </a:extLst>
          </p:cNvPr>
          <p:cNvSpPr/>
          <p:nvPr/>
        </p:nvSpPr>
        <p:spPr>
          <a:xfrm rot="741134">
            <a:off x="2603729" y="836243"/>
            <a:ext cx="1845825" cy="648072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client (outgoing)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CCD4EF5A-FB6A-B4AB-A19F-2CB4A9C241DB}"/>
              </a:ext>
            </a:extLst>
          </p:cNvPr>
          <p:cNvSpPr/>
          <p:nvPr/>
        </p:nvSpPr>
        <p:spPr>
          <a:xfrm rot="536908">
            <a:off x="6339360" y="2914710"/>
            <a:ext cx="1845825" cy="648072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server (incoming)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C9FC58CA-F6AE-9358-3041-3BA7EC7CC680}"/>
              </a:ext>
            </a:extLst>
          </p:cNvPr>
          <p:cNvSpPr/>
          <p:nvPr/>
        </p:nvSpPr>
        <p:spPr>
          <a:xfrm rot="1533232">
            <a:off x="2396358" y="5346154"/>
            <a:ext cx="1845825" cy="648072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DC (in this domain)</a:t>
            </a:r>
          </a:p>
        </p:txBody>
      </p:sp>
    </p:spTree>
    <p:extLst>
      <p:ext uri="{BB962C8B-B14F-4D97-AF65-F5344CB8AC3E}">
        <p14:creationId xmlns:p14="http://schemas.microsoft.com/office/powerpoint/2010/main" val="10534342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72898-E20E-0BB2-E3BB-E1C2D21AC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29549A5-70F0-9339-9F5A-8E68FBC26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7584"/>
            <a:ext cx="5900869" cy="26152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1F0AE5-7590-5386-CADD-72867A5E4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36948"/>
            <a:ext cx="6156176" cy="22210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A58E87-1305-D501-0A0E-9D4B991DC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748" y="2849617"/>
            <a:ext cx="5594238" cy="2540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B9AB1C-C36E-474D-5F8B-C406C0EA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>
            <a:normAutofit/>
          </a:bodyPr>
          <a:lstStyle/>
          <a:p>
            <a:r>
              <a:rPr lang="en-US" sz="2400" dirty="0"/>
              <a:t>NTLM </a:t>
            </a:r>
            <a:r>
              <a:rPr lang="en-US" sz="2400" dirty="0">
                <a:solidFill>
                  <a:schemeClr val="accent1"/>
                </a:solidFill>
              </a:rPr>
              <a:t>audit</a:t>
            </a:r>
            <a:r>
              <a:rPr lang="en-US" sz="2400" dirty="0"/>
              <a:t> examples (</a:t>
            </a:r>
            <a:r>
              <a:rPr lang="en-US" sz="2400" dirty="0" err="1"/>
              <a:t>EventID</a:t>
            </a:r>
            <a:r>
              <a:rPr lang="en-US" sz="2400" dirty="0"/>
              <a:t> 8001, 8002, 8004)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187C6107-F47A-C595-EB17-DD578E1BF75F}"/>
              </a:ext>
            </a:extLst>
          </p:cNvPr>
          <p:cNvSpPr/>
          <p:nvPr/>
        </p:nvSpPr>
        <p:spPr>
          <a:xfrm rot="741134">
            <a:off x="2603729" y="836243"/>
            <a:ext cx="1845825" cy="648072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client (outgoing)</a:t>
            </a:r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C4DD7407-2B7C-E4C5-F06F-0AE1F2DEC974}"/>
              </a:ext>
            </a:extLst>
          </p:cNvPr>
          <p:cNvSpPr/>
          <p:nvPr/>
        </p:nvSpPr>
        <p:spPr>
          <a:xfrm rot="536908">
            <a:off x="6339360" y="2914710"/>
            <a:ext cx="1845825" cy="648072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server (incoming)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542A94B5-55A9-66FF-3A2A-241C13E14833}"/>
              </a:ext>
            </a:extLst>
          </p:cNvPr>
          <p:cNvSpPr/>
          <p:nvPr/>
        </p:nvSpPr>
        <p:spPr>
          <a:xfrm rot="1533232">
            <a:off x="2396358" y="5346154"/>
            <a:ext cx="1845825" cy="648072"/>
          </a:xfrm>
          <a:prstGeom prst="lef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DC (in this domain)</a:t>
            </a:r>
          </a:p>
        </p:txBody>
      </p:sp>
    </p:spTree>
    <p:extLst>
      <p:ext uri="{BB962C8B-B14F-4D97-AF65-F5344CB8AC3E}">
        <p14:creationId xmlns:p14="http://schemas.microsoft.com/office/powerpoint/2010/main" val="35685749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902" dirty="0"/>
              <a:t>Allow Cryptographic Algorithms Compatible with Windows NT 4.0</a:t>
            </a:r>
            <a:endParaRPr lang="cs-CZ" sz="2902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 2008 do not support NT 4.0 secure channel algorithms</a:t>
            </a:r>
          </a:p>
          <a:p>
            <a:r>
              <a:rPr lang="en-US" dirty="0"/>
              <a:t>0xC0000388 = STATUS_DOWNGRADE_DETECTED</a:t>
            </a:r>
          </a:p>
          <a:p>
            <a:endParaRPr lang="cs-CZ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77" y="4343349"/>
            <a:ext cx="8934335" cy="91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293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Protected users </a:t>
            </a:r>
            <a:r>
              <a:rPr lang="en-US" dirty="0"/>
              <a:t>(since 2012</a:t>
            </a:r>
            <a:r>
              <a:rPr lang="en-US" dirty="0">
                <a:solidFill>
                  <a:schemeClr val="accent1"/>
                </a:solidFill>
              </a:rPr>
              <a:t>R2</a:t>
            </a:r>
            <a:r>
              <a:rPr lang="en-US" dirty="0"/>
              <a:t>/8</a:t>
            </a:r>
            <a:r>
              <a:rPr lang="en-US" dirty="0">
                <a:solidFill>
                  <a:schemeClr val="accent1"/>
                </a:solidFill>
              </a:rPr>
              <a:t>.1</a:t>
            </a:r>
            <a:r>
              <a:rPr lang="en-US" dirty="0"/>
              <a:t> machines) do not have NTLM credentials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412776"/>
            <a:ext cx="7488832" cy="431953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3861048"/>
            <a:ext cx="5184576" cy="20608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35" y="5877272"/>
            <a:ext cx="4762129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896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Protected Users</a:t>
            </a:r>
            <a:r>
              <a:rPr lang="en-US" sz="2800" dirty="0"/>
              <a:t> (since 2012R2/8.1 machines) </a:t>
            </a:r>
            <a:r>
              <a:rPr lang="en-US" sz="2800" dirty="0">
                <a:solidFill>
                  <a:schemeClr val="accent4"/>
                </a:solidFill>
              </a:rPr>
              <a:t>cons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Kerberos ticket 4 hours</a:t>
            </a:r>
          </a:p>
          <a:p>
            <a:pPr lvl="1"/>
            <a:r>
              <a:rPr lang="en-US" sz="1800" dirty="0"/>
              <a:t>OK</a:t>
            </a:r>
          </a:p>
          <a:p>
            <a:r>
              <a:rPr lang="en-US" sz="2000" dirty="0"/>
              <a:t>Kerberos TGT non-renewable</a:t>
            </a:r>
          </a:p>
          <a:p>
            <a:pPr lvl="1"/>
            <a:r>
              <a:rPr lang="en-US" sz="1800" dirty="0"/>
              <a:t>must type credentials every 4 hours</a:t>
            </a:r>
          </a:p>
          <a:p>
            <a:r>
              <a:rPr lang="en-US" sz="2000" dirty="0"/>
              <a:t>Kerberos delegation disabled</a:t>
            </a:r>
          </a:p>
          <a:p>
            <a:pPr lvl="1"/>
            <a:r>
              <a:rPr lang="en-US" sz="1800" dirty="0"/>
              <a:t>business application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r>
              <a:rPr lang="en-US" sz="2000" dirty="0"/>
              <a:t>good for </a:t>
            </a:r>
            <a:r>
              <a:rPr lang="en-US" sz="2000" dirty="0">
                <a:solidFill>
                  <a:schemeClr val="accent3"/>
                </a:solidFill>
              </a:rPr>
              <a:t>admin </a:t>
            </a:r>
            <a:r>
              <a:rPr lang="en-US" sz="2000" dirty="0"/>
              <a:t>accounts and </a:t>
            </a:r>
            <a:r>
              <a:rPr lang="en-US" sz="2000" dirty="0">
                <a:solidFill>
                  <a:schemeClr val="accent3"/>
                </a:solidFill>
              </a:rPr>
              <a:t>service</a:t>
            </a:r>
            <a:r>
              <a:rPr lang="en-US" sz="2000" dirty="0"/>
              <a:t> accounts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chemeClr val="accent4"/>
                </a:solidFill>
              </a:rPr>
              <a:t>service</a:t>
            </a:r>
            <a:r>
              <a:rPr lang="en-US" sz="2000" dirty="0"/>
              <a:t> accounts </a:t>
            </a:r>
            <a:r>
              <a:rPr lang="en-US" sz="2000" dirty="0">
                <a:solidFill>
                  <a:schemeClr val="accent4"/>
                </a:solidFill>
              </a:rPr>
              <a:t>will not cache TGS </a:t>
            </a:r>
            <a:r>
              <a:rPr lang="en-US" sz="2000" dirty="0"/>
              <a:t>tickets on clients</a:t>
            </a:r>
          </a:p>
          <a:p>
            <a:pPr lvl="1"/>
            <a:r>
              <a:rPr lang="en-US" sz="1800" dirty="0"/>
              <a:t>slower responses with more processing round-trips due to no long-term key on the server side (KRB_AP_ERR_USER_TO_USER_REQUIRED)</a:t>
            </a:r>
          </a:p>
          <a:p>
            <a:pPr lvl="1"/>
            <a:r>
              <a:rPr lang="en-US" sz="1800" dirty="0"/>
              <a:t>possible problems on incorrectly developed GSSAPI software</a:t>
            </a:r>
          </a:p>
        </p:txBody>
      </p:sp>
    </p:spTree>
    <p:extLst>
      <p:ext uri="{BB962C8B-B14F-4D97-AF65-F5344CB8AC3E}">
        <p14:creationId xmlns:p14="http://schemas.microsoft.com/office/powerpoint/2010/main" val="185697188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922EA7E-9F47-4778-B151-FFAA79386FA1}"/>
              </a:ext>
            </a:extLst>
          </p:cNvPr>
          <p:cNvSpPr/>
          <p:nvPr/>
        </p:nvSpPr>
        <p:spPr>
          <a:xfrm>
            <a:off x="1403648" y="2699792"/>
            <a:ext cx="6408712" cy="1008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4BF15-A45C-4450-9B93-0A0A3131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without </a:t>
            </a:r>
            <a:r>
              <a:rPr lang="en-US" sz="2000" dirty="0"/>
              <a:t>Channel binding aka Extended protection for authentication aka Network Level Authentication (NTLM or Kerberos)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8074D0-7EB9-4817-8DEB-BF9D26A04B87}"/>
              </a:ext>
            </a:extLst>
          </p:cNvPr>
          <p:cNvSpPr/>
          <p:nvPr/>
        </p:nvSpPr>
        <p:spPr>
          <a:xfrm>
            <a:off x="7658000" y="2586608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E1FB4082-516F-45BB-B8FB-5AE8BB03A813}"/>
              </a:ext>
            </a:extLst>
          </p:cNvPr>
          <p:cNvSpPr/>
          <p:nvPr/>
        </p:nvSpPr>
        <p:spPr>
          <a:xfrm>
            <a:off x="6948264" y="2032248"/>
            <a:ext cx="1191405" cy="10081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cert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3DB1EF-BD5B-48E6-BAEB-A9D5D96AA63B}"/>
              </a:ext>
            </a:extLst>
          </p:cNvPr>
          <p:cNvSpPr/>
          <p:nvPr/>
        </p:nvSpPr>
        <p:spPr>
          <a:xfrm>
            <a:off x="243853" y="2586608"/>
            <a:ext cx="1234480" cy="12344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A55A39-0161-4ED4-A35A-2DEB73FCF0BE}"/>
              </a:ext>
            </a:extLst>
          </p:cNvPr>
          <p:cNvSpPr/>
          <p:nvPr/>
        </p:nvSpPr>
        <p:spPr>
          <a:xfrm>
            <a:off x="1647460" y="3040360"/>
            <a:ext cx="5444819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B06753-D3A5-4FBF-A71C-59E2F45B637E}"/>
              </a:ext>
            </a:extLst>
          </p:cNvPr>
          <p:cNvSpPr/>
          <p:nvPr/>
        </p:nvSpPr>
        <p:spPr>
          <a:xfrm>
            <a:off x="2488940" y="2843808"/>
            <a:ext cx="1362980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authentication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2E42A-130A-4926-BF22-ACE0CA094742}"/>
              </a:ext>
            </a:extLst>
          </p:cNvPr>
          <p:cNvSpPr/>
          <p:nvPr/>
        </p:nvSpPr>
        <p:spPr>
          <a:xfrm>
            <a:off x="2319813" y="3160622"/>
            <a:ext cx="1362980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session keys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128071-C900-498B-A64A-D33DD72E3BB0}"/>
              </a:ext>
            </a:extLst>
          </p:cNvPr>
          <p:cNvSpPr/>
          <p:nvPr/>
        </p:nvSpPr>
        <p:spPr>
          <a:xfrm>
            <a:off x="1625797" y="2410057"/>
            <a:ext cx="13629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session encryption</a:t>
            </a:r>
          </a:p>
        </p:txBody>
      </p:sp>
    </p:spTree>
    <p:extLst>
      <p:ext uri="{BB962C8B-B14F-4D97-AF65-F5344CB8AC3E}">
        <p14:creationId xmlns:p14="http://schemas.microsoft.com/office/powerpoint/2010/main" val="158586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AF5FCB6-5E35-4239-97C8-7F2F76764C70}"/>
              </a:ext>
            </a:extLst>
          </p:cNvPr>
          <p:cNvSpPr/>
          <p:nvPr/>
        </p:nvSpPr>
        <p:spPr>
          <a:xfrm>
            <a:off x="1081739" y="2699792"/>
            <a:ext cx="3346245" cy="10081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22EA7E-9F47-4778-B151-FFAA79386FA1}"/>
              </a:ext>
            </a:extLst>
          </p:cNvPr>
          <p:cNvSpPr/>
          <p:nvPr/>
        </p:nvSpPr>
        <p:spPr>
          <a:xfrm>
            <a:off x="5180795" y="2699792"/>
            <a:ext cx="2583837" cy="1008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D45B7F-FFEF-4969-AE34-472EEF9480A2}"/>
              </a:ext>
            </a:extLst>
          </p:cNvPr>
          <p:cNvSpPr/>
          <p:nvPr/>
        </p:nvSpPr>
        <p:spPr>
          <a:xfrm>
            <a:off x="4165612" y="1768860"/>
            <a:ext cx="1234480" cy="41044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200" dirty="0"/>
              <a:t>attacker</a:t>
            </a:r>
          </a:p>
          <a:p>
            <a:pPr algn="ctr"/>
            <a:r>
              <a:rPr lang="en-US" sz="1200" dirty="0"/>
              <a:t>or</a:t>
            </a:r>
          </a:p>
          <a:p>
            <a:pPr algn="ctr"/>
            <a:r>
              <a:rPr lang="en-US" sz="1200" dirty="0"/>
              <a:t>SSL inspection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4BF15-A45C-4450-9B93-0A0A3131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without </a:t>
            </a:r>
            <a:r>
              <a:rPr lang="en-US" sz="2000" dirty="0"/>
              <a:t>Channel binding aka Extended protection for authentication aka Network Level Authentication (NTLM or Kerberos)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8074D0-7EB9-4817-8DEB-BF9D26A04B87}"/>
              </a:ext>
            </a:extLst>
          </p:cNvPr>
          <p:cNvSpPr/>
          <p:nvPr/>
        </p:nvSpPr>
        <p:spPr>
          <a:xfrm>
            <a:off x="7658000" y="2586608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E1FB4082-516F-45BB-B8FB-5AE8BB03A813}"/>
              </a:ext>
            </a:extLst>
          </p:cNvPr>
          <p:cNvSpPr/>
          <p:nvPr/>
        </p:nvSpPr>
        <p:spPr>
          <a:xfrm>
            <a:off x="6948264" y="2032248"/>
            <a:ext cx="1191405" cy="10081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cert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A55A39-0161-4ED4-A35A-2DEB73FCF0BE}"/>
              </a:ext>
            </a:extLst>
          </p:cNvPr>
          <p:cNvSpPr/>
          <p:nvPr/>
        </p:nvSpPr>
        <p:spPr>
          <a:xfrm>
            <a:off x="1647460" y="3040360"/>
            <a:ext cx="5444819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B06753-D3A5-4FBF-A71C-59E2F45B637E}"/>
              </a:ext>
            </a:extLst>
          </p:cNvPr>
          <p:cNvSpPr/>
          <p:nvPr/>
        </p:nvSpPr>
        <p:spPr>
          <a:xfrm>
            <a:off x="2488940" y="2843808"/>
            <a:ext cx="1362980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authentication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2E42A-130A-4926-BF22-ACE0CA094742}"/>
              </a:ext>
            </a:extLst>
          </p:cNvPr>
          <p:cNvSpPr/>
          <p:nvPr/>
        </p:nvSpPr>
        <p:spPr>
          <a:xfrm>
            <a:off x="2319813" y="3160622"/>
            <a:ext cx="1362980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session keys</a:t>
            </a:r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6CEA0083-1B5F-43F1-BD45-F4B4C3EA987B}"/>
              </a:ext>
            </a:extLst>
          </p:cNvPr>
          <p:cNvSpPr/>
          <p:nvPr/>
        </p:nvSpPr>
        <p:spPr>
          <a:xfrm>
            <a:off x="3412801" y="1972117"/>
            <a:ext cx="1191405" cy="1008112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fakecert</a:t>
            </a:r>
            <a:endParaRPr lang="en-US" sz="1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332078-F994-4D12-9688-E35C944E0432}"/>
              </a:ext>
            </a:extLst>
          </p:cNvPr>
          <p:cNvSpPr/>
          <p:nvPr/>
        </p:nvSpPr>
        <p:spPr>
          <a:xfrm>
            <a:off x="1625797" y="2410057"/>
            <a:ext cx="1362980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session encryption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96A047-B6E7-4C69-AE1E-DB921D1E3F95}"/>
              </a:ext>
            </a:extLst>
          </p:cNvPr>
          <p:cNvSpPr/>
          <p:nvPr/>
        </p:nvSpPr>
        <p:spPr>
          <a:xfrm>
            <a:off x="243853" y="2586608"/>
            <a:ext cx="1234480" cy="12344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1B36A7-755C-4224-A954-1D043A20BF97}"/>
              </a:ext>
            </a:extLst>
          </p:cNvPr>
          <p:cNvSpPr/>
          <p:nvPr/>
        </p:nvSpPr>
        <p:spPr>
          <a:xfrm>
            <a:off x="5492688" y="2406588"/>
            <a:ext cx="13629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session encryption</a:t>
            </a:r>
          </a:p>
        </p:txBody>
      </p:sp>
    </p:spTree>
    <p:extLst>
      <p:ext uri="{BB962C8B-B14F-4D97-AF65-F5344CB8AC3E}">
        <p14:creationId xmlns:p14="http://schemas.microsoft.com/office/powerpoint/2010/main" val="128119120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922EA7E-9F47-4778-B151-FFAA79386FA1}"/>
              </a:ext>
            </a:extLst>
          </p:cNvPr>
          <p:cNvSpPr/>
          <p:nvPr/>
        </p:nvSpPr>
        <p:spPr>
          <a:xfrm>
            <a:off x="1403648" y="2699792"/>
            <a:ext cx="6408712" cy="1008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4BF15-A45C-4450-9B93-0A0A3131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Channel binding aka Extended protection for authentication aka Network Level Authentication (NTLM or Kerberos)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8074D0-7EB9-4817-8DEB-BF9D26A04B87}"/>
              </a:ext>
            </a:extLst>
          </p:cNvPr>
          <p:cNvSpPr/>
          <p:nvPr/>
        </p:nvSpPr>
        <p:spPr>
          <a:xfrm>
            <a:off x="7658000" y="2586608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E1FB4082-516F-45BB-B8FB-5AE8BB03A813}"/>
              </a:ext>
            </a:extLst>
          </p:cNvPr>
          <p:cNvSpPr/>
          <p:nvPr/>
        </p:nvSpPr>
        <p:spPr>
          <a:xfrm>
            <a:off x="6948264" y="2032248"/>
            <a:ext cx="1191405" cy="10081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cert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3DB1EF-BD5B-48E6-BAEB-A9D5D96AA63B}"/>
              </a:ext>
            </a:extLst>
          </p:cNvPr>
          <p:cNvSpPr/>
          <p:nvPr/>
        </p:nvSpPr>
        <p:spPr>
          <a:xfrm>
            <a:off x="243853" y="2586608"/>
            <a:ext cx="1234480" cy="12344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A55A39-0161-4ED4-A35A-2DEB73FCF0BE}"/>
              </a:ext>
            </a:extLst>
          </p:cNvPr>
          <p:cNvSpPr/>
          <p:nvPr/>
        </p:nvSpPr>
        <p:spPr>
          <a:xfrm>
            <a:off x="1647460" y="3040360"/>
            <a:ext cx="5444819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392949-7B79-4520-BA52-80D5B5676702}"/>
              </a:ext>
            </a:extLst>
          </p:cNvPr>
          <p:cNvSpPr/>
          <p:nvPr/>
        </p:nvSpPr>
        <p:spPr>
          <a:xfrm>
            <a:off x="1625797" y="2410057"/>
            <a:ext cx="13629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session encryption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F597275-5C79-4B2B-A580-CA13764DC8EF}"/>
              </a:ext>
            </a:extLst>
          </p:cNvPr>
          <p:cNvSpPr/>
          <p:nvPr/>
        </p:nvSpPr>
        <p:spPr>
          <a:xfrm>
            <a:off x="1763688" y="3179745"/>
            <a:ext cx="5349646" cy="26901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B06753-D3A5-4FBF-A71C-59E2F45B637E}"/>
              </a:ext>
            </a:extLst>
          </p:cNvPr>
          <p:cNvSpPr/>
          <p:nvPr/>
        </p:nvSpPr>
        <p:spPr>
          <a:xfrm>
            <a:off x="2488940" y="2843808"/>
            <a:ext cx="1362980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authentication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2E42A-130A-4926-BF22-ACE0CA094742}"/>
              </a:ext>
            </a:extLst>
          </p:cNvPr>
          <p:cNvSpPr/>
          <p:nvPr/>
        </p:nvSpPr>
        <p:spPr>
          <a:xfrm>
            <a:off x="2319813" y="3160622"/>
            <a:ext cx="1362980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session keys</a:t>
            </a:r>
          </a:p>
        </p:txBody>
      </p:sp>
    </p:spTree>
    <p:extLst>
      <p:ext uri="{BB962C8B-B14F-4D97-AF65-F5344CB8AC3E}">
        <p14:creationId xmlns:p14="http://schemas.microsoft.com/office/powerpoint/2010/main" val="3041704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AF5FCB6-5E35-4239-97C8-7F2F76764C70}"/>
              </a:ext>
            </a:extLst>
          </p:cNvPr>
          <p:cNvSpPr/>
          <p:nvPr/>
        </p:nvSpPr>
        <p:spPr>
          <a:xfrm>
            <a:off x="1081739" y="2699792"/>
            <a:ext cx="3346245" cy="10081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22EA7E-9F47-4778-B151-FFAA79386FA1}"/>
              </a:ext>
            </a:extLst>
          </p:cNvPr>
          <p:cNvSpPr/>
          <p:nvPr/>
        </p:nvSpPr>
        <p:spPr>
          <a:xfrm>
            <a:off x="5180795" y="2699792"/>
            <a:ext cx="2583837" cy="10081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D45B7F-FFEF-4969-AE34-472EEF9480A2}"/>
              </a:ext>
            </a:extLst>
          </p:cNvPr>
          <p:cNvSpPr/>
          <p:nvPr/>
        </p:nvSpPr>
        <p:spPr>
          <a:xfrm>
            <a:off x="4165612" y="1768860"/>
            <a:ext cx="1234480" cy="41044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200" dirty="0"/>
              <a:t>attacker</a:t>
            </a:r>
          </a:p>
          <a:p>
            <a:pPr algn="ctr"/>
            <a:r>
              <a:rPr lang="en-US" sz="1200" dirty="0"/>
              <a:t>or</a:t>
            </a:r>
          </a:p>
          <a:p>
            <a:pPr algn="ctr"/>
            <a:r>
              <a:rPr lang="en-US" sz="1200" dirty="0"/>
              <a:t>SSL inspection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B4BF15-A45C-4450-9B93-0A0A3131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no MITM with </a:t>
            </a:r>
            <a:r>
              <a:rPr lang="en-US" sz="2000" dirty="0"/>
              <a:t>Channel binding aka Extended protection for authentication aka Network Level Authentication (NTLM or Kerberos)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8074D0-7EB9-4817-8DEB-BF9D26A04B87}"/>
              </a:ext>
            </a:extLst>
          </p:cNvPr>
          <p:cNvSpPr/>
          <p:nvPr/>
        </p:nvSpPr>
        <p:spPr>
          <a:xfrm>
            <a:off x="7658000" y="2586608"/>
            <a:ext cx="1234480" cy="12344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E1FB4082-516F-45BB-B8FB-5AE8BB03A813}"/>
              </a:ext>
            </a:extLst>
          </p:cNvPr>
          <p:cNvSpPr/>
          <p:nvPr/>
        </p:nvSpPr>
        <p:spPr>
          <a:xfrm>
            <a:off x="6948264" y="2032248"/>
            <a:ext cx="1191405" cy="1008112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cert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A55A39-0161-4ED4-A35A-2DEB73FCF0BE}"/>
              </a:ext>
            </a:extLst>
          </p:cNvPr>
          <p:cNvSpPr/>
          <p:nvPr/>
        </p:nvSpPr>
        <p:spPr>
          <a:xfrm>
            <a:off x="1647460" y="3040360"/>
            <a:ext cx="5444819" cy="360040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332078-F994-4D12-9688-E35C944E0432}"/>
              </a:ext>
            </a:extLst>
          </p:cNvPr>
          <p:cNvSpPr/>
          <p:nvPr/>
        </p:nvSpPr>
        <p:spPr>
          <a:xfrm>
            <a:off x="1625797" y="2410057"/>
            <a:ext cx="1362980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session encryption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96A047-B6E7-4C69-AE1E-DB921D1E3F95}"/>
              </a:ext>
            </a:extLst>
          </p:cNvPr>
          <p:cNvSpPr/>
          <p:nvPr/>
        </p:nvSpPr>
        <p:spPr>
          <a:xfrm>
            <a:off x="243853" y="2586608"/>
            <a:ext cx="1234480" cy="12344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3F2E1EE-CD1D-46A0-8FC3-AAAC5E144E00}"/>
              </a:ext>
            </a:extLst>
          </p:cNvPr>
          <p:cNvSpPr/>
          <p:nvPr/>
        </p:nvSpPr>
        <p:spPr>
          <a:xfrm>
            <a:off x="1763688" y="3179745"/>
            <a:ext cx="5349646" cy="269016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B06753-D3A5-4FBF-A71C-59E2F45B637E}"/>
              </a:ext>
            </a:extLst>
          </p:cNvPr>
          <p:cNvSpPr/>
          <p:nvPr/>
        </p:nvSpPr>
        <p:spPr>
          <a:xfrm>
            <a:off x="2488940" y="2843808"/>
            <a:ext cx="1362980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2"/>
                </a:solidFill>
              </a:rPr>
              <a:t>authentication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2E42A-130A-4926-BF22-ACE0CA094742}"/>
              </a:ext>
            </a:extLst>
          </p:cNvPr>
          <p:cNvSpPr/>
          <p:nvPr/>
        </p:nvSpPr>
        <p:spPr>
          <a:xfrm>
            <a:off x="2319813" y="3160622"/>
            <a:ext cx="1362980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accent2"/>
                </a:solidFill>
              </a:rPr>
              <a:t>session keys</a:t>
            </a:r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6CEA0083-1B5F-43F1-BD45-F4B4C3EA987B}"/>
              </a:ext>
            </a:extLst>
          </p:cNvPr>
          <p:cNvSpPr/>
          <p:nvPr/>
        </p:nvSpPr>
        <p:spPr>
          <a:xfrm>
            <a:off x="3412801" y="1972117"/>
            <a:ext cx="1191405" cy="1008112"/>
          </a:xfrm>
          <a:prstGeom prst="star5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fakecert</a:t>
            </a:r>
            <a:endParaRPr lang="en-US" sz="1000" dirty="0"/>
          </a:p>
        </p:txBody>
      </p:sp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5E17F229-208F-4ECC-A13F-712CD4AE4736}"/>
              </a:ext>
            </a:extLst>
          </p:cNvPr>
          <p:cNvSpPr/>
          <p:nvPr/>
        </p:nvSpPr>
        <p:spPr>
          <a:xfrm>
            <a:off x="6992484" y="2980229"/>
            <a:ext cx="1008112" cy="1008112"/>
          </a:xfrm>
          <a:prstGeom prst="mathMultiply">
            <a:avLst>
              <a:gd name="adj1" fmla="val 13154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462CEF-3172-49E1-96E5-DF29C4515841}"/>
              </a:ext>
            </a:extLst>
          </p:cNvPr>
          <p:cNvSpPr/>
          <p:nvPr/>
        </p:nvSpPr>
        <p:spPr>
          <a:xfrm>
            <a:off x="5492688" y="2406588"/>
            <a:ext cx="13629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session encryption</a:t>
            </a:r>
          </a:p>
        </p:txBody>
      </p:sp>
    </p:spTree>
    <p:extLst>
      <p:ext uri="{BB962C8B-B14F-4D97-AF65-F5344CB8AC3E}">
        <p14:creationId xmlns:p14="http://schemas.microsoft.com/office/powerpoint/2010/main" val="32516719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70AB-0D8A-40AA-ABE7-517B24F4D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CBT validation failure on the </a:t>
            </a:r>
            <a:r>
              <a:rPr lang="en-US" sz="2000" dirty="0">
                <a:solidFill>
                  <a:schemeClr val="accent1"/>
                </a:solidFill>
              </a:rPr>
              <a:t>resource server</a:t>
            </a:r>
            <a:br>
              <a:rPr lang="en-US" sz="2000" dirty="0"/>
            </a:br>
            <a:r>
              <a:rPr lang="en-US" sz="2000" dirty="0"/>
              <a:t>event id 4625, status 0xC000035B = STATUS_BAD_BINDINGS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AE11CD-FB6C-49E9-87D3-52A10F4F6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386477"/>
            <a:ext cx="7201205" cy="537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1969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7751-BF20-71B5-84CB-2BE06FB2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Browser support for CBT (Channel Binding aka Extended Protection for Authentication aka </a:t>
            </a:r>
            <a:r>
              <a:rPr lang="en-US" sz="2000" dirty="0" err="1"/>
              <a:t>ExtendedProtectionTokenCheck</a:t>
            </a:r>
            <a:r>
              <a:rPr lang="en-US" sz="2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F12CF-4377-C4DC-9F18-F009D7F3E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536504"/>
          </a:xfrm>
        </p:spPr>
        <p:txBody>
          <a:bodyPr/>
          <a:lstStyle/>
          <a:p>
            <a:r>
              <a:rPr lang="en-US" dirty="0"/>
              <a:t>IE</a:t>
            </a:r>
          </a:p>
          <a:p>
            <a:pPr lvl="1"/>
            <a:r>
              <a:rPr lang="en-US" dirty="0"/>
              <a:t>supports in both NTLM and Negotiate providers</a:t>
            </a:r>
          </a:p>
          <a:p>
            <a:r>
              <a:rPr lang="en-US" dirty="0"/>
              <a:t>Edge old</a:t>
            </a:r>
          </a:p>
          <a:p>
            <a:pPr lvl="1"/>
            <a:r>
              <a:rPr lang="en-US" dirty="0"/>
              <a:t>supports in both NTLM and Negotiate providers</a:t>
            </a:r>
          </a:p>
          <a:p>
            <a:r>
              <a:rPr lang="en-US" dirty="0"/>
              <a:t>Edge Chromium</a:t>
            </a:r>
          </a:p>
          <a:p>
            <a:pPr lvl="1"/>
            <a:r>
              <a:rPr lang="en-US" dirty="0"/>
              <a:t>supports in both NTLM and Negotiate providers</a:t>
            </a:r>
          </a:p>
          <a:p>
            <a:r>
              <a:rPr lang="en-US" dirty="0"/>
              <a:t>Chrome</a:t>
            </a:r>
          </a:p>
          <a:p>
            <a:pPr lvl="1"/>
            <a:r>
              <a:rPr lang="en-US" dirty="0"/>
              <a:t>supports in both NTLM and Negotiate providers</a:t>
            </a:r>
          </a:p>
          <a:p>
            <a:r>
              <a:rPr lang="en-US" dirty="0"/>
              <a:t>Firefox</a:t>
            </a:r>
          </a:p>
          <a:p>
            <a:pPr lvl="1"/>
            <a:r>
              <a:rPr lang="en-US" dirty="0"/>
              <a:t>supports only with NTLM provider</a:t>
            </a:r>
          </a:p>
        </p:txBody>
      </p:sp>
    </p:spTree>
    <p:extLst>
      <p:ext uri="{BB962C8B-B14F-4D97-AF65-F5344CB8AC3E}">
        <p14:creationId xmlns:p14="http://schemas.microsoft.com/office/powerpoint/2010/main" val="40426156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73B48-745B-4E95-A165-1388EEC06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Disabling CBT (channel binding token) on the client side (NTLM or Kerberos)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07583-7A7C-4BDC-A884-C3ACAC320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enabled by default since Windows 7+ and Windows 2008 R2+</a:t>
            </a:r>
          </a:p>
          <a:p>
            <a:r>
              <a:rPr lang="en-US" dirty="0"/>
              <a:t>disable for testing purposes only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HKLM\System\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CurrentControlSet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\Control\LSA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SuppressExtendedProtection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DWORD = 3</a:t>
            </a:r>
          </a:p>
        </p:txBody>
      </p:sp>
    </p:spTree>
    <p:extLst>
      <p:ext uri="{BB962C8B-B14F-4D97-AF65-F5344CB8AC3E}">
        <p14:creationId xmlns:p14="http://schemas.microsoft.com/office/powerpoint/2010/main" val="12457374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C308-DDD3-3DB7-0E14-A3AA2B15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Enforce channel binding for LDAPS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3C0DE-5F77-C2D8-7D4C-AFD5EADEC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Domain controller: LDAP server channel binding token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B57C4-A47C-F4F6-51DC-1DB60F193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060848"/>
            <a:ext cx="9144000" cy="40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511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31E4-0914-5BBF-F8D3-35F97812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82960"/>
          </a:xfrm>
        </p:spPr>
        <p:txBody>
          <a:bodyPr>
            <a:normAutofit/>
          </a:bodyPr>
          <a:lstStyle/>
          <a:p>
            <a:r>
              <a:rPr lang="en-US" sz="1800" dirty="0"/>
              <a:t>Not everything non-Kerberos is NTLM - LDAP simple bind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FDCE94-1DC1-8B8E-C7C9-94194A54A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5064"/>
            <a:ext cx="5842467" cy="15121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0D39C5-F6E1-A4A7-14A7-F6312535F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2696"/>
            <a:ext cx="9144000" cy="2675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BDB995-BFDB-46A0-9543-AE4DD8C9D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694" y="3212977"/>
            <a:ext cx="6027307" cy="36450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D8052D-6CEC-B287-78A0-80F173A6558A}"/>
              </a:ext>
            </a:extLst>
          </p:cNvPr>
          <p:cNvSpPr txBox="1"/>
          <p:nvPr/>
        </p:nvSpPr>
        <p:spPr>
          <a:xfrm>
            <a:off x="6648446" y="5517232"/>
            <a:ext cx="2021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LDAP client IP address</a:t>
            </a:r>
          </a:p>
        </p:txBody>
      </p:sp>
    </p:spTree>
    <p:extLst>
      <p:ext uri="{BB962C8B-B14F-4D97-AF65-F5344CB8AC3E}">
        <p14:creationId xmlns:p14="http://schemas.microsoft.com/office/powerpoint/2010/main" val="1794929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disable clear-text passwords stored on DC</a:t>
            </a:r>
          </a:p>
          <a:p>
            <a:r>
              <a:rPr lang="en-US" dirty="0"/>
              <a:t>disable LM hashes stored on DC</a:t>
            </a:r>
          </a:p>
          <a:p>
            <a:pPr lvl="1"/>
            <a:r>
              <a:rPr lang="en-US" dirty="0"/>
              <a:t>15+ char passwords</a:t>
            </a:r>
          </a:p>
          <a:p>
            <a:r>
              <a:rPr lang="en-US" dirty="0"/>
              <a:t>may limit logon cache count</a:t>
            </a:r>
          </a:p>
          <a:p>
            <a:r>
              <a:rPr lang="en-US" dirty="0"/>
              <a:t>enforce NTLMv2</a:t>
            </a:r>
          </a:p>
          <a:p>
            <a:pPr lvl="1"/>
            <a:r>
              <a:rPr lang="en-US" dirty="0"/>
              <a:t>enforce client NTLMv2, consider blocking LM/NTLM</a:t>
            </a:r>
          </a:p>
          <a:p>
            <a:r>
              <a:rPr lang="en-US" dirty="0"/>
              <a:t>enforce NTLMv2 session security</a:t>
            </a:r>
          </a:p>
          <a:p>
            <a:pPr lvl="1"/>
            <a:r>
              <a:rPr lang="en-US" dirty="0"/>
              <a:t>+ enforce SMB signing</a:t>
            </a:r>
          </a:p>
          <a:p>
            <a:r>
              <a:rPr lang="en-US" dirty="0"/>
              <a:t>configured loopback aliases on NTLM servers</a:t>
            </a:r>
          </a:p>
          <a:p>
            <a:pPr lvl="1"/>
            <a:r>
              <a:rPr lang="en-US" dirty="0"/>
              <a:t>or assign an alternative DNS host name</a:t>
            </a:r>
          </a:p>
          <a:p>
            <a:r>
              <a:rPr lang="en-US" dirty="0"/>
              <a:t>enable NTLM auditing</a:t>
            </a:r>
          </a:p>
          <a:p>
            <a:r>
              <a:rPr lang="en-US" dirty="0"/>
              <a:t>use Protected Users group for sensitive accounts</a:t>
            </a:r>
          </a:p>
          <a:p>
            <a:r>
              <a:rPr lang="en-US" dirty="0"/>
              <a:t>consider channel binding for any TLS traffic</a:t>
            </a:r>
          </a:p>
          <a:p>
            <a:pPr lvl="1"/>
            <a:r>
              <a:rPr lang="en-US" dirty="0"/>
              <a:t>HTTPS, LDAPS, RDPS with NLA, SQL</a:t>
            </a:r>
          </a:p>
        </p:txBody>
      </p:sp>
    </p:spTree>
    <p:extLst>
      <p:ext uri="{BB962C8B-B14F-4D97-AF65-F5344CB8AC3E}">
        <p14:creationId xmlns:p14="http://schemas.microsoft.com/office/powerpoint/2010/main" val="1940028348"/>
      </p:ext>
    </p:extLst>
  </p:cSld>
  <p:clrMapOvr>
    <a:masterClrMapping/>
  </p:clrMapOvr>
</p:sld>
</file>

<file path=ppt/theme/theme1.xml><?xml version="1.0" encoding="utf-8"?>
<a:theme xmlns:a="http://schemas.openxmlformats.org/drawingml/2006/main" name="Gopas 1  (3 barvy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</a:theme>
</file>

<file path=ppt/theme/theme2.xml><?xml version="1.0" encoding="utf-8"?>
<a:theme xmlns:a="http://schemas.openxmlformats.org/drawingml/2006/main" name="Gopas 2  (3 barvy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Gopas 3  (6 barev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Gopas 4  (6 barev + &quot;planetka&quot;)">
  <a:themeElements>
    <a:clrScheme name="Gopas 2 (6 barev)">
      <a:dk1>
        <a:sysClr val="windowText" lastClr="000000"/>
      </a:dk1>
      <a:lt1>
        <a:sysClr val="window" lastClr="FFFFFF"/>
      </a:lt1>
      <a:dk2>
        <a:srgbClr val="1E326C"/>
      </a:dk2>
      <a:lt2>
        <a:srgbClr val="FFFFFF"/>
      </a:lt2>
      <a:accent1>
        <a:srgbClr val="009FE3"/>
      </a:accent1>
      <a:accent2>
        <a:srgbClr val="EF7D4D"/>
      </a:accent2>
      <a:accent3>
        <a:srgbClr val="009640"/>
      </a:accent3>
      <a:accent4>
        <a:srgbClr val="E50046"/>
      </a:accent4>
      <a:accent5>
        <a:srgbClr val="C8D400"/>
      </a:accent5>
      <a:accent6>
        <a:srgbClr val="EA5297"/>
      </a:accent6>
      <a:hlink>
        <a:srgbClr val="1E326C"/>
      </a:hlink>
      <a:folHlink>
        <a:srgbClr val="1E326C"/>
      </a:folHlink>
    </a:clrScheme>
    <a:fontScheme name="Gop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2670</Words>
  <Application>Microsoft Office PowerPoint</Application>
  <PresentationFormat>On-screen Show (4:3)</PresentationFormat>
  <Paragraphs>676</Paragraphs>
  <Slides>80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80</vt:i4>
      </vt:variant>
    </vt:vector>
  </HeadingPairs>
  <TitlesOfParts>
    <vt:vector size="87" baseType="lpstr">
      <vt:lpstr>Arial</vt:lpstr>
      <vt:lpstr>Courier New</vt:lpstr>
      <vt:lpstr>Wingdings</vt:lpstr>
      <vt:lpstr>Gopas 1  (3 barvy)</vt:lpstr>
      <vt:lpstr>Gopas 2  (3 barvy + "planetka")</vt:lpstr>
      <vt:lpstr>Gopas 3  (6 barev)</vt:lpstr>
      <vt:lpstr>Gopas 4  (6 barev + "planetka")</vt:lpstr>
      <vt:lpstr>NTLM</vt:lpstr>
      <vt:lpstr>NTLM family</vt:lpstr>
      <vt:lpstr>The NTLM family cons</vt:lpstr>
      <vt:lpstr>The NTLM family pros</vt:lpstr>
      <vt:lpstr>When NTLM gets used</vt:lpstr>
      <vt:lpstr>Services which require Kerberos</vt:lpstr>
      <vt:lpstr>PS remoting (Enter-PSSession) with NTLM</vt:lpstr>
      <vt:lpstr>In-band NTLM with local accounts</vt:lpstr>
      <vt:lpstr>Pass-through NTLM with domain accounts</vt:lpstr>
      <vt:lpstr>Pass-through NTLM with domain accounts with non-Windows servers</vt:lpstr>
      <vt:lpstr>LM authentication (ultra weak)</vt:lpstr>
      <vt:lpstr>NTLM authentication (weak)</vt:lpstr>
      <vt:lpstr>NTLMv2 authentication (best, yet not ideal)</vt:lpstr>
      <vt:lpstr>NTLM with domain accounts</vt:lpstr>
      <vt:lpstr>Testing authentication with default credentials</vt:lpstr>
      <vt:lpstr>LM/NTLM/NTLMv2 in HTTP</vt:lpstr>
      <vt:lpstr>Kerberos in HTTP</vt:lpstr>
      <vt:lpstr>LM/NTLM/NTLMv2 negotiate message (Client to Server)</vt:lpstr>
      <vt:lpstr>LM/NTLM/NTLMv2 challenge message (Server to Client)</vt:lpstr>
      <vt:lpstr>LM and NTLMv1 response (Client to Server)</vt:lpstr>
      <vt:lpstr>NTLMv2 response (Client to Server)</vt:lpstr>
      <vt:lpstr>Values hashed together in an NTLMv2 response</vt:lpstr>
      <vt:lpstr>Fiddler LM+NTLM vs. NTLMv2 (just bigger)</vt:lpstr>
      <vt:lpstr>NTLM success audit on DC</vt:lpstr>
      <vt:lpstr>NTLM failure audit on DC</vt:lpstr>
      <vt:lpstr>NTLM success audit on resource server</vt:lpstr>
      <vt:lpstr>Restricting client computers (userWorkstations attribute)</vt:lpstr>
      <vt:lpstr>RDP without NLA (Network Level Authentication)</vt:lpstr>
      <vt:lpstr>RDP without NLA (Network Level Authentication)</vt:lpstr>
      <vt:lpstr>RDP without NLA (Network Level Authentication)</vt:lpstr>
      <vt:lpstr>RDP with NLA (Network Level Authentication)</vt:lpstr>
      <vt:lpstr>RDP with NLA (Network Level Authentication)</vt:lpstr>
      <vt:lpstr>RDP with NLA (Network Level Authentication)</vt:lpstr>
      <vt:lpstr>RDP with NLA (Network Level Authentication)</vt:lpstr>
      <vt:lpstr>RDP with NLA (Network Level Authentication)</vt:lpstr>
      <vt:lpstr>RDP with NLA (Network Level Authentication)</vt:lpstr>
      <vt:lpstr>RDP connection - the RDP server missing from the list of the "log on to" (userWorkstations)</vt:lpstr>
      <vt:lpstr>RDP connection - the RDP client missing from the list of the "log on to" (userWorkstations) with NLA required</vt:lpstr>
      <vt:lpstr>Disable NLA on RDP client</vt:lpstr>
      <vt:lpstr>NTLMv2 time constraints</vt:lpstr>
      <vt:lpstr>NTLM session security (~ SASL ~ GSSAPI)</vt:lpstr>
      <vt:lpstr>NTLMv2 session security</vt:lpstr>
      <vt:lpstr>NTLMv2 session security with domain accounts</vt:lpstr>
      <vt:lpstr>NTLMv2 session security and domain based MITM</vt:lpstr>
      <vt:lpstr>Recap of security parameters</vt:lpstr>
      <vt:lpstr>Network security: Minimum session security for NTLM SSP based clients</vt:lpstr>
      <vt:lpstr>NTLM compatibility level</vt:lpstr>
      <vt:lpstr>LAN manager authentication level</vt:lpstr>
      <vt:lpstr>NTLM compatibility level is client - DC problem</vt:lpstr>
      <vt:lpstr>LM compatibility account logon failure on a DC 0xC000006A = STATUS_WRONG_PASSWORD</vt:lpstr>
      <vt:lpstr>NTLM compatibility level is client - DC problem</vt:lpstr>
      <vt:lpstr>Most secure NTLMv2 and NTLMv2 128bit session security settings</vt:lpstr>
      <vt:lpstr>NTLM reflection (loopback) attack</vt:lpstr>
      <vt:lpstr>NTLM reflection (loopback) attack #1</vt:lpstr>
      <vt:lpstr>NTLM reflection (loopback) attack #2</vt:lpstr>
      <vt:lpstr>NTLM reflection (loopback) attack #3</vt:lpstr>
      <vt:lpstr>Loopback Check</vt:lpstr>
      <vt:lpstr>Loopback Check and logon audit failure Sub Status = 0 and Status = 0xC000006D</vt:lpstr>
      <vt:lpstr>Alternative computer names</vt:lpstr>
      <vt:lpstr>NTLM pass-the-hash</vt:lpstr>
      <vt:lpstr>Disabling/auditing NTLM (since 7/2008R2)</vt:lpstr>
      <vt:lpstr>Disabling/auditing NTLM</vt:lpstr>
      <vt:lpstr>NTLM auditing or disabling (domain accounts)</vt:lpstr>
      <vt:lpstr>NTLM auditing or disabling (local accounts)</vt:lpstr>
      <vt:lpstr>NTLM audit example (EventID 8003)</vt:lpstr>
      <vt:lpstr>NTLM audit examples (EventID 8001, 8002, 8004)</vt:lpstr>
      <vt:lpstr>NTLM audit examples (EventID 8001, 8002, 8004)</vt:lpstr>
      <vt:lpstr>Allow Cryptographic Algorithms Compatible with Windows NT 4.0</vt:lpstr>
      <vt:lpstr>Protected users (since 2012R2/8.1 machines) do not have NTLM credentials</vt:lpstr>
      <vt:lpstr>Protected Users (since 2012R2/8.1 machines) cons</vt:lpstr>
      <vt:lpstr>without Channel binding aka Extended protection for authentication aka Network Level Authentication (NTLM or Kerberos)</vt:lpstr>
      <vt:lpstr>without Channel binding aka Extended protection for authentication aka Network Level Authentication (NTLM or Kerberos)</vt:lpstr>
      <vt:lpstr>Channel binding aka Extended protection for authentication aka Network Level Authentication (NTLM or Kerberos)</vt:lpstr>
      <vt:lpstr>no MITM with Channel binding aka Extended protection for authentication aka Network Level Authentication (NTLM or Kerberos)</vt:lpstr>
      <vt:lpstr>CBT validation failure on the resource server event id 4625, status 0xC000035B = STATUS_BAD_BINDINGS</vt:lpstr>
      <vt:lpstr>Browser support for CBT (Channel Binding aka Extended Protection for Authentication aka ExtendedProtectionTokenCheck)</vt:lpstr>
      <vt:lpstr>Disabling CBT (channel binding token) on the client side (NTLM or Kerberos)</vt:lpstr>
      <vt:lpstr>Enforce channel binding for LDAPS</vt:lpstr>
      <vt:lpstr>Not everything non-Kerberos is NTLM - LDAP simple bind</vt:lpstr>
      <vt:lpstr>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Ondrej Sevecek</cp:lastModifiedBy>
  <cp:revision>13</cp:revision>
  <dcterms:created xsi:type="dcterms:W3CDTF">2013-03-17T16:22:31Z</dcterms:created>
  <dcterms:modified xsi:type="dcterms:W3CDTF">2026-03-06T11:59:43Z</dcterms:modified>
</cp:coreProperties>
</file>