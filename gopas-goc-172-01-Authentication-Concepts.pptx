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  <p:sldMasterId id="2147483748" r:id="rId2"/>
    <p:sldMasterId id="2147483733" r:id="rId3"/>
    <p:sldMasterId id="2147483763" r:id="rId4"/>
  </p:sldMasterIdLst>
  <p:notesMasterIdLst>
    <p:notesMasterId r:id="rId55"/>
  </p:notesMasterIdLst>
  <p:sldIdLst>
    <p:sldId id="257" r:id="rId5"/>
    <p:sldId id="258" r:id="rId6"/>
    <p:sldId id="259" r:id="rId7"/>
    <p:sldId id="260" r:id="rId8"/>
    <p:sldId id="268" r:id="rId9"/>
    <p:sldId id="294" r:id="rId10"/>
    <p:sldId id="296" r:id="rId11"/>
    <p:sldId id="297" r:id="rId12"/>
    <p:sldId id="307" r:id="rId13"/>
    <p:sldId id="298" r:id="rId14"/>
    <p:sldId id="299" r:id="rId15"/>
    <p:sldId id="276" r:id="rId16"/>
    <p:sldId id="261" r:id="rId17"/>
    <p:sldId id="278" r:id="rId18"/>
    <p:sldId id="300" r:id="rId19"/>
    <p:sldId id="262" r:id="rId20"/>
    <p:sldId id="263" r:id="rId21"/>
    <p:sldId id="264" r:id="rId22"/>
    <p:sldId id="265" r:id="rId23"/>
    <p:sldId id="304" r:id="rId24"/>
    <p:sldId id="266" r:id="rId25"/>
    <p:sldId id="267" r:id="rId26"/>
    <p:sldId id="269" r:id="rId27"/>
    <p:sldId id="271" r:id="rId28"/>
    <p:sldId id="270" r:id="rId29"/>
    <p:sldId id="272" r:id="rId30"/>
    <p:sldId id="305" r:id="rId31"/>
    <p:sldId id="273" r:id="rId32"/>
    <p:sldId id="277" r:id="rId33"/>
    <p:sldId id="289" r:id="rId34"/>
    <p:sldId id="274" r:id="rId35"/>
    <p:sldId id="275" r:id="rId36"/>
    <p:sldId id="279" r:id="rId37"/>
    <p:sldId id="280" r:id="rId38"/>
    <p:sldId id="281" r:id="rId39"/>
    <p:sldId id="282" r:id="rId40"/>
    <p:sldId id="283" r:id="rId41"/>
    <p:sldId id="291" r:id="rId42"/>
    <p:sldId id="292" r:id="rId43"/>
    <p:sldId id="293" r:id="rId44"/>
    <p:sldId id="290" r:id="rId45"/>
    <p:sldId id="284" r:id="rId46"/>
    <p:sldId id="302" r:id="rId47"/>
    <p:sldId id="285" r:id="rId48"/>
    <p:sldId id="303" r:id="rId49"/>
    <p:sldId id="295" r:id="rId50"/>
    <p:sldId id="301" r:id="rId51"/>
    <p:sldId id="287" r:id="rId52"/>
    <p:sldId id="288" r:id="rId53"/>
    <p:sldId id="306" r:id="rId54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26C"/>
    <a:srgbClr val="E5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43" autoAdjust="0"/>
    <p:restoredTop sz="94673" autoAdjust="0"/>
  </p:normalViewPr>
  <p:slideViewPr>
    <p:cSldViewPr showGuides="1">
      <p:cViewPr varScale="1">
        <p:scale>
          <a:sx n="70" d="100"/>
          <a:sy n="70" d="100"/>
        </p:scale>
        <p:origin x="93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howGuides="1">
      <p:cViewPr varScale="1">
        <p:scale>
          <a:sx n="98" d="100"/>
          <a:sy n="98" d="100"/>
        </p:scale>
        <p:origin x="-351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1C7F656-6C7C-4016-B601-23B462E6BC26}" type="datetimeFigureOut">
              <a:rPr lang="cs-CZ" smtClean="0"/>
              <a:pPr/>
              <a:t>20.03.2026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319F00E-1642-4F00-B8AC-7581C0C92EAE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3786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E0FFFC-B299-4DB4-A5A2-5FE0A233D244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0180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19F00E-1642-4F00-B8AC-7581C0C92EAE}" type="slidenum">
              <a:rPr lang="cs-CZ" smtClean="0"/>
              <a:pPr/>
              <a:t>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31208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311807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76740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6824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0943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7794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619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2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9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13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69699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9295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5851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69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96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62114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48070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624145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968323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78819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79065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4328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8953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42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7302563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806096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225935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46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27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022263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103820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376351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518962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412993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014760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748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659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3687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2170547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774053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683218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34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9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688960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961573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843512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4917918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737352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069903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8607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6155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018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0546098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94504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621723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705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6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9370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694" r:id="rId2"/>
    <p:sldLayoutId id="2147483728" r:id="rId3"/>
    <p:sldLayoutId id="2147483726" r:id="rId4"/>
    <p:sldLayoutId id="2147483695" r:id="rId5"/>
    <p:sldLayoutId id="2147483696" r:id="rId6"/>
    <p:sldLayoutId id="2147483723" r:id="rId7"/>
    <p:sldLayoutId id="2147483729" r:id="rId8"/>
    <p:sldLayoutId id="2147483732" r:id="rId9"/>
    <p:sldLayoutId id="2147483727" r:id="rId10"/>
    <p:sldLayoutId id="2147483697" r:id="rId11"/>
    <p:sldLayoutId id="2147483698" r:id="rId12"/>
    <p:sldLayoutId id="2147483730" r:id="rId13"/>
    <p:sldLayoutId id="2147483731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1" name="Skupina 30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3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74754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76495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4" name="Skupina 23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41237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>
          <a:xfrm>
            <a:off x="611188" y="1628801"/>
            <a:ext cx="7921252" cy="1368152"/>
          </a:xfrm>
        </p:spPr>
        <p:txBody>
          <a:bodyPr>
            <a:normAutofit/>
          </a:bodyPr>
          <a:lstStyle/>
          <a:p>
            <a:r>
              <a:rPr lang="en-US" dirty="0"/>
              <a:t>Windows Authentication Concepts</a:t>
            </a:r>
            <a:endParaRPr lang="cs-CZ" dirty="0"/>
          </a:p>
        </p:txBody>
      </p:sp>
      <p:sp>
        <p:nvSpPr>
          <p:cNvPr id="7" name="Podnadpis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GOPAS: info@gopas</a:t>
            </a:r>
            <a:r>
              <a:rPr lang="en-US"/>
              <a:t>.</a:t>
            </a:r>
            <a:r>
              <a:rPr lang="cs-CZ"/>
              <a:t>cz </a:t>
            </a:r>
            <a:r>
              <a:rPr lang="en-US" dirty="0"/>
              <a:t>|</a:t>
            </a:r>
            <a:r>
              <a:rPr lang="cs-CZ" dirty="0"/>
              <a:t> www.gopas.cz</a:t>
            </a:r>
            <a:r>
              <a:rPr lang="en-US" dirty="0"/>
              <a:t> |</a:t>
            </a:r>
            <a:r>
              <a:rPr lang="cs-CZ" dirty="0"/>
              <a:t> www.facebook.com/P.S.GOPAS</a:t>
            </a:r>
          </a:p>
        </p:txBody>
      </p:sp>
      <p:sp>
        <p:nvSpPr>
          <p:cNvPr id="8" name="Zástupný symbol pro text 7"/>
          <p:cNvSpPr>
            <a:spLocks noGrp="1"/>
          </p:cNvSpPr>
          <p:nvPr>
            <p:ph type="body" sz="quarter" idx="10"/>
          </p:nvPr>
        </p:nvSpPr>
        <p:spPr>
          <a:xfrm>
            <a:off x="611188" y="3285232"/>
            <a:ext cx="7921625" cy="2015976"/>
          </a:xfrm>
        </p:spPr>
        <p:txBody>
          <a:bodyPr/>
          <a:lstStyle/>
          <a:p>
            <a:r>
              <a:rPr lang="en-US" dirty="0"/>
              <a:t>Ing. </a:t>
            </a:r>
            <a:r>
              <a:rPr lang="en-US" dirty="0" err="1"/>
              <a:t>Ond</a:t>
            </a:r>
            <a:r>
              <a:rPr lang="cs-CZ" dirty="0" err="1"/>
              <a:t>řej</a:t>
            </a:r>
            <a:r>
              <a:rPr lang="cs-CZ" dirty="0"/>
              <a:t> Ševeček </a:t>
            </a:r>
            <a:r>
              <a:rPr lang="en-US" dirty="0"/>
              <a:t>| GOPAS a.s. |</a:t>
            </a:r>
          </a:p>
          <a:p>
            <a:r>
              <a:rPr lang="en-US" sz="1600" dirty="0"/>
              <a:t>MCSM:Directory2012 | MCM:Directory2008 | </a:t>
            </a:r>
            <a:r>
              <a:rPr lang="en-US" sz="1600" dirty="0" err="1"/>
              <a:t>MVP:Enterprise</a:t>
            </a:r>
            <a:r>
              <a:rPr lang="en-US" sz="1600" dirty="0"/>
              <a:t> Security | </a:t>
            </a:r>
            <a:r>
              <a:rPr lang="cs-CZ" sz="1600" dirty="0"/>
              <a:t>CEH: </a:t>
            </a:r>
            <a:r>
              <a:rPr lang="en-US" sz="1600" dirty="0"/>
              <a:t>Certified Ethical Hacker |</a:t>
            </a:r>
            <a:r>
              <a:rPr lang="cs-CZ" sz="1600" dirty="0"/>
              <a:t> CHFI: </a:t>
            </a:r>
            <a:r>
              <a:rPr lang="cs-CZ" sz="1600" dirty="0" err="1"/>
              <a:t>Computer</a:t>
            </a:r>
            <a:r>
              <a:rPr lang="cs-CZ" sz="1600" dirty="0"/>
              <a:t> </a:t>
            </a:r>
            <a:r>
              <a:rPr lang="cs-CZ" sz="1600" dirty="0" err="1"/>
              <a:t>Hacking</a:t>
            </a:r>
            <a:r>
              <a:rPr lang="cs-CZ" sz="1600" dirty="0"/>
              <a:t> </a:t>
            </a:r>
            <a:r>
              <a:rPr lang="cs-CZ" sz="1600" dirty="0" err="1"/>
              <a:t>Forensic</a:t>
            </a:r>
            <a:r>
              <a:rPr lang="cs-CZ" sz="1600" dirty="0"/>
              <a:t> </a:t>
            </a:r>
            <a:r>
              <a:rPr lang="cs-CZ" sz="1600" dirty="0" err="1"/>
              <a:t>Investigator</a:t>
            </a:r>
            <a:r>
              <a:rPr lang="cs-CZ" sz="1600" dirty="0"/>
              <a:t> </a:t>
            </a:r>
            <a:r>
              <a:rPr lang="en-US" sz="1600" dirty="0"/>
              <a:t>|</a:t>
            </a:r>
            <a:r>
              <a:rPr lang="cs-CZ" sz="1600" dirty="0"/>
              <a:t> CISA </a:t>
            </a:r>
            <a:r>
              <a:rPr lang="en-US" sz="1600" dirty="0"/>
              <a:t>|</a:t>
            </a:r>
          </a:p>
          <a:p>
            <a:r>
              <a:rPr lang="en-US" dirty="0"/>
              <a:t>ondrej@sevecek.com | www.sevecek.com |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02814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Active Directory domain environment</a:t>
            </a:r>
          </a:p>
          <a:p>
            <a:pPr lvl="1"/>
            <a:r>
              <a:rPr lang="en-US" dirty="0"/>
              <a:t>Windows 2000 DFL+</a:t>
            </a:r>
          </a:p>
          <a:p>
            <a:r>
              <a:rPr lang="en-US" dirty="0"/>
              <a:t>Windows 2000+ machines</a:t>
            </a:r>
          </a:p>
          <a:p>
            <a:r>
              <a:rPr lang="en-US" dirty="0"/>
              <a:t>RODC</a:t>
            </a:r>
          </a:p>
          <a:p>
            <a:r>
              <a:rPr lang="en-US" dirty="0"/>
              <a:t>AD trusts</a:t>
            </a:r>
          </a:p>
          <a:p>
            <a:r>
              <a:rPr lang="en-US" dirty="0"/>
              <a:t>AAD synchronized accounts (AAD Connect)</a:t>
            </a:r>
          </a:p>
          <a:p>
            <a:pPr lvl="1"/>
            <a:r>
              <a:rPr lang="en-US" dirty="0"/>
              <a:t>Windows Hello </a:t>
            </a:r>
            <a:r>
              <a:rPr lang="en-US"/>
              <a:t>for Business (WHB)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7209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Authenticated scenarios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(interactive) logon</a:t>
            </a:r>
          </a:p>
          <a:p>
            <a:r>
              <a:rPr lang="en-US" dirty="0"/>
              <a:t>Remote desktop logon</a:t>
            </a:r>
          </a:p>
          <a:p>
            <a:r>
              <a:rPr lang="en-US" dirty="0"/>
              <a:t>AD LDAP queries</a:t>
            </a:r>
          </a:p>
          <a:p>
            <a:r>
              <a:rPr lang="en-US" dirty="0"/>
              <a:t>File sharing</a:t>
            </a:r>
          </a:p>
          <a:p>
            <a:r>
              <a:rPr lang="en-US" dirty="0"/>
              <a:t>Remote administration over SMB, DCOM</a:t>
            </a:r>
          </a:p>
          <a:p>
            <a:r>
              <a:rPr lang="en-US" dirty="0"/>
              <a:t>WMI, PowerShell Remoting (</a:t>
            </a:r>
            <a:r>
              <a:rPr lang="en-US" dirty="0" err="1"/>
              <a:t>WinRM</a:t>
            </a:r>
            <a:r>
              <a:rPr lang="en-US" dirty="0"/>
              <a:t>)</a:t>
            </a:r>
          </a:p>
          <a:p>
            <a:r>
              <a:rPr lang="en-US" dirty="0"/>
              <a:t>AD CS certificate enrollment</a:t>
            </a:r>
          </a:p>
          <a:p>
            <a:r>
              <a:rPr lang="en-US" dirty="0"/>
              <a:t>DNS secure dynamic update</a:t>
            </a:r>
          </a:p>
          <a:p>
            <a:r>
              <a:rPr lang="en-US" dirty="0"/>
              <a:t>IIS</a:t>
            </a:r>
          </a:p>
          <a:p>
            <a:r>
              <a:rPr lang="en-US" dirty="0"/>
              <a:t>SQL server, Exchange, SharePoint, Lync, …</a:t>
            </a:r>
          </a:p>
          <a:p>
            <a:endParaRPr lang="en-US" dirty="0"/>
          </a:p>
          <a:p>
            <a:endParaRPr lang="en-US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0036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Anonymous scenarios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ping</a:t>
            </a:r>
          </a:p>
          <a:p>
            <a:r>
              <a:rPr lang="en-US" dirty="0"/>
              <a:t>DNS queries</a:t>
            </a:r>
          </a:p>
          <a:p>
            <a:r>
              <a:rPr lang="en-US" dirty="0"/>
              <a:t>DHCP queries</a:t>
            </a:r>
          </a:p>
          <a:p>
            <a:r>
              <a:rPr lang="en-US" dirty="0"/>
              <a:t>NetBIOS name resolution</a:t>
            </a:r>
            <a:endParaRPr lang="cs-CZ" dirty="0"/>
          </a:p>
          <a:p>
            <a:r>
              <a:rPr lang="en-US"/>
              <a:t>LLMNR</a:t>
            </a:r>
          </a:p>
          <a:p>
            <a:endParaRPr lang="en-US" dirty="0"/>
          </a:p>
          <a:p>
            <a:r>
              <a:rPr lang="en-US" dirty="0"/>
              <a:t>computer browsing</a:t>
            </a:r>
          </a:p>
          <a:p>
            <a:r>
              <a:rPr lang="en-US" dirty="0"/>
              <a:t>messenger</a:t>
            </a:r>
          </a:p>
          <a:p>
            <a:r>
              <a:rPr lang="en-US" dirty="0"/>
              <a:t>enumeration of user accounts and shares on Windows NT 4.0</a:t>
            </a:r>
          </a:p>
          <a:p>
            <a:r>
              <a:rPr lang="en-US" dirty="0"/>
              <a:t>anonymous LDAP queries if enabled</a:t>
            </a:r>
          </a:p>
          <a:p>
            <a:r>
              <a:rPr lang="en-US" dirty="0"/>
              <a:t>anonymous SMB access if enabled</a:t>
            </a:r>
          </a:p>
        </p:txBody>
      </p:sp>
    </p:spTree>
    <p:extLst>
      <p:ext uri="{BB962C8B-B14F-4D97-AF65-F5344CB8AC3E}">
        <p14:creationId xmlns:p14="http://schemas.microsoft.com/office/powerpoint/2010/main" val="2407420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SSO (single-sign-on)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Minimize use of secure authentication information</a:t>
            </a:r>
          </a:p>
          <a:p>
            <a:pPr lvl="1"/>
            <a:r>
              <a:rPr lang="en-US" dirty="0"/>
              <a:t>ISO/IEC 27001, NIST 800-53, …</a:t>
            </a:r>
          </a:p>
          <a:p>
            <a:r>
              <a:rPr lang="en-US" dirty="0"/>
              <a:t>Limits password/PIN exposure</a:t>
            </a:r>
          </a:p>
          <a:p>
            <a:r>
              <a:rPr lang="en-US" dirty="0"/>
              <a:t>Limits user's incentives to store passwords on local systems</a:t>
            </a:r>
          </a:p>
          <a:p>
            <a:pPr lvl="1"/>
            <a:r>
              <a:rPr lang="en-US" dirty="0"/>
              <a:t>or write them down</a:t>
            </a:r>
          </a:p>
        </p:txBody>
      </p:sp>
    </p:spTree>
    <p:extLst>
      <p:ext uri="{BB962C8B-B14F-4D97-AF65-F5344CB8AC3E}">
        <p14:creationId xmlns:p14="http://schemas.microsoft.com/office/powerpoint/2010/main" val="949368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Channel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TLS/SSL</a:t>
            </a:r>
          </a:p>
          <a:p>
            <a:pPr lvl="1"/>
            <a:r>
              <a:rPr lang="en-US" dirty="0"/>
              <a:t>HTTPS, RDP, LDAPS, …</a:t>
            </a:r>
          </a:p>
          <a:p>
            <a:r>
              <a:rPr lang="en-US" dirty="0" err="1"/>
              <a:t>IPSec</a:t>
            </a:r>
            <a:endParaRPr lang="en-US" dirty="0"/>
          </a:p>
          <a:p>
            <a:r>
              <a:rPr lang="en-US" dirty="0"/>
              <a:t>SASL / GSS-API</a:t>
            </a:r>
          </a:p>
          <a:p>
            <a:pPr lvl="1"/>
            <a:r>
              <a:rPr lang="en-US" dirty="0"/>
              <a:t>integrated API for </a:t>
            </a:r>
            <a:r>
              <a:rPr lang="en-US" dirty="0">
                <a:solidFill>
                  <a:schemeClr val="accent1"/>
                </a:solidFill>
              </a:rPr>
              <a:t>signing</a:t>
            </a:r>
            <a:r>
              <a:rPr lang="en-US" dirty="0"/>
              <a:t> (message authenticity) and </a:t>
            </a:r>
            <a:r>
              <a:rPr lang="en-US" dirty="0">
                <a:solidFill>
                  <a:schemeClr val="accent1"/>
                </a:solidFill>
              </a:rPr>
              <a:t>sealing</a:t>
            </a:r>
            <a:r>
              <a:rPr lang="en-US" dirty="0"/>
              <a:t> (encryption) of the channel</a:t>
            </a:r>
          </a:p>
          <a:p>
            <a:pPr lvl="1"/>
            <a:r>
              <a:rPr lang="en-US" dirty="0"/>
              <a:t>keys generated by the authentication method in use</a:t>
            </a:r>
          </a:p>
          <a:p>
            <a:pPr lvl="1"/>
            <a:r>
              <a:rPr lang="en-US" dirty="0"/>
              <a:t>SMB signing, SMBv3 encryption, LDAP signing, DCOM, WMI, PPTP MPPE, SQL, AD CS, Exchange RPC, AD 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192" y="5452482"/>
            <a:ext cx="84352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PowerShell</a:t>
            </a:r>
          </a:p>
          <a:p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gwmi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Win32_LogicalDisk -Comp gps-data1 -Authentication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PacketPrivacy</a:t>
            </a: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gwmi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Win32_LogicalDisk -Comp gps-data1 -Authentication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PacketIntegrity</a:t>
            </a: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106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Domain controllers: LDAP server signing requirements</a:t>
            </a:r>
            <a:endParaRPr lang="cs-CZ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181013"/>
            <a:ext cx="6984776" cy="567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7037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Network security: LDAP client </a:t>
            </a:r>
            <a:r>
              <a:rPr lang="en-US" sz="2400" dirty="0">
                <a:solidFill>
                  <a:schemeClr val="accent1"/>
                </a:solidFill>
              </a:rPr>
              <a:t>signing</a:t>
            </a:r>
            <a:r>
              <a:rPr lang="en-US" sz="2400" dirty="0"/>
              <a:t> requirements</a:t>
            </a:r>
            <a:endParaRPr lang="cs-CZ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182869"/>
            <a:ext cx="6984776" cy="5675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46259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B831-A4FF-0A67-3189-E3F707182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Network security: LDAP client </a:t>
            </a:r>
            <a:r>
              <a:rPr lang="en-US" sz="2400" dirty="0">
                <a:solidFill>
                  <a:schemeClr val="accent1"/>
                </a:solidFill>
              </a:rPr>
              <a:t>encryption</a:t>
            </a:r>
            <a:r>
              <a:rPr lang="en-US" sz="2400" dirty="0"/>
              <a:t>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33722-215E-8081-AA45-020110603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FA1D2-2018-23BD-4E3D-F76627CB2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47" y="1412776"/>
            <a:ext cx="9149547" cy="54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08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Domain member: Digitally encrypt or sign secure channel data (always)</a:t>
            </a:r>
            <a:endParaRPr lang="cs-CZ" sz="20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915" y="1339059"/>
            <a:ext cx="6661685" cy="5409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7932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Microsoft network client: Digitally sign communications</a:t>
            </a:r>
            <a:br>
              <a:rPr lang="en-US" sz="1800" dirty="0"/>
            </a:br>
            <a:r>
              <a:rPr lang="en-US" sz="1800" dirty="0"/>
              <a:t>Microsoft network server: Digitally sign communications</a:t>
            </a:r>
            <a:endParaRPr lang="cs-CZ" sz="1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915" y="1208439"/>
            <a:ext cx="6661685" cy="5404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1176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 DS LDAP notes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Anonymous logon enabled by default with first forest DC 2003 and older</a:t>
            </a:r>
          </a:p>
          <a:p>
            <a:pPr lvl="1"/>
            <a:r>
              <a:rPr lang="en-US" dirty="0"/>
              <a:t>CN=Directory </a:t>
            </a:r>
            <a:r>
              <a:rPr lang="en-US" dirty="0" err="1"/>
              <a:t>Service,CN</a:t>
            </a:r>
            <a:r>
              <a:rPr lang="en-US" dirty="0"/>
              <a:t>=Windows NT,CN=</a:t>
            </a:r>
            <a:r>
              <a:rPr lang="en-US" dirty="0" err="1"/>
              <a:t>Services,CN</a:t>
            </a:r>
            <a:r>
              <a:rPr lang="en-US" dirty="0"/>
              <a:t>=</a:t>
            </a:r>
            <a:r>
              <a:rPr lang="en-US" dirty="0" err="1"/>
              <a:t>Configuration,DC</a:t>
            </a:r>
            <a:r>
              <a:rPr lang="en-US" dirty="0"/>
              <a:t>=</a:t>
            </a:r>
            <a:r>
              <a:rPr lang="en-US" dirty="0" err="1"/>
              <a:t>gopas,DC</a:t>
            </a:r>
            <a:r>
              <a:rPr lang="en-US" dirty="0"/>
              <a:t>=virtual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dSHeuristics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= ……2 </a:t>
            </a:r>
            <a:r>
              <a:rPr lang="en-US"/>
              <a:t>(seventh </a:t>
            </a:r>
            <a:r>
              <a:rPr lang="en-US" dirty="0"/>
              <a:t>2 = such as 0000002)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Pre-Windows 2000 Compatible Access </a:t>
            </a:r>
            <a:r>
              <a:rPr lang="en-US" dirty="0"/>
              <a:t>group contains </a:t>
            </a:r>
            <a:r>
              <a:rPr lang="en-US" dirty="0">
                <a:solidFill>
                  <a:schemeClr val="accent1"/>
                </a:solidFill>
              </a:rPr>
              <a:t>Anonymous Logon</a:t>
            </a:r>
          </a:p>
          <a:p>
            <a:r>
              <a:rPr lang="en-US" dirty="0"/>
              <a:t>Simple bind over clear-channel can be disabled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Domain Controller: LDAP server signing requirements </a:t>
            </a:r>
            <a:r>
              <a:rPr lang="en-US" dirty="0"/>
              <a:t>= Require signing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55220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 methods in Windows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Password</a:t>
            </a:r>
          </a:p>
          <a:p>
            <a:pPr lvl="1"/>
            <a:r>
              <a:rPr lang="en-US" dirty="0"/>
              <a:t>single factor</a:t>
            </a:r>
          </a:p>
          <a:p>
            <a:pPr lvl="1"/>
            <a:r>
              <a:rPr lang="en-US" dirty="0"/>
              <a:t>stored in AD or local SAM database as hash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NTLM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Kerberos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HTTP basic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AD LDAP simple bind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Digest</a:t>
            </a:r>
          </a:p>
          <a:p>
            <a:r>
              <a:rPr lang="en-US" dirty="0"/>
              <a:t>Certificate</a:t>
            </a:r>
          </a:p>
          <a:p>
            <a:pPr lvl="1"/>
            <a:r>
              <a:rPr lang="en-US" dirty="0"/>
              <a:t>single factor if not stored in smart card</a:t>
            </a:r>
          </a:p>
          <a:p>
            <a:pPr lvl="1"/>
            <a:r>
              <a:rPr lang="en-US" dirty="0"/>
              <a:t>PKI certificate's private key mapped to AD user account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TLS/SSL client certificate authentication </a:t>
            </a:r>
            <a:r>
              <a:rPr lang="en-US" dirty="0"/>
              <a:t>(SCHANNEL)</a:t>
            </a:r>
          </a:p>
          <a:p>
            <a:pPr lvl="1"/>
            <a:endParaRPr lang="en-US" dirty="0"/>
          </a:p>
          <a:p>
            <a:r>
              <a:rPr lang="en-US" dirty="0"/>
              <a:t>Smart card (Windows Hello for Business)</a:t>
            </a:r>
          </a:p>
          <a:p>
            <a:pPr lvl="1"/>
            <a:r>
              <a:rPr lang="en-US" dirty="0"/>
              <a:t>smart card / token / TPM</a:t>
            </a:r>
          </a:p>
          <a:p>
            <a:pPr lvl="1"/>
            <a:r>
              <a:rPr lang="en-US" dirty="0"/>
              <a:t>multi factor</a:t>
            </a:r>
          </a:p>
          <a:p>
            <a:pPr lvl="1"/>
            <a:r>
              <a:rPr lang="en-US" dirty="0"/>
              <a:t>PKI certificate's private key mapped to AD user account</a:t>
            </a:r>
          </a:p>
          <a:p>
            <a:pPr lvl="1"/>
            <a:r>
              <a:rPr lang="en-US" dirty="0"/>
              <a:t>AD </a:t>
            </a:r>
            <a:r>
              <a:rPr lang="en-US" dirty="0">
                <a:solidFill>
                  <a:schemeClr val="accent1"/>
                </a:solidFill>
              </a:rPr>
              <a:t>Kerberos</a:t>
            </a:r>
            <a:r>
              <a:rPr lang="en-US" dirty="0"/>
              <a:t> only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18114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Logins are "public" (paste </a:t>
            </a:r>
            <a:r>
              <a:rPr lang="en-US" dirty="0">
                <a:solidFill>
                  <a:schemeClr val="accent1"/>
                </a:solidFill>
              </a:rPr>
              <a:t>next slide</a:t>
            </a:r>
            <a:r>
              <a:rPr lang="en-US" dirty="0"/>
              <a:t> first)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domainSID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Get-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PrimaryDomainSID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(500..10000) | % { </a:t>
            </a:r>
          </a:p>
          <a:p>
            <a:pPr marL="0" indent="0">
              <a:buNone/>
            </a:pPr>
            <a:endParaRPr lang="cs-CZ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$user = New-</a:t>
            </a:r>
            <a:r>
              <a:rPr lang="cs-CZ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Security.Principal.SecurityIdentifier</a:t>
            </a: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domainSID</a:t>
            </a: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-$_</a:t>
            </a:r>
          </a:p>
          <a:p>
            <a:pPr marL="0" indent="0">
              <a:buNone/>
            </a:pP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$</a:t>
            </a:r>
            <a:r>
              <a:rPr lang="cs-CZ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errorActionPreference</a:t>
            </a: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'</a:t>
            </a:r>
            <a:r>
              <a:rPr lang="cs-CZ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SilentlyContinue</a:t>
            </a: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buNone/>
            </a:pP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$</a:t>
            </a:r>
            <a:r>
              <a:rPr lang="cs-CZ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user.Translate</a:t>
            </a: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([Type]::</a:t>
            </a:r>
            <a:r>
              <a:rPr lang="cs-CZ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GetType</a:t>
            </a: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cs-CZ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System.Security.Principal.NTAccount</a:t>
            </a: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')).</a:t>
            </a:r>
            <a:r>
              <a:rPr lang="cs-CZ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endParaRPr lang="cs-CZ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$</a:t>
            </a:r>
            <a:r>
              <a:rPr lang="cs-CZ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errorActionPreference</a:t>
            </a: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'</a:t>
            </a:r>
            <a:r>
              <a:rPr lang="cs-CZ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pPr marL="0" indent="0">
              <a:buNone/>
            </a:pPr>
            <a:r>
              <a:rPr lang="cs-CZ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cs-CZ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76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function for the previous 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global:Get-PrimaryDomainSID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# Note: this script obtains SID of the primary AD domain for the local computer. It works both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#       if the local computer is a domain member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DomainRole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1 or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DomainRole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3)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#       or if the local computer is a domain controller 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DomainRole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4 or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DomainRole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4).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#       The code works even under local user account and does not require calling user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#       to be domain account. This should also work on any AD domain regardless of language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#       mutation because, hopefully, the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krbtgt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account has always the same name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[string]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domainSID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$null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domainRole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gwmi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Win32_ComputerSystem | Select -Expand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DomainRole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isDomainMember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($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domainRole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-ne 0) -and ($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domainRole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-ne 2)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if ($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isDomainMember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[string] $domain 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gwmi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Win32_ComputerSystem | Select -Expand Domain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[string]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krbtgtSID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(New-Object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Security.Principal.NTAccount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$domain\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krbtgt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).Translate([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Security.Principal.SecurityIdentifier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]).Value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domainSID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krbtgtSID.SubString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(0,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krbtgtSID.LastIndexOf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('-'))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domainSID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5120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Multifactor authentication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or more independent things to be used</a:t>
            </a:r>
          </a:p>
          <a:p>
            <a:pPr lvl="1"/>
            <a:r>
              <a:rPr lang="en-US" dirty="0"/>
              <a:t>only smart card logon (PKINIT) in Windows natively</a:t>
            </a:r>
          </a:p>
          <a:p>
            <a:r>
              <a:rPr lang="en-US" dirty="0"/>
              <a:t>Must </a:t>
            </a:r>
            <a:r>
              <a:rPr lang="en-US" dirty="0">
                <a:solidFill>
                  <a:schemeClr val="accent1"/>
                </a:solidFill>
              </a:rPr>
              <a:t>know</a:t>
            </a:r>
            <a:r>
              <a:rPr lang="en-US" dirty="0"/>
              <a:t> the password (PIN)</a:t>
            </a:r>
          </a:p>
          <a:p>
            <a:r>
              <a:rPr lang="en-US" dirty="0"/>
              <a:t>Must </a:t>
            </a:r>
            <a:r>
              <a:rPr lang="en-US" dirty="0">
                <a:solidFill>
                  <a:schemeClr val="accent1"/>
                </a:solidFill>
              </a:rPr>
              <a:t>have</a:t>
            </a:r>
            <a:r>
              <a:rPr lang="en-US" dirty="0"/>
              <a:t> the card</a:t>
            </a:r>
          </a:p>
          <a:p>
            <a:pPr lvl="1"/>
            <a:r>
              <a:rPr lang="en-US" dirty="0"/>
              <a:t>cannot be copied</a:t>
            </a:r>
          </a:p>
          <a:p>
            <a:pPr lvl="1"/>
            <a:r>
              <a:rPr lang="en-US" dirty="0"/>
              <a:t>is not flash disk</a:t>
            </a:r>
          </a:p>
          <a:p>
            <a:pPr lvl="1"/>
            <a:r>
              <a:rPr lang="en-US" dirty="0"/>
              <a:t>contains cryptographic processor</a:t>
            </a:r>
          </a:p>
          <a:p>
            <a:pPr lvl="1"/>
            <a:r>
              <a:rPr lang="en-US" dirty="0"/>
              <a:t>must communicated with the processor in order to have</a:t>
            </a:r>
          </a:p>
          <a:p>
            <a:pPr lvl="2"/>
            <a:r>
              <a:rPr lang="en-US" dirty="0"/>
              <a:t>anything de/encrypted</a:t>
            </a:r>
          </a:p>
          <a:p>
            <a:pPr lvl="2"/>
            <a:r>
              <a:rPr lang="en-US" dirty="0"/>
              <a:t>private key </a:t>
            </a:r>
            <a:r>
              <a:rPr lang="en-US" dirty="0" err="1"/>
              <a:t>im</a:t>
            </a:r>
            <a:r>
              <a:rPr lang="en-US" dirty="0"/>
              <a:t>/exported</a:t>
            </a:r>
          </a:p>
          <a:p>
            <a:pPr lvl="1"/>
            <a:r>
              <a:rPr lang="en-US" dirty="0"/>
              <a:t>usually have PIN and "master" PIN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40483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multifactor authentication in Windows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Thumprint</a:t>
            </a:r>
            <a:endParaRPr lang="en-US" dirty="0"/>
          </a:p>
          <a:p>
            <a:r>
              <a:rPr lang="en-US" dirty="0"/>
              <a:t>RSA </a:t>
            </a:r>
            <a:r>
              <a:rPr lang="en-US" dirty="0" err="1"/>
              <a:t>SecureId</a:t>
            </a:r>
            <a:r>
              <a:rPr lang="en-US" dirty="0"/>
              <a:t> calculator</a:t>
            </a:r>
          </a:p>
          <a:p>
            <a:r>
              <a:rPr lang="en-US" dirty="0"/>
              <a:t>Retina?</a:t>
            </a:r>
          </a:p>
          <a:p>
            <a:r>
              <a:rPr lang="en-US" dirty="0"/>
              <a:t>SMS verification</a:t>
            </a:r>
          </a:p>
          <a:p>
            <a:r>
              <a:rPr lang="en-US" dirty="0"/>
              <a:t>APP verification</a:t>
            </a:r>
          </a:p>
          <a:p>
            <a:endParaRPr lang="en-US" dirty="0"/>
          </a:p>
          <a:p>
            <a:r>
              <a:rPr lang="en-US" dirty="0"/>
              <a:t>Always map to a </a:t>
            </a:r>
            <a:r>
              <a:rPr lang="en-US" dirty="0">
                <a:solidFill>
                  <a:schemeClr val="accent1"/>
                </a:solidFill>
              </a:rPr>
              <a:t>password</a:t>
            </a:r>
            <a:r>
              <a:rPr lang="en-US" dirty="0"/>
              <a:t> or </a:t>
            </a:r>
            <a:r>
              <a:rPr lang="en-US" dirty="0">
                <a:solidFill>
                  <a:schemeClr val="accent1"/>
                </a:solidFill>
              </a:rPr>
              <a:t>PKINIT</a:t>
            </a:r>
            <a:r>
              <a:rPr lang="en-US" dirty="0"/>
              <a:t> in Windows</a:t>
            </a:r>
          </a:p>
          <a:p>
            <a:pPr lvl="1"/>
            <a:r>
              <a:rPr lang="en-US" dirty="0"/>
              <a:t>AD does not authenticate with anything else</a:t>
            </a:r>
          </a:p>
          <a:p>
            <a:pPr lvl="1"/>
            <a:r>
              <a:rPr lang="en-US" dirty="0" err="1"/>
              <a:t>SecureId</a:t>
            </a:r>
            <a:r>
              <a:rPr lang="en-US" dirty="0"/>
              <a:t> for example synchronizes user passwords from AD to its own central store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35838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authentication against AD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Basic</a:t>
            </a:r>
          </a:p>
          <a:p>
            <a:pPr lvl="1"/>
            <a:r>
              <a:rPr lang="en-US" dirty="0"/>
              <a:t>full-text password sent over clear/encrypted channel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HTTP/SMTP/POP3/IMAP4 basic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LDAP simple bind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RDP, RDP SSO</a:t>
            </a:r>
            <a:r>
              <a:rPr lang="en-US" dirty="0"/>
              <a:t>, </a:t>
            </a:r>
            <a:r>
              <a:rPr lang="en-US" dirty="0" err="1">
                <a:solidFill>
                  <a:schemeClr val="accent1"/>
                </a:solidFill>
              </a:rPr>
              <a:t>CredSSP</a:t>
            </a:r>
            <a:r>
              <a:rPr lang="en-US" dirty="0">
                <a:solidFill>
                  <a:schemeClr val="accent1"/>
                </a:solidFill>
              </a:rPr>
              <a:t>, forms-based/cookie-based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RADIUS PAP</a:t>
            </a:r>
          </a:p>
          <a:p>
            <a:pPr lvl="1"/>
            <a:r>
              <a:rPr lang="en-US" dirty="0"/>
              <a:t>does not have SSO and SASL</a:t>
            </a:r>
          </a:p>
          <a:p>
            <a:r>
              <a:rPr lang="en-US" dirty="0"/>
              <a:t>NTLM</a:t>
            </a:r>
          </a:p>
          <a:p>
            <a:pPr lvl="1"/>
            <a:r>
              <a:rPr lang="en-US" dirty="0"/>
              <a:t>hashed password with random challenge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LM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NTLMv1</a:t>
            </a:r>
            <a:r>
              <a:rPr lang="en-US" dirty="0"/>
              <a:t>/</a:t>
            </a:r>
            <a:r>
              <a:rPr lang="en-US" dirty="0">
                <a:solidFill>
                  <a:schemeClr val="accent1"/>
                </a:solidFill>
              </a:rPr>
              <a:t>MS-CHAP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NTLMv2</a:t>
            </a:r>
            <a:r>
              <a:rPr lang="en-US" dirty="0"/>
              <a:t>/</a:t>
            </a:r>
            <a:r>
              <a:rPr lang="en-US" dirty="0">
                <a:solidFill>
                  <a:schemeClr val="accent1"/>
                </a:solidFill>
              </a:rPr>
              <a:t>MS-CHAPv2</a:t>
            </a:r>
          </a:p>
          <a:p>
            <a:r>
              <a:rPr lang="en-US" dirty="0"/>
              <a:t>Kerberos</a:t>
            </a:r>
          </a:p>
          <a:p>
            <a:pPr lvl="1"/>
            <a:r>
              <a:rPr lang="en-US" dirty="0"/>
              <a:t>hashed password encrypted timestamp</a:t>
            </a:r>
          </a:p>
          <a:p>
            <a:pPr lvl="1"/>
            <a:r>
              <a:rPr lang="en-US" dirty="0"/>
              <a:t>private key signature of timestamp (</a:t>
            </a:r>
            <a:r>
              <a:rPr lang="en-US" dirty="0">
                <a:solidFill>
                  <a:schemeClr val="accent1"/>
                </a:solidFill>
              </a:rPr>
              <a:t>PKINIT</a:t>
            </a:r>
            <a:r>
              <a:rPr lang="en-US" dirty="0"/>
              <a:t>)</a:t>
            </a:r>
          </a:p>
          <a:p>
            <a:r>
              <a:rPr lang="en-US" dirty="0"/>
              <a:t>TLS/SSL client certificate authentication</a:t>
            </a:r>
          </a:p>
          <a:p>
            <a:pPr lvl="1"/>
            <a:r>
              <a:rPr lang="en-US" dirty="0"/>
              <a:t>private key signature of server's challenge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HTTPS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EAP-TLS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AD FS</a:t>
            </a:r>
          </a:p>
          <a:p>
            <a:r>
              <a:rPr lang="en-US" dirty="0"/>
              <a:t>Digest</a:t>
            </a:r>
          </a:p>
          <a:p>
            <a:pPr lvl="1"/>
            <a:r>
              <a:rPr lang="en-US" dirty="0"/>
              <a:t>MD5 hashed password with random challenge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HTTP digest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CHAP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LDAP digest</a:t>
            </a:r>
            <a:endParaRPr lang="cs-CZ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380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authentication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DCy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DCx</a:t>
            </a:r>
            <a:endParaRPr lang="en-US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Down Arrow 11"/>
          <p:cNvSpPr/>
          <p:nvPr/>
        </p:nvSpPr>
        <p:spPr>
          <a:xfrm>
            <a:off x="4412468" y="3043300"/>
            <a:ext cx="288032" cy="121379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Rectangle 9"/>
          <p:cNvSpPr/>
          <p:nvPr/>
        </p:nvSpPr>
        <p:spPr>
          <a:xfrm>
            <a:off x="4572000" y="3292468"/>
            <a:ext cx="1368152" cy="3525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Secure Channel</a:t>
            </a:r>
            <a:endParaRPr lang="cs-CZ" sz="1100" dirty="0"/>
          </a:p>
        </p:txBody>
      </p:sp>
    </p:spTree>
    <p:extLst>
      <p:ext uri="{BB962C8B-B14F-4D97-AF65-F5344CB8AC3E}">
        <p14:creationId xmlns:p14="http://schemas.microsoft.com/office/powerpoint/2010/main" val="211831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channel and NLTEST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340768"/>
            <a:ext cx="8100417" cy="540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23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Delegation (double-hop)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Down Arrow 11"/>
          <p:cNvSpPr/>
          <p:nvPr/>
        </p:nvSpPr>
        <p:spPr>
          <a:xfrm>
            <a:off x="4412468" y="3043300"/>
            <a:ext cx="288032" cy="121379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Rectangle 12"/>
          <p:cNvSpPr/>
          <p:nvPr/>
        </p:nvSpPr>
        <p:spPr>
          <a:xfrm>
            <a:off x="7585992" y="1844824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Back-end</a:t>
            </a:r>
          </a:p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14" name="Right Arrow 13"/>
          <p:cNvSpPr/>
          <p:nvPr/>
        </p:nvSpPr>
        <p:spPr>
          <a:xfrm>
            <a:off x="5209728" y="2210036"/>
            <a:ext cx="2232248" cy="288032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Rectangle 14"/>
          <p:cNvSpPr/>
          <p:nvPr/>
        </p:nvSpPr>
        <p:spPr>
          <a:xfrm>
            <a:off x="7585992" y="4437112"/>
            <a:ext cx="1018456" cy="10184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7" name="Down Arrow 16"/>
          <p:cNvSpPr/>
          <p:nvPr/>
        </p:nvSpPr>
        <p:spPr>
          <a:xfrm>
            <a:off x="7951204" y="3043300"/>
            <a:ext cx="288032" cy="121379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7462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authentication risks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508520" y="1844824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4047256" y="1844824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4047256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08520" y="4437112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873732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1670992" y="2210036"/>
            <a:ext cx="2232248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Down Arrow 11"/>
          <p:cNvSpPr/>
          <p:nvPr/>
        </p:nvSpPr>
        <p:spPr>
          <a:xfrm>
            <a:off x="4412468" y="3043300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Rectangle 9"/>
          <p:cNvSpPr/>
          <p:nvPr/>
        </p:nvSpPr>
        <p:spPr>
          <a:xfrm>
            <a:off x="4788024" y="1376772"/>
            <a:ext cx="1507232" cy="745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Clear text password?</a:t>
            </a:r>
            <a:endParaRPr lang="cs-CZ" sz="1400" dirty="0"/>
          </a:p>
        </p:txBody>
      </p:sp>
      <p:sp>
        <p:nvSpPr>
          <p:cNvPr id="13" name="Rectangle 12"/>
          <p:cNvSpPr/>
          <p:nvPr/>
        </p:nvSpPr>
        <p:spPr>
          <a:xfrm>
            <a:off x="5225008" y="2071192"/>
            <a:ext cx="1507232" cy="745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Weak password hash?</a:t>
            </a:r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15914536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Client tools should not obtain full-text passwords on SSO</a:t>
            </a:r>
            <a:endParaRPr lang="cs-CZ" dirty="0"/>
          </a:p>
        </p:txBody>
      </p:sp>
      <p:sp>
        <p:nvSpPr>
          <p:cNvPr id="4" name="Rectangle 3"/>
          <p:cNvSpPr/>
          <p:nvPr/>
        </p:nvSpPr>
        <p:spPr>
          <a:xfrm>
            <a:off x="2051720" y="2420888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5" name="Rectangle 4"/>
          <p:cNvSpPr/>
          <p:nvPr/>
        </p:nvSpPr>
        <p:spPr>
          <a:xfrm>
            <a:off x="5590456" y="2420888"/>
            <a:ext cx="1018456" cy="10184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6" name="Rectangle 5"/>
          <p:cNvSpPr/>
          <p:nvPr/>
        </p:nvSpPr>
        <p:spPr>
          <a:xfrm>
            <a:off x="5590456" y="5013176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2051720" y="5013176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8" name="Down Arrow 7"/>
          <p:cNvSpPr/>
          <p:nvPr/>
        </p:nvSpPr>
        <p:spPr>
          <a:xfrm>
            <a:off x="2416932" y="3619364"/>
            <a:ext cx="288032" cy="1213792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ight Arrow 10"/>
          <p:cNvSpPr/>
          <p:nvPr/>
        </p:nvSpPr>
        <p:spPr>
          <a:xfrm>
            <a:off x="3214192" y="2786100"/>
            <a:ext cx="2232248" cy="288032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Down Arrow 11"/>
          <p:cNvSpPr/>
          <p:nvPr/>
        </p:nvSpPr>
        <p:spPr>
          <a:xfrm>
            <a:off x="5955668" y="3619364"/>
            <a:ext cx="288032" cy="1213792"/>
          </a:xfrm>
          <a:prstGeom prst="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Rectangle 9"/>
          <p:cNvSpPr/>
          <p:nvPr/>
        </p:nvSpPr>
        <p:spPr>
          <a:xfrm>
            <a:off x="1053716" y="1867998"/>
            <a:ext cx="1507232" cy="745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Hacked IE?</a:t>
            </a:r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4065185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LSASS (local security authority sub system)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Trusted security subsystem</a:t>
            </a:r>
          </a:p>
          <a:p>
            <a:r>
              <a:rPr lang="en-US" dirty="0"/>
              <a:t>Accepts logon credentials from CTRL-ALT-DEL</a:t>
            </a:r>
          </a:p>
          <a:p>
            <a:pPr lvl="1"/>
            <a:r>
              <a:rPr lang="en-US" dirty="0"/>
              <a:t>GINA.DLL</a:t>
            </a:r>
          </a:p>
          <a:p>
            <a:pPr lvl="1"/>
            <a:r>
              <a:rPr lang="en-US" dirty="0"/>
              <a:t>Credentials provider .DLL since Windows Vista+</a:t>
            </a:r>
          </a:p>
          <a:p>
            <a:r>
              <a:rPr lang="en-US" dirty="0"/>
              <a:t>Validates credentials with local SAM or with remote DC</a:t>
            </a:r>
          </a:p>
          <a:p>
            <a:r>
              <a:rPr lang="en-US" dirty="0"/>
              <a:t>Works as a trusted client-server service</a:t>
            </a:r>
          </a:p>
          <a:p>
            <a:r>
              <a:rPr lang="en-US" dirty="0"/>
              <a:t>HKLM\System\CCS\Control\LSA</a:t>
            </a:r>
          </a:p>
          <a:p>
            <a:r>
              <a:rPr lang="en-US" dirty="0"/>
              <a:t>Computes </a:t>
            </a:r>
            <a:r>
              <a:rPr lang="en-US" dirty="0">
                <a:solidFill>
                  <a:schemeClr val="accent1"/>
                </a:solidFill>
              </a:rPr>
              <a:t>hashes</a:t>
            </a:r>
            <a:r>
              <a:rPr lang="en-US" dirty="0"/>
              <a:t> and/or stores </a:t>
            </a:r>
            <a:r>
              <a:rPr lang="en-US" dirty="0">
                <a:solidFill>
                  <a:schemeClr val="accent1"/>
                </a:solidFill>
              </a:rPr>
              <a:t>full-text</a:t>
            </a:r>
            <a:r>
              <a:rPr lang="en-US" dirty="0"/>
              <a:t> credentials and </a:t>
            </a:r>
            <a:r>
              <a:rPr lang="en-US" dirty="0">
                <a:solidFill>
                  <a:schemeClr val="accent1"/>
                </a:solidFill>
              </a:rPr>
              <a:t>tickets</a:t>
            </a:r>
            <a:r>
              <a:rPr lang="en-US" dirty="0"/>
              <a:t> for SSP (Security Support Provider) packages</a:t>
            </a:r>
          </a:p>
          <a:p>
            <a:pPr lvl="1"/>
            <a:r>
              <a:rPr lang="en-US" dirty="0"/>
              <a:t>full-text - </a:t>
            </a:r>
            <a:r>
              <a:rPr lang="en-US" dirty="0" err="1"/>
              <a:t>wdigest</a:t>
            </a:r>
            <a:r>
              <a:rPr lang="en-US" dirty="0"/>
              <a:t>, </a:t>
            </a:r>
            <a:r>
              <a:rPr lang="en-US" dirty="0" err="1"/>
              <a:t>tspkg</a:t>
            </a:r>
            <a:endParaRPr lang="en-US" dirty="0"/>
          </a:p>
          <a:p>
            <a:pPr lvl="1"/>
            <a:r>
              <a:rPr lang="en-US" dirty="0"/>
              <a:t>MD4 - NTLM (msv1_0), Kerberos for RC4/DES</a:t>
            </a:r>
          </a:p>
          <a:p>
            <a:pPr lvl="1"/>
            <a:r>
              <a:rPr lang="en-US" dirty="0"/>
              <a:t>SHA-1 - Kerberos for AES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21478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590456" y="2272782"/>
            <a:ext cx="1018456" cy="17379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22" name="Rectangle 21"/>
          <p:cNvSpPr/>
          <p:nvPr/>
        </p:nvSpPr>
        <p:spPr>
          <a:xfrm>
            <a:off x="5693244" y="3349974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WebSrv</a:t>
            </a:r>
            <a:endParaRPr lang="cs-CZ" sz="1050" dirty="0"/>
          </a:p>
        </p:txBody>
      </p:sp>
      <p:sp>
        <p:nvSpPr>
          <p:cNvPr id="23" name="Rectangle 22"/>
          <p:cNvSpPr/>
          <p:nvPr/>
        </p:nvSpPr>
        <p:spPr>
          <a:xfrm>
            <a:off x="5770476" y="3068960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SmbSrv</a:t>
            </a:r>
            <a:endParaRPr lang="cs-CZ" sz="1050" dirty="0"/>
          </a:p>
        </p:txBody>
      </p:sp>
      <p:sp>
        <p:nvSpPr>
          <p:cNvPr id="30" name="Rectangle 29"/>
          <p:cNvSpPr/>
          <p:nvPr/>
        </p:nvSpPr>
        <p:spPr>
          <a:xfrm>
            <a:off x="5675294" y="2788362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SQLSrv</a:t>
            </a:r>
            <a:endParaRPr lang="cs-CZ" sz="1050" dirty="0"/>
          </a:p>
        </p:txBody>
      </p:sp>
      <p:sp>
        <p:nvSpPr>
          <p:cNvPr id="24" name="Rectangle 23"/>
          <p:cNvSpPr/>
          <p:nvPr/>
        </p:nvSpPr>
        <p:spPr>
          <a:xfrm>
            <a:off x="7027926" y="3522848"/>
            <a:ext cx="1658874" cy="115858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1100" dirty="0"/>
              <a:t>Secure Channel</a:t>
            </a:r>
            <a:endParaRPr lang="cs-CZ" sz="11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LSAS (local security authority sub system)</a:t>
            </a:r>
            <a:endParaRPr lang="cs-CZ" dirty="0"/>
          </a:p>
        </p:txBody>
      </p:sp>
      <p:sp>
        <p:nvSpPr>
          <p:cNvPr id="5" name="Rectangle 4"/>
          <p:cNvSpPr/>
          <p:nvPr/>
        </p:nvSpPr>
        <p:spPr>
          <a:xfrm>
            <a:off x="2051720" y="2272781"/>
            <a:ext cx="1018456" cy="1737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590456" y="5013176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0" name="Right Arrow 9"/>
          <p:cNvSpPr/>
          <p:nvPr/>
        </p:nvSpPr>
        <p:spPr>
          <a:xfrm>
            <a:off x="3213992" y="1767644"/>
            <a:ext cx="2232248" cy="2309428"/>
          </a:xfrm>
          <a:prstGeom prst="rightArrow">
            <a:avLst>
              <a:gd name="adj1" fmla="val 50000"/>
              <a:gd name="adj2" fmla="val 88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HTTP, SMB, DCOM</a:t>
            </a:r>
            <a:endParaRPr lang="cs-CZ" sz="1200" dirty="0"/>
          </a:p>
        </p:txBody>
      </p:sp>
      <p:sp>
        <p:nvSpPr>
          <p:cNvPr id="12" name="Rectangle 11"/>
          <p:cNvSpPr/>
          <p:nvPr/>
        </p:nvSpPr>
        <p:spPr>
          <a:xfrm>
            <a:off x="251520" y="1270382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4" name="Rectangle 13"/>
          <p:cNvSpPr/>
          <p:nvPr/>
        </p:nvSpPr>
        <p:spPr>
          <a:xfrm>
            <a:off x="6243700" y="1270382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5" name="Rectangle 14"/>
          <p:cNvSpPr/>
          <p:nvPr/>
        </p:nvSpPr>
        <p:spPr>
          <a:xfrm>
            <a:off x="6533344" y="5373216"/>
            <a:ext cx="2180928" cy="13064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6" name="Rectangle 15"/>
          <p:cNvSpPr/>
          <p:nvPr/>
        </p:nvSpPr>
        <p:spPr>
          <a:xfrm>
            <a:off x="1138028" y="1412776"/>
            <a:ext cx="1157300" cy="4268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full-text pwd</a:t>
            </a:r>
            <a:endParaRPr lang="cs-CZ" sz="1200" dirty="0"/>
          </a:p>
        </p:txBody>
      </p:sp>
      <p:sp>
        <p:nvSpPr>
          <p:cNvPr id="17" name="Rectangle 16"/>
          <p:cNvSpPr/>
          <p:nvPr/>
        </p:nvSpPr>
        <p:spPr>
          <a:xfrm>
            <a:off x="1138028" y="1895760"/>
            <a:ext cx="1157300" cy="4268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pwd #</a:t>
            </a:r>
            <a:endParaRPr lang="cs-CZ" sz="1200" dirty="0"/>
          </a:p>
        </p:txBody>
      </p:sp>
      <p:sp>
        <p:nvSpPr>
          <p:cNvPr id="18" name="Right Arrow 17"/>
          <p:cNvSpPr/>
          <p:nvPr/>
        </p:nvSpPr>
        <p:spPr>
          <a:xfrm>
            <a:off x="1835696" y="2347574"/>
            <a:ext cx="5328592" cy="48429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In-band transport</a:t>
            </a:r>
            <a:endParaRPr lang="cs-CZ" sz="1100" dirty="0"/>
          </a:p>
        </p:txBody>
      </p:sp>
      <p:sp>
        <p:nvSpPr>
          <p:cNvPr id="19" name="Rectangle 18"/>
          <p:cNvSpPr/>
          <p:nvPr/>
        </p:nvSpPr>
        <p:spPr>
          <a:xfrm>
            <a:off x="2537874" y="2801530"/>
            <a:ext cx="426876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IE</a:t>
            </a:r>
            <a:endParaRPr lang="cs-CZ" sz="1050" dirty="0"/>
          </a:p>
        </p:txBody>
      </p:sp>
      <p:sp>
        <p:nvSpPr>
          <p:cNvPr id="20" name="Rectangle 19"/>
          <p:cNvSpPr/>
          <p:nvPr/>
        </p:nvSpPr>
        <p:spPr>
          <a:xfrm>
            <a:off x="2123728" y="3057954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Outlook</a:t>
            </a:r>
            <a:endParaRPr lang="cs-CZ" sz="1050" dirty="0"/>
          </a:p>
        </p:txBody>
      </p:sp>
      <p:sp>
        <p:nvSpPr>
          <p:cNvPr id="21" name="Rectangle 20"/>
          <p:cNvSpPr/>
          <p:nvPr/>
        </p:nvSpPr>
        <p:spPr>
          <a:xfrm>
            <a:off x="2276128" y="3335920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Explorer</a:t>
            </a:r>
            <a:endParaRPr lang="cs-CZ" sz="1050" dirty="0"/>
          </a:p>
        </p:txBody>
      </p:sp>
      <p:sp>
        <p:nvSpPr>
          <p:cNvPr id="28" name="Isosceles Triangle 27"/>
          <p:cNvSpPr/>
          <p:nvPr/>
        </p:nvSpPr>
        <p:spPr>
          <a:xfrm>
            <a:off x="7265820" y="5798808"/>
            <a:ext cx="965524" cy="717596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</a:t>
            </a:r>
            <a:endParaRPr lang="cs-CZ" sz="1600" dirty="0"/>
          </a:p>
        </p:txBody>
      </p:sp>
      <p:sp>
        <p:nvSpPr>
          <p:cNvPr id="29" name="Rectangle 28"/>
          <p:cNvSpPr/>
          <p:nvPr/>
        </p:nvSpPr>
        <p:spPr>
          <a:xfrm>
            <a:off x="493382" y="2396266"/>
            <a:ext cx="1157300" cy="42687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Kerberos tickets</a:t>
            </a:r>
            <a:endParaRPr lang="cs-CZ" sz="1200" dirty="0"/>
          </a:p>
        </p:txBody>
      </p:sp>
      <p:sp>
        <p:nvSpPr>
          <p:cNvPr id="25" name="Up-Down Arrow 24"/>
          <p:cNvSpPr/>
          <p:nvPr/>
        </p:nvSpPr>
        <p:spPr>
          <a:xfrm>
            <a:off x="6990142" y="2653951"/>
            <a:ext cx="468962" cy="3583361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6" name="Rectangle 25"/>
          <p:cNvSpPr/>
          <p:nvPr/>
        </p:nvSpPr>
        <p:spPr>
          <a:xfrm>
            <a:off x="7164288" y="3653964"/>
            <a:ext cx="1260340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SMB SAM pipe</a:t>
            </a:r>
            <a:endParaRPr lang="cs-CZ" sz="1100" dirty="0"/>
          </a:p>
        </p:txBody>
      </p:sp>
      <p:sp>
        <p:nvSpPr>
          <p:cNvPr id="27" name="Rectangle 26"/>
          <p:cNvSpPr/>
          <p:nvPr/>
        </p:nvSpPr>
        <p:spPr>
          <a:xfrm>
            <a:off x="7265820" y="3933056"/>
            <a:ext cx="1260340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DCOM Netlogon</a:t>
            </a:r>
            <a:endParaRPr lang="cs-CZ" sz="1100" dirty="0"/>
          </a:p>
        </p:txBody>
      </p:sp>
      <p:sp>
        <p:nvSpPr>
          <p:cNvPr id="31" name="Rectangle 30"/>
          <p:cNvSpPr/>
          <p:nvPr/>
        </p:nvSpPr>
        <p:spPr>
          <a:xfrm>
            <a:off x="2873406" y="3612949"/>
            <a:ext cx="529692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Excel</a:t>
            </a:r>
            <a:endParaRPr lang="cs-CZ" sz="1050" dirty="0"/>
          </a:p>
        </p:txBody>
      </p:sp>
    </p:spTree>
    <p:extLst>
      <p:ext uri="{BB962C8B-B14F-4D97-AF65-F5344CB8AC3E}">
        <p14:creationId xmlns:p14="http://schemas.microsoft.com/office/powerpoint/2010/main" val="822901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590456" y="2272782"/>
            <a:ext cx="1018456" cy="17379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22" name="Rectangle 21"/>
          <p:cNvSpPr/>
          <p:nvPr/>
        </p:nvSpPr>
        <p:spPr>
          <a:xfrm>
            <a:off x="5693244" y="3349974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WebSrv</a:t>
            </a:r>
            <a:endParaRPr lang="cs-CZ" sz="1050" dirty="0"/>
          </a:p>
        </p:txBody>
      </p:sp>
      <p:sp>
        <p:nvSpPr>
          <p:cNvPr id="23" name="Rectangle 22"/>
          <p:cNvSpPr/>
          <p:nvPr/>
        </p:nvSpPr>
        <p:spPr>
          <a:xfrm>
            <a:off x="5770476" y="3068960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SmbSrv</a:t>
            </a:r>
            <a:endParaRPr lang="cs-CZ" sz="1050" dirty="0"/>
          </a:p>
        </p:txBody>
      </p:sp>
      <p:sp>
        <p:nvSpPr>
          <p:cNvPr id="30" name="Rectangle 29"/>
          <p:cNvSpPr/>
          <p:nvPr/>
        </p:nvSpPr>
        <p:spPr>
          <a:xfrm>
            <a:off x="5675294" y="2788362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SQLSrv</a:t>
            </a:r>
            <a:endParaRPr lang="cs-CZ" sz="1050" dirty="0"/>
          </a:p>
        </p:txBody>
      </p:sp>
      <p:sp>
        <p:nvSpPr>
          <p:cNvPr id="29" name="Rectangle 28"/>
          <p:cNvSpPr/>
          <p:nvPr/>
        </p:nvSpPr>
        <p:spPr>
          <a:xfrm>
            <a:off x="7027926" y="3522848"/>
            <a:ext cx="1658874" cy="115858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1100" dirty="0"/>
              <a:t>Secure Channel</a:t>
            </a:r>
            <a:endParaRPr lang="cs-CZ" sz="11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LSASS caches "basic" passwords</a:t>
            </a:r>
            <a:endParaRPr lang="cs-CZ" dirty="0"/>
          </a:p>
        </p:txBody>
      </p:sp>
      <p:sp>
        <p:nvSpPr>
          <p:cNvPr id="5" name="Rectangle 4"/>
          <p:cNvSpPr/>
          <p:nvPr/>
        </p:nvSpPr>
        <p:spPr>
          <a:xfrm>
            <a:off x="2051720" y="2272781"/>
            <a:ext cx="1018456" cy="1737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590456" y="5013176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0" name="Right Arrow 9"/>
          <p:cNvSpPr/>
          <p:nvPr/>
        </p:nvSpPr>
        <p:spPr>
          <a:xfrm>
            <a:off x="3213992" y="1767644"/>
            <a:ext cx="2232248" cy="2309428"/>
          </a:xfrm>
          <a:prstGeom prst="rightArrow">
            <a:avLst>
              <a:gd name="adj1" fmla="val 50000"/>
              <a:gd name="adj2" fmla="val 88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HTTP, SMB, DCOM</a:t>
            </a:r>
            <a:endParaRPr lang="cs-CZ" sz="1200" dirty="0"/>
          </a:p>
        </p:txBody>
      </p:sp>
      <p:sp>
        <p:nvSpPr>
          <p:cNvPr id="12" name="Rectangle 11"/>
          <p:cNvSpPr/>
          <p:nvPr/>
        </p:nvSpPr>
        <p:spPr>
          <a:xfrm>
            <a:off x="251520" y="1270382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4" name="Rectangle 13"/>
          <p:cNvSpPr/>
          <p:nvPr/>
        </p:nvSpPr>
        <p:spPr>
          <a:xfrm>
            <a:off x="6243700" y="1270382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5" name="Rectangle 14"/>
          <p:cNvSpPr/>
          <p:nvPr/>
        </p:nvSpPr>
        <p:spPr>
          <a:xfrm>
            <a:off x="6533344" y="5373216"/>
            <a:ext cx="2180928" cy="13064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6" name="Rectangle 15"/>
          <p:cNvSpPr/>
          <p:nvPr/>
        </p:nvSpPr>
        <p:spPr>
          <a:xfrm>
            <a:off x="1138028" y="1412776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full-text pwd</a:t>
            </a:r>
            <a:endParaRPr lang="cs-CZ" sz="1200" dirty="0"/>
          </a:p>
        </p:txBody>
      </p:sp>
      <p:sp>
        <p:nvSpPr>
          <p:cNvPr id="18" name="Right Arrow 17"/>
          <p:cNvSpPr/>
          <p:nvPr/>
        </p:nvSpPr>
        <p:spPr>
          <a:xfrm>
            <a:off x="1835696" y="2347574"/>
            <a:ext cx="5328592" cy="48429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In-band transport</a:t>
            </a:r>
            <a:endParaRPr lang="cs-CZ" sz="1100" dirty="0"/>
          </a:p>
        </p:txBody>
      </p:sp>
      <p:sp>
        <p:nvSpPr>
          <p:cNvPr id="19" name="Rectangle 18"/>
          <p:cNvSpPr/>
          <p:nvPr/>
        </p:nvSpPr>
        <p:spPr>
          <a:xfrm>
            <a:off x="2537874" y="2801530"/>
            <a:ext cx="426876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IE</a:t>
            </a:r>
            <a:endParaRPr lang="cs-CZ" sz="1050" dirty="0"/>
          </a:p>
        </p:txBody>
      </p:sp>
      <p:sp>
        <p:nvSpPr>
          <p:cNvPr id="20" name="Rectangle 19"/>
          <p:cNvSpPr/>
          <p:nvPr/>
        </p:nvSpPr>
        <p:spPr>
          <a:xfrm>
            <a:off x="2123728" y="3057954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Outlook</a:t>
            </a:r>
            <a:endParaRPr lang="cs-CZ" sz="1050" dirty="0"/>
          </a:p>
        </p:txBody>
      </p:sp>
      <p:sp>
        <p:nvSpPr>
          <p:cNvPr id="21" name="Rectangle 20"/>
          <p:cNvSpPr/>
          <p:nvPr/>
        </p:nvSpPr>
        <p:spPr>
          <a:xfrm>
            <a:off x="2276128" y="3335920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Explorer</a:t>
            </a:r>
            <a:endParaRPr lang="cs-CZ" sz="1050" dirty="0"/>
          </a:p>
        </p:txBody>
      </p:sp>
      <p:sp>
        <p:nvSpPr>
          <p:cNvPr id="25" name="Up-Down Arrow 24"/>
          <p:cNvSpPr/>
          <p:nvPr/>
        </p:nvSpPr>
        <p:spPr>
          <a:xfrm>
            <a:off x="6990142" y="2653951"/>
            <a:ext cx="468962" cy="3583361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6" name="Rectangle 25"/>
          <p:cNvSpPr/>
          <p:nvPr/>
        </p:nvSpPr>
        <p:spPr>
          <a:xfrm>
            <a:off x="7164288" y="3653964"/>
            <a:ext cx="1260340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SMB SAM pipe</a:t>
            </a:r>
            <a:endParaRPr lang="cs-CZ" sz="1100" dirty="0"/>
          </a:p>
        </p:txBody>
      </p:sp>
      <p:sp>
        <p:nvSpPr>
          <p:cNvPr id="27" name="Rectangle 26"/>
          <p:cNvSpPr/>
          <p:nvPr/>
        </p:nvSpPr>
        <p:spPr>
          <a:xfrm>
            <a:off x="7265820" y="3933056"/>
            <a:ext cx="1260340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DCOM Netlogon</a:t>
            </a:r>
            <a:endParaRPr lang="cs-CZ" sz="1100" dirty="0"/>
          </a:p>
        </p:txBody>
      </p:sp>
      <p:sp>
        <p:nvSpPr>
          <p:cNvPr id="28" name="Isosceles Triangle 27"/>
          <p:cNvSpPr/>
          <p:nvPr/>
        </p:nvSpPr>
        <p:spPr>
          <a:xfrm>
            <a:off x="7265820" y="5798808"/>
            <a:ext cx="965524" cy="717596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</a:t>
            </a:r>
            <a:endParaRPr lang="cs-CZ" sz="1600" dirty="0"/>
          </a:p>
        </p:txBody>
      </p:sp>
      <p:sp>
        <p:nvSpPr>
          <p:cNvPr id="24" name="Rectangle 23"/>
          <p:cNvSpPr/>
          <p:nvPr/>
        </p:nvSpPr>
        <p:spPr>
          <a:xfrm>
            <a:off x="7164288" y="1845905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full-text pwd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12487231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LSASS default secret storage in RAM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279774"/>
              </p:ext>
            </p:extLst>
          </p:nvPr>
        </p:nvGraphicFramePr>
        <p:xfrm>
          <a:off x="971600" y="1484784"/>
          <a:ext cx="6096000" cy="4754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88399302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137392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  <a:p>
                      <a:r>
                        <a:rPr lang="en-US" dirty="0"/>
                        <a:t>Windows</a:t>
                      </a:r>
                      <a:r>
                        <a:rPr lang="en-US" baseline="0" dirty="0"/>
                        <a:t> 2000</a:t>
                      </a:r>
                      <a:endParaRPr lang="en-US" dirty="0"/>
                    </a:p>
                    <a:p>
                      <a:r>
                        <a:rPr lang="en-US" dirty="0"/>
                        <a:t>Windows XP</a:t>
                      </a:r>
                    </a:p>
                    <a:p>
                      <a:r>
                        <a:rPr lang="en-US" dirty="0"/>
                        <a:t>Windows 2003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</a:p>
                    <a:p>
                      <a:r>
                        <a:rPr lang="en-US" dirty="0"/>
                        <a:t>lm#</a:t>
                      </a:r>
                    </a:p>
                    <a:p>
                      <a:r>
                        <a:rPr lang="en-US" dirty="0"/>
                        <a:t>md4#</a:t>
                      </a:r>
                    </a:p>
                    <a:p>
                      <a:r>
                        <a:rPr lang="en-US" dirty="0"/>
                        <a:t>Kerberos tickets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81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Windows 2008</a:t>
                      </a:r>
                    </a:p>
                    <a:p>
                      <a:r>
                        <a:rPr lang="en-US" dirty="0"/>
                        <a:t>Windows Vista</a:t>
                      </a:r>
                    </a:p>
                    <a:p>
                      <a:r>
                        <a:rPr lang="en-US" dirty="0"/>
                        <a:t>Windows 2008 R2</a:t>
                      </a:r>
                    </a:p>
                    <a:p>
                      <a:r>
                        <a:rPr lang="en-US" dirty="0"/>
                        <a:t>Windows</a:t>
                      </a:r>
                      <a:r>
                        <a:rPr lang="en-US" baseline="0" dirty="0"/>
                        <a:t> 7</a:t>
                      </a:r>
                      <a:endParaRPr lang="en-US" dirty="0"/>
                    </a:p>
                    <a:p>
                      <a:r>
                        <a:rPr lang="en-US" dirty="0"/>
                        <a:t>Windows 2012</a:t>
                      </a:r>
                    </a:p>
                    <a:p>
                      <a:r>
                        <a:rPr lang="en-US" dirty="0"/>
                        <a:t>Windows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</a:p>
                    <a:p>
                      <a:r>
                        <a:rPr lang="en-US" dirty="0"/>
                        <a:t>lm#</a:t>
                      </a:r>
                    </a:p>
                    <a:p>
                      <a:r>
                        <a:rPr lang="en-US" dirty="0"/>
                        <a:t>md4#, sha1#</a:t>
                      </a:r>
                    </a:p>
                    <a:p>
                      <a:r>
                        <a:rPr lang="en-US" dirty="0"/>
                        <a:t>Kerberos</a:t>
                      </a:r>
                      <a:r>
                        <a:rPr lang="en-US" baseline="0" dirty="0"/>
                        <a:t> tickets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39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Windows 2012 R2</a:t>
                      </a:r>
                    </a:p>
                    <a:p>
                      <a:r>
                        <a:rPr lang="en-US" dirty="0"/>
                        <a:t>Windows 8.1</a:t>
                      </a:r>
                    </a:p>
                    <a:p>
                      <a:r>
                        <a:rPr lang="en-US" dirty="0"/>
                        <a:t>Windows 10</a:t>
                      </a:r>
                    </a:p>
                    <a:p>
                      <a:r>
                        <a:rPr lang="en-US" dirty="0"/>
                        <a:t>Windows 2016/2019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md4#, sha1#</a:t>
                      </a:r>
                    </a:p>
                    <a:p>
                      <a:r>
                        <a:rPr lang="en-US" dirty="0"/>
                        <a:t>Kerberos tickets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504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Windows 2025</a:t>
                      </a:r>
                    </a:p>
                    <a:p>
                      <a:r>
                        <a:rPr lang="en-US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md4#, sha1#, sha256#</a:t>
                      </a:r>
                    </a:p>
                    <a:p>
                      <a:r>
                        <a:rPr lang="en-US" dirty="0"/>
                        <a:t>Kerberos tickets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381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465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590456" y="2272782"/>
            <a:ext cx="1018456" cy="17379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22" name="Rectangle 21"/>
          <p:cNvSpPr/>
          <p:nvPr/>
        </p:nvSpPr>
        <p:spPr>
          <a:xfrm>
            <a:off x="5693244" y="3349974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WebSrv</a:t>
            </a:r>
            <a:endParaRPr lang="cs-CZ" sz="1050" dirty="0"/>
          </a:p>
        </p:txBody>
      </p:sp>
      <p:sp>
        <p:nvSpPr>
          <p:cNvPr id="23" name="Rectangle 22"/>
          <p:cNvSpPr/>
          <p:nvPr/>
        </p:nvSpPr>
        <p:spPr>
          <a:xfrm>
            <a:off x="5770476" y="3068960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SmbSrv</a:t>
            </a:r>
            <a:endParaRPr lang="cs-CZ" sz="1050" dirty="0"/>
          </a:p>
        </p:txBody>
      </p:sp>
      <p:sp>
        <p:nvSpPr>
          <p:cNvPr id="31" name="Rectangle 30"/>
          <p:cNvSpPr/>
          <p:nvPr/>
        </p:nvSpPr>
        <p:spPr>
          <a:xfrm>
            <a:off x="5675294" y="2788362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SQLSrv</a:t>
            </a:r>
            <a:endParaRPr lang="cs-CZ" sz="1050" dirty="0"/>
          </a:p>
        </p:txBody>
      </p:sp>
      <p:sp>
        <p:nvSpPr>
          <p:cNvPr id="30" name="Rectangle 29"/>
          <p:cNvSpPr/>
          <p:nvPr/>
        </p:nvSpPr>
        <p:spPr>
          <a:xfrm>
            <a:off x="7027926" y="3522848"/>
            <a:ext cx="1658874" cy="115858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1100" dirty="0"/>
              <a:t>Secure Channel</a:t>
            </a:r>
            <a:endParaRPr lang="cs-CZ" sz="11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Cannot cache NTLM or Schannel</a:t>
            </a:r>
            <a:endParaRPr lang="cs-CZ" dirty="0"/>
          </a:p>
        </p:txBody>
      </p:sp>
      <p:sp>
        <p:nvSpPr>
          <p:cNvPr id="5" name="Rectangle 4"/>
          <p:cNvSpPr/>
          <p:nvPr/>
        </p:nvSpPr>
        <p:spPr>
          <a:xfrm>
            <a:off x="2051720" y="2272781"/>
            <a:ext cx="1018456" cy="1737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590456" y="5013176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0" name="Right Arrow 9"/>
          <p:cNvSpPr/>
          <p:nvPr/>
        </p:nvSpPr>
        <p:spPr>
          <a:xfrm>
            <a:off x="3213992" y="1767644"/>
            <a:ext cx="2232248" cy="2309428"/>
          </a:xfrm>
          <a:prstGeom prst="rightArrow">
            <a:avLst>
              <a:gd name="adj1" fmla="val 50000"/>
              <a:gd name="adj2" fmla="val 88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HTTP, SMB, DCOM</a:t>
            </a:r>
            <a:endParaRPr lang="cs-CZ" sz="1200" dirty="0"/>
          </a:p>
        </p:txBody>
      </p:sp>
      <p:sp>
        <p:nvSpPr>
          <p:cNvPr id="12" name="Rectangle 11"/>
          <p:cNvSpPr/>
          <p:nvPr/>
        </p:nvSpPr>
        <p:spPr>
          <a:xfrm>
            <a:off x="251520" y="1270382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4" name="Rectangle 13"/>
          <p:cNvSpPr/>
          <p:nvPr/>
        </p:nvSpPr>
        <p:spPr>
          <a:xfrm>
            <a:off x="6243700" y="1270382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5" name="Rectangle 14"/>
          <p:cNvSpPr/>
          <p:nvPr/>
        </p:nvSpPr>
        <p:spPr>
          <a:xfrm>
            <a:off x="6533344" y="5373216"/>
            <a:ext cx="2180928" cy="13064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7" name="Rectangle 16"/>
          <p:cNvSpPr/>
          <p:nvPr/>
        </p:nvSpPr>
        <p:spPr>
          <a:xfrm>
            <a:off x="1138028" y="1895760"/>
            <a:ext cx="1157300" cy="4268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pwd #</a:t>
            </a:r>
            <a:endParaRPr lang="cs-CZ" sz="1200" dirty="0"/>
          </a:p>
        </p:txBody>
      </p:sp>
      <p:sp>
        <p:nvSpPr>
          <p:cNvPr id="18" name="Right Arrow 17"/>
          <p:cNvSpPr/>
          <p:nvPr/>
        </p:nvSpPr>
        <p:spPr>
          <a:xfrm>
            <a:off x="1835696" y="2347574"/>
            <a:ext cx="5328592" cy="48429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In-band transport</a:t>
            </a:r>
            <a:endParaRPr lang="cs-CZ" sz="1100" dirty="0"/>
          </a:p>
        </p:txBody>
      </p:sp>
      <p:sp>
        <p:nvSpPr>
          <p:cNvPr id="19" name="Rectangle 18"/>
          <p:cNvSpPr/>
          <p:nvPr/>
        </p:nvSpPr>
        <p:spPr>
          <a:xfrm>
            <a:off x="2537874" y="2801530"/>
            <a:ext cx="426876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IE</a:t>
            </a:r>
            <a:endParaRPr lang="cs-CZ" sz="1050" dirty="0"/>
          </a:p>
        </p:txBody>
      </p:sp>
      <p:sp>
        <p:nvSpPr>
          <p:cNvPr id="20" name="Rectangle 19"/>
          <p:cNvSpPr/>
          <p:nvPr/>
        </p:nvSpPr>
        <p:spPr>
          <a:xfrm>
            <a:off x="2123728" y="3057954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Outlook</a:t>
            </a:r>
            <a:endParaRPr lang="cs-CZ" sz="1050" dirty="0"/>
          </a:p>
        </p:txBody>
      </p:sp>
      <p:sp>
        <p:nvSpPr>
          <p:cNvPr id="21" name="Rectangle 20"/>
          <p:cNvSpPr/>
          <p:nvPr/>
        </p:nvSpPr>
        <p:spPr>
          <a:xfrm>
            <a:off x="2276128" y="3335920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Explorer</a:t>
            </a:r>
            <a:endParaRPr lang="cs-CZ" sz="1050" dirty="0"/>
          </a:p>
        </p:txBody>
      </p:sp>
      <p:sp>
        <p:nvSpPr>
          <p:cNvPr id="25" name="Up-Down Arrow 24"/>
          <p:cNvSpPr/>
          <p:nvPr/>
        </p:nvSpPr>
        <p:spPr>
          <a:xfrm>
            <a:off x="6990142" y="2653951"/>
            <a:ext cx="468962" cy="3583361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6" name="Rectangle 25"/>
          <p:cNvSpPr/>
          <p:nvPr/>
        </p:nvSpPr>
        <p:spPr>
          <a:xfrm>
            <a:off x="7164288" y="3653964"/>
            <a:ext cx="1260340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SMB SAM pipe</a:t>
            </a:r>
            <a:endParaRPr lang="cs-CZ" sz="1100" dirty="0"/>
          </a:p>
        </p:txBody>
      </p:sp>
      <p:sp>
        <p:nvSpPr>
          <p:cNvPr id="27" name="Rectangle 26"/>
          <p:cNvSpPr/>
          <p:nvPr/>
        </p:nvSpPr>
        <p:spPr>
          <a:xfrm>
            <a:off x="7265820" y="3933056"/>
            <a:ext cx="1260340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DCOM Netlogon</a:t>
            </a:r>
            <a:endParaRPr lang="cs-CZ" sz="1100" dirty="0"/>
          </a:p>
        </p:txBody>
      </p:sp>
      <p:sp>
        <p:nvSpPr>
          <p:cNvPr id="28" name="Isosceles Triangle 27"/>
          <p:cNvSpPr/>
          <p:nvPr/>
        </p:nvSpPr>
        <p:spPr>
          <a:xfrm>
            <a:off x="7265820" y="5798808"/>
            <a:ext cx="965524" cy="717596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</a:t>
            </a:r>
            <a:endParaRPr lang="cs-CZ" sz="1600" dirty="0"/>
          </a:p>
        </p:txBody>
      </p:sp>
      <p:sp>
        <p:nvSpPr>
          <p:cNvPr id="24" name="Rectangle 23"/>
          <p:cNvSpPr/>
          <p:nvPr/>
        </p:nvSpPr>
        <p:spPr>
          <a:xfrm>
            <a:off x="7164288" y="1845905"/>
            <a:ext cx="1157300" cy="4268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nothing</a:t>
            </a:r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225109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590456" y="2272782"/>
            <a:ext cx="1018456" cy="17379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22" name="Rectangle 21"/>
          <p:cNvSpPr/>
          <p:nvPr/>
        </p:nvSpPr>
        <p:spPr>
          <a:xfrm>
            <a:off x="5693244" y="3349974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WebSrv</a:t>
            </a:r>
            <a:endParaRPr lang="cs-CZ" sz="1050" dirty="0"/>
          </a:p>
        </p:txBody>
      </p:sp>
      <p:sp>
        <p:nvSpPr>
          <p:cNvPr id="23" name="Rectangle 22"/>
          <p:cNvSpPr/>
          <p:nvPr/>
        </p:nvSpPr>
        <p:spPr>
          <a:xfrm>
            <a:off x="5770476" y="3068960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SmbSrv</a:t>
            </a:r>
            <a:endParaRPr lang="cs-CZ" sz="1050" dirty="0"/>
          </a:p>
        </p:txBody>
      </p:sp>
      <p:sp>
        <p:nvSpPr>
          <p:cNvPr id="37" name="Rectangle 36"/>
          <p:cNvSpPr/>
          <p:nvPr/>
        </p:nvSpPr>
        <p:spPr>
          <a:xfrm>
            <a:off x="5675294" y="2788362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SQLSrv</a:t>
            </a:r>
            <a:endParaRPr lang="cs-CZ" sz="1050" dirty="0"/>
          </a:p>
        </p:txBody>
      </p:sp>
      <p:sp>
        <p:nvSpPr>
          <p:cNvPr id="36" name="Rectangle 35"/>
          <p:cNvSpPr/>
          <p:nvPr/>
        </p:nvSpPr>
        <p:spPr>
          <a:xfrm>
            <a:off x="7027926" y="3522847"/>
            <a:ext cx="1658874" cy="149032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1100" dirty="0"/>
              <a:t>Secure Channel</a:t>
            </a:r>
            <a:endParaRPr lang="cs-CZ" sz="11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dirty="0"/>
              <a:t>Kerberos in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1720" y="2272781"/>
            <a:ext cx="1018456" cy="1737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590456" y="5013176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r>
              <a:rPr lang="cs-CZ" sz="1400" dirty="0"/>
              <a:t>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3992" y="1767644"/>
            <a:ext cx="2232248" cy="2309428"/>
          </a:xfrm>
          <a:prstGeom prst="rightArrow">
            <a:avLst>
              <a:gd name="adj1" fmla="val 50000"/>
              <a:gd name="adj2" fmla="val 88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HTTP, SMB, DCOM</a:t>
            </a:r>
            <a:endParaRPr lang="cs-CZ" sz="1200" dirty="0"/>
          </a:p>
        </p:txBody>
      </p:sp>
      <p:sp>
        <p:nvSpPr>
          <p:cNvPr id="12" name="Rectangle 11"/>
          <p:cNvSpPr/>
          <p:nvPr/>
        </p:nvSpPr>
        <p:spPr>
          <a:xfrm>
            <a:off x="251520" y="1270382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4" name="Rectangle 13"/>
          <p:cNvSpPr/>
          <p:nvPr/>
        </p:nvSpPr>
        <p:spPr>
          <a:xfrm>
            <a:off x="6243700" y="1270382"/>
            <a:ext cx="2180928" cy="17009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5" name="Rectangle 14"/>
          <p:cNvSpPr/>
          <p:nvPr/>
        </p:nvSpPr>
        <p:spPr>
          <a:xfrm>
            <a:off x="6533344" y="5373216"/>
            <a:ext cx="2180928" cy="13064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7" name="Rectangle 16"/>
          <p:cNvSpPr/>
          <p:nvPr/>
        </p:nvSpPr>
        <p:spPr>
          <a:xfrm>
            <a:off x="1138028" y="1895760"/>
            <a:ext cx="1157300" cy="4268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pwd #</a:t>
            </a:r>
            <a:endParaRPr lang="cs-CZ" sz="1200" dirty="0"/>
          </a:p>
        </p:txBody>
      </p:sp>
      <p:sp>
        <p:nvSpPr>
          <p:cNvPr id="18" name="Right Arrow 17"/>
          <p:cNvSpPr/>
          <p:nvPr/>
        </p:nvSpPr>
        <p:spPr>
          <a:xfrm>
            <a:off x="1835696" y="2347574"/>
            <a:ext cx="5328592" cy="48429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In-band transport</a:t>
            </a:r>
            <a:endParaRPr lang="cs-CZ" sz="1100" dirty="0"/>
          </a:p>
        </p:txBody>
      </p:sp>
      <p:sp>
        <p:nvSpPr>
          <p:cNvPr id="19" name="Rectangle 18"/>
          <p:cNvSpPr/>
          <p:nvPr/>
        </p:nvSpPr>
        <p:spPr>
          <a:xfrm>
            <a:off x="2537874" y="2801530"/>
            <a:ext cx="426876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IE</a:t>
            </a:r>
            <a:endParaRPr lang="cs-CZ" sz="1050" dirty="0"/>
          </a:p>
        </p:txBody>
      </p:sp>
      <p:sp>
        <p:nvSpPr>
          <p:cNvPr id="20" name="Rectangle 19"/>
          <p:cNvSpPr/>
          <p:nvPr/>
        </p:nvSpPr>
        <p:spPr>
          <a:xfrm>
            <a:off x="2123728" y="3057954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Outlook</a:t>
            </a:r>
            <a:endParaRPr lang="cs-CZ" sz="1050" dirty="0"/>
          </a:p>
        </p:txBody>
      </p:sp>
      <p:sp>
        <p:nvSpPr>
          <p:cNvPr id="21" name="Rectangle 20"/>
          <p:cNvSpPr/>
          <p:nvPr/>
        </p:nvSpPr>
        <p:spPr>
          <a:xfrm>
            <a:off x="2276128" y="3335920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Explorer</a:t>
            </a:r>
            <a:endParaRPr lang="cs-CZ" sz="1050" dirty="0"/>
          </a:p>
        </p:txBody>
      </p:sp>
      <p:sp>
        <p:nvSpPr>
          <p:cNvPr id="25" name="Up-Down Arrow 24"/>
          <p:cNvSpPr/>
          <p:nvPr/>
        </p:nvSpPr>
        <p:spPr>
          <a:xfrm>
            <a:off x="6990142" y="2653951"/>
            <a:ext cx="468962" cy="3583361"/>
          </a:xfrm>
          <a:prstGeom prst="up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6" name="Rectangle 25"/>
          <p:cNvSpPr/>
          <p:nvPr/>
        </p:nvSpPr>
        <p:spPr>
          <a:xfrm>
            <a:off x="7164288" y="3653964"/>
            <a:ext cx="1260340" cy="3229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SMB SAM pipe</a:t>
            </a:r>
            <a:endParaRPr lang="cs-CZ" sz="1100" dirty="0"/>
          </a:p>
        </p:txBody>
      </p:sp>
      <p:sp>
        <p:nvSpPr>
          <p:cNvPr id="27" name="Rectangle 26"/>
          <p:cNvSpPr/>
          <p:nvPr/>
        </p:nvSpPr>
        <p:spPr>
          <a:xfrm>
            <a:off x="7265820" y="3933056"/>
            <a:ext cx="1260340" cy="32295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DCOM Netlogon</a:t>
            </a:r>
            <a:endParaRPr lang="cs-CZ" sz="1100" dirty="0"/>
          </a:p>
        </p:txBody>
      </p:sp>
      <p:sp>
        <p:nvSpPr>
          <p:cNvPr id="28" name="Isosceles Triangle 27"/>
          <p:cNvSpPr/>
          <p:nvPr/>
        </p:nvSpPr>
        <p:spPr>
          <a:xfrm>
            <a:off x="7265820" y="5798808"/>
            <a:ext cx="965524" cy="717596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</a:t>
            </a:r>
            <a:endParaRPr lang="cs-CZ" sz="1600" dirty="0"/>
          </a:p>
        </p:txBody>
      </p:sp>
      <p:sp>
        <p:nvSpPr>
          <p:cNvPr id="24" name="Rectangle 23"/>
          <p:cNvSpPr/>
          <p:nvPr/>
        </p:nvSpPr>
        <p:spPr>
          <a:xfrm>
            <a:off x="7164288" y="1845905"/>
            <a:ext cx="1157300" cy="4268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nothing</a:t>
            </a:r>
            <a:endParaRPr lang="cs-CZ" sz="1200" dirty="0"/>
          </a:p>
        </p:txBody>
      </p:sp>
      <p:sp>
        <p:nvSpPr>
          <p:cNvPr id="29" name="Rectangle 28"/>
          <p:cNvSpPr/>
          <p:nvPr/>
        </p:nvSpPr>
        <p:spPr>
          <a:xfrm>
            <a:off x="493382" y="2396266"/>
            <a:ext cx="1157300" cy="4268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Kerberos tickets</a:t>
            </a:r>
            <a:endParaRPr lang="cs-CZ" sz="1200" dirty="0"/>
          </a:p>
        </p:txBody>
      </p:sp>
      <p:sp>
        <p:nvSpPr>
          <p:cNvPr id="30" name="Rectangle 29"/>
          <p:cNvSpPr/>
          <p:nvPr/>
        </p:nvSpPr>
        <p:spPr>
          <a:xfrm>
            <a:off x="159297" y="5013175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r>
              <a:rPr lang="cs-CZ" sz="1400" dirty="0"/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02185" y="5373215"/>
            <a:ext cx="2180928" cy="13064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32" name="Isosceles Triangle 31"/>
          <p:cNvSpPr/>
          <p:nvPr/>
        </p:nvSpPr>
        <p:spPr>
          <a:xfrm>
            <a:off x="1834661" y="5798807"/>
            <a:ext cx="965524" cy="717596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</a:t>
            </a:r>
            <a:endParaRPr lang="cs-CZ" sz="1600" dirty="0"/>
          </a:p>
        </p:txBody>
      </p:sp>
      <p:sp>
        <p:nvSpPr>
          <p:cNvPr id="33" name="Up-Down Arrow 32"/>
          <p:cNvSpPr/>
          <p:nvPr/>
        </p:nvSpPr>
        <p:spPr>
          <a:xfrm>
            <a:off x="538476" y="2896772"/>
            <a:ext cx="468962" cy="2476443"/>
          </a:xfrm>
          <a:prstGeom prst="up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4" name="Rectangle 33"/>
          <p:cNvSpPr/>
          <p:nvPr/>
        </p:nvSpPr>
        <p:spPr>
          <a:xfrm>
            <a:off x="749417" y="4445631"/>
            <a:ext cx="1260340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1100" dirty="0"/>
              <a:t>Generate tickets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4623" y="4369040"/>
            <a:ext cx="1260340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PAC validation</a:t>
            </a:r>
            <a:endParaRPr lang="cs-CZ" sz="1100" dirty="0"/>
          </a:p>
        </p:txBody>
      </p:sp>
    </p:spTree>
    <p:extLst>
      <p:ext uri="{BB962C8B-B14F-4D97-AF65-F5344CB8AC3E}">
        <p14:creationId xmlns:p14="http://schemas.microsoft.com/office/powerpoint/2010/main" val="3370115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channel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LSASS to LSASS communication</a:t>
            </a:r>
          </a:p>
          <a:p>
            <a:pPr lvl="1"/>
            <a:r>
              <a:rPr lang="en-US" dirty="0"/>
              <a:t>authenticated and signed/sealed by MACHINE$ password</a:t>
            </a:r>
          </a:p>
          <a:p>
            <a:r>
              <a:rPr lang="en-US" dirty="0"/>
              <a:t>SMB named pipe or DCOM</a:t>
            </a:r>
          </a:p>
          <a:p>
            <a:pPr lvl="1"/>
            <a:r>
              <a:rPr lang="en-US" dirty="0"/>
              <a:t>2003- prefers SMB (TCP 445)</a:t>
            </a:r>
          </a:p>
          <a:p>
            <a:pPr lvl="1"/>
            <a:r>
              <a:rPr lang="en-US" dirty="0"/>
              <a:t>Vista/2008+ </a:t>
            </a:r>
            <a:r>
              <a:rPr lang="en-US"/>
              <a:t>prefers DCOM (TCP 135 + DCOM???)</a:t>
            </a:r>
            <a:endParaRPr lang="en-US" dirty="0"/>
          </a:p>
          <a:p>
            <a:r>
              <a:rPr lang="en-US" dirty="0"/>
              <a:t>Performs many security related operations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SID</a:t>
            </a:r>
            <a:r>
              <a:rPr lang="en-US" dirty="0"/>
              <a:t> translation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NTLM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1"/>
                </a:solidFill>
              </a:rPr>
              <a:t>SChannel</a:t>
            </a:r>
            <a:r>
              <a:rPr lang="en-US" dirty="0"/>
              <a:t> pass-through authentication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PAC validation</a:t>
            </a:r>
            <a:r>
              <a:rPr lang="en-US" dirty="0"/>
              <a:t> in certain </a:t>
            </a:r>
            <a:r>
              <a:rPr lang="en-US" dirty="0">
                <a:solidFill>
                  <a:schemeClr val="accent1"/>
                </a:solidFill>
              </a:rPr>
              <a:t>Kerberos</a:t>
            </a:r>
            <a:r>
              <a:rPr lang="en-US" dirty="0"/>
              <a:t> scenarios</a:t>
            </a:r>
          </a:p>
          <a:p>
            <a:pPr lvl="1"/>
            <a:r>
              <a:rPr lang="en-US" dirty="0"/>
              <a:t>computer password changes</a:t>
            </a:r>
          </a:p>
          <a:p>
            <a:pPr lvl="1"/>
            <a:r>
              <a:rPr lang="en-US" dirty="0"/>
              <a:t>user password changes in backward compatible scenarios</a:t>
            </a:r>
          </a:p>
        </p:txBody>
      </p:sp>
    </p:spTree>
    <p:extLst>
      <p:ext uri="{BB962C8B-B14F-4D97-AF65-F5344CB8AC3E}">
        <p14:creationId xmlns:p14="http://schemas.microsoft.com/office/powerpoint/2010/main" val="1768353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channel DCOM/TCP port on DC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DCs</a:t>
            </a:r>
          </a:p>
          <a:p>
            <a:r>
              <a:rPr lang="en-US" dirty="0"/>
              <a:t>HKLM\System\CCS\Services\Netlogon\Parameters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DCTcpipPort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= DWORD</a:t>
            </a:r>
          </a:p>
          <a:p>
            <a:pPr lvl="1"/>
            <a:r>
              <a:rPr lang="en-US" dirty="0"/>
              <a:t>restart DC</a:t>
            </a:r>
            <a:endParaRPr lang="cs-CZ" dirty="0"/>
          </a:p>
          <a:p>
            <a:pPr lvl="1"/>
            <a:endParaRPr lang="cs-CZ" dirty="0"/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MaxConcurrentApi</a:t>
            </a:r>
            <a:r>
              <a:rPr lang="cs-CZ" dirty="0">
                <a:solidFill>
                  <a:schemeClr val="accent1"/>
                </a:solidFill>
              </a:rPr>
              <a:t> </a:t>
            </a:r>
            <a:r>
              <a:rPr lang="cs-CZ" dirty="0"/>
              <a:t>= DWORD</a:t>
            </a:r>
            <a:endParaRPr lang="en-US" dirty="0"/>
          </a:p>
          <a:p>
            <a:pPr lvl="1"/>
            <a:r>
              <a:rPr lang="en-US" dirty="0"/>
              <a:t>1-10, 2008 R2 </a:t>
            </a:r>
            <a:r>
              <a:rPr lang="en-US"/>
              <a:t>SP1 default 100, max</a:t>
            </a:r>
            <a:r>
              <a:rPr lang="en-US" dirty="0"/>
              <a:t>. 150 (KB2688798)</a:t>
            </a:r>
          </a:p>
          <a:p>
            <a:pPr lvl="1"/>
            <a:r>
              <a:rPr lang="en-US" dirty="0"/>
              <a:t>40 seconds timeout</a:t>
            </a:r>
            <a:endParaRPr lang="cs-CZ" dirty="0"/>
          </a:p>
          <a:p>
            <a:endParaRPr lang="en-US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852376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IIS basic authentication cache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IIS web servers</a:t>
            </a:r>
          </a:p>
          <a:p>
            <a:r>
              <a:rPr lang="en-US" dirty="0"/>
              <a:t>Applies only for basic authentication credentials</a:t>
            </a:r>
          </a:p>
          <a:p>
            <a:r>
              <a:rPr lang="en-US" dirty="0"/>
              <a:t>By default 15 minutes</a:t>
            </a:r>
          </a:p>
          <a:p>
            <a:r>
              <a:rPr lang="en-US" dirty="0"/>
              <a:t>HKLM\System\CCS\Services\</a:t>
            </a:r>
            <a:r>
              <a:rPr lang="en-US" dirty="0" err="1"/>
              <a:t>InetInfo</a:t>
            </a:r>
            <a:r>
              <a:rPr lang="en-US" dirty="0"/>
              <a:t>\Parameters</a:t>
            </a:r>
          </a:p>
          <a:p>
            <a:pPr lvl="1"/>
            <a:r>
              <a:rPr lang="en-US" dirty="0" err="1"/>
              <a:t>UserTokenTTL</a:t>
            </a:r>
            <a:r>
              <a:rPr lang="en-US" dirty="0"/>
              <a:t> = DWORD = seconds</a:t>
            </a:r>
          </a:p>
          <a:p>
            <a:pPr lvl="1"/>
            <a:r>
              <a:rPr lang="en-US" dirty="0"/>
              <a:t>case sensitive!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68845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NTLM network logon performance</a:t>
            </a:r>
          </a:p>
        </p:txBody>
      </p:sp>
      <p:sp>
        <p:nvSpPr>
          <p:cNvPr id="24" name="Zaoblený obdélník 23"/>
          <p:cNvSpPr/>
          <p:nvPr/>
        </p:nvSpPr>
        <p:spPr>
          <a:xfrm>
            <a:off x="1197884" y="5309758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5" name="Zaoblený obdélník 24"/>
          <p:cNvSpPr/>
          <p:nvPr/>
        </p:nvSpPr>
        <p:spPr>
          <a:xfrm>
            <a:off x="1197884" y="1857934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Client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6" name="Zaoblený obdélník 25"/>
          <p:cNvSpPr/>
          <p:nvPr/>
        </p:nvSpPr>
        <p:spPr>
          <a:xfrm>
            <a:off x="5734388" y="1857934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Server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7" name="Šipka doprava 26"/>
          <p:cNvSpPr/>
          <p:nvPr/>
        </p:nvSpPr>
        <p:spPr>
          <a:xfrm>
            <a:off x="2710052" y="2250843"/>
            <a:ext cx="2880320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9" name="Zaoblený obdélník 28"/>
          <p:cNvSpPr/>
          <p:nvPr/>
        </p:nvSpPr>
        <p:spPr>
          <a:xfrm>
            <a:off x="5734388" y="5309758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0" name="Šipka doprava 29"/>
          <p:cNvSpPr/>
          <p:nvPr/>
        </p:nvSpPr>
        <p:spPr>
          <a:xfrm rot="5400000">
            <a:off x="5334924" y="3971910"/>
            <a:ext cx="2084812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6" name="Zaoblený obdélník 15"/>
          <p:cNvSpPr/>
          <p:nvPr/>
        </p:nvSpPr>
        <p:spPr>
          <a:xfrm>
            <a:off x="6804248" y="2706059"/>
            <a:ext cx="1285884" cy="511477"/>
          </a:xfrm>
          <a:prstGeom prst="roundRect">
            <a:avLst>
              <a:gd name="adj" fmla="val 9247"/>
            </a:avLst>
          </a:prstGeom>
          <a:solidFill>
            <a:srgbClr val="CCAF0A"/>
          </a:solidFill>
          <a:ln w="19050" cap="flat" cmpd="sng" algn="ctr">
            <a:solidFill>
              <a:srgbClr val="CCAF0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60 % CPU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Zaoblený obdélník 16"/>
          <p:cNvSpPr/>
          <p:nvPr/>
        </p:nvSpPr>
        <p:spPr>
          <a:xfrm>
            <a:off x="6804248" y="5054019"/>
            <a:ext cx="1285884" cy="511477"/>
          </a:xfrm>
          <a:prstGeom prst="roundRect">
            <a:avLst>
              <a:gd name="adj" fmla="val 9247"/>
            </a:avLst>
          </a:prstGeom>
          <a:solidFill>
            <a:srgbClr val="CCAF0A"/>
          </a:solidFill>
          <a:ln w="19050" cap="flat" cmpd="sng" algn="ctr">
            <a:solidFill>
              <a:srgbClr val="CCAF0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55 % CPU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4812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Kerberos network logon, no PAC validation</a:t>
            </a:r>
          </a:p>
        </p:txBody>
      </p:sp>
      <p:sp>
        <p:nvSpPr>
          <p:cNvPr id="24" name="Zaoblený obdélník 23"/>
          <p:cNvSpPr/>
          <p:nvPr/>
        </p:nvSpPr>
        <p:spPr>
          <a:xfrm>
            <a:off x="1197884" y="5309758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5" name="Zaoblený obdélník 24"/>
          <p:cNvSpPr/>
          <p:nvPr/>
        </p:nvSpPr>
        <p:spPr>
          <a:xfrm>
            <a:off x="1197884" y="1857934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Client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6" name="Zaoblený obdélník 25"/>
          <p:cNvSpPr/>
          <p:nvPr/>
        </p:nvSpPr>
        <p:spPr>
          <a:xfrm>
            <a:off x="5734388" y="1857934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Server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7" name="Šipka doprava 26"/>
          <p:cNvSpPr/>
          <p:nvPr/>
        </p:nvSpPr>
        <p:spPr>
          <a:xfrm>
            <a:off x="2710052" y="2250843"/>
            <a:ext cx="2880320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9" name="Zaoblený obdélník 28"/>
          <p:cNvSpPr/>
          <p:nvPr/>
        </p:nvSpPr>
        <p:spPr>
          <a:xfrm>
            <a:off x="5734388" y="5309758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0" name="Šipka doprava 29"/>
          <p:cNvSpPr/>
          <p:nvPr/>
        </p:nvSpPr>
        <p:spPr>
          <a:xfrm rot="5400000">
            <a:off x="792150" y="3971910"/>
            <a:ext cx="2084812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6" name="Zaoblený obdélník 15"/>
          <p:cNvSpPr/>
          <p:nvPr/>
        </p:nvSpPr>
        <p:spPr>
          <a:xfrm>
            <a:off x="6804248" y="2706059"/>
            <a:ext cx="1285884" cy="511477"/>
          </a:xfrm>
          <a:prstGeom prst="roundRect">
            <a:avLst>
              <a:gd name="adj" fmla="val 9247"/>
            </a:avLst>
          </a:prstGeom>
          <a:solidFill>
            <a:srgbClr val="CCAF0A"/>
          </a:solidFill>
          <a:ln w="19050" cap="flat" cmpd="sng" algn="ctr">
            <a:solidFill>
              <a:srgbClr val="CCAF0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60 % CPU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Zaoblený obdélník 16"/>
          <p:cNvSpPr/>
          <p:nvPr/>
        </p:nvSpPr>
        <p:spPr>
          <a:xfrm>
            <a:off x="2195736" y="5054019"/>
            <a:ext cx="1285884" cy="511477"/>
          </a:xfrm>
          <a:prstGeom prst="roundRect">
            <a:avLst>
              <a:gd name="adj" fmla="val 9247"/>
            </a:avLst>
          </a:prstGeom>
          <a:solidFill>
            <a:srgbClr val="CCAF0A"/>
          </a:solidFill>
          <a:ln w="19050" cap="flat" cmpd="sng" algn="ctr">
            <a:solidFill>
              <a:srgbClr val="CCAF0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0 % CPU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84491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Kerberos network logon with PAC validation</a:t>
            </a:r>
          </a:p>
        </p:txBody>
      </p:sp>
      <p:sp>
        <p:nvSpPr>
          <p:cNvPr id="24" name="Zaoblený obdélník 23"/>
          <p:cNvSpPr/>
          <p:nvPr/>
        </p:nvSpPr>
        <p:spPr>
          <a:xfrm>
            <a:off x="1197884" y="5309758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5" name="Zaoblený obdélník 24"/>
          <p:cNvSpPr/>
          <p:nvPr/>
        </p:nvSpPr>
        <p:spPr>
          <a:xfrm>
            <a:off x="1197884" y="1857934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Client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6" name="Zaoblený obdélník 25"/>
          <p:cNvSpPr/>
          <p:nvPr/>
        </p:nvSpPr>
        <p:spPr>
          <a:xfrm>
            <a:off x="5734388" y="1857934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Server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7" name="Šipka doprava 26"/>
          <p:cNvSpPr/>
          <p:nvPr/>
        </p:nvSpPr>
        <p:spPr>
          <a:xfrm>
            <a:off x="2710052" y="2250843"/>
            <a:ext cx="2880320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9" name="Zaoblený obdélník 28"/>
          <p:cNvSpPr/>
          <p:nvPr/>
        </p:nvSpPr>
        <p:spPr>
          <a:xfrm>
            <a:off x="5734388" y="5309758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0" name="Šipka doprava 29"/>
          <p:cNvSpPr/>
          <p:nvPr/>
        </p:nvSpPr>
        <p:spPr>
          <a:xfrm rot="5400000">
            <a:off x="792150" y="3971910"/>
            <a:ext cx="2084812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6" name="Zaoblený obdélník 15"/>
          <p:cNvSpPr/>
          <p:nvPr/>
        </p:nvSpPr>
        <p:spPr>
          <a:xfrm>
            <a:off x="6804248" y="2706059"/>
            <a:ext cx="1285884" cy="511477"/>
          </a:xfrm>
          <a:prstGeom prst="roundRect">
            <a:avLst>
              <a:gd name="adj" fmla="val 9247"/>
            </a:avLst>
          </a:prstGeom>
          <a:solidFill>
            <a:srgbClr val="CCAF0A"/>
          </a:solidFill>
          <a:ln w="19050" cap="flat" cmpd="sng" algn="ctr">
            <a:solidFill>
              <a:srgbClr val="CCAF0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60 % CPU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Zaoblený obdélník 16"/>
          <p:cNvSpPr/>
          <p:nvPr/>
        </p:nvSpPr>
        <p:spPr>
          <a:xfrm>
            <a:off x="2195736" y="5054019"/>
            <a:ext cx="1285884" cy="511477"/>
          </a:xfrm>
          <a:prstGeom prst="roundRect">
            <a:avLst>
              <a:gd name="adj" fmla="val 9247"/>
            </a:avLst>
          </a:prstGeom>
          <a:solidFill>
            <a:srgbClr val="CCAF0A"/>
          </a:solidFill>
          <a:ln w="19050" cap="flat" cmpd="sng" algn="ctr">
            <a:solidFill>
              <a:srgbClr val="CCAF0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0 % CPU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Zaoblený obdélník 10"/>
          <p:cNvSpPr/>
          <p:nvPr/>
        </p:nvSpPr>
        <p:spPr>
          <a:xfrm>
            <a:off x="6804248" y="5054018"/>
            <a:ext cx="1285884" cy="511477"/>
          </a:xfrm>
          <a:prstGeom prst="roundRect">
            <a:avLst>
              <a:gd name="adj" fmla="val 9247"/>
            </a:avLst>
          </a:prstGeom>
          <a:solidFill>
            <a:srgbClr val="CCAF0A"/>
          </a:solidFill>
          <a:ln w="19050" cap="flat" cmpd="sng" algn="ctr">
            <a:solidFill>
              <a:srgbClr val="CCAF0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14 % CPU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Šipka doprava 11"/>
          <p:cNvSpPr/>
          <p:nvPr/>
        </p:nvSpPr>
        <p:spPr>
          <a:xfrm rot="5400000">
            <a:off x="5330934" y="3973050"/>
            <a:ext cx="2084812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6818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authentication</a:t>
            </a:r>
          </a:p>
        </p:txBody>
      </p:sp>
      <p:sp>
        <p:nvSpPr>
          <p:cNvPr id="24" name="Zaoblený obdélník 23"/>
          <p:cNvSpPr/>
          <p:nvPr/>
        </p:nvSpPr>
        <p:spPr>
          <a:xfrm>
            <a:off x="1197884" y="5237750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5" name="Zaoblený obdélník 24"/>
          <p:cNvSpPr/>
          <p:nvPr/>
        </p:nvSpPr>
        <p:spPr>
          <a:xfrm>
            <a:off x="1197884" y="1785926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Client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6" name="Zaoblený obdélník 25"/>
          <p:cNvSpPr/>
          <p:nvPr/>
        </p:nvSpPr>
        <p:spPr>
          <a:xfrm>
            <a:off x="5734388" y="1785926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Server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7" name="Šipka doprava 26"/>
          <p:cNvSpPr/>
          <p:nvPr/>
        </p:nvSpPr>
        <p:spPr>
          <a:xfrm>
            <a:off x="2710052" y="2178835"/>
            <a:ext cx="2880320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9" name="Zaoblený obdélník 28"/>
          <p:cNvSpPr/>
          <p:nvPr/>
        </p:nvSpPr>
        <p:spPr>
          <a:xfrm>
            <a:off x="5734388" y="5237750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2000+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6" name="Zaoblený obdélník 15"/>
          <p:cNvSpPr/>
          <p:nvPr/>
        </p:nvSpPr>
        <p:spPr>
          <a:xfrm>
            <a:off x="6804248" y="2634051"/>
            <a:ext cx="1285884" cy="511477"/>
          </a:xfrm>
          <a:prstGeom prst="roundRect">
            <a:avLst>
              <a:gd name="adj" fmla="val 9247"/>
            </a:avLst>
          </a:prstGeom>
          <a:solidFill>
            <a:srgbClr val="CCAF0A"/>
          </a:solidFill>
          <a:ln w="19050" cap="flat" cmpd="sng" algn="ctr">
            <a:solidFill>
              <a:srgbClr val="CCAF0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5 % CPU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Zaoblený obdélník 10"/>
          <p:cNvSpPr/>
          <p:nvPr/>
        </p:nvSpPr>
        <p:spPr>
          <a:xfrm>
            <a:off x="6804248" y="4982010"/>
            <a:ext cx="1285884" cy="511477"/>
          </a:xfrm>
          <a:prstGeom prst="roundRect">
            <a:avLst>
              <a:gd name="adj" fmla="val 9247"/>
            </a:avLst>
          </a:prstGeom>
          <a:solidFill>
            <a:srgbClr val="CCAF0A"/>
          </a:solidFill>
          <a:ln w="19050" cap="flat" cmpd="sng" algn="ctr">
            <a:solidFill>
              <a:srgbClr val="CCAF0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0 % CPU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Šipka doprava 11"/>
          <p:cNvSpPr/>
          <p:nvPr/>
        </p:nvSpPr>
        <p:spPr>
          <a:xfrm rot="5400000">
            <a:off x="5330934" y="3901042"/>
            <a:ext cx="2084812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0776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Secure channel and NTLM performance issues</a:t>
            </a:r>
          </a:p>
        </p:txBody>
      </p:sp>
      <p:sp>
        <p:nvSpPr>
          <p:cNvPr id="24" name="Zaoblený obdélník 23"/>
          <p:cNvSpPr/>
          <p:nvPr/>
        </p:nvSpPr>
        <p:spPr>
          <a:xfrm>
            <a:off x="6023560" y="5525782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5" name="Zaoblený obdélník 24"/>
          <p:cNvSpPr/>
          <p:nvPr/>
        </p:nvSpPr>
        <p:spPr>
          <a:xfrm>
            <a:off x="1491046" y="1789916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Client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6" name="Zaoblený obdélník 25"/>
          <p:cNvSpPr/>
          <p:nvPr/>
        </p:nvSpPr>
        <p:spPr>
          <a:xfrm>
            <a:off x="6027550" y="1789916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Server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7" name="Šipka doprava 26"/>
          <p:cNvSpPr/>
          <p:nvPr/>
        </p:nvSpPr>
        <p:spPr>
          <a:xfrm rot="279380" flipV="1">
            <a:off x="3619618" y="1872861"/>
            <a:ext cx="2263915" cy="240509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6" name="Šipka doprava 15"/>
          <p:cNvSpPr/>
          <p:nvPr/>
        </p:nvSpPr>
        <p:spPr>
          <a:xfrm rot="5400000">
            <a:off x="5482360" y="4050758"/>
            <a:ext cx="2376264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9" name="Zaoblený obdélník 18"/>
          <p:cNvSpPr/>
          <p:nvPr/>
        </p:nvSpPr>
        <p:spPr>
          <a:xfrm>
            <a:off x="6670492" y="3254729"/>
            <a:ext cx="1501908" cy="825923"/>
          </a:xfrm>
          <a:prstGeom prst="roundRect">
            <a:avLst>
              <a:gd name="adj" fmla="val 9247"/>
            </a:avLst>
          </a:prstGeom>
          <a:solidFill>
            <a:srgbClr val="CCAF0A"/>
          </a:solidFill>
          <a:ln w="19050" cap="flat" cmpd="sng" algn="ctr">
            <a:solidFill>
              <a:srgbClr val="CCAF0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7 concurrent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kern="0" dirty="0">
                <a:solidFill>
                  <a:sysClr val="window" lastClr="FFFFFF"/>
                </a:solidFill>
                <a:latin typeface="Corbel"/>
              </a:rPr>
              <a:t>100 2008 r2+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0" name="Zaoblený obdélník 19"/>
          <p:cNvSpPr/>
          <p:nvPr/>
        </p:nvSpPr>
        <p:spPr>
          <a:xfrm>
            <a:off x="1643446" y="1942316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Client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1" name="Zaoblený obdélník 20"/>
          <p:cNvSpPr/>
          <p:nvPr/>
        </p:nvSpPr>
        <p:spPr>
          <a:xfrm>
            <a:off x="931077" y="2094716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Client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2" name="Zaoblený obdélník 21"/>
          <p:cNvSpPr/>
          <p:nvPr/>
        </p:nvSpPr>
        <p:spPr>
          <a:xfrm>
            <a:off x="2157735" y="1647040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Client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3" name="Zaoblený obdélník 22"/>
          <p:cNvSpPr/>
          <p:nvPr/>
        </p:nvSpPr>
        <p:spPr>
          <a:xfrm>
            <a:off x="2333735" y="3318686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Client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8" name="Zaoblený obdélník 27"/>
          <p:cNvSpPr/>
          <p:nvPr/>
        </p:nvSpPr>
        <p:spPr>
          <a:xfrm>
            <a:off x="1833602" y="2332351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Client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0" name="Zaoblený obdélník 29"/>
          <p:cNvSpPr/>
          <p:nvPr/>
        </p:nvSpPr>
        <p:spPr>
          <a:xfrm>
            <a:off x="1190660" y="2835301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Client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1" name="Šipka doprava 30"/>
          <p:cNvSpPr/>
          <p:nvPr/>
        </p:nvSpPr>
        <p:spPr>
          <a:xfrm flipV="1">
            <a:off x="3619619" y="2325701"/>
            <a:ext cx="2263915" cy="240509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2" name="Šipka doprava 31"/>
          <p:cNvSpPr/>
          <p:nvPr/>
        </p:nvSpPr>
        <p:spPr>
          <a:xfrm rot="21027171" flipV="1">
            <a:off x="3357261" y="2759297"/>
            <a:ext cx="2263915" cy="240509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3" name="Šipka doprava 32"/>
          <p:cNvSpPr/>
          <p:nvPr/>
        </p:nvSpPr>
        <p:spPr>
          <a:xfrm rot="20271337" flipV="1">
            <a:off x="3674867" y="3211277"/>
            <a:ext cx="2263915" cy="240509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4" name="Zaoblený obdélník 33"/>
          <p:cNvSpPr/>
          <p:nvPr/>
        </p:nvSpPr>
        <p:spPr>
          <a:xfrm>
            <a:off x="6670492" y="4164075"/>
            <a:ext cx="1501908" cy="452361"/>
          </a:xfrm>
          <a:prstGeom prst="roundRect">
            <a:avLst>
              <a:gd name="adj" fmla="val 9247"/>
            </a:avLst>
          </a:prstGeom>
          <a:solidFill>
            <a:srgbClr val="CCAF0A"/>
          </a:solidFill>
          <a:ln w="19050" cap="flat" cmpd="sng" algn="ctr">
            <a:solidFill>
              <a:srgbClr val="CCAF0A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40 sec.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9" name="Zaoblený obdélník 25"/>
          <p:cNvSpPr/>
          <p:nvPr/>
        </p:nvSpPr>
        <p:spPr>
          <a:xfrm>
            <a:off x="6165540" y="1673513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Server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6" name="Zaoblený obdélník 25"/>
          <p:cNvSpPr/>
          <p:nvPr/>
        </p:nvSpPr>
        <p:spPr>
          <a:xfrm>
            <a:off x="6303530" y="1556792"/>
            <a:ext cx="1285884" cy="1071570"/>
          </a:xfrm>
          <a:prstGeom prst="roundRect">
            <a:avLst>
              <a:gd name="adj" fmla="val 9247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Server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6878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sosceles Triangle 20"/>
          <p:cNvSpPr/>
          <p:nvPr/>
        </p:nvSpPr>
        <p:spPr>
          <a:xfrm>
            <a:off x="128967" y="3711311"/>
            <a:ext cx="1950628" cy="1578518"/>
          </a:xfrm>
          <a:prstGeom prst="triangl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600" dirty="0"/>
              <a:t>de</a:t>
            </a:r>
            <a:br>
              <a:rPr lang="en-US" sz="1600" dirty="0"/>
            </a:br>
            <a:r>
              <a:rPr lang="en-US" sz="1600" dirty="0"/>
              <a:t>.</a:t>
            </a:r>
            <a:r>
              <a:rPr lang="en-US" sz="1600" dirty="0" err="1"/>
              <a:t>gopas</a:t>
            </a:r>
            <a:br>
              <a:rPr lang="en-US" sz="1600" dirty="0"/>
            </a:br>
            <a:r>
              <a:rPr lang="en-US" sz="1600" dirty="0"/>
              <a:t>.virtual</a:t>
            </a:r>
            <a:endParaRPr lang="cs-CZ" sz="1600" dirty="0"/>
          </a:p>
        </p:txBody>
      </p:sp>
      <p:sp>
        <p:nvSpPr>
          <p:cNvPr id="20" name="Isosceles Triangle 19"/>
          <p:cNvSpPr/>
          <p:nvPr/>
        </p:nvSpPr>
        <p:spPr>
          <a:xfrm>
            <a:off x="1407996" y="3895000"/>
            <a:ext cx="1950628" cy="1578518"/>
          </a:xfrm>
          <a:prstGeom prst="triangl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600" dirty="0" err="1"/>
              <a:t>cz</a:t>
            </a:r>
            <a:br>
              <a:rPr lang="en-US" sz="1600" dirty="0"/>
            </a:br>
            <a:r>
              <a:rPr lang="en-US" sz="1600" dirty="0"/>
              <a:t>.</a:t>
            </a:r>
            <a:r>
              <a:rPr lang="en-US" sz="1600" dirty="0" err="1"/>
              <a:t>gopas</a:t>
            </a:r>
            <a:br>
              <a:rPr lang="en-US" sz="1600" dirty="0"/>
            </a:br>
            <a:r>
              <a:rPr lang="en-US" sz="1600" dirty="0"/>
              <a:t>.virtual</a:t>
            </a:r>
            <a:endParaRPr lang="cs-CZ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GOPAS trusts BOOKS</a:t>
            </a:r>
            <a:endParaRPr lang="cs-CZ" dirty="0"/>
          </a:p>
        </p:txBody>
      </p:sp>
      <p:sp>
        <p:nvSpPr>
          <p:cNvPr id="7" name="Isosceles Triangle 6"/>
          <p:cNvSpPr/>
          <p:nvPr/>
        </p:nvSpPr>
        <p:spPr>
          <a:xfrm>
            <a:off x="6107000" y="4221088"/>
            <a:ext cx="2857488" cy="2428892"/>
          </a:xfrm>
          <a:prstGeom prst="triangl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book-vendors.com</a:t>
            </a:r>
            <a:br>
              <a:rPr lang="en-US" sz="1400" dirty="0"/>
            </a:br>
            <a:r>
              <a:rPr lang="en-US" sz="1400" dirty="0"/>
              <a:t>(BOOKS)</a:t>
            </a:r>
            <a:endParaRPr lang="cs-CZ" sz="1400" dirty="0"/>
          </a:p>
        </p:txBody>
      </p:sp>
      <p:sp>
        <p:nvSpPr>
          <p:cNvPr id="8" name="Isosceles Triangle 7"/>
          <p:cNvSpPr/>
          <p:nvPr/>
        </p:nvSpPr>
        <p:spPr>
          <a:xfrm>
            <a:off x="214282" y="1714488"/>
            <a:ext cx="2857488" cy="2428892"/>
          </a:xfrm>
          <a:prstGeom prst="triangl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600" dirty="0" err="1"/>
              <a:t>gopas.virtual</a:t>
            </a:r>
            <a:br>
              <a:rPr lang="en-US" sz="1600" dirty="0"/>
            </a:br>
            <a:r>
              <a:rPr lang="en-US" sz="1600" dirty="0"/>
              <a:t>(GPS)</a:t>
            </a:r>
            <a:endParaRPr lang="cs-CZ" sz="1600" dirty="0"/>
          </a:p>
        </p:txBody>
      </p:sp>
      <p:sp>
        <p:nvSpPr>
          <p:cNvPr id="9" name="Right Arrow 8"/>
          <p:cNvSpPr/>
          <p:nvPr/>
        </p:nvSpPr>
        <p:spPr>
          <a:xfrm rot="1802105">
            <a:off x="2574349" y="4092522"/>
            <a:ext cx="4397132" cy="428628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Zaoblený obdélník 15"/>
          <p:cNvSpPr/>
          <p:nvPr/>
        </p:nvSpPr>
        <p:spPr>
          <a:xfrm>
            <a:off x="1714480" y="2071678"/>
            <a:ext cx="792088" cy="59171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</a:t>
            </a:r>
            <a:endParaRPr lang="cs-CZ" sz="1200" dirty="0"/>
          </a:p>
        </p:txBody>
      </p:sp>
      <p:sp>
        <p:nvSpPr>
          <p:cNvPr id="11" name="Zaoblený obdélník 15"/>
          <p:cNvSpPr/>
          <p:nvPr/>
        </p:nvSpPr>
        <p:spPr>
          <a:xfrm>
            <a:off x="1428728" y="2571744"/>
            <a:ext cx="792088" cy="59171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WFE</a:t>
            </a:r>
            <a:endParaRPr lang="cs-CZ" sz="1200" dirty="0"/>
          </a:p>
        </p:txBody>
      </p:sp>
      <p:sp>
        <p:nvSpPr>
          <p:cNvPr id="12" name="Zaoblený obdélník 15"/>
          <p:cNvSpPr/>
          <p:nvPr/>
        </p:nvSpPr>
        <p:spPr>
          <a:xfrm>
            <a:off x="7631138" y="4578278"/>
            <a:ext cx="973310" cy="59171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Adrian </a:t>
            </a:r>
            <a:r>
              <a:rPr lang="en-US" sz="1400" dirty="0" err="1"/>
              <a:t>Voegele</a:t>
            </a:r>
            <a:endParaRPr lang="cs-CZ" sz="1400" dirty="0"/>
          </a:p>
        </p:txBody>
      </p:sp>
      <p:sp>
        <p:nvSpPr>
          <p:cNvPr id="13" name="Zaoblený obdélník 15"/>
          <p:cNvSpPr/>
          <p:nvPr/>
        </p:nvSpPr>
        <p:spPr>
          <a:xfrm>
            <a:off x="2857488" y="1500174"/>
            <a:ext cx="2000264" cy="35719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Trusting domain</a:t>
            </a:r>
            <a:endParaRPr lang="cs-CZ" sz="1400" dirty="0"/>
          </a:p>
        </p:txBody>
      </p:sp>
      <p:sp>
        <p:nvSpPr>
          <p:cNvPr id="14" name="Zaoblený obdélník 15"/>
          <p:cNvSpPr/>
          <p:nvPr/>
        </p:nvSpPr>
        <p:spPr>
          <a:xfrm>
            <a:off x="6357950" y="2571744"/>
            <a:ext cx="2000264" cy="3571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Trusted domain</a:t>
            </a:r>
            <a:endParaRPr lang="cs-CZ" sz="1400" dirty="0"/>
          </a:p>
        </p:txBody>
      </p:sp>
      <p:sp>
        <p:nvSpPr>
          <p:cNvPr id="15" name="Zaoblený obdélník 15"/>
          <p:cNvSpPr/>
          <p:nvPr/>
        </p:nvSpPr>
        <p:spPr>
          <a:xfrm>
            <a:off x="2857488" y="1928802"/>
            <a:ext cx="2000264" cy="35719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Resource domain</a:t>
            </a:r>
            <a:endParaRPr lang="cs-CZ" sz="1400" dirty="0"/>
          </a:p>
        </p:txBody>
      </p:sp>
      <p:sp>
        <p:nvSpPr>
          <p:cNvPr id="16" name="Zaoblený obdélník 15"/>
          <p:cNvSpPr/>
          <p:nvPr/>
        </p:nvSpPr>
        <p:spPr>
          <a:xfrm>
            <a:off x="6357950" y="3000372"/>
            <a:ext cx="2000264" cy="3571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Account domain</a:t>
            </a:r>
            <a:endParaRPr lang="cs-CZ" sz="1400" dirty="0"/>
          </a:p>
        </p:txBody>
      </p:sp>
      <p:sp>
        <p:nvSpPr>
          <p:cNvPr id="17" name="Zaoblený obdélník 15"/>
          <p:cNvSpPr/>
          <p:nvPr/>
        </p:nvSpPr>
        <p:spPr>
          <a:xfrm>
            <a:off x="2857488" y="2357430"/>
            <a:ext cx="2000264" cy="35719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Outgoing trust</a:t>
            </a:r>
            <a:endParaRPr lang="cs-CZ" sz="1400" dirty="0"/>
          </a:p>
        </p:txBody>
      </p:sp>
      <p:sp>
        <p:nvSpPr>
          <p:cNvPr id="18" name="Zaoblený obdélník 15"/>
          <p:cNvSpPr/>
          <p:nvPr/>
        </p:nvSpPr>
        <p:spPr>
          <a:xfrm>
            <a:off x="6357950" y="3429000"/>
            <a:ext cx="2000264" cy="3571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Incoming trust</a:t>
            </a:r>
            <a:endParaRPr lang="cs-CZ" sz="1400" dirty="0"/>
          </a:p>
        </p:txBody>
      </p:sp>
      <p:sp>
        <p:nvSpPr>
          <p:cNvPr id="19" name="Zaoblený obdélník 15"/>
          <p:cNvSpPr/>
          <p:nvPr/>
        </p:nvSpPr>
        <p:spPr>
          <a:xfrm>
            <a:off x="3571868" y="4071942"/>
            <a:ext cx="2000264" cy="35719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GPS trusts BOOKS</a:t>
            </a:r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37831419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GOPAS trusts BOOKS</a:t>
            </a:r>
            <a:endParaRPr lang="cs-CZ" dirty="0"/>
          </a:p>
        </p:txBody>
      </p:sp>
      <p:sp>
        <p:nvSpPr>
          <p:cNvPr id="7" name="Isosceles Triangle 6"/>
          <p:cNvSpPr/>
          <p:nvPr/>
        </p:nvSpPr>
        <p:spPr>
          <a:xfrm>
            <a:off x="6107000" y="4221088"/>
            <a:ext cx="2857488" cy="2428892"/>
          </a:xfrm>
          <a:prstGeom prst="triangl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book-vendors.com</a:t>
            </a:r>
            <a:br>
              <a:rPr lang="en-US" sz="1400" dirty="0"/>
            </a:br>
            <a:r>
              <a:rPr lang="en-US" sz="1400" dirty="0"/>
              <a:t>(BOOKS)</a:t>
            </a:r>
            <a:endParaRPr lang="cs-CZ" sz="1400" dirty="0"/>
          </a:p>
        </p:txBody>
      </p:sp>
      <p:sp>
        <p:nvSpPr>
          <p:cNvPr id="8" name="Isosceles Triangle 7"/>
          <p:cNvSpPr/>
          <p:nvPr/>
        </p:nvSpPr>
        <p:spPr>
          <a:xfrm>
            <a:off x="214282" y="1714488"/>
            <a:ext cx="2857488" cy="2428892"/>
          </a:xfrm>
          <a:prstGeom prst="triangl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600" dirty="0" err="1"/>
              <a:t>gopas.virtual</a:t>
            </a:r>
            <a:br>
              <a:rPr lang="en-US" sz="1600" dirty="0"/>
            </a:br>
            <a:r>
              <a:rPr lang="en-US" sz="1600" dirty="0"/>
              <a:t>(GPS)</a:t>
            </a:r>
            <a:endParaRPr lang="cs-CZ" sz="1600" dirty="0"/>
          </a:p>
        </p:txBody>
      </p:sp>
      <p:sp>
        <p:nvSpPr>
          <p:cNvPr id="9" name="Right Arrow 8"/>
          <p:cNvSpPr/>
          <p:nvPr/>
        </p:nvSpPr>
        <p:spPr>
          <a:xfrm rot="1802105">
            <a:off x="2574349" y="4092522"/>
            <a:ext cx="4397132" cy="428628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Zaoblený obdélník 15"/>
          <p:cNvSpPr/>
          <p:nvPr/>
        </p:nvSpPr>
        <p:spPr>
          <a:xfrm>
            <a:off x="918547" y="5301208"/>
            <a:ext cx="1139491" cy="92330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WFE</a:t>
            </a:r>
            <a:endParaRPr lang="cs-CZ" sz="1200" dirty="0"/>
          </a:p>
        </p:txBody>
      </p:sp>
      <p:sp>
        <p:nvSpPr>
          <p:cNvPr id="22" name="Zaoblený obdélník 15"/>
          <p:cNvSpPr/>
          <p:nvPr/>
        </p:nvSpPr>
        <p:spPr>
          <a:xfrm>
            <a:off x="482716" y="4077072"/>
            <a:ext cx="711313" cy="416525"/>
          </a:xfrm>
          <a:prstGeom prst="roundRect">
            <a:avLst>
              <a:gd name="adj" fmla="val 0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WFE$</a:t>
            </a:r>
            <a:endParaRPr lang="cs-CZ" sz="1200" dirty="0"/>
          </a:p>
        </p:txBody>
      </p:sp>
      <p:sp>
        <p:nvSpPr>
          <p:cNvPr id="23" name="Zaoblený obdélník 15"/>
          <p:cNvSpPr/>
          <p:nvPr/>
        </p:nvSpPr>
        <p:spPr>
          <a:xfrm>
            <a:off x="1913509" y="5592821"/>
            <a:ext cx="1362347" cy="416525"/>
          </a:xfrm>
          <a:prstGeom prst="roundRect">
            <a:avLst>
              <a:gd name="adj" fmla="val 0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$MACHINE.ACC</a:t>
            </a:r>
            <a:endParaRPr lang="cs-CZ" sz="1200" dirty="0"/>
          </a:p>
        </p:txBody>
      </p:sp>
      <p:sp>
        <p:nvSpPr>
          <p:cNvPr id="24" name="Zaoblený obdélník 15"/>
          <p:cNvSpPr/>
          <p:nvPr/>
        </p:nvSpPr>
        <p:spPr>
          <a:xfrm>
            <a:off x="3275856" y="5592820"/>
            <a:ext cx="650183" cy="416525"/>
          </a:xfrm>
          <a:prstGeom prst="roundRect">
            <a:avLst>
              <a:gd name="adj" fmla="val 0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PWD</a:t>
            </a:r>
            <a:endParaRPr lang="cs-CZ" sz="1200" dirty="0"/>
          </a:p>
        </p:txBody>
      </p:sp>
      <p:sp>
        <p:nvSpPr>
          <p:cNvPr id="25" name="Zaoblený obdélník 15"/>
          <p:cNvSpPr/>
          <p:nvPr/>
        </p:nvSpPr>
        <p:spPr>
          <a:xfrm>
            <a:off x="1194029" y="4077072"/>
            <a:ext cx="650183" cy="416525"/>
          </a:xfrm>
          <a:prstGeom prst="roundRect">
            <a:avLst>
              <a:gd name="adj" fmla="val 0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#</a:t>
            </a:r>
            <a:endParaRPr lang="cs-CZ" sz="1200" dirty="0"/>
          </a:p>
        </p:txBody>
      </p:sp>
      <p:cxnSp>
        <p:nvCxnSpPr>
          <p:cNvPr id="4" name="Elbow Connector 3"/>
          <p:cNvCxnSpPr>
            <a:stCxn id="24" idx="0"/>
            <a:endCxn id="25" idx="2"/>
          </p:cNvCxnSpPr>
          <p:nvPr/>
        </p:nvCxnSpPr>
        <p:spPr>
          <a:xfrm rot="16200000" flipV="1">
            <a:off x="2010424" y="4002295"/>
            <a:ext cx="1099223" cy="2081827"/>
          </a:xfrm>
          <a:prstGeom prst="bentConnector3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26" name="Zaoblený obdélník 15"/>
          <p:cNvSpPr/>
          <p:nvPr/>
        </p:nvSpPr>
        <p:spPr>
          <a:xfrm>
            <a:off x="1645658" y="2339673"/>
            <a:ext cx="1362347" cy="416525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TDO BOOKS</a:t>
            </a:r>
            <a:endParaRPr lang="cs-CZ" sz="1200" dirty="0"/>
          </a:p>
        </p:txBody>
      </p:sp>
      <p:sp>
        <p:nvSpPr>
          <p:cNvPr id="27" name="Zaoblený obdélník 15"/>
          <p:cNvSpPr/>
          <p:nvPr/>
        </p:nvSpPr>
        <p:spPr>
          <a:xfrm>
            <a:off x="3008005" y="2339672"/>
            <a:ext cx="650183" cy="416525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PWD</a:t>
            </a:r>
            <a:endParaRPr lang="cs-CZ" sz="1200" dirty="0"/>
          </a:p>
        </p:txBody>
      </p:sp>
      <p:sp>
        <p:nvSpPr>
          <p:cNvPr id="28" name="Zaoblený obdélník 15"/>
          <p:cNvSpPr/>
          <p:nvPr/>
        </p:nvSpPr>
        <p:spPr>
          <a:xfrm>
            <a:off x="6896967" y="4581128"/>
            <a:ext cx="1362347" cy="576064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TrustAccount</a:t>
            </a:r>
            <a:r>
              <a:rPr lang="en-US" sz="1200" dirty="0"/>
              <a:t> GPS$</a:t>
            </a:r>
            <a:endParaRPr lang="cs-CZ" sz="1200" dirty="0"/>
          </a:p>
        </p:txBody>
      </p:sp>
      <p:sp>
        <p:nvSpPr>
          <p:cNvPr id="29" name="Zaoblený obdélník 15"/>
          <p:cNvSpPr/>
          <p:nvPr/>
        </p:nvSpPr>
        <p:spPr>
          <a:xfrm>
            <a:off x="8259314" y="4581127"/>
            <a:ext cx="650183" cy="576065"/>
          </a:xfrm>
          <a:prstGeom prst="roundRect">
            <a:avLst>
              <a:gd name="adj" fmla="val 0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#</a:t>
            </a:r>
            <a:endParaRPr lang="cs-CZ" sz="1200" dirty="0"/>
          </a:p>
        </p:txBody>
      </p:sp>
      <p:cxnSp>
        <p:nvCxnSpPr>
          <p:cNvPr id="6" name="Elbow Connector 5"/>
          <p:cNvCxnSpPr>
            <a:stCxn id="27" idx="3"/>
            <a:endCxn id="29" idx="0"/>
          </p:cNvCxnSpPr>
          <p:nvPr/>
        </p:nvCxnSpPr>
        <p:spPr>
          <a:xfrm>
            <a:off x="3658188" y="2547935"/>
            <a:ext cx="4926218" cy="2033192"/>
          </a:xfrm>
          <a:prstGeom prst="bentConnector2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16960126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Trust account and TDO</a:t>
            </a:r>
            <a:endParaRPr lang="cs-CZ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user </a:t>
            </a:r>
            <a:r>
              <a:rPr lang="en-US" dirty="0"/>
              <a:t>object DOMAIN$ in CN=Users</a:t>
            </a:r>
          </a:p>
          <a:p>
            <a:pPr lvl="1"/>
            <a:r>
              <a:rPr lang="en-US" dirty="0" err="1"/>
              <a:t>sAMAccountType</a:t>
            </a:r>
            <a:r>
              <a:rPr lang="en-US" dirty="0"/>
              <a:t> = 805306370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trustedDomain</a:t>
            </a:r>
            <a:r>
              <a:rPr lang="en-US" dirty="0"/>
              <a:t> object in CN=SYSTEM</a:t>
            </a:r>
          </a:p>
          <a:p>
            <a:pPr lvl="1"/>
            <a:r>
              <a:rPr lang="en-US" dirty="0"/>
              <a:t>plus LSASS global secret with full-text password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931453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Trusts within a single forest </a:t>
            </a:r>
            <a:r>
              <a:rPr lang="en-GB" dirty="0">
                <a:solidFill>
                  <a:schemeClr val="accent1"/>
                </a:solidFill>
              </a:rPr>
              <a:t>gopas.virtual</a:t>
            </a:r>
            <a:br>
              <a:rPr lang="en-GB" dirty="0"/>
            </a:br>
            <a:endParaRPr lang="en-GB" dirty="0"/>
          </a:p>
        </p:txBody>
      </p:sp>
      <p:sp>
        <p:nvSpPr>
          <p:cNvPr id="20" name="Rovnoramenný trojúhelník 19"/>
          <p:cNvSpPr/>
          <p:nvPr/>
        </p:nvSpPr>
        <p:spPr>
          <a:xfrm>
            <a:off x="1691148" y="1300323"/>
            <a:ext cx="2370160" cy="18406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3" name="Rectangle 2"/>
          <p:cNvSpPr/>
          <p:nvPr/>
        </p:nvSpPr>
        <p:spPr>
          <a:xfrm>
            <a:off x="1691148" y="2420888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gopas.virtual</a:t>
            </a:r>
          </a:p>
        </p:txBody>
      </p:sp>
      <p:sp>
        <p:nvSpPr>
          <p:cNvPr id="23" name="Rovnoramenný trojúhelník 19"/>
          <p:cNvSpPr/>
          <p:nvPr/>
        </p:nvSpPr>
        <p:spPr>
          <a:xfrm>
            <a:off x="323528" y="4324659"/>
            <a:ext cx="2370160" cy="18406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28" name="Rectangle 27"/>
          <p:cNvSpPr/>
          <p:nvPr/>
        </p:nvSpPr>
        <p:spPr>
          <a:xfrm>
            <a:off x="323528" y="5445224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2"/>
                </a:solidFill>
              </a:rPr>
              <a:t>cz.</a:t>
            </a:r>
            <a:r>
              <a:rPr lang="en-US" sz="1400" dirty="0" err="1"/>
              <a:t>gopas.virtual</a:t>
            </a:r>
            <a:endParaRPr lang="en-US" sz="1400" dirty="0"/>
          </a:p>
        </p:txBody>
      </p:sp>
      <p:sp>
        <p:nvSpPr>
          <p:cNvPr id="30" name="Rovnoramenný trojúhelník 19"/>
          <p:cNvSpPr/>
          <p:nvPr/>
        </p:nvSpPr>
        <p:spPr>
          <a:xfrm>
            <a:off x="3203316" y="4324659"/>
            <a:ext cx="2370160" cy="18406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31" name="Rectangle 30"/>
          <p:cNvSpPr/>
          <p:nvPr/>
        </p:nvSpPr>
        <p:spPr>
          <a:xfrm>
            <a:off x="3203316" y="5445224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2"/>
                </a:solidFill>
              </a:rPr>
              <a:t>de.</a:t>
            </a:r>
            <a:r>
              <a:rPr lang="en-US" sz="1400" dirty="0" err="1"/>
              <a:t>gopas.virtual</a:t>
            </a:r>
            <a:endParaRPr lang="en-US" sz="1400" dirty="0"/>
          </a:p>
        </p:txBody>
      </p:sp>
      <p:sp>
        <p:nvSpPr>
          <p:cNvPr id="32" name="Rovnoramenný trojúhelník 19"/>
          <p:cNvSpPr/>
          <p:nvPr/>
        </p:nvSpPr>
        <p:spPr>
          <a:xfrm>
            <a:off x="5573476" y="1676144"/>
            <a:ext cx="2370160" cy="1840645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33" name="Rectangle 32"/>
          <p:cNvSpPr/>
          <p:nvPr/>
        </p:nvSpPr>
        <p:spPr>
          <a:xfrm>
            <a:off x="5573476" y="2796709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skoleni.local</a:t>
            </a:r>
          </a:p>
        </p:txBody>
      </p:sp>
      <p:sp>
        <p:nvSpPr>
          <p:cNvPr id="34" name="Rovnoramenný trojúhelník 19"/>
          <p:cNvSpPr/>
          <p:nvPr/>
        </p:nvSpPr>
        <p:spPr>
          <a:xfrm>
            <a:off x="6443676" y="3964619"/>
            <a:ext cx="2370160" cy="1840645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4" name="Left-Right Arrow 3"/>
          <p:cNvSpPr/>
          <p:nvPr/>
        </p:nvSpPr>
        <p:spPr>
          <a:xfrm rot="796015">
            <a:off x="3644305" y="2166090"/>
            <a:ext cx="2304256" cy="288032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eft-Right Arrow 37"/>
          <p:cNvSpPr/>
          <p:nvPr/>
        </p:nvSpPr>
        <p:spPr>
          <a:xfrm rot="17683312">
            <a:off x="1492328" y="3903105"/>
            <a:ext cx="1625854" cy="280614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Left-Right Arrow 38"/>
          <p:cNvSpPr/>
          <p:nvPr/>
        </p:nvSpPr>
        <p:spPr>
          <a:xfrm rot="14727540">
            <a:off x="2718826" y="3903104"/>
            <a:ext cx="1625854" cy="280614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Left-Right Arrow 41"/>
          <p:cNvSpPr/>
          <p:nvPr/>
        </p:nvSpPr>
        <p:spPr>
          <a:xfrm rot="14526456">
            <a:off x="6337107" y="4184352"/>
            <a:ext cx="1625854" cy="280614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vnoramenný trojúhelník 19"/>
          <p:cNvSpPr/>
          <p:nvPr/>
        </p:nvSpPr>
        <p:spPr>
          <a:xfrm>
            <a:off x="6070888" y="3820603"/>
            <a:ext cx="2370160" cy="1840645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40" name="Left-Right Arrow 39"/>
          <p:cNvSpPr/>
          <p:nvPr/>
        </p:nvSpPr>
        <p:spPr>
          <a:xfrm rot="14526456">
            <a:off x="5945629" y="4202975"/>
            <a:ext cx="1625854" cy="280614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6070888" y="4941168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2"/>
                </a:solidFill>
              </a:rPr>
              <a:t>pc.</a:t>
            </a:r>
            <a:r>
              <a:rPr lang="en-US" sz="1400" dirty="0" err="1"/>
              <a:t>skoleni.local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08918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vnoramenný trojúhelník 18"/>
          <p:cNvSpPr/>
          <p:nvPr/>
        </p:nvSpPr>
        <p:spPr>
          <a:xfrm>
            <a:off x="3109148" y="4827047"/>
            <a:ext cx="2370160" cy="1840645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C</a:t>
            </a:r>
            <a:endParaRPr lang="cs-CZ" sz="1600" dirty="0"/>
          </a:p>
        </p:txBody>
      </p:sp>
      <p:sp>
        <p:nvSpPr>
          <p:cNvPr id="16" name="Rovnoramenný trojúhelník 15"/>
          <p:cNvSpPr/>
          <p:nvPr/>
        </p:nvSpPr>
        <p:spPr>
          <a:xfrm>
            <a:off x="6522320" y="4854352"/>
            <a:ext cx="2370160" cy="1840645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B</a:t>
            </a:r>
            <a:endParaRPr lang="cs-CZ" sz="1600" dirty="0"/>
          </a:p>
        </p:txBody>
      </p:sp>
      <p:sp>
        <p:nvSpPr>
          <p:cNvPr id="2" name="Rovnoramenný trojúhelník 1"/>
          <p:cNvSpPr/>
          <p:nvPr/>
        </p:nvSpPr>
        <p:spPr>
          <a:xfrm>
            <a:off x="3347864" y="116632"/>
            <a:ext cx="5328592" cy="414901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A</a:t>
            </a:r>
            <a:endParaRPr lang="cs-CZ" sz="1600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NTLM trusts (pass-through)</a:t>
            </a:r>
            <a:br>
              <a:rPr lang="en-GB" sz="2800" dirty="0"/>
            </a:br>
            <a:endParaRPr lang="en-GB" sz="2800" dirty="0"/>
          </a:p>
        </p:txBody>
      </p:sp>
      <p:sp>
        <p:nvSpPr>
          <p:cNvPr id="24" name="Zaoblený obdélník 23"/>
          <p:cNvSpPr/>
          <p:nvPr/>
        </p:nvSpPr>
        <p:spPr>
          <a:xfrm>
            <a:off x="6372200" y="5220650"/>
            <a:ext cx="1285884" cy="10715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 B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5" name="Zaoblený obdélník 24"/>
          <p:cNvSpPr/>
          <p:nvPr/>
        </p:nvSpPr>
        <p:spPr>
          <a:xfrm>
            <a:off x="1197884" y="1501884"/>
            <a:ext cx="1285884" cy="10715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D\User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6" name="Zaoblený obdélník 25"/>
          <p:cNvSpPr/>
          <p:nvPr/>
        </p:nvSpPr>
        <p:spPr>
          <a:xfrm>
            <a:off x="6376190" y="1484784"/>
            <a:ext cx="1285884" cy="10715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A\Server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7" name="Šipka doprava 26"/>
          <p:cNvSpPr/>
          <p:nvPr/>
        </p:nvSpPr>
        <p:spPr>
          <a:xfrm>
            <a:off x="2710051" y="1894793"/>
            <a:ext cx="3485181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9" name="Zaoblený obdélník 28"/>
          <p:cNvSpPr/>
          <p:nvPr/>
        </p:nvSpPr>
        <p:spPr>
          <a:xfrm>
            <a:off x="6372200" y="3365542"/>
            <a:ext cx="1285884" cy="10715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 A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Šipka doprava 11"/>
          <p:cNvSpPr/>
          <p:nvPr/>
        </p:nvSpPr>
        <p:spPr>
          <a:xfrm rot="5400000">
            <a:off x="6763114" y="2818072"/>
            <a:ext cx="504056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Šipka doprava 12"/>
          <p:cNvSpPr/>
          <p:nvPr/>
        </p:nvSpPr>
        <p:spPr>
          <a:xfrm rot="5400000">
            <a:off x="6763114" y="4690280"/>
            <a:ext cx="504056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Šipka doprava 13"/>
          <p:cNvSpPr/>
          <p:nvPr/>
        </p:nvSpPr>
        <p:spPr>
          <a:xfrm rot="10800000">
            <a:off x="5691177" y="5630659"/>
            <a:ext cx="504056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5" name="Zaoblený obdélník 14"/>
          <p:cNvSpPr/>
          <p:nvPr/>
        </p:nvSpPr>
        <p:spPr>
          <a:xfrm>
            <a:off x="4294228" y="5237750"/>
            <a:ext cx="1285884" cy="10715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 C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Šipka doprava 16"/>
          <p:cNvSpPr/>
          <p:nvPr/>
        </p:nvSpPr>
        <p:spPr>
          <a:xfrm rot="10800000">
            <a:off x="3109148" y="5630658"/>
            <a:ext cx="969057" cy="285753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0" name="Rovnoramenný trojúhelník 19"/>
          <p:cNvSpPr/>
          <p:nvPr/>
        </p:nvSpPr>
        <p:spPr>
          <a:xfrm>
            <a:off x="401640" y="4828715"/>
            <a:ext cx="2370160" cy="18406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D</a:t>
            </a:r>
            <a:endParaRPr lang="cs-CZ" sz="1600" dirty="0"/>
          </a:p>
        </p:txBody>
      </p:sp>
      <p:sp>
        <p:nvSpPr>
          <p:cNvPr id="18" name="Zaoblený obdélník 17"/>
          <p:cNvSpPr/>
          <p:nvPr/>
        </p:nvSpPr>
        <p:spPr>
          <a:xfrm>
            <a:off x="1619672" y="5237750"/>
            <a:ext cx="1285884" cy="10715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 D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2481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 pass-through trust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and DNS</a:t>
            </a:r>
          </a:p>
          <a:p>
            <a:pPr lvl="1"/>
            <a:r>
              <a:rPr lang="en-US" dirty="0"/>
              <a:t>at least </a:t>
            </a:r>
            <a:r>
              <a:rPr lang="en-US" dirty="0">
                <a:solidFill>
                  <a:schemeClr val="accent1"/>
                </a:solidFill>
              </a:rPr>
              <a:t>adjacent DCs </a:t>
            </a:r>
            <a:r>
              <a:rPr lang="en-US" dirty="0"/>
              <a:t>over the virtual </a:t>
            </a:r>
            <a:r>
              <a:rPr lang="en-US" dirty="0">
                <a:solidFill>
                  <a:schemeClr val="accent1"/>
                </a:solidFill>
              </a:rPr>
              <a:t>trust-links</a:t>
            </a:r>
          </a:p>
          <a:p>
            <a:r>
              <a:rPr lang="en-US" dirty="0"/>
              <a:t>RTT (round-trip-time) as fast as possible</a:t>
            </a:r>
          </a:p>
        </p:txBody>
      </p:sp>
    </p:spTree>
    <p:extLst>
      <p:ext uri="{BB962C8B-B14F-4D97-AF65-F5344CB8AC3E}">
        <p14:creationId xmlns:p14="http://schemas.microsoft.com/office/powerpoint/2010/main" val="7405426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vnoramenný trojúhelník 22"/>
          <p:cNvSpPr/>
          <p:nvPr/>
        </p:nvSpPr>
        <p:spPr>
          <a:xfrm>
            <a:off x="5835192" y="4612691"/>
            <a:ext cx="2370160" cy="1840645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B</a:t>
            </a:r>
            <a:endParaRPr lang="cs-CZ" sz="1600" dirty="0"/>
          </a:p>
        </p:txBody>
      </p:sp>
      <p:sp>
        <p:nvSpPr>
          <p:cNvPr id="22" name="Rovnoramenný trojúhelník 21"/>
          <p:cNvSpPr/>
          <p:nvPr/>
        </p:nvSpPr>
        <p:spPr>
          <a:xfrm>
            <a:off x="3074459" y="4628638"/>
            <a:ext cx="2370160" cy="1840645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C</a:t>
            </a:r>
            <a:endParaRPr lang="cs-CZ" sz="1600" dirty="0"/>
          </a:p>
        </p:txBody>
      </p:sp>
      <p:sp>
        <p:nvSpPr>
          <p:cNvPr id="17" name="Rovnoramenný trojúhelník 16"/>
          <p:cNvSpPr/>
          <p:nvPr/>
        </p:nvSpPr>
        <p:spPr>
          <a:xfrm>
            <a:off x="179512" y="4612691"/>
            <a:ext cx="2370160" cy="18406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D</a:t>
            </a:r>
            <a:endParaRPr lang="cs-CZ" sz="1600" dirty="0"/>
          </a:p>
        </p:txBody>
      </p:sp>
      <p:sp>
        <p:nvSpPr>
          <p:cNvPr id="14" name="Rovnoramenný trojúhelník 13"/>
          <p:cNvSpPr/>
          <p:nvPr/>
        </p:nvSpPr>
        <p:spPr>
          <a:xfrm>
            <a:off x="3707904" y="188640"/>
            <a:ext cx="5328592" cy="414901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dirty="0"/>
              <a:t>A</a:t>
            </a:r>
            <a:endParaRPr lang="cs-CZ" sz="1600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Kerberos trusts</a:t>
            </a:r>
            <a:br>
              <a:rPr lang="en-GB" sz="2800" dirty="0"/>
            </a:br>
            <a:endParaRPr lang="en-GB" sz="2800" dirty="0"/>
          </a:p>
        </p:txBody>
      </p:sp>
      <p:sp>
        <p:nvSpPr>
          <p:cNvPr id="24" name="Zaoblený obdélník 23"/>
          <p:cNvSpPr/>
          <p:nvPr/>
        </p:nvSpPr>
        <p:spPr>
          <a:xfrm>
            <a:off x="5730398" y="5013176"/>
            <a:ext cx="1285884" cy="10715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 B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5" name="Zaoblený obdélník 24"/>
          <p:cNvSpPr/>
          <p:nvPr/>
        </p:nvSpPr>
        <p:spPr>
          <a:xfrm>
            <a:off x="1197884" y="1277310"/>
            <a:ext cx="1285884" cy="10715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D\User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6" name="Zaoblený obdélník 25"/>
          <p:cNvSpPr/>
          <p:nvPr/>
        </p:nvSpPr>
        <p:spPr>
          <a:xfrm>
            <a:off x="5734388" y="1205302"/>
            <a:ext cx="1285884" cy="10715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A\Server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7" name="Šipka doprava 26"/>
          <p:cNvSpPr/>
          <p:nvPr/>
        </p:nvSpPr>
        <p:spPr>
          <a:xfrm rot="5400000">
            <a:off x="652694" y="3538152"/>
            <a:ext cx="2376264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9" name="Zaoblený obdélník 28"/>
          <p:cNvSpPr/>
          <p:nvPr/>
        </p:nvSpPr>
        <p:spPr>
          <a:xfrm>
            <a:off x="5730398" y="2780928"/>
            <a:ext cx="1285884" cy="10715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 A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5" name="Zaoblený obdélník 14"/>
          <p:cNvSpPr/>
          <p:nvPr/>
        </p:nvSpPr>
        <p:spPr>
          <a:xfrm>
            <a:off x="3491880" y="5013176"/>
            <a:ext cx="1285884" cy="10715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 C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8" name="Zaoblený obdélník 17"/>
          <p:cNvSpPr/>
          <p:nvPr/>
        </p:nvSpPr>
        <p:spPr>
          <a:xfrm>
            <a:off x="1197884" y="5013176"/>
            <a:ext cx="1285884" cy="107157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DC D</a:t>
            </a:r>
            <a:endParaRPr kumimoji="0" lang="cs-CZ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6" name="Šipka doprava 15"/>
          <p:cNvSpPr/>
          <p:nvPr/>
        </p:nvSpPr>
        <p:spPr>
          <a:xfrm rot="3677456">
            <a:off x="1596198" y="3533877"/>
            <a:ext cx="2376264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9" name="Šipka doprava 18"/>
          <p:cNvSpPr/>
          <p:nvPr/>
        </p:nvSpPr>
        <p:spPr>
          <a:xfrm rot="2430447">
            <a:off x="2302020" y="3512000"/>
            <a:ext cx="3442458" cy="267195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0" name="Šipka doprava 19"/>
          <p:cNvSpPr/>
          <p:nvPr/>
        </p:nvSpPr>
        <p:spPr>
          <a:xfrm rot="1304502">
            <a:off x="2751348" y="2544073"/>
            <a:ext cx="2686618" cy="271727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1" name="Šipka doprava 20"/>
          <p:cNvSpPr/>
          <p:nvPr/>
        </p:nvSpPr>
        <p:spPr>
          <a:xfrm>
            <a:off x="2777526" y="1670219"/>
            <a:ext cx="2641189" cy="285752"/>
          </a:xfrm>
          <a:prstGeom prst="rightArrow">
            <a:avLst/>
          </a:prstGeom>
          <a:solidFill>
            <a:srgbClr val="6EA0B0"/>
          </a:solidFill>
          <a:ln w="19050" cap="flat" cmpd="sng" algn="ctr">
            <a:solidFill>
              <a:srgbClr val="6EA0B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cs-CZ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46564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Kerberos trust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and DNS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any client </a:t>
            </a:r>
            <a:r>
              <a:rPr lang="en-US" dirty="0"/>
              <a:t>vs. </a:t>
            </a:r>
            <a:r>
              <a:rPr lang="en-US" dirty="0">
                <a:solidFill>
                  <a:schemeClr val="accent1"/>
                </a:solidFill>
              </a:rPr>
              <a:t>any DC </a:t>
            </a:r>
            <a:r>
              <a:rPr lang="en-US" dirty="0"/>
              <a:t>from any domain</a:t>
            </a:r>
          </a:p>
        </p:txBody>
      </p:sp>
    </p:spTree>
    <p:extLst>
      <p:ext uri="{BB962C8B-B14F-4D97-AF65-F5344CB8AC3E}">
        <p14:creationId xmlns:p14="http://schemas.microsoft.com/office/powerpoint/2010/main" val="31874226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Slow authentication over multiple trusts</a:t>
            </a:r>
          </a:p>
        </p:txBody>
      </p:sp>
      <p:sp>
        <p:nvSpPr>
          <p:cNvPr id="20" name="Rovnoramenný trojúhelník 19"/>
          <p:cNvSpPr/>
          <p:nvPr/>
        </p:nvSpPr>
        <p:spPr>
          <a:xfrm>
            <a:off x="1691148" y="1300323"/>
            <a:ext cx="2370160" cy="18406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3" name="Rectangle 2"/>
          <p:cNvSpPr/>
          <p:nvPr/>
        </p:nvSpPr>
        <p:spPr>
          <a:xfrm>
            <a:off x="1691148" y="2420888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gopas.virtual</a:t>
            </a:r>
          </a:p>
        </p:txBody>
      </p:sp>
      <p:sp>
        <p:nvSpPr>
          <p:cNvPr id="23" name="Rovnoramenný trojúhelník 19"/>
          <p:cNvSpPr/>
          <p:nvPr/>
        </p:nvSpPr>
        <p:spPr>
          <a:xfrm>
            <a:off x="323528" y="4324659"/>
            <a:ext cx="2370160" cy="18406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28" name="Rectangle 27"/>
          <p:cNvSpPr/>
          <p:nvPr/>
        </p:nvSpPr>
        <p:spPr>
          <a:xfrm>
            <a:off x="323528" y="5445224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2"/>
                </a:solidFill>
              </a:rPr>
              <a:t>cz.</a:t>
            </a:r>
            <a:r>
              <a:rPr lang="en-US" sz="1400" dirty="0" err="1"/>
              <a:t>gopas.virtual</a:t>
            </a:r>
            <a:endParaRPr lang="en-US" sz="1400" dirty="0"/>
          </a:p>
        </p:txBody>
      </p:sp>
      <p:sp>
        <p:nvSpPr>
          <p:cNvPr id="30" name="Rovnoramenný trojúhelník 19"/>
          <p:cNvSpPr/>
          <p:nvPr/>
        </p:nvSpPr>
        <p:spPr>
          <a:xfrm>
            <a:off x="3203316" y="4324659"/>
            <a:ext cx="2370160" cy="18406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31" name="Rectangle 30"/>
          <p:cNvSpPr/>
          <p:nvPr/>
        </p:nvSpPr>
        <p:spPr>
          <a:xfrm>
            <a:off x="3203316" y="5445224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2"/>
                </a:solidFill>
              </a:rPr>
              <a:t>de.</a:t>
            </a:r>
            <a:r>
              <a:rPr lang="en-US" sz="1400" dirty="0" err="1"/>
              <a:t>gopas.virtual</a:t>
            </a:r>
            <a:endParaRPr lang="en-US" sz="1400" dirty="0"/>
          </a:p>
        </p:txBody>
      </p:sp>
      <p:sp>
        <p:nvSpPr>
          <p:cNvPr id="32" name="Rovnoramenný trojúhelník 19"/>
          <p:cNvSpPr/>
          <p:nvPr/>
        </p:nvSpPr>
        <p:spPr>
          <a:xfrm>
            <a:off x="5573476" y="1676144"/>
            <a:ext cx="2370160" cy="1840645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33" name="Rectangle 32"/>
          <p:cNvSpPr/>
          <p:nvPr/>
        </p:nvSpPr>
        <p:spPr>
          <a:xfrm>
            <a:off x="5573476" y="2796709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skoleni.local</a:t>
            </a:r>
          </a:p>
        </p:txBody>
      </p:sp>
      <p:sp>
        <p:nvSpPr>
          <p:cNvPr id="34" name="Rovnoramenný trojúhelník 19"/>
          <p:cNvSpPr/>
          <p:nvPr/>
        </p:nvSpPr>
        <p:spPr>
          <a:xfrm>
            <a:off x="6443676" y="3964619"/>
            <a:ext cx="2370160" cy="1840645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4" name="Left-Right Arrow 3"/>
          <p:cNvSpPr/>
          <p:nvPr/>
        </p:nvSpPr>
        <p:spPr>
          <a:xfrm rot="796015">
            <a:off x="3644305" y="2166090"/>
            <a:ext cx="2304256" cy="288032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eft-Right Arrow 37"/>
          <p:cNvSpPr/>
          <p:nvPr/>
        </p:nvSpPr>
        <p:spPr>
          <a:xfrm rot="17683312">
            <a:off x="1492328" y="3903105"/>
            <a:ext cx="1625854" cy="280614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vnoramenný trojúhelník 19"/>
          <p:cNvSpPr/>
          <p:nvPr/>
        </p:nvSpPr>
        <p:spPr>
          <a:xfrm>
            <a:off x="6070888" y="3820603"/>
            <a:ext cx="2370160" cy="1840645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40" name="Left-Right Arrow 39"/>
          <p:cNvSpPr/>
          <p:nvPr/>
        </p:nvSpPr>
        <p:spPr>
          <a:xfrm rot="14526456">
            <a:off x="5945629" y="4202975"/>
            <a:ext cx="1625854" cy="280614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6070888" y="4941168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2"/>
                </a:solidFill>
              </a:rPr>
              <a:t>pc.</a:t>
            </a:r>
            <a:r>
              <a:rPr lang="en-US" sz="1400" dirty="0" err="1"/>
              <a:t>skoleni.local</a:t>
            </a:r>
            <a:endParaRPr lang="en-US" sz="1400" dirty="0"/>
          </a:p>
        </p:txBody>
      </p:sp>
      <p:sp>
        <p:nvSpPr>
          <p:cNvPr id="22" name="Zaoblený obdélník 17"/>
          <p:cNvSpPr/>
          <p:nvPr/>
        </p:nvSpPr>
        <p:spPr>
          <a:xfrm>
            <a:off x="595512" y="4884941"/>
            <a:ext cx="913096" cy="511808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CZ\Kamil</a:t>
            </a:r>
            <a:endParaRPr kumimoji="0" lang="cs-CZ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4" name="Zaoblený obdélník 17"/>
          <p:cNvSpPr/>
          <p:nvPr/>
        </p:nvSpPr>
        <p:spPr>
          <a:xfrm>
            <a:off x="7487088" y="4483726"/>
            <a:ext cx="913096" cy="511808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PC\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SQLSrv</a:t>
            </a:r>
            <a:endParaRPr kumimoji="0" lang="cs-CZ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3608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Shortcut trusts to speed up authentication</a:t>
            </a:r>
          </a:p>
        </p:txBody>
      </p:sp>
      <p:sp>
        <p:nvSpPr>
          <p:cNvPr id="20" name="Rovnoramenný trojúhelník 19"/>
          <p:cNvSpPr/>
          <p:nvPr/>
        </p:nvSpPr>
        <p:spPr>
          <a:xfrm>
            <a:off x="1691148" y="1300323"/>
            <a:ext cx="2370160" cy="18406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3" name="Rectangle 2"/>
          <p:cNvSpPr/>
          <p:nvPr/>
        </p:nvSpPr>
        <p:spPr>
          <a:xfrm>
            <a:off x="1691148" y="2420888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gopas.virtual</a:t>
            </a:r>
          </a:p>
        </p:txBody>
      </p:sp>
      <p:sp>
        <p:nvSpPr>
          <p:cNvPr id="23" name="Rovnoramenný trojúhelník 19"/>
          <p:cNvSpPr/>
          <p:nvPr/>
        </p:nvSpPr>
        <p:spPr>
          <a:xfrm>
            <a:off x="323528" y="4324659"/>
            <a:ext cx="2370160" cy="18406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28" name="Rectangle 27"/>
          <p:cNvSpPr/>
          <p:nvPr/>
        </p:nvSpPr>
        <p:spPr>
          <a:xfrm>
            <a:off x="323528" y="5445224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2"/>
                </a:solidFill>
              </a:rPr>
              <a:t>cz.</a:t>
            </a:r>
            <a:r>
              <a:rPr lang="en-US" sz="1400" dirty="0" err="1"/>
              <a:t>gopas.virtual</a:t>
            </a:r>
            <a:endParaRPr lang="en-US" sz="1400" dirty="0"/>
          </a:p>
        </p:txBody>
      </p:sp>
      <p:sp>
        <p:nvSpPr>
          <p:cNvPr id="30" name="Rovnoramenný trojúhelník 19"/>
          <p:cNvSpPr/>
          <p:nvPr/>
        </p:nvSpPr>
        <p:spPr>
          <a:xfrm>
            <a:off x="3203316" y="4324659"/>
            <a:ext cx="2370160" cy="184064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31" name="Rectangle 30"/>
          <p:cNvSpPr/>
          <p:nvPr/>
        </p:nvSpPr>
        <p:spPr>
          <a:xfrm>
            <a:off x="3203316" y="5445224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2"/>
                </a:solidFill>
              </a:rPr>
              <a:t>de.</a:t>
            </a:r>
            <a:r>
              <a:rPr lang="en-US" sz="1400" dirty="0" err="1"/>
              <a:t>gopas.virtual</a:t>
            </a:r>
            <a:endParaRPr lang="en-US" sz="1400" dirty="0"/>
          </a:p>
        </p:txBody>
      </p:sp>
      <p:sp>
        <p:nvSpPr>
          <p:cNvPr id="32" name="Rovnoramenný trojúhelník 19"/>
          <p:cNvSpPr/>
          <p:nvPr/>
        </p:nvSpPr>
        <p:spPr>
          <a:xfrm>
            <a:off x="5573476" y="1676144"/>
            <a:ext cx="2370160" cy="1840645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33" name="Rectangle 32"/>
          <p:cNvSpPr/>
          <p:nvPr/>
        </p:nvSpPr>
        <p:spPr>
          <a:xfrm>
            <a:off x="5573476" y="2796709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skoleni.local</a:t>
            </a:r>
          </a:p>
        </p:txBody>
      </p:sp>
      <p:sp>
        <p:nvSpPr>
          <p:cNvPr id="34" name="Rovnoramenný trojúhelník 19"/>
          <p:cNvSpPr/>
          <p:nvPr/>
        </p:nvSpPr>
        <p:spPr>
          <a:xfrm>
            <a:off x="6443676" y="3964619"/>
            <a:ext cx="2370160" cy="1840645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4" name="Left-Right Arrow 3"/>
          <p:cNvSpPr/>
          <p:nvPr/>
        </p:nvSpPr>
        <p:spPr>
          <a:xfrm rot="796015">
            <a:off x="3644305" y="2166090"/>
            <a:ext cx="2304256" cy="288032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eft-Right Arrow 37"/>
          <p:cNvSpPr/>
          <p:nvPr/>
        </p:nvSpPr>
        <p:spPr>
          <a:xfrm rot="17683312">
            <a:off x="1492328" y="3903105"/>
            <a:ext cx="1625854" cy="280614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vnoramenný trojúhelník 19"/>
          <p:cNvSpPr/>
          <p:nvPr/>
        </p:nvSpPr>
        <p:spPr>
          <a:xfrm>
            <a:off x="6070888" y="3820603"/>
            <a:ext cx="2370160" cy="1840645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cs-CZ" sz="1100" dirty="0"/>
          </a:p>
        </p:txBody>
      </p:sp>
      <p:sp>
        <p:nvSpPr>
          <p:cNvPr id="40" name="Left-Right Arrow 39"/>
          <p:cNvSpPr/>
          <p:nvPr/>
        </p:nvSpPr>
        <p:spPr>
          <a:xfrm rot="14526456">
            <a:off x="5945629" y="4202975"/>
            <a:ext cx="1625854" cy="280614"/>
          </a:xfrm>
          <a:prstGeom prst="left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6070888" y="4941168"/>
            <a:ext cx="2370160" cy="72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2"/>
                </a:solidFill>
              </a:rPr>
              <a:t>pc.</a:t>
            </a:r>
            <a:r>
              <a:rPr lang="en-US" sz="1400" dirty="0" err="1"/>
              <a:t>skoleni.local</a:t>
            </a:r>
            <a:endParaRPr lang="en-US" sz="1400" dirty="0"/>
          </a:p>
        </p:txBody>
      </p:sp>
      <p:sp>
        <p:nvSpPr>
          <p:cNvPr id="21" name="Left-Right Arrow 20"/>
          <p:cNvSpPr/>
          <p:nvPr/>
        </p:nvSpPr>
        <p:spPr>
          <a:xfrm>
            <a:off x="2237802" y="5020928"/>
            <a:ext cx="3924768" cy="288032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Zaoblený obdélník 17"/>
          <p:cNvSpPr/>
          <p:nvPr/>
        </p:nvSpPr>
        <p:spPr>
          <a:xfrm>
            <a:off x="595512" y="4884941"/>
            <a:ext cx="913096" cy="511808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CZ\Kamil</a:t>
            </a:r>
            <a:endParaRPr kumimoji="0" lang="cs-CZ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25" name="Zaoblený obdélník 17"/>
          <p:cNvSpPr/>
          <p:nvPr/>
        </p:nvSpPr>
        <p:spPr>
          <a:xfrm>
            <a:off x="7487088" y="4483726"/>
            <a:ext cx="913096" cy="511808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PC\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SQLSrv</a:t>
            </a:r>
            <a:endParaRPr kumimoji="0" lang="cs-CZ" sz="1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0813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150296" y="2272782"/>
            <a:ext cx="2653952" cy="17379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1400" dirty="0"/>
              <a:t>Server</a:t>
            </a:r>
            <a:endParaRPr lang="cs-CZ" sz="1400" dirty="0"/>
          </a:p>
        </p:txBody>
      </p:sp>
      <p:sp>
        <p:nvSpPr>
          <p:cNvPr id="22" name="Rectangle 21"/>
          <p:cNvSpPr/>
          <p:nvPr/>
        </p:nvSpPr>
        <p:spPr>
          <a:xfrm>
            <a:off x="4637090" y="2708920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WebSrv</a:t>
            </a:r>
            <a:endParaRPr lang="cs-CZ" sz="1050" dirty="0"/>
          </a:p>
        </p:txBody>
      </p:sp>
      <p:sp>
        <p:nvSpPr>
          <p:cNvPr id="23" name="Rectangle 22"/>
          <p:cNvSpPr/>
          <p:nvPr/>
        </p:nvSpPr>
        <p:spPr>
          <a:xfrm>
            <a:off x="4752020" y="2435167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SmbSrv</a:t>
            </a:r>
            <a:endParaRPr lang="cs-CZ" sz="10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Impersonation and Access Token</a:t>
            </a:r>
            <a:endParaRPr lang="cs-CZ" dirty="0"/>
          </a:p>
        </p:txBody>
      </p:sp>
      <p:sp>
        <p:nvSpPr>
          <p:cNvPr id="5" name="Rectangle 4"/>
          <p:cNvSpPr/>
          <p:nvPr/>
        </p:nvSpPr>
        <p:spPr>
          <a:xfrm>
            <a:off x="611560" y="2272781"/>
            <a:ext cx="1018456" cy="1737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400" dirty="0"/>
              <a:t>Client</a:t>
            </a:r>
            <a:endParaRPr lang="cs-CZ" sz="1400" dirty="0"/>
          </a:p>
        </p:txBody>
      </p:sp>
      <p:sp>
        <p:nvSpPr>
          <p:cNvPr id="7" name="Rectangle 6"/>
          <p:cNvSpPr/>
          <p:nvPr/>
        </p:nvSpPr>
        <p:spPr>
          <a:xfrm>
            <a:off x="5590456" y="5013176"/>
            <a:ext cx="1018456" cy="10184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  <a:endParaRPr lang="cs-CZ" sz="1400" dirty="0"/>
          </a:p>
        </p:txBody>
      </p:sp>
      <p:sp>
        <p:nvSpPr>
          <p:cNvPr id="10" name="Right Arrow 9"/>
          <p:cNvSpPr/>
          <p:nvPr/>
        </p:nvSpPr>
        <p:spPr>
          <a:xfrm>
            <a:off x="1773832" y="1767644"/>
            <a:ext cx="2232248" cy="2309428"/>
          </a:xfrm>
          <a:prstGeom prst="rightArrow">
            <a:avLst>
              <a:gd name="adj1" fmla="val 50000"/>
              <a:gd name="adj2" fmla="val 88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200" dirty="0"/>
              <a:t>HTTP, SMB, DCOM</a:t>
            </a:r>
            <a:endParaRPr lang="cs-CZ" sz="1200" dirty="0"/>
          </a:p>
        </p:txBody>
      </p:sp>
      <p:sp>
        <p:nvSpPr>
          <p:cNvPr id="14" name="Rectangle 13"/>
          <p:cNvSpPr/>
          <p:nvPr/>
        </p:nvSpPr>
        <p:spPr>
          <a:xfrm>
            <a:off x="5626460" y="1270382"/>
            <a:ext cx="2798168" cy="12888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r"/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5" name="Rectangle 14"/>
          <p:cNvSpPr/>
          <p:nvPr/>
        </p:nvSpPr>
        <p:spPr>
          <a:xfrm>
            <a:off x="6533344" y="5373216"/>
            <a:ext cx="2180928" cy="13064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LSASS</a:t>
            </a:r>
            <a:endParaRPr lang="cs-CZ" sz="1400" dirty="0"/>
          </a:p>
        </p:txBody>
      </p:sp>
      <p:sp>
        <p:nvSpPr>
          <p:cNvPr id="16" name="Rectangle 15"/>
          <p:cNvSpPr/>
          <p:nvPr/>
        </p:nvSpPr>
        <p:spPr>
          <a:xfrm>
            <a:off x="1861072" y="2075454"/>
            <a:ext cx="1157300" cy="4268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credentials</a:t>
            </a:r>
            <a:endParaRPr lang="cs-CZ" sz="1200" dirty="0"/>
          </a:p>
        </p:txBody>
      </p:sp>
      <p:sp>
        <p:nvSpPr>
          <p:cNvPr id="18" name="Right Arrow 17"/>
          <p:cNvSpPr/>
          <p:nvPr/>
        </p:nvSpPr>
        <p:spPr>
          <a:xfrm>
            <a:off x="1259632" y="2347574"/>
            <a:ext cx="3363688" cy="48429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In-band transport</a:t>
            </a:r>
            <a:endParaRPr lang="cs-CZ" sz="1100" dirty="0"/>
          </a:p>
        </p:txBody>
      </p:sp>
      <p:sp>
        <p:nvSpPr>
          <p:cNvPr id="19" name="Rectangle 18"/>
          <p:cNvSpPr/>
          <p:nvPr/>
        </p:nvSpPr>
        <p:spPr>
          <a:xfrm>
            <a:off x="1097714" y="2801530"/>
            <a:ext cx="426876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IE</a:t>
            </a:r>
            <a:endParaRPr lang="cs-CZ" sz="1050" dirty="0"/>
          </a:p>
        </p:txBody>
      </p:sp>
      <p:sp>
        <p:nvSpPr>
          <p:cNvPr id="20" name="Rectangle 19"/>
          <p:cNvSpPr/>
          <p:nvPr/>
        </p:nvSpPr>
        <p:spPr>
          <a:xfrm>
            <a:off x="683568" y="3057954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Outlook</a:t>
            </a:r>
            <a:endParaRPr lang="cs-CZ" sz="1050" dirty="0"/>
          </a:p>
        </p:txBody>
      </p:sp>
      <p:sp>
        <p:nvSpPr>
          <p:cNvPr id="21" name="Rectangle 20"/>
          <p:cNvSpPr/>
          <p:nvPr/>
        </p:nvSpPr>
        <p:spPr>
          <a:xfrm>
            <a:off x="835968" y="3335920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Explorer</a:t>
            </a:r>
            <a:endParaRPr lang="cs-CZ" sz="1050" dirty="0"/>
          </a:p>
        </p:txBody>
      </p:sp>
      <p:sp>
        <p:nvSpPr>
          <p:cNvPr id="25" name="Up-Down Arrow 24"/>
          <p:cNvSpPr/>
          <p:nvPr/>
        </p:nvSpPr>
        <p:spPr>
          <a:xfrm>
            <a:off x="7812360" y="2653951"/>
            <a:ext cx="468962" cy="3144857"/>
          </a:xfrm>
          <a:prstGeom prst="upDown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6" name="Rectangle 25"/>
          <p:cNvSpPr/>
          <p:nvPr/>
        </p:nvSpPr>
        <p:spPr>
          <a:xfrm>
            <a:off x="7164288" y="4077072"/>
            <a:ext cx="1368152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NTLM groups</a:t>
            </a:r>
            <a:endParaRPr lang="cs-CZ" sz="1100" dirty="0"/>
          </a:p>
        </p:txBody>
      </p:sp>
      <p:sp>
        <p:nvSpPr>
          <p:cNvPr id="28" name="Isosceles Triangle 27"/>
          <p:cNvSpPr/>
          <p:nvPr/>
        </p:nvSpPr>
        <p:spPr>
          <a:xfrm>
            <a:off x="7265820" y="5798808"/>
            <a:ext cx="965524" cy="717596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AD</a:t>
            </a:r>
            <a:endParaRPr lang="cs-CZ" sz="1600" dirty="0"/>
          </a:p>
        </p:txBody>
      </p:sp>
      <p:sp>
        <p:nvSpPr>
          <p:cNvPr id="24" name="Rectangle 23"/>
          <p:cNvSpPr/>
          <p:nvPr/>
        </p:nvSpPr>
        <p:spPr>
          <a:xfrm>
            <a:off x="6932948" y="1680763"/>
            <a:ext cx="1347464" cy="71396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Access Token</a:t>
            </a:r>
            <a:endParaRPr lang="cs-CZ" sz="1200" dirty="0"/>
          </a:p>
        </p:txBody>
      </p:sp>
      <p:sp>
        <p:nvSpPr>
          <p:cNvPr id="31" name="Rectangle 30"/>
          <p:cNvSpPr/>
          <p:nvPr/>
        </p:nvSpPr>
        <p:spPr>
          <a:xfrm>
            <a:off x="4522160" y="3001460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SQL</a:t>
            </a:r>
            <a:endParaRPr lang="cs-CZ" sz="1050" dirty="0"/>
          </a:p>
        </p:txBody>
      </p:sp>
      <p:sp>
        <p:nvSpPr>
          <p:cNvPr id="32" name="Rectangle 31"/>
          <p:cNvSpPr/>
          <p:nvPr/>
        </p:nvSpPr>
        <p:spPr>
          <a:xfrm>
            <a:off x="4422810" y="3275213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/>
              <a:t>Exch</a:t>
            </a:r>
            <a:endParaRPr lang="cs-CZ" sz="1050" dirty="0"/>
          </a:p>
        </p:txBody>
      </p:sp>
      <p:sp>
        <p:nvSpPr>
          <p:cNvPr id="8" name="Bent-Up Arrow 7"/>
          <p:cNvSpPr/>
          <p:nvPr/>
        </p:nvSpPr>
        <p:spPr>
          <a:xfrm rot="16200000" flipV="1">
            <a:off x="5704526" y="1199776"/>
            <a:ext cx="520633" cy="1777573"/>
          </a:xfrm>
          <a:prstGeom prst="bent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3" name="Bent-Up Arrow 32"/>
          <p:cNvSpPr/>
          <p:nvPr/>
        </p:nvSpPr>
        <p:spPr>
          <a:xfrm rot="5400000" flipV="1">
            <a:off x="6228256" y="1859488"/>
            <a:ext cx="520633" cy="1777573"/>
          </a:xfrm>
          <a:prstGeom prst="bent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4" name="Bent-Up Arrow 33"/>
          <p:cNvSpPr/>
          <p:nvPr/>
        </p:nvSpPr>
        <p:spPr>
          <a:xfrm rot="2191461" flipV="1">
            <a:off x="4821179" y="3005987"/>
            <a:ext cx="520633" cy="2219028"/>
          </a:xfrm>
          <a:prstGeom prst="bent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5" name="Rectangle 34"/>
          <p:cNvSpPr/>
          <p:nvPr/>
        </p:nvSpPr>
        <p:spPr>
          <a:xfrm>
            <a:off x="3918970" y="5257977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NTFS</a:t>
            </a:r>
            <a:endParaRPr lang="cs-CZ" sz="1050" dirty="0"/>
          </a:p>
        </p:txBody>
      </p:sp>
      <p:sp>
        <p:nvSpPr>
          <p:cNvPr id="36" name="Rectangle 35"/>
          <p:cNvSpPr/>
          <p:nvPr/>
        </p:nvSpPr>
        <p:spPr>
          <a:xfrm>
            <a:off x="3113150" y="5261953"/>
            <a:ext cx="745740" cy="305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Registry</a:t>
            </a:r>
            <a:endParaRPr lang="cs-CZ" sz="1050" dirty="0"/>
          </a:p>
        </p:txBody>
      </p:sp>
      <p:sp>
        <p:nvSpPr>
          <p:cNvPr id="37" name="Rectangle 36"/>
          <p:cNvSpPr/>
          <p:nvPr/>
        </p:nvSpPr>
        <p:spPr>
          <a:xfrm>
            <a:off x="2305374" y="5257977"/>
            <a:ext cx="745740" cy="309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DB</a:t>
            </a:r>
            <a:endParaRPr lang="cs-CZ" sz="1050" dirty="0"/>
          </a:p>
        </p:txBody>
      </p:sp>
      <p:sp>
        <p:nvSpPr>
          <p:cNvPr id="38" name="Rectangle 37"/>
          <p:cNvSpPr/>
          <p:nvPr/>
        </p:nvSpPr>
        <p:spPr>
          <a:xfrm>
            <a:off x="1809476" y="1809900"/>
            <a:ext cx="1260340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Kerberos groups</a:t>
            </a:r>
            <a:endParaRPr lang="cs-CZ" sz="1100" dirty="0"/>
          </a:p>
        </p:txBody>
      </p:sp>
      <p:sp>
        <p:nvSpPr>
          <p:cNvPr id="39" name="Rectangle 38"/>
          <p:cNvSpPr/>
          <p:nvPr/>
        </p:nvSpPr>
        <p:spPr>
          <a:xfrm>
            <a:off x="7265820" y="4356042"/>
            <a:ext cx="1420980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err="1"/>
              <a:t>SChannel</a:t>
            </a:r>
            <a:r>
              <a:rPr lang="en-US" sz="1100" dirty="0"/>
              <a:t> groups</a:t>
            </a:r>
            <a:endParaRPr lang="cs-CZ" sz="1100" dirty="0"/>
          </a:p>
        </p:txBody>
      </p:sp>
      <p:sp>
        <p:nvSpPr>
          <p:cNvPr id="40" name="Rectangle 39"/>
          <p:cNvSpPr/>
          <p:nvPr/>
        </p:nvSpPr>
        <p:spPr>
          <a:xfrm>
            <a:off x="6084168" y="1098495"/>
            <a:ext cx="1478950" cy="3229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local groups/SIDs</a:t>
            </a:r>
            <a:endParaRPr lang="cs-CZ" sz="1100" dirty="0"/>
          </a:p>
        </p:txBody>
      </p:sp>
    </p:spTree>
    <p:extLst>
      <p:ext uri="{BB962C8B-B14F-4D97-AF65-F5344CB8AC3E}">
        <p14:creationId xmlns:p14="http://schemas.microsoft.com/office/powerpoint/2010/main" val="42923668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User right: Impersonate client after authentication (SeImpersonatePrivilege)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00" y="1390183"/>
            <a:ext cx="7942064" cy="545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601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87910-BD16-460E-B96D-150C35329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IIS </a:t>
            </a:r>
            <a:r>
              <a:rPr lang="en-US" sz="2400" dirty="0" err="1"/>
              <a:t>apppools</a:t>
            </a:r>
            <a:r>
              <a:rPr lang="en-US" sz="2400" dirty="0"/>
              <a:t> vs. IIS_IUSRS implicit group injection</a:t>
            </a:r>
            <a:endParaRPr lang="cs-CZ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E3A2B1-DCDA-451A-82BC-CB21278D2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980728"/>
            <a:ext cx="5700558" cy="3384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1A4F2C-0123-420D-83D2-B9AAB628B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2" y="3819525"/>
            <a:ext cx="3562350" cy="30384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273F20-AC11-48D3-A5CE-ED61AEA4D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8393" y="1352550"/>
            <a:ext cx="6581775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90987"/>
      </p:ext>
    </p:extLst>
  </p:cSld>
  <p:clrMapOvr>
    <a:masterClrMapping/>
  </p:clrMapOvr>
</p:sld>
</file>

<file path=ppt/theme/theme1.xml><?xml version="1.0" encoding="utf-8"?>
<a:theme xmlns:a="http://schemas.openxmlformats.org/drawingml/2006/main" name="Gopas 1  (3 barvy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</a:theme>
</file>

<file path=ppt/theme/theme2.xml><?xml version="1.0" encoding="utf-8"?>
<a:theme xmlns:a="http://schemas.openxmlformats.org/drawingml/2006/main" name="Gopas 2  (3 barvy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opas 3  (6 barev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opas 4  (6 barev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2056</Words>
  <Application>Microsoft Office PowerPoint</Application>
  <PresentationFormat>On-screen Show (4:3)</PresentationFormat>
  <Paragraphs>506</Paragraphs>
  <Slides>50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Corbel</vt:lpstr>
      <vt:lpstr>Courier New</vt:lpstr>
      <vt:lpstr>Wingdings</vt:lpstr>
      <vt:lpstr>Gopas 1  (3 barvy)</vt:lpstr>
      <vt:lpstr>Gopas 2  (3 barvy + "planetka")</vt:lpstr>
      <vt:lpstr>Gopas 3  (6 barev)</vt:lpstr>
      <vt:lpstr>Gopas 4  (6 barev + "planetka")</vt:lpstr>
      <vt:lpstr>Windows Authentication Concepts</vt:lpstr>
      <vt:lpstr>Operating systems</vt:lpstr>
      <vt:lpstr>Authenticated scenarios</vt:lpstr>
      <vt:lpstr>Anonymous scenarios</vt:lpstr>
      <vt:lpstr>SSO (single-sign-on)</vt:lpstr>
      <vt:lpstr>Channel protection</vt:lpstr>
      <vt:lpstr>Domain controllers: LDAP server signing requirements</vt:lpstr>
      <vt:lpstr>Network security: LDAP client signing requirements</vt:lpstr>
      <vt:lpstr>Network security: LDAP client encryption requirements</vt:lpstr>
      <vt:lpstr>Domain member: Digitally encrypt or sign secure channel data (always)</vt:lpstr>
      <vt:lpstr>Microsoft network client: Digitally sign communications Microsoft network server: Digitally sign communications</vt:lpstr>
      <vt:lpstr>AD DS LDAP notes</vt:lpstr>
      <vt:lpstr>Authentication methods in Windows</vt:lpstr>
      <vt:lpstr>Logins are "public" (paste next slide first)</vt:lpstr>
      <vt:lpstr>Utility function for the previous script</vt:lpstr>
      <vt:lpstr>Multifactor authentication</vt:lpstr>
      <vt:lpstr>Other multifactor authentication in Windows</vt:lpstr>
      <vt:lpstr>Network authentication against AD</vt:lpstr>
      <vt:lpstr>Network authentication</vt:lpstr>
      <vt:lpstr>Secure channel and NLTEST</vt:lpstr>
      <vt:lpstr>Delegation (double-hop)</vt:lpstr>
      <vt:lpstr>Network authentication risks</vt:lpstr>
      <vt:lpstr>Client tools should not obtain full-text passwords on SSO</vt:lpstr>
      <vt:lpstr>LSASS (local security authority sub system)</vt:lpstr>
      <vt:lpstr>LSAS (local security authority sub system)</vt:lpstr>
      <vt:lpstr>Server LSASS caches "basic" passwords</vt:lpstr>
      <vt:lpstr>LSASS default secret storage in RAM</vt:lpstr>
      <vt:lpstr>Cannot cache NTLM or Schannel</vt:lpstr>
      <vt:lpstr>Kerberos in detail</vt:lpstr>
      <vt:lpstr>Secure channel</vt:lpstr>
      <vt:lpstr>Secure channel DCOM/TCP port on DC</vt:lpstr>
      <vt:lpstr>IIS basic authentication cache</vt:lpstr>
      <vt:lpstr>NTLM network logon performance</vt:lpstr>
      <vt:lpstr>Kerberos network logon, no PAC validation</vt:lpstr>
      <vt:lpstr>Kerberos network logon with PAC validation</vt:lpstr>
      <vt:lpstr>Basic authentication</vt:lpstr>
      <vt:lpstr>Secure channel and NTLM performance issues</vt:lpstr>
      <vt:lpstr>GOPAS trusts BOOKS</vt:lpstr>
      <vt:lpstr>GOPAS trusts BOOKS</vt:lpstr>
      <vt:lpstr>Trust account and TDO</vt:lpstr>
      <vt:lpstr>Trusts within a single forest gopas.virtual </vt:lpstr>
      <vt:lpstr>NTLM trusts (pass-through) </vt:lpstr>
      <vt:lpstr>NTLM pass-through trust requirements</vt:lpstr>
      <vt:lpstr>Kerberos trusts </vt:lpstr>
      <vt:lpstr>Kerberos trust requirements</vt:lpstr>
      <vt:lpstr>Slow authentication over multiple trusts</vt:lpstr>
      <vt:lpstr>Shortcut trusts to speed up authentication</vt:lpstr>
      <vt:lpstr>Impersonation and Access Token</vt:lpstr>
      <vt:lpstr>User right: Impersonate client after authentication (SeImpersonatePrivilege)</vt:lpstr>
      <vt:lpstr>IIS apppools vs. IIS_IUSRS implicit group injection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Administrator</cp:lastModifiedBy>
  <cp:revision>5</cp:revision>
  <dcterms:created xsi:type="dcterms:W3CDTF">2013-03-17T16:22:31Z</dcterms:created>
  <dcterms:modified xsi:type="dcterms:W3CDTF">2026-03-20T13:50:16Z</dcterms:modified>
</cp:coreProperties>
</file>