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  <p:sldMasterId id="2147483748" r:id="rId2"/>
    <p:sldMasterId id="2147483733" r:id="rId3"/>
    <p:sldMasterId id="2147483763" r:id="rId4"/>
  </p:sldMasterIdLst>
  <p:notesMasterIdLst>
    <p:notesMasterId r:id="rId34"/>
  </p:notesMasterIdLst>
  <p:sldIdLst>
    <p:sldId id="257" r:id="rId5"/>
    <p:sldId id="273" r:id="rId6"/>
    <p:sldId id="276" r:id="rId7"/>
    <p:sldId id="289" r:id="rId8"/>
    <p:sldId id="288" r:id="rId9"/>
    <p:sldId id="277" r:id="rId10"/>
    <p:sldId id="274" r:id="rId11"/>
    <p:sldId id="290" r:id="rId12"/>
    <p:sldId id="294" r:id="rId13"/>
    <p:sldId id="278" r:id="rId14"/>
    <p:sldId id="275" r:id="rId15"/>
    <p:sldId id="295" r:id="rId16"/>
    <p:sldId id="302" r:id="rId17"/>
    <p:sldId id="300" r:id="rId18"/>
    <p:sldId id="292" r:id="rId19"/>
    <p:sldId id="291" r:id="rId20"/>
    <p:sldId id="293" r:id="rId21"/>
    <p:sldId id="299" r:id="rId22"/>
    <p:sldId id="296" r:id="rId23"/>
    <p:sldId id="301" r:id="rId24"/>
    <p:sldId id="279" r:id="rId25"/>
    <p:sldId id="280" r:id="rId26"/>
    <p:sldId id="298" r:id="rId27"/>
    <p:sldId id="281" r:id="rId28"/>
    <p:sldId id="282" r:id="rId29"/>
    <p:sldId id="287" r:id="rId30"/>
    <p:sldId id="283" r:id="rId31"/>
    <p:sldId id="297" r:id="rId32"/>
    <p:sldId id="284" r:id="rId33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26C"/>
    <a:srgbClr val="E50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23" autoAdjust="0"/>
    <p:restoredTop sz="94673" autoAdjust="0"/>
  </p:normalViewPr>
  <p:slideViewPr>
    <p:cSldViewPr showGuides="1">
      <p:cViewPr varScale="1">
        <p:scale>
          <a:sx n="61" d="100"/>
          <a:sy n="61" d="100"/>
        </p:scale>
        <p:origin x="1560" y="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howGuides="1">
      <p:cViewPr varScale="1">
        <p:scale>
          <a:sx n="98" d="100"/>
          <a:sy n="98" d="100"/>
        </p:scale>
        <p:origin x="-351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1C7F656-6C7C-4016-B601-23B462E6BC26}" type="datetimeFigureOut">
              <a:rPr lang="cs-CZ" smtClean="0"/>
              <a:pPr/>
              <a:t>27.06.2025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319F00E-1642-4F00-B8AC-7581C0C92EAE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3786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E0FFFC-B299-4DB4-A5A2-5FE0A233D244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0180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</p:spTree>
    <p:extLst>
      <p:ext uri="{BB962C8B-B14F-4D97-AF65-F5344CB8AC3E}">
        <p14:creationId xmlns:p14="http://schemas.microsoft.com/office/powerpoint/2010/main" val="311807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76740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68245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0943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77948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06199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82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29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131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69699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92958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95851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669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96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</p:spTree>
    <p:extLst>
      <p:ext uri="{BB962C8B-B14F-4D97-AF65-F5344CB8AC3E}">
        <p14:creationId xmlns:p14="http://schemas.microsoft.com/office/powerpoint/2010/main" val="62114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48070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624145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968323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78819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790651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4328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8953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6427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7302563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806096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225935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46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276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022263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103820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376351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9" name="Skupina 28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0" name="Obdélník 29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Obdélník 30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Obdélník 31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5518962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412993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014760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8748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2659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3687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2170547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774053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683218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34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9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5688960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961573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843512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9" name="Skupina 28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0" name="Obdélník 29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Obdélník 30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Obdélník 31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4917918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737352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069903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8607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6155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018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0546098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94504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621723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7705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6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4" name="Skupina 23"/>
          <p:cNvGrpSpPr/>
          <p:nvPr userDrawn="1"/>
        </p:nvGrpSpPr>
        <p:grpSpPr bwMode="gray">
          <a:xfrm flipH="1">
            <a:off x="4572000" y="0"/>
            <a:ext cx="4572000" cy="151200"/>
            <a:chOff x="3203928" y="2491755"/>
            <a:chExt cx="2160000" cy="72000"/>
          </a:xfrm>
        </p:grpSpPr>
        <p:sp>
          <p:nvSpPr>
            <p:cNvPr id="25" name="Obdélník 24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0" name="Obdélník 29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9370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694" r:id="rId2"/>
    <p:sldLayoutId id="2147483728" r:id="rId3"/>
    <p:sldLayoutId id="2147483726" r:id="rId4"/>
    <p:sldLayoutId id="2147483695" r:id="rId5"/>
    <p:sldLayoutId id="2147483696" r:id="rId6"/>
    <p:sldLayoutId id="2147483723" r:id="rId7"/>
    <p:sldLayoutId id="2147483729" r:id="rId8"/>
    <p:sldLayoutId id="2147483732" r:id="rId9"/>
    <p:sldLayoutId id="2147483727" r:id="rId10"/>
    <p:sldLayoutId id="2147483697" r:id="rId11"/>
    <p:sldLayoutId id="2147483698" r:id="rId12"/>
    <p:sldLayoutId id="2147483730" r:id="rId13"/>
    <p:sldLayoutId id="2147483731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4" name="Skupina 23"/>
          <p:cNvGrpSpPr/>
          <p:nvPr userDrawn="1"/>
        </p:nvGrpSpPr>
        <p:grpSpPr bwMode="gray">
          <a:xfrm flipH="1">
            <a:off x="4572000" y="0"/>
            <a:ext cx="4572000" cy="151200"/>
            <a:chOff x="3203928" y="2491755"/>
            <a:chExt cx="2160000" cy="72000"/>
          </a:xfrm>
        </p:grpSpPr>
        <p:sp>
          <p:nvSpPr>
            <p:cNvPr id="25" name="Obdélník 24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0" name="Obdélník 29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1" name="Skupina 30"/>
          <p:cNvGrpSpPr/>
          <p:nvPr userDrawn="1"/>
        </p:nvGrpSpPr>
        <p:grpSpPr>
          <a:xfrm>
            <a:off x="3320988" y="2708920"/>
            <a:ext cx="2502024" cy="2074729"/>
            <a:chOff x="4355976" y="4077072"/>
            <a:chExt cx="303900" cy="252000"/>
          </a:xfrm>
          <a:solidFill>
            <a:schemeClr val="tx2">
              <a:alpha val="5000"/>
            </a:schemeClr>
          </a:solidFill>
        </p:grpSpPr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4355976" y="4077072"/>
              <a:ext cx="231378" cy="229980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3" name="Freeform 7"/>
            <p:cNvSpPr>
              <a:spLocks noEditPoints="1"/>
            </p:cNvSpPr>
            <p:nvPr/>
          </p:nvSpPr>
          <p:spPr bwMode="auto">
            <a:xfrm>
              <a:off x="4428991" y="4099092"/>
              <a:ext cx="230885" cy="229980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74754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31" name="Skupina 30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2" name="Obdélník 31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Obdélník 36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8" name="Obdélník 37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76495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31" name="Skupina 30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2" name="Obdélník 31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Obdélník 36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8" name="Obdélník 37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4" name="Skupina 23"/>
          <p:cNvGrpSpPr/>
          <p:nvPr userDrawn="1"/>
        </p:nvGrpSpPr>
        <p:grpSpPr>
          <a:xfrm>
            <a:off x="3320988" y="2708920"/>
            <a:ext cx="2502024" cy="2074729"/>
            <a:chOff x="4355976" y="4077072"/>
            <a:chExt cx="303900" cy="252000"/>
          </a:xfrm>
          <a:solidFill>
            <a:schemeClr val="tx2">
              <a:alpha val="5000"/>
            </a:schemeClr>
          </a:solidFill>
        </p:grpSpPr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4355976" y="4077072"/>
              <a:ext cx="231378" cy="229980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7"/>
            <p:cNvSpPr>
              <a:spLocks noEditPoints="1"/>
            </p:cNvSpPr>
            <p:nvPr/>
          </p:nvSpPr>
          <p:spPr bwMode="auto">
            <a:xfrm>
              <a:off x="4428991" y="4099092"/>
              <a:ext cx="230885" cy="229980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41237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ctrTitle"/>
          </p:nvPr>
        </p:nvSpPr>
        <p:spPr>
          <a:xfrm>
            <a:off x="611188" y="1628801"/>
            <a:ext cx="7921252" cy="1368152"/>
          </a:xfrm>
        </p:spPr>
        <p:txBody>
          <a:bodyPr>
            <a:normAutofit/>
          </a:bodyPr>
          <a:lstStyle/>
          <a:p>
            <a:r>
              <a:rPr lang="en-US" dirty="0"/>
              <a:t>TLS Client Certificate and Smart Card Logon</a:t>
            </a:r>
            <a:endParaRPr lang="cs-CZ" dirty="0"/>
          </a:p>
        </p:txBody>
      </p:sp>
      <p:sp>
        <p:nvSpPr>
          <p:cNvPr id="7" name="Podnadpis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GOPAS: info@gopas</a:t>
            </a:r>
            <a:r>
              <a:rPr lang="en-US" dirty="0"/>
              <a:t>.</a:t>
            </a:r>
            <a:r>
              <a:rPr lang="cs-CZ" dirty="0"/>
              <a:t>cz </a:t>
            </a:r>
            <a:r>
              <a:rPr lang="en-US" dirty="0"/>
              <a:t>|</a:t>
            </a:r>
            <a:r>
              <a:rPr lang="cs-CZ" dirty="0"/>
              <a:t> www.gopas.cz</a:t>
            </a:r>
            <a:r>
              <a:rPr lang="en-US" dirty="0"/>
              <a:t> |</a:t>
            </a:r>
            <a:r>
              <a:rPr lang="cs-CZ" dirty="0"/>
              <a:t> www.facebook.com/P.S.GOPAS</a:t>
            </a:r>
          </a:p>
        </p:txBody>
      </p:sp>
      <p:sp>
        <p:nvSpPr>
          <p:cNvPr id="8" name="Zástupný symbol pro text 7"/>
          <p:cNvSpPr>
            <a:spLocks noGrp="1"/>
          </p:cNvSpPr>
          <p:nvPr>
            <p:ph type="body" sz="quarter" idx="10"/>
          </p:nvPr>
        </p:nvSpPr>
        <p:spPr>
          <a:xfrm>
            <a:off x="611188" y="3285232"/>
            <a:ext cx="7921625" cy="2015976"/>
          </a:xfrm>
        </p:spPr>
        <p:txBody>
          <a:bodyPr/>
          <a:lstStyle/>
          <a:p>
            <a:r>
              <a:rPr lang="en-US" dirty="0"/>
              <a:t>Ing. </a:t>
            </a:r>
            <a:r>
              <a:rPr lang="en-US" dirty="0" err="1"/>
              <a:t>Ond</a:t>
            </a:r>
            <a:r>
              <a:rPr lang="cs-CZ" dirty="0" err="1"/>
              <a:t>řej</a:t>
            </a:r>
            <a:r>
              <a:rPr lang="cs-CZ" dirty="0"/>
              <a:t> Ševeček </a:t>
            </a:r>
            <a:r>
              <a:rPr lang="en-US" dirty="0"/>
              <a:t>| GOPAS a.s. |</a:t>
            </a:r>
          </a:p>
          <a:p>
            <a:r>
              <a:rPr lang="en-US" sz="1800" dirty="0"/>
              <a:t>MCSM:Directory2012 | MCM:Directory2008 | </a:t>
            </a:r>
            <a:r>
              <a:rPr lang="en-US" sz="1800" dirty="0" err="1"/>
              <a:t>MVP:Enterprise</a:t>
            </a:r>
            <a:r>
              <a:rPr lang="en-US" sz="1800" dirty="0"/>
              <a:t> Security | </a:t>
            </a:r>
            <a:r>
              <a:rPr lang="cs-CZ" sz="1800" dirty="0"/>
              <a:t>CEH: </a:t>
            </a:r>
            <a:r>
              <a:rPr lang="en-US" sz="1800" dirty="0"/>
              <a:t>Certified Ethical Hacker |</a:t>
            </a:r>
            <a:r>
              <a:rPr lang="cs-CZ" sz="1800" dirty="0"/>
              <a:t> CHFI: </a:t>
            </a:r>
            <a:r>
              <a:rPr lang="cs-CZ" sz="1800" dirty="0" err="1"/>
              <a:t>Computer</a:t>
            </a:r>
            <a:r>
              <a:rPr lang="cs-CZ" sz="1800" dirty="0"/>
              <a:t> </a:t>
            </a:r>
            <a:r>
              <a:rPr lang="cs-CZ" sz="1800" dirty="0" err="1"/>
              <a:t>Hacking</a:t>
            </a:r>
            <a:r>
              <a:rPr lang="cs-CZ" sz="1800" dirty="0"/>
              <a:t> </a:t>
            </a:r>
            <a:r>
              <a:rPr lang="cs-CZ" sz="1800" dirty="0" err="1"/>
              <a:t>Forensic</a:t>
            </a:r>
            <a:r>
              <a:rPr lang="cs-CZ" sz="1800" dirty="0"/>
              <a:t> </a:t>
            </a:r>
            <a:r>
              <a:rPr lang="cs-CZ" sz="1800" dirty="0" err="1"/>
              <a:t>Investigator</a:t>
            </a:r>
            <a:r>
              <a:rPr lang="cs-CZ" sz="1800" dirty="0"/>
              <a:t> </a:t>
            </a:r>
            <a:r>
              <a:rPr lang="en-US" sz="1800"/>
              <a:t>| CISA |</a:t>
            </a:r>
            <a:endParaRPr lang="en-US" sz="1800" dirty="0"/>
          </a:p>
          <a:p>
            <a:r>
              <a:rPr lang="en-US" dirty="0"/>
              <a:t>ondrej@sevecek.com | www.sevecek.com |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02814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Limit use of </a:t>
            </a:r>
            <a:r>
              <a:rPr lang="en-US" dirty="0">
                <a:solidFill>
                  <a:srgbClr val="00B0F0"/>
                </a:solidFill>
              </a:rPr>
              <a:t>plaint-text passwords</a:t>
            </a:r>
          </a:p>
          <a:p>
            <a:pPr lvl="1"/>
            <a:r>
              <a:rPr lang="en-US" dirty="0"/>
              <a:t>hardware </a:t>
            </a:r>
            <a:r>
              <a:rPr lang="en-US" dirty="0" err="1"/>
              <a:t>keyloggers</a:t>
            </a:r>
            <a:endParaRPr lang="en-US" dirty="0"/>
          </a:p>
          <a:p>
            <a:pPr lvl="1"/>
            <a:r>
              <a:rPr lang="en-US" dirty="0"/>
              <a:t>password sharing</a:t>
            </a:r>
          </a:p>
          <a:p>
            <a:pPr lvl="1"/>
            <a:r>
              <a:rPr lang="en-US" dirty="0"/>
              <a:t>remote access</a:t>
            </a:r>
          </a:p>
          <a:p>
            <a:pPr lvl="1"/>
            <a:r>
              <a:rPr lang="en-US" dirty="0"/>
              <a:t>long time access</a:t>
            </a:r>
          </a:p>
          <a:p>
            <a:r>
              <a:rPr lang="en-US" dirty="0"/>
              <a:t>Work towards </a:t>
            </a:r>
            <a:r>
              <a:rPr lang="en-US" dirty="0">
                <a:solidFill>
                  <a:srgbClr val="00B0F0"/>
                </a:solidFill>
              </a:rPr>
              <a:t>Kerberos</a:t>
            </a:r>
          </a:p>
          <a:p>
            <a:pPr lvl="1"/>
            <a:r>
              <a:rPr lang="en-US" dirty="0"/>
              <a:t>AES encryption</a:t>
            </a:r>
          </a:p>
          <a:p>
            <a:pPr lvl="1"/>
            <a:r>
              <a:rPr lang="en-US" dirty="0"/>
              <a:t>more secure delegation</a:t>
            </a:r>
          </a:p>
          <a:p>
            <a:pPr lvl="1"/>
            <a:r>
              <a:rPr lang="en-US" dirty="0"/>
              <a:t>Kerberos tickets </a:t>
            </a:r>
            <a:r>
              <a:rPr lang="en-US" dirty="0">
                <a:solidFill>
                  <a:srgbClr val="00B0F0"/>
                </a:solidFill>
              </a:rPr>
              <a:t>faster expiration</a:t>
            </a:r>
            <a:r>
              <a:rPr lang="en-US" dirty="0"/>
              <a:t> (down to 1 hour)</a:t>
            </a:r>
          </a:p>
          <a:p>
            <a:r>
              <a:rPr lang="en-US" dirty="0"/>
              <a:t>Limit NTLM and pass-the-XXX attacks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nothing else </a:t>
            </a:r>
            <a:r>
              <a:rPr lang="en-US" dirty="0"/>
              <a:t>can help you absolutely than </a:t>
            </a:r>
            <a:r>
              <a:rPr lang="en-US" dirty="0">
                <a:solidFill>
                  <a:srgbClr val="FF0000"/>
                </a:solidFill>
              </a:rPr>
              <a:t>best practices</a:t>
            </a:r>
          </a:p>
          <a:p>
            <a:pPr lvl="1"/>
            <a:r>
              <a:rPr lang="en-US" dirty="0"/>
              <a:t>or LSASS credentials in </a:t>
            </a:r>
            <a:r>
              <a:rPr lang="en-US" dirty="0">
                <a:solidFill>
                  <a:srgbClr val="00B0F0"/>
                </a:solidFill>
              </a:rPr>
              <a:t>Virtual Server Protection </a:t>
            </a:r>
            <a:r>
              <a:rPr lang="en-US" dirty="0"/>
              <a:t>(</a:t>
            </a:r>
            <a:r>
              <a:rPr lang="en-US" dirty="0">
                <a:solidFill>
                  <a:srgbClr val="00B0F0"/>
                </a:solidFill>
              </a:rPr>
              <a:t>VSP</a:t>
            </a:r>
            <a:r>
              <a:rPr lang="en-US" dirty="0"/>
              <a:t>) in Windows 10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61080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certificate authentications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Interactive </a:t>
            </a:r>
            <a:r>
              <a:rPr lang="en-US" dirty="0">
                <a:solidFill>
                  <a:schemeClr val="accent1"/>
                </a:solidFill>
              </a:rPr>
              <a:t>Kerberos PKINIT </a:t>
            </a:r>
            <a:r>
              <a:rPr lang="en-US" dirty="0"/>
              <a:t>logon</a:t>
            </a:r>
          </a:p>
          <a:p>
            <a:pPr lvl="1"/>
            <a:r>
              <a:rPr lang="en-US" dirty="0"/>
              <a:t>produce Kerberos TGT with certificate private key pre-authentication</a:t>
            </a:r>
          </a:p>
          <a:p>
            <a:r>
              <a:rPr lang="en-US" dirty="0"/>
              <a:t>TLS client certificate authentication (</a:t>
            </a:r>
            <a:r>
              <a:rPr lang="en-US" dirty="0" err="1">
                <a:solidFill>
                  <a:schemeClr val="accent1"/>
                </a:solidFill>
              </a:rPr>
              <a:t>SChannel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HTTPS, LDAPS, RADIUS EAP/PEAP</a:t>
            </a:r>
          </a:p>
          <a:p>
            <a:pPr lvl="1"/>
            <a:r>
              <a:rPr lang="en-US" dirty="0"/>
              <a:t>web, SSTP, RD Gateway, ADFS, WAP, VPN, </a:t>
            </a:r>
            <a:r>
              <a:rPr lang="en-US" dirty="0" err="1"/>
              <a:t>WiFi</a:t>
            </a:r>
            <a:r>
              <a:rPr lang="en-US" dirty="0"/>
              <a:t>, ...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84953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ight Arrow 22"/>
          <p:cNvSpPr/>
          <p:nvPr/>
        </p:nvSpPr>
        <p:spPr>
          <a:xfrm>
            <a:off x="3265712" y="2127684"/>
            <a:ext cx="2232248" cy="2309428"/>
          </a:xfrm>
          <a:prstGeom prst="rightArrow">
            <a:avLst>
              <a:gd name="adj1" fmla="val 50000"/>
              <a:gd name="adj2" fmla="val 885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200" dirty="0"/>
              <a:t>RADIUS</a:t>
            </a:r>
            <a:endParaRPr lang="cs-CZ" sz="1200" dirty="0"/>
          </a:p>
        </p:txBody>
      </p:sp>
      <p:sp>
        <p:nvSpPr>
          <p:cNvPr id="30" name="Rectangle 29"/>
          <p:cNvSpPr/>
          <p:nvPr/>
        </p:nvSpPr>
        <p:spPr>
          <a:xfrm>
            <a:off x="7027926" y="3522848"/>
            <a:ext cx="1658874" cy="115858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sz="1100" dirty="0"/>
              <a:t>Secure Channel</a:t>
            </a:r>
            <a:endParaRPr lang="cs-CZ" sz="1100" dirty="0"/>
          </a:p>
        </p:txBody>
      </p:sp>
      <p:sp>
        <p:nvSpPr>
          <p:cNvPr id="6" name="Rectangle 5"/>
          <p:cNvSpPr/>
          <p:nvPr/>
        </p:nvSpPr>
        <p:spPr>
          <a:xfrm>
            <a:off x="5590456" y="2272782"/>
            <a:ext cx="1018456" cy="17379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22" name="Rectangle 21"/>
          <p:cNvSpPr/>
          <p:nvPr/>
        </p:nvSpPr>
        <p:spPr>
          <a:xfrm>
            <a:off x="5693244" y="3057954"/>
            <a:ext cx="745740" cy="3277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WebSrv</a:t>
            </a:r>
            <a:endParaRPr lang="cs-CZ" sz="10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SChannel</a:t>
            </a:r>
            <a:r>
              <a:rPr lang="en-US" sz="2800" dirty="0"/>
              <a:t> TLS client certificate authentication</a:t>
            </a:r>
            <a:endParaRPr lang="cs-CZ" sz="2800" dirty="0"/>
          </a:p>
        </p:txBody>
      </p:sp>
      <p:sp>
        <p:nvSpPr>
          <p:cNvPr id="5" name="Rectangle 4"/>
          <p:cNvSpPr/>
          <p:nvPr/>
        </p:nvSpPr>
        <p:spPr>
          <a:xfrm>
            <a:off x="2051720" y="2272781"/>
            <a:ext cx="1018456" cy="1737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590456" y="5013176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0" name="Right Arrow 9"/>
          <p:cNvSpPr/>
          <p:nvPr/>
        </p:nvSpPr>
        <p:spPr>
          <a:xfrm>
            <a:off x="3131840" y="1767644"/>
            <a:ext cx="2232248" cy="2309428"/>
          </a:xfrm>
          <a:prstGeom prst="rightArrow">
            <a:avLst>
              <a:gd name="adj1" fmla="val 50000"/>
              <a:gd name="adj2" fmla="val 885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200" dirty="0"/>
              <a:t>HTTPS</a:t>
            </a:r>
            <a:endParaRPr lang="cs-CZ" sz="1200" dirty="0"/>
          </a:p>
        </p:txBody>
      </p:sp>
      <p:sp>
        <p:nvSpPr>
          <p:cNvPr id="12" name="Rectangle 11"/>
          <p:cNvSpPr/>
          <p:nvPr/>
        </p:nvSpPr>
        <p:spPr>
          <a:xfrm>
            <a:off x="251520" y="1270382"/>
            <a:ext cx="2180928" cy="17009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4" name="Rectangle 13"/>
          <p:cNvSpPr/>
          <p:nvPr/>
        </p:nvSpPr>
        <p:spPr>
          <a:xfrm>
            <a:off x="6243700" y="1270382"/>
            <a:ext cx="2180928" cy="17009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5" name="Rectangle 14"/>
          <p:cNvSpPr/>
          <p:nvPr/>
        </p:nvSpPr>
        <p:spPr>
          <a:xfrm>
            <a:off x="6533344" y="5373216"/>
            <a:ext cx="2180928" cy="13064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8" name="Right Arrow 17"/>
          <p:cNvSpPr/>
          <p:nvPr/>
        </p:nvSpPr>
        <p:spPr>
          <a:xfrm>
            <a:off x="1835696" y="2347574"/>
            <a:ext cx="5328592" cy="48429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TLS client certificate authentication</a:t>
            </a:r>
            <a:endParaRPr lang="cs-CZ" sz="1100" dirty="0"/>
          </a:p>
        </p:txBody>
      </p:sp>
      <p:sp>
        <p:nvSpPr>
          <p:cNvPr id="19" name="Rectangle 18"/>
          <p:cNvSpPr/>
          <p:nvPr/>
        </p:nvSpPr>
        <p:spPr>
          <a:xfrm>
            <a:off x="2537874" y="2801530"/>
            <a:ext cx="426876" cy="3091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IE</a:t>
            </a:r>
            <a:endParaRPr lang="cs-CZ" sz="1050" dirty="0"/>
          </a:p>
        </p:txBody>
      </p:sp>
      <p:sp>
        <p:nvSpPr>
          <p:cNvPr id="20" name="Rectangle 19"/>
          <p:cNvSpPr/>
          <p:nvPr/>
        </p:nvSpPr>
        <p:spPr>
          <a:xfrm>
            <a:off x="2123728" y="3057954"/>
            <a:ext cx="745740" cy="3091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Outlook</a:t>
            </a:r>
            <a:endParaRPr lang="cs-CZ" sz="1050" dirty="0"/>
          </a:p>
        </p:txBody>
      </p:sp>
      <p:sp>
        <p:nvSpPr>
          <p:cNvPr id="25" name="Up-Down Arrow 24"/>
          <p:cNvSpPr/>
          <p:nvPr/>
        </p:nvSpPr>
        <p:spPr>
          <a:xfrm>
            <a:off x="6990142" y="2653951"/>
            <a:ext cx="468962" cy="3583361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6" name="Rectangle 25"/>
          <p:cNvSpPr/>
          <p:nvPr/>
        </p:nvSpPr>
        <p:spPr>
          <a:xfrm>
            <a:off x="7164288" y="3653964"/>
            <a:ext cx="1260340" cy="3229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SMB SAM pipe</a:t>
            </a:r>
            <a:endParaRPr lang="cs-CZ" sz="1100" dirty="0"/>
          </a:p>
        </p:txBody>
      </p:sp>
      <p:sp>
        <p:nvSpPr>
          <p:cNvPr id="27" name="Rectangle 26"/>
          <p:cNvSpPr/>
          <p:nvPr/>
        </p:nvSpPr>
        <p:spPr>
          <a:xfrm>
            <a:off x="7265820" y="3933056"/>
            <a:ext cx="1260340" cy="3229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DCOM Netlogon</a:t>
            </a:r>
            <a:endParaRPr lang="cs-CZ" sz="1100" dirty="0"/>
          </a:p>
        </p:txBody>
      </p:sp>
      <p:sp>
        <p:nvSpPr>
          <p:cNvPr id="28" name="Isosceles Triangle 27"/>
          <p:cNvSpPr/>
          <p:nvPr/>
        </p:nvSpPr>
        <p:spPr>
          <a:xfrm>
            <a:off x="7265820" y="5798808"/>
            <a:ext cx="965524" cy="717596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</a:t>
            </a:r>
            <a:endParaRPr lang="cs-CZ" sz="1600" dirty="0"/>
          </a:p>
        </p:txBody>
      </p:sp>
      <p:sp>
        <p:nvSpPr>
          <p:cNvPr id="31" name="Rectangle 30"/>
          <p:cNvSpPr/>
          <p:nvPr/>
        </p:nvSpPr>
        <p:spPr>
          <a:xfrm>
            <a:off x="395536" y="1988840"/>
            <a:ext cx="1234280" cy="83430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Client</a:t>
            </a:r>
          </a:p>
          <a:p>
            <a:pPr algn="ctr"/>
            <a:r>
              <a:rPr lang="en-US" sz="1200" dirty="0"/>
              <a:t>Certificate</a:t>
            </a:r>
          </a:p>
          <a:p>
            <a:pPr algn="ctr"/>
            <a:r>
              <a:rPr lang="en-US" sz="1200" dirty="0"/>
              <a:t>S/C or software</a:t>
            </a:r>
            <a:endParaRPr lang="cs-CZ" sz="1200" dirty="0"/>
          </a:p>
        </p:txBody>
      </p:sp>
      <p:sp>
        <p:nvSpPr>
          <p:cNvPr id="32" name="Rectangle 31"/>
          <p:cNvSpPr/>
          <p:nvPr/>
        </p:nvSpPr>
        <p:spPr>
          <a:xfrm>
            <a:off x="6384900" y="4836221"/>
            <a:ext cx="1157300" cy="83430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DC</a:t>
            </a:r>
          </a:p>
          <a:p>
            <a:pPr algn="ctr"/>
            <a:r>
              <a:rPr lang="en-US" sz="1200" dirty="0"/>
              <a:t>Certificate</a:t>
            </a:r>
            <a:endParaRPr lang="cs-CZ" sz="1200" dirty="0"/>
          </a:p>
        </p:txBody>
      </p:sp>
      <p:sp>
        <p:nvSpPr>
          <p:cNvPr id="33" name="Rectangle 32"/>
          <p:cNvSpPr/>
          <p:nvPr/>
        </p:nvSpPr>
        <p:spPr>
          <a:xfrm>
            <a:off x="5681718" y="1549010"/>
            <a:ext cx="1157300" cy="83430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TLS Server</a:t>
            </a:r>
          </a:p>
          <a:p>
            <a:pPr algn="ctr"/>
            <a:r>
              <a:rPr lang="en-US" sz="1200" dirty="0"/>
              <a:t>Certificate</a:t>
            </a:r>
            <a:endParaRPr lang="cs-CZ" sz="1200" dirty="0"/>
          </a:p>
        </p:txBody>
      </p:sp>
      <p:sp>
        <p:nvSpPr>
          <p:cNvPr id="34" name="Rectangle 33"/>
          <p:cNvSpPr/>
          <p:nvPr/>
        </p:nvSpPr>
        <p:spPr>
          <a:xfrm>
            <a:off x="2229254" y="3410038"/>
            <a:ext cx="745740" cy="3091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MSTSC</a:t>
            </a:r>
            <a:endParaRPr lang="cs-CZ" sz="1050" dirty="0"/>
          </a:p>
        </p:txBody>
      </p:sp>
      <p:sp>
        <p:nvSpPr>
          <p:cNvPr id="24" name="Rectangle 23"/>
          <p:cNvSpPr/>
          <p:nvPr/>
        </p:nvSpPr>
        <p:spPr>
          <a:xfrm>
            <a:off x="5808297" y="3356393"/>
            <a:ext cx="745740" cy="3066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RADIUS</a:t>
            </a:r>
            <a:endParaRPr lang="cs-CZ" sz="1050" dirty="0"/>
          </a:p>
        </p:txBody>
      </p:sp>
    </p:spTree>
    <p:extLst>
      <p:ext uri="{BB962C8B-B14F-4D97-AF65-F5344CB8AC3E}">
        <p14:creationId xmlns:p14="http://schemas.microsoft.com/office/powerpoint/2010/main" val="2659188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590456" y="2272782"/>
            <a:ext cx="1018456" cy="17379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22" name="Rectangle 21"/>
          <p:cNvSpPr/>
          <p:nvPr/>
        </p:nvSpPr>
        <p:spPr>
          <a:xfrm>
            <a:off x="5693244" y="3349974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WebSrv</a:t>
            </a:r>
            <a:endParaRPr lang="cs-CZ" sz="1050" dirty="0"/>
          </a:p>
        </p:txBody>
      </p:sp>
      <p:sp>
        <p:nvSpPr>
          <p:cNvPr id="23" name="Rectangle 22"/>
          <p:cNvSpPr/>
          <p:nvPr/>
        </p:nvSpPr>
        <p:spPr>
          <a:xfrm>
            <a:off x="5770476" y="3068960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SmbSrv</a:t>
            </a:r>
            <a:endParaRPr lang="cs-CZ" sz="10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dirty="0"/>
              <a:t>Kerberos </a:t>
            </a:r>
            <a:r>
              <a:rPr lang="en-US" dirty="0"/>
              <a:t>PKINIT</a:t>
            </a:r>
            <a:endParaRPr lang="cs-CZ" dirty="0"/>
          </a:p>
        </p:txBody>
      </p:sp>
      <p:sp>
        <p:nvSpPr>
          <p:cNvPr id="5" name="Rectangle 4"/>
          <p:cNvSpPr/>
          <p:nvPr/>
        </p:nvSpPr>
        <p:spPr>
          <a:xfrm>
            <a:off x="2051720" y="2272781"/>
            <a:ext cx="1018456" cy="1737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10" name="Right Arrow 9"/>
          <p:cNvSpPr/>
          <p:nvPr/>
        </p:nvSpPr>
        <p:spPr>
          <a:xfrm>
            <a:off x="3213992" y="1767644"/>
            <a:ext cx="2232248" cy="2309428"/>
          </a:xfrm>
          <a:prstGeom prst="rightArrow">
            <a:avLst>
              <a:gd name="adj1" fmla="val 50000"/>
              <a:gd name="adj2" fmla="val 88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200" dirty="0"/>
              <a:t>HTTP, SMB, DCOM</a:t>
            </a:r>
            <a:endParaRPr lang="cs-CZ" sz="1200" dirty="0"/>
          </a:p>
        </p:txBody>
      </p:sp>
      <p:sp>
        <p:nvSpPr>
          <p:cNvPr id="12" name="Rectangle 11"/>
          <p:cNvSpPr/>
          <p:nvPr/>
        </p:nvSpPr>
        <p:spPr>
          <a:xfrm>
            <a:off x="251520" y="1270382"/>
            <a:ext cx="2180928" cy="17009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4" name="Rectangle 13"/>
          <p:cNvSpPr/>
          <p:nvPr/>
        </p:nvSpPr>
        <p:spPr>
          <a:xfrm>
            <a:off x="6243700" y="1270382"/>
            <a:ext cx="2180928" cy="17009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8" name="Right Arrow 17"/>
          <p:cNvSpPr/>
          <p:nvPr/>
        </p:nvSpPr>
        <p:spPr>
          <a:xfrm>
            <a:off x="1835696" y="2347574"/>
            <a:ext cx="5328592" cy="48429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In-band transport</a:t>
            </a:r>
            <a:endParaRPr lang="cs-CZ" sz="1100" dirty="0"/>
          </a:p>
        </p:txBody>
      </p:sp>
      <p:sp>
        <p:nvSpPr>
          <p:cNvPr id="19" name="Rectangle 18"/>
          <p:cNvSpPr/>
          <p:nvPr/>
        </p:nvSpPr>
        <p:spPr>
          <a:xfrm>
            <a:off x="2537874" y="2801530"/>
            <a:ext cx="426876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IE</a:t>
            </a:r>
            <a:endParaRPr lang="cs-CZ" sz="1050" dirty="0"/>
          </a:p>
        </p:txBody>
      </p:sp>
      <p:sp>
        <p:nvSpPr>
          <p:cNvPr id="20" name="Rectangle 19"/>
          <p:cNvSpPr/>
          <p:nvPr/>
        </p:nvSpPr>
        <p:spPr>
          <a:xfrm>
            <a:off x="2123728" y="3057954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Outlook</a:t>
            </a:r>
            <a:endParaRPr lang="cs-CZ" sz="1050" dirty="0"/>
          </a:p>
        </p:txBody>
      </p:sp>
      <p:sp>
        <p:nvSpPr>
          <p:cNvPr id="21" name="Rectangle 20"/>
          <p:cNvSpPr/>
          <p:nvPr/>
        </p:nvSpPr>
        <p:spPr>
          <a:xfrm>
            <a:off x="2276128" y="3335920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Explorer</a:t>
            </a:r>
            <a:endParaRPr lang="cs-CZ" sz="1050" dirty="0"/>
          </a:p>
        </p:txBody>
      </p:sp>
      <p:sp>
        <p:nvSpPr>
          <p:cNvPr id="29" name="Rectangle 28"/>
          <p:cNvSpPr/>
          <p:nvPr/>
        </p:nvSpPr>
        <p:spPr>
          <a:xfrm>
            <a:off x="395536" y="1988840"/>
            <a:ext cx="1236888" cy="83430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Client</a:t>
            </a:r>
          </a:p>
          <a:p>
            <a:pPr algn="ctr"/>
            <a:r>
              <a:rPr lang="en-US" sz="1200" dirty="0"/>
              <a:t>Certificate</a:t>
            </a:r>
          </a:p>
          <a:p>
            <a:pPr algn="ctr"/>
            <a:r>
              <a:rPr lang="en-US" sz="1200" dirty="0"/>
              <a:t>S/C only</a:t>
            </a:r>
            <a:endParaRPr lang="cs-CZ" sz="1200" dirty="0"/>
          </a:p>
        </p:txBody>
      </p:sp>
      <p:sp>
        <p:nvSpPr>
          <p:cNvPr id="30" name="Rectangle 29"/>
          <p:cNvSpPr/>
          <p:nvPr/>
        </p:nvSpPr>
        <p:spPr>
          <a:xfrm>
            <a:off x="159297" y="5013175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r>
              <a:rPr lang="cs-CZ" sz="1400" dirty="0"/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02185" y="5373215"/>
            <a:ext cx="2180928" cy="13064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32" name="Isosceles Triangle 31"/>
          <p:cNvSpPr/>
          <p:nvPr/>
        </p:nvSpPr>
        <p:spPr>
          <a:xfrm>
            <a:off x="1834661" y="5798807"/>
            <a:ext cx="965524" cy="717596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</a:t>
            </a:r>
            <a:endParaRPr lang="cs-CZ" sz="1600" dirty="0"/>
          </a:p>
        </p:txBody>
      </p:sp>
      <p:sp>
        <p:nvSpPr>
          <p:cNvPr id="33" name="Up-Down Arrow 32"/>
          <p:cNvSpPr/>
          <p:nvPr/>
        </p:nvSpPr>
        <p:spPr>
          <a:xfrm>
            <a:off x="538476" y="2896772"/>
            <a:ext cx="468962" cy="2476443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4" name="Rectangle 33"/>
          <p:cNvSpPr/>
          <p:nvPr/>
        </p:nvSpPr>
        <p:spPr>
          <a:xfrm>
            <a:off x="749417" y="4333731"/>
            <a:ext cx="1260340" cy="4348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100" dirty="0"/>
              <a:t>Generate </a:t>
            </a:r>
            <a:r>
              <a:rPr lang="en-US" sz="1100" dirty="0"/>
              <a:t>TGT</a:t>
            </a:r>
            <a:endParaRPr lang="cs-CZ" sz="1100" dirty="0"/>
          </a:p>
        </p:txBody>
      </p:sp>
      <p:sp>
        <p:nvSpPr>
          <p:cNvPr id="38" name="Rectangle 37"/>
          <p:cNvSpPr/>
          <p:nvPr/>
        </p:nvSpPr>
        <p:spPr>
          <a:xfrm>
            <a:off x="978282" y="4873747"/>
            <a:ext cx="1157300" cy="83430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DC</a:t>
            </a:r>
          </a:p>
          <a:p>
            <a:pPr algn="ctr"/>
            <a:r>
              <a:rPr lang="en-US" sz="1200" dirty="0"/>
              <a:t>Certificate</a:t>
            </a:r>
            <a:endParaRPr lang="cs-CZ" sz="1200" dirty="0"/>
          </a:p>
        </p:txBody>
      </p:sp>
      <p:sp>
        <p:nvSpPr>
          <p:cNvPr id="39" name="Rectangle 38"/>
          <p:cNvSpPr/>
          <p:nvPr/>
        </p:nvSpPr>
        <p:spPr>
          <a:xfrm>
            <a:off x="6398160" y="3489402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SqlSrv</a:t>
            </a:r>
            <a:endParaRPr lang="cs-CZ" sz="1050" dirty="0"/>
          </a:p>
        </p:txBody>
      </p:sp>
      <p:sp>
        <p:nvSpPr>
          <p:cNvPr id="40" name="Rectangle 39"/>
          <p:cNvSpPr/>
          <p:nvPr/>
        </p:nvSpPr>
        <p:spPr>
          <a:xfrm>
            <a:off x="6791418" y="3778311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ExSrv</a:t>
            </a:r>
            <a:endParaRPr lang="cs-CZ" sz="1050" dirty="0"/>
          </a:p>
        </p:txBody>
      </p:sp>
      <p:sp>
        <p:nvSpPr>
          <p:cNvPr id="41" name="Rectangle 40"/>
          <p:cNvSpPr/>
          <p:nvPr/>
        </p:nvSpPr>
        <p:spPr>
          <a:xfrm>
            <a:off x="7043746" y="3315366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AnySrv</a:t>
            </a:r>
            <a:endParaRPr lang="cs-CZ" sz="1050" dirty="0"/>
          </a:p>
        </p:txBody>
      </p:sp>
      <p:sp>
        <p:nvSpPr>
          <p:cNvPr id="24" name="Rectangle 23"/>
          <p:cNvSpPr/>
          <p:nvPr/>
        </p:nvSpPr>
        <p:spPr>
          <a:xfrm>
            <a:off x="4168198" y="2679344"/>
            <a:ext cx="1108532" cy="4348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normal TGS</a:t>
            </a:r>
            <a:endParaRPr lang="cs-CZ" sz="1100" dirty="0"/>
          </a:p>
        </p:txBody>
      </p:sp>
      <p:sp>
        <p:nvSpPr>
          <p:cNvPr id="25" name="Rectangle 24"/>
          <p:cNvSpPr/>
          <p:nvPr/>
        </p:nvSpPr>
        <p:spPr>
          <a:xfrm>
            <a:off x="4255556" y="2778120"/>
            <a:ext cx="1108532" cy="4348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normal TGS</a:t>
            </a:r>
            <a:endParaRPr lang="cs-CZ" sz="1100" dirty="0"/>
          </a:p>
        </p:txBody>
      </p:sp>
    </p:spTree>
    <p:extLst>
      <p:ext uri="{BB962C8B-B14F-4D97-AF65-F5344CB8AC3E}">
        <p14:creationId xmlns:p14="http://schemas.microsoft.com/office/powerpoint/2010/main" val="1684464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requirements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PKI</a:t>
            </a:r>
          </a:p>
          <a:p>
            <a:r>
              <a:rPr lang="en-US" dirty="0"/>
              <a:t>CAs</a:t>
            </a:r>
          </a:p>
          <a:p>
            <a:r>
              <a:rPr lang="en-US" dirty="0"/>
              <a:t>DC certificates</a:t>
            </a:r>
          </a:p>
          <a:p>
            <a:r>
              <a:rPr lang="en-US" dirty="0"/>
              <a:t>user logon certificates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31620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 requirements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Trusted root CA</a:t>
            </a:r>
          </a:p>
          <a:p>
            <a:r>
              <a:rPr lang="en-US" dirty="0" err="1"/>
              <a:t>NTAuth</a:t>
            </a:r>
            <a:r>
              <a:rPr lang="en-US" dirty="0"/>
              <a:t> trusted </a:t>
            </a:r>
            <a:r>
              <a:rPr lang="en-US" dirty="0">
                <a:solidFill>
                  <a:srgbClr val="00B0F0"/>
                </a:solidFill>
              </a:rPr>
              <a:t>issuing </a:t>
            </a:r>
            <a:r>
              <a:rPr lang="en-US" dirty="0"/>
              <a:t>CA</a:t>
            </a:r>
          </a:p>
          <a:p>
            <a:pPr lvl="1"/>
            <a:r>
              <a:rPr lang="en-US" dirty="0"/>
              <a:t>enterprise (AD integrated) ADCS CAs by default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CN=</a:t>
            </a:r>
            <a:r>
              <a:rPr lang="en-US" dirty="0" err="1">
                <a:solidFill>
                  <a:schemeClr val="accent1"/>
                </a:solidFill>
              </a:rPr>
              <a:t>NTAuthCertificates</a:t>
            </a:r>
            <a:r>
              <a:rPr lang="en-US" dirty="0" err="1"/>
              <a:t>,CN</a:t>
            </a:r>
            <a:r>
              <a:rPr lang="en-US" dirty="0"/>
              <a:t>=Public Key </a:t>
            </a:r>
            <a:r>
              <a:rPr lang="en-US" dirty="0" err="1"/>
              <a:t>Services,CN</a:t>
            </a:r>
            <a:r>
              <a:rPr lang="en-US" dirty="0"/>
              <a:t>=</a:t>
            </a:r>
            <a:r>
              <a:rPr lang="en-US" dirty="0" err="1"/>
              <a:t>Services,CN</a:t>
            </a:r>
            <a:r>
              <a:rPr lang="en-US" dirty="0"/>
              <a:t>=</a:t>
            </a:r>
            <a:r>
              <a:rPr lang="en-US" dirty="0" err="1"/>
              <a:t>Configuration,DC</a:t>
            </a:r>
            <a:r>
              <a:rPr lang="en-US" dirty="0"/>
              <a:t>=x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HKLM</a:t>
            </a:r>
            <a:r>
              <a:rPr lang="en-US" dirty="0"/>
              <a:t>\Software\Microsoft\</a:t>
            </a:r>
            <a:r>
              <a:rPr lang="en-US" dirty="0" err="1"/>
              <a:t>EnterpriseCertificates</a:t>
            </a:r>
            <a:r>
              <a:rPr lang="en-US" dirty="0"/>
              <a:t>\</a:t>
            </a:r>
            <a:r>
              <a:rPr lang="en-US" dirty="0" err="1">
                <a:solidFill>
                  <a:schemeClr val="accent1"/>
                </a:solidFill>
              </a:rPr>
              <a:t>NTAuth</a:t>
            </a:r>
            <a:r>
              <a:rPr lang="en-US" dirty="0"/>
              <a:t>\Certificates</a:t>
            </a:r>
          </a:p>
          <a:p>
            <a:pPr lvl="2"/>
            <a:r>
              <a:rPr lang="en-US" dirty="0"/>
              <a:t>#thumbprint#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certutil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-enterprise -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addstore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ntauth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issuingCA.cer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CRL valid (OCSP)</a:t>
            </a:r>
          </a:p>
          <a:p>
            <a:pPr lvl="1"/>
            <a:r>
              <a:rPr lang="en-US" dirty="0"/>
              <a:t>up-to-date, available, ideally anonymous HTTP</a:t>
            </a:r>
            <a:endParaRPr lang="cs-CZ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55314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Verify </a:t>
            </a:r>
            <a:r>
              <a:rPr lang="en-US" dirty="0" err="1"/>
              <a:t>NTAuth</a:t>
            </a:r>
            <a:r>
              <a:rPr lang="en-US" dirty="0"/>
              <a:t> CAs for a forest using </a:t>
            </a:r>
            <a:r>
              <a:rPr lang="en-US" dirty="0" err="1"/>
              <a:t>Enteprise</a:t>
            </a:r>
            <a:r>
              <a:rPr lang="en-US" dirty="0"/>
              <a:t> PKI console</a:t>
            </a:r>
            <a:endParaRPr lang="cs-CZ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19" y="1484784"/>
            <a:ext cx="8805489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34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 err="1"/>
              <a:t>NTAuthCertificates</a:t>
            </a:r>
            <a:r>
              <a:rPr lang="en-US" sz="2000" dirty="0"/>
              <a:t> object (CN=Public Key </a:t>
            </a:r>
            <a:r>
              <a:rPr lang="en-US" sz="2000" dirty="0" err="1"/>
              <a:t>Services,CN</a:t>
            </a:r>
            <a:r>
              <a:rPr lang="en-US" sz="2000" dirty="0"/>
              <a:t>=</a:t>
            </a:r>
            <a:r>
              <a:rPr lang="en-US" sz="2000" dirty="0" err="1"/>
              <a:t>Services,CN</a:t>
            </a:r>
            <a:r>
              <a:rPr lang="en-US" sz="2000" dirty="0"/>
              <a:t>=Configuration)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9" y="1340768"/>
            <a:ext cx="8923062" cy="55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29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certificate requirements (2003+)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EKU (default template Kerberos Authentication)</a:t>
            </a:r>
          </a:p>
          <a:p>
            <a:pPr lvl="1"/>
            <a:r>
              <a:rPr lang="en-US" dirty="0"/>
              <a:t>Server Authentication</a:t>
            </a:r>
          </a:p>
          <a:p>
            <a:pPr lvl="1"/>
            <a:r>
              <a:rPr lang="en-US" dirty="0"/>
              <a:t>Client Authentication</a:t>
            </a:r>
          </a:p>
          <a:p>
            <a:pPr lvl="1"/>
            <a:r>
              <a:rPr lang="en-US" dirty="0"/>
              <a:t>Smart Card Logon</a:t>
            </a:r>
          </a:p>
          <a:p>
            <a:pPr lvl="1"/>
            <a:r>
              <a:rPr lang="en-US" dirty="0"/>
              <a:t>Kerberos Authentication</a:t>
            </a:r>
          </a:p>
          <a:p>
            <a:r>
              <a:rPr lang="en-US" dirty="0"/>
              <a:t>SAN</a:t>
            </a:r>
          </a:p>
          <a:p>
            <a:pPr lvl="1"/>
            <a:r>
              <a:rPr lang="en-US" dirty="0"/>
              <a:t>DNS domain name</a:t>
            </a:r>
          </a:p>
          <a:p>
            <a:pPr lvl="1"/>
            <a:r>
              <a:rPr lang="en-US" dirty="0"/>
              <a:t>NetBIOS domain name</a:t>
            </a:r>
          </a:p>
          <a:p>
            <a:r>
              <a:rPr lang="en-US" dirty="0"/>
              <a:t>CRL valid (or OCSP)</a:t>
            </a:r>
          </a:p>
          <a:p>
            <a:pPr lvl="1"/>
            <a:r>
              <a:rPr lang="en-US" dirty="0"/>
              <a:t>up-to-date, available, ideally anonymous HTTP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from client's perspective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certutil</a:t>
            </a:r>
            <a:r>
              <a:rPr lang="en-US" dirty="0">
                <a:solidFill>
                  <a:schemeClr val="accent1"/>
                </a:solidFill>
              </a:rPr>
              <a:t> -</a:t>
            </a:r>
            <a:r>
              <a:rPr lang="en-US" dirty="0" err="1">
                <a:solidFill>
                  <a:schemeClr val="accent1"/>
                </a:solidFill>
              </a:rPr>
              <a:t>urlfetch</a:t>
            </a:r>
            <a:r>
              <a:rPr lang="en-US" dirty="0">
                <a:solidFill>
                  <a:schemeClr val="accent1"/>
                </a:solidFill>
              </a:rPr>
              <a:t> -verify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certutil</a:t>
            </a:r>
            <a:r>
              <a:rPr lang="en-US" dirty="0">
                <a:solidFill>
                  <a:schemeClr val="accent1"/>
                </a:solidFill>
              </a:rPr>
              <a:t> -</a:t>
            </a:r>
            <a:r>
              <a:rPr lang="en-US" dirty="0" err="1">
                <a:solidFill>
                  <a:schemeClr val="accent1"/>
                </a:solidFill>
              </a:rPr>
              <a:t>url</a:t>
            </a:r>
            <a:endParaRPr lang="cs-CZ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526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certificate requirements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Stored in smart card in case of Kerberos PKINIT</a:t>
            </a:r>
          </a:p>
          <a:p>
            <a:pPr lvl="1"/>
            <a:r>
              <a:rPr lang="en-US" dirty="0"/>
              <a:t>EKU = Smart Card Logon</a:t>
            </a:r>
          </a:p>
          <a:p>
            <a:r>
              <a:rPr lang="en-US" dirty="0"/>
              <a:t>Stored in S/C or software provider in case of TLS client certificate logon</a:t>
            </a:r>
          </a:p>
          <a:p>
            <a:pPr lvl="1"/>
            <a:r>
              <a:rPr lang="en-US" dirty="0"/>
              <a:t>EKU = Client Authentication</a:t>
            </a:r>
          </a:p>
          <a:p>
            <a:r>
              <a:rPr lang="en-US" dirty="0"/>
              <a:t>SAN</a:t>
            </a:r>
          </a:p>
          <a:p>
            <a:pPr lvl="1"/>
            <a:r>
              <a:rPr lang="en-US" dirty="0"/>
              <a:t>user principal name (UPN) or </a:t>
            </a:r>
            <a:r>
              <a:rPr lang="en-US"/>
              <a:t>dNSHostName</a:t>
            </a:r>
            <a:endParaRPr lang="en-US" dirty="0"/>
          </a:p>
          <a:p>
            <a:pPr lvl="1"/>
            <a:r>
              <a:rPr lang="en-US" dirty="0"/>
              <a:t>manually mapped SAN or subject</a:t>
            </a:r>
          </a:p>
          <a:p>
            <a:r>
              <a:rPr lang="en-US" dirty="0"/>
              <a:t>CRL valid (or OCSP)</a:t>
            </a:r>
          </a:p>
          <a:p>
            <a:pPr lvl="1"/>
            <a:r>
              <a:rPr lang="en-US" dirty="0"/>
              <a:t>up-to-date, available, ideally anonymous HTTP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from DC's perspective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certutil</a:t>
            </a:r>
            <a:r>
              <a:rPr lang="en-US" dirty="0">
                <a:solidFill>
                  <a:schemeClr val="accent1"/>
                </a:solidFill>
              </a:rPr>
              <a:t> -</a:t>
            </a:r>
            <a:r>
              <a:rPr lang="en-US" dirty="0" err="1">
                <a:solidFill>
                  <a:schemeClr val="accent1"/>
                </a:solidFill>
              </a:rPr>
              <a:t>urlfetch</a:t>
            </a:r>
            <a:r>
              <a:rPr lang="en-US" dirty="0">
                <a:solidFill>
                  <a:schemeClr val="accent1"/>
                </a:solidFill>
              </a:rPr>
              <a:t> -verify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certutil</a:t>
            </a:r>
            <a:r>
              <a:rPr lang="en-US" dirty="0">
                <a:solidFill>
                  <a:schemeClr val="accent1"/>
                </a:solidFill>
              </a:rPr>
              <a:t> -</a:t>
            </a:r>
            <a:r>
              <a:rPr lang="en-US" dirty="0" err="1">
                <a:solidFill>
                  <a:schemeClr val="accent1"/>
                </a:solidFill>
              </a:rPr>
              <a:t>url</a:t>
            </a:r>
            <a:endParaRPr lang="cs-CZ" dirty="0">
              <a:solidFill>
                <a:schemeClr val="accent1"/>
              </a:solidFill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32577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Client certificate SAN vs. Published Certificates on domain user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408650"/>
            <a:ext cx="5291967" cy="31004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32" y="4576850"/>
            <a:ext cx="4406768" cy="2281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456" y="1052736"/>
            <a:ext cx="4920251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886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FE7C9A-DA1E-49B5-B929-1C1438792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86" y="3495262"/>
            <a:ext cx="4865080" cy="33508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8FEF5D-6027-473F-B59D-55AAA615C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4944"/>
            <a:ext cx="3995936" cy="22261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F835B7-0BB8-4A35-AE82-F5D2570B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7768"/>
            <a:ext cx="8229600" cy="782960"/>
          </a:xfrm>
        </p:spPr>
        <p:txBody>
          <a:bodyPr>
            <a:noAutofit/>
          </a:bodyPr>
          <a:lstStyle/>
          <a:p>
            <a:r>
              <a:rPr lang="en-US" sz="2000" dirty="0"/>
              <a:t>Since May 2023 a SID extension 1.3.6.1.4.1.311.25.2 enforced in logon certificates by the DCs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D9098-CC89-4E2F-9F12-919732384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805886"/>
            <a:ext cx="5508105" cy="60521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AE1487-A0E8-4D9B-AD29-B2F7730264EC}"/>
              </a:ext>
            </a:extLst>
          </p:cNvPr>
          <p:cNvSpPr txBox="1"/>
          <p:nvPr/>
        </p:nvSpPr>
        <p:spPr>
          <a:xfrm>
            <a:off x="251520" y="1052736"/>
            <a:ext cx="32403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a) find the account by UPN login</a:t>
            </a:r>
          </a:p>
          <a:p>
            <a:r>
              <a:rPr lang="en-US" sz="1600" dirty="0"/>
              <a:t>b) verify SID to match</a:t>
            </a:r>
          </a:p>
          <a:p>
            <a:pPr marL="342900" indent="-342900">
              <a:buAutoNum type="alphaLcParenR"/>
            </a:pPr>
            <a:endParaRPr lang="en-US" sz="1600" dirty="0"/>
          </a:p>
          <a:p>
            <a:r>
              <a:rPr lang="en-US" sz="1600" dirty="0"/>
              <a:t>or</a:t>
            </a:r>
          </a:p>
          <a:p>
            <a:pPr marL="342900" indent="-342900">
              <a:buAutoNum type="alphaLcParenR"/>
            </a:pPr>
            <a:endParaRPr lang="en-US" sz="1600" dirty="0"/>
          </a:p>
          <a:p>
            <a:r>
              <a:rPr lang="en-US" sz="1600" dirty="0"/>
              <a:t>c) strong-map certificates to user accounts (</a:t>
            </a:r>
            <a:r>
              <a:rPr lang="en-US" sz="1600" dirty="0" err="1"/>
              <a:t>altSecurityIdentities</a:t>
            </a:r>
            <a:r>
              <a:rPr lang="en-US" sz="1600" dirty="0"/>
              <a:t>)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6519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A72FD-C5CE-4519-B742-B75EA5819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ADFS certificate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5B6A9-B664-47E2-BE93-CF628920D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https://adfs.gopas.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cz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adfs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/LS/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Initiated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BE3B6-6E59-43AA-B382-84C18540D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836370"/>
            <a:ext cx="6437987" cy="502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84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IIS TLS client certificate authentication #1</a:t>
            </a:r>
            <a:br>
              <a:rPr lang="en-US" dirty="0"/>
            </a:br>
            <a:r>
              <a:rPr lang="en-US" dirty="0"/>
              <a:t>Enforce TLS and require client certificates</a:t>
            </a:r>
            <a:endParaRPr lang="cs-CZ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556792"/>
            <a:ext cx="8665301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013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IIS TLS client certificate authentication #2</a:t>
            </a:r>
            <a:br>
              <a:rPr lang="en-US" dirty="0"/>
            </a:br>
            <a:r>
              <a:rPr lang="en-US" dirty="0"/>
              <a:t>Disable all HTTP authentication methods</a:t>
            </a:r>
            <a:endParaRPr lang="cs-CZ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1628800"/>
            <a:ext cx="8841329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36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IIS TLS client certificate authentication #3</a:t>
            </a:r>
            <a:br>
              <a:rPr lang="en-US" sz="2400" dirty="0"/>
            </a:br>
            <a:r>
              <a:rPr lang="en-US" sz="2400" dirty="0"/>
              <a:t>Install Active Directory Client Certificate Authentication</a:t>
            </a:r>
            <a:br>
              <a:rPr lang="en-US" sz="2400" dirty="0"/>
            </a:br>
            <a:r>
              <a:rPr lang="en-US" sz="2400" dirty="0"/>
              <a:t>Enable AD mapper server-wide</a:t>
            </a:r>
            <a:endParaRPr lang="cs-CZ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916832"/>
            <a:ext cx="8892151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63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E7E4D-AC9F-406E-8B83-CFA8244A5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Firefox does not see Windows certificates by default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EEB72-D7B6-4D0B-9CF5-6196B57FA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about:config</a:t>
            </a:r>
            <a:endParaRPr lang="en-US" dirty="0"/>
          </a:p>
          <a:p>
            <a:pPr lvl="1"/>
            <a:r>
              <a:rPr lang="en-US" dirty="0" err="1"/>
              <a:t>security.enterprise_roots_enabled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7FE5F7-153B-4D37-8A6C-D02BDB53E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43" y="3717032"/>
            <a:ext cx="8609027" cy="302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50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SChannel</a:t>
            </a:r>
            <a:r>
              <a:rPr lang="en-US" dirty="0"/>
              <a:t> authentication events on </a:t>
            </a:r>
            <a:r>
              <a:rPr lang="en-US" dirty="0">
                <a:solidFill>
                  <a:schemeClr val="accent1"/>
                </a:solidFill>
              </a:rPr>
              <a:t>DCs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47" y="1412776"/>
            <a:ext cx="8806074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68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C811A-5F07-4E07-8085-D6A936AFF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3792"/>
            <a:ext cx="2314600" cy="1215008"/>
          </a:xfrm>
        </p:spPr>
        <p:txBody>
          <a:bodyPr>
            <a:normAutofit/>
          </a:bodyPr>
          <a:lstStyle/>
          <a:p>
            <a:r>
              <a:rPr lang="en-US" sz="2000" dirty="0" err="1"/>
              <a:t>SChannel</a:t>
            </a:r>
            <a:r>
              <a:rPr lang="en-US" sz="2000" dirty="0"/>
              <a:t> logon events on </a:t>
            </a:r>
            <a:r>
              <a:rPr lang="en-US" sz="2000" dirty="0">
                <a:solidFill>
                  <a:schemeClr val="accent1"/>
                </a:solidFill>
              </a:rPr>
              <a:t>resource servers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3A823D-B607-4F26-921C-F10134D2A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853" y="116632"/>
            <a:ext cx="6235148" cy="674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745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requirements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Smart card + reader</a:t>
            </a:r>
          </a:p>
          <a:p>
            <a:r>
              <a:rPr lang="en-US" dirty="0"/>
              <a:t>Smart card in a reader = token</a:t>
            </a:r>
          </a:p>
          <a:p>
            <a:r>
              <a:rPr lang="en-US" dirty="0"/>
              <a:t>USB, PCMCIA</a:t>
            </a:r>
          </a:p>
          <a:p>
            <a:endParaRPr lang="en-US"/>
          </a:p>
          <a:p>
            <a:r>
              <a:rPr lang="en-US"/>
              <a:t>TPM </a:t>
            </a:r>
            <a:r>
              <a:rPr lang="en-US" dirty="0"/>
              <a:t>on motherboard</a:t>
            </a:r>
          </a:p>
          <a:p>
            <a:endParaRPr lang="en-US" dirty="0"/>
          </a:p>
          <a:p>
            <a:r>
              <a:rPr lang="en-US" dirty="0"/>
              <a:t>Smart card is not a USB flash drive</a:t>
            </a:r>
          </a:p>
          <a:p>
            <a:pPr lvl="1"/>
            <a:r>
              <a:rPr lang="en-US" dirty="0"/>
              <a:t>crypto CPU separate from OS</a:t>
            </a:r>
          </a:p>
          <a:p>
            <a:pPr lvl="1"/>
            <a:r>
              <a:rPr lang="en-US" dirty="0"/>
              <a:t>performs crypto-operations under PIN protection</a:t>
            </a:r>
          </a:p>
          <a:p>
            <a:pPr lvl="1"/>
            <a:r>
              <a:rPr lang="en-US" dirty="0"/>
              <a:t>crypto-memory cannot be "just read"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442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"bus" drivers for reader</a:t>
            </a:r>
          </a:p>
          <a:p>
            <a:r>
              <a:rPr lang="en-US" dirty="0"/>
              <a:t>crypto-provider for the chip</a:t>
            </a:r>
          </a:p>
          <a:p>
            <a:pPr lvl="1"/>
            <a:r>
              <a:rPr lang="en-US" dirty="0"/>
              <a:t>Cryptographic Services Provider (CSP)</a:t>
            </a:r>
          </a:p>
          <a:p>
            <a:pPr lvl="1"/>
            <a:r>
              <a:rPr lang="en-US" dirty="0"/>
              <a:t>mini-driver DLL for Base Smart Card CSP or Smart Card KSP</a:t>
            </a:r>
          </a:p>
          <a:p>
            <a:endParaRPr lang="en-US" dirty="0"/>
          </a:p>
          <a:p>
            <a:r>
              <a:rPr lang="en-US" dirty="0" err="1"/>
              <a:t>certutil</a:t>
            </a:r>
            <a:r>
              <a:rPr lang="en-US" dirty="0"/>
              <a:t> -</a:t>
            </a:r>
            <a:r>
              <a:rPr lang="en-US" dirty="0" err="1"/>
              <a:t>csplist</a:t>
            </a:r>
            <a:endParaRPr lang="en-US" dirty="0"/>
          </a:p>
          <a:p>
            <a:r>
              <a:rPr lang="en-US" dirty="0" err="1"/>
              <a:t>certutil</a:t>
            </a:r>
            <a:r>
              <a:rPr lang="en-US" dirty="0"/>
              <a:t> -</a:t>
            </a:r>
            <a:r>
              <a:rPr lang="en-US" dirty="0" err="1"/>
              <a:t>scinfo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209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TPM virtual smart-card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68760"/>
            <a:ext cx="8784976" cy="546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071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aoblený obdélník 18"/>
          <p:cNvSpPr/>
          <p:nvPr/>
        </p:nvSpPr>
        <p:spPr>
          <a:xfrm>
            <a:off x="3115091" y="4058832"/>
            <a:ext cx="1419087" cy="1500198"/>
          </a:xfrm>
          <a:prstGeom prst="roundRect">
            <a:avLst>
              <a:gd name="adj" fmla="val 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394" tIns="45697" rIns="91394" bIns="45697" rtlCol="0" anchor="b"/>
          <a:lstStyle/>
          <a:p>
            <a:pPr algn="r"/>
            <a:r>
              <a:rPr lang="en-US" sz="1633" dirty="0"/>
              <a:t>DC</a:t>
            </a:r>
            <a:br>
              <a:rPr lang="en-US" sz="1633" dirty="0"/>
            </a:br>
            <a:r>
              <a:rPr lang="en-US" sz="1633" dirty="0"/>
              <a:t>Certificate</a:t>
            </a:r>
            <a:endParaRPr lang="cs-CZ" sz="1633" dirty="0"/>
          </a:p>
        </p:txBody>
      </p:sp>
      <p:sp>
        <p:nvSpPr>
          <p:cNvPr id="18" name="Zaoblený obdélník 17"/>
          <p:cNvSpPr/>
          <p:nvPr/>
        </p:nvSpPr>
        <p:spPr>
          <a:xfrm>
            <a:off x="6329465" y="1987129"/>
            <a:ext cx="1419087" cy="178595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394" tIns="45697" rIns="91394" bIns="45697" rtlCol="0" anchor="t"/>
          <a:lstStyle/>
          <a:p>
            <a:r>
              <a:rPr lang="en-US" sz="1633" dirty="0"/>
              <a:t>Client</a:t>
            </a:r>
            <a:br>
              <a:rPr lang="en-US" sz="1633" dirty="0"/>
            </a:br>
            <a:r>
              <a:rPr lang="en-US" sz="1633" dirty="0"/>
              <a:t>Certificate</a:t>
            </a:r>
            <a:endParaRPr lang="cs-CZ" sz="1633" dirty="0"/>
          </a:p>
        </p:txBody>
      </p:sp>
      <p:sp>
        <p:nvSpPr>
          <p:cNvPr id="12" name="Zaoblený obdélník 11"/>
          <p:cNvSpPr/>
          <p:nvPr/>
        </p:nvSpPr>
        <p:spPr>
          <a:xfrm>
            <a:off x="4115119" y="1987129"/>
            <a:ext cx="2214345" cy="178595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394" tIns="45697" rIns="91394" bIns="45697" rtlCol="0" anchor="t"/>
          <a:lstStyle/>
          <a:p>
            <a:r>
              <a:rPr lang="en-US" sz="1633" dirty="0"/>
              <a:t>Client Private key</a:t>
            </a:r>
            <a:endParaRPr lang="cs-CZ" sz="1633" dirty="0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</a:t>
            </a:r>
            <a:r>
              <a:rPr lang="en-US"/>
              <a:t>card logon (PKINIT)</a:t>
            </a:r>
            <a:endParaRPr lang="cs-CZ" dirty="0"/>
          </a:p>
        </p:txBody>
      </p:sp>
      <p:sp>
        <p:nvSpPr>
          <p:cNvPr id="4" name="Zaoblený obdélník 3"/>
          <p:cNvSpPr/>
          <p:nvPr/>
        </p:nvSpPr>
        <p:spPr>
          <a:xfrm>
            <a:off x="1043608" y="1772816"/>
            <a:ext cx="1571471" cy="1357322"/>
          </a:xfrm>
          <a:prstGeom prst="roundRect">
            <a:avLst>
              <a:gd name="adj" fmla="val 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394" tIns="45697" rIns="91394" bIns="45697" rtlCol="0" anchor="ctr"/>
          <a:lstStyle/>
          <a:p>
            <a:pPr algn="ctr"/>
            <a:r>
              <a:rPr lang="en-US" sz="1633" dirty="0"/>
              <a:t>Client</a:t>
            </a:r>
            <a:endParaRPr lang="cs-CZ" sz="1633" dirty="0"/>
          </a:p>
        </p:txBody>
      </p:sp>
      <p:sp>
        <p:nvSpPr>
          <p:cNvPr id="6" name="Zaoblený obdélník 5"/>
          <p:cNvSpPr/>
          <p:nvPr/>
        </p:nvSpPr>
        <p:spPr>
          <a:xfrm>
            <a:off x="6472326" y="4487458"/>
            <a:ext cx="1571471" cy="1357322"/>
          </a:xfrm>
          <a:prstGeom prst="roundRect">
            <a:avLst>
              <a:gd name="adj" fmla="val 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394" tIns="45697" rIns="91394" bIns="45697" rtlCol="0" anchor="ctr"/>
          <a:lstStyle/>
          <a:p>
            <a:pPr algn="ctr"/>
            <a:r>
              <a:rPr lang="en-US" sz="1633" dirty="0"/>
              <a:t>DC</a:t>
            </a:r>
            <a:endParaRPr lang="cs-CZ" sz="1633" dirty="0"/>
          </a:p>
        </p:txBody>
      </p:sp>
      <p:sp>
        <p:nvSpPr>
          <p:cNvPr id="7" name="Šipka doprava 6"/>
          <p:cNvSpPr/>
          <p:nvPr/>
        </p:nvSpPr>
        <p:spPr>
          <a:xfrm rot="1566316">
            <a:off x="2709180" y="3365832"/>
            <a:ext cx="3897383" cy="35719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394" tIns="45697" rIns="91394" bIns="45697" rtlCol="0" anchor="ctr"/>
          <a:lstStyle/>
          <a:p>
            <a:pPr algn="ctr"/>
            <a:endParaRPr lang="cs-CZ" sz="1633"/>
          </a:p>
        </p:txBody>
      </p:sp>
      <p:sp>
        <p:nvSpPr>
          <p:cNvPr id="8" name="Zaoblený obdélník 7"/>
          <p:cNvSpPr/>
          <p:nvPr/>
        </p:nvSpPr>
        <p:spPr>
          <a:xfrm>
            <a:off x="4355976" y="3058699"/>
            <a:ext cx="1714332" cy="483454"/>
          </a:xfrm>
          <a:prstGeom prst="roundRect">
            <a:avLst>
              <a:gd name="adj" fmla="val 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394" tIns="45697" rIns="91394" bIns="45697" rtlCol="0" anchor="ctr"/>
          <a:lstStyle/>
          <a:p>
            <a:pPr algn="ctr"/>
            <a:r>
              <a:rPr lang="en-US" sz="1633" dirty="0"/>
              <a:t>Timestamp</a:t>
            </a:r>
            <a:endParaRPr lang="cs-CZ" sz="1633" dirty="0"/>
          </a:p>
        </p:txBody>
      </p:sp>
      <p:sp>
        <p:nvSpPr>
          <p:cNvPr id="13" name="Zaoblený obdélník 12"/>
          <p:cNvSpPr/>
          <p:nvPr/>
        </p:nvSpPr>
        <p:spPr>
          <a:xfrm>
            <a:off x="4355976" y="2415759"/>
            <a:ext cx="1714332" cy="483454"/>
          </a:xfrm>
          <a:prstGeom prst="roundRect">
            <a:avLst>
              <a:gd name="adj" fmla="val 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394" tIns="45697" rIns="91394" bIns="45697" rtlCol="0" anchor="ctr"/>
          <a:lstStyle/>
          <a:p>
            <a:pPr algn="ctr"/>
            <a:r>
              <a:rPr lang="en-US" sz="1633" dirty="0"/>
              <a:t>UPN</a:t>
            </a:r>
            <a:endParaRPr lang="cs-CZ" sz="1633" dirty="0"/>
          </a:p>
        </p:txBody>
      </p:sp>
      <p:sp>
        <p:nvSpPr>
          <p:cNvPr id="14" name="Zaoblený obdélník 13"/>
          <p:cNvSpPr/>
          <p:nvPr/>
        </p:nvSpPr>
        <p:spPr>
          <a:xfrm>
            <a:off x="1115036" y="4058832"/>
            <a:ext cx="2000054" cy="1500198"/>
          </a:xfrm>
          <a:prstGeom prst="roundRect">
            <a:avLst>
              <a:gd name="adj" fmla="val 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394" tIns="45697" rIns="91394" bIns="45697" rtlCol="0" anchor="t"/>
          <a:lstStyle/>
          <a:p>
            <a:r>
              <a:rPr lang="en-US" sz="1633" dirty="0"/>
              <a:t>Client Public key</a:t>
            </a:r>
          </a:p>
          <a:p>
            <a:endParaRPr lang="en-US" sz="1633" dirty="0"/>
          </a:p>
          <a:p>
            <a:endParaRPr lang="en-US" sz="1633" dirty="0"/>
          </a:p>
          <a:p>
            <a:endParaRPr lang="en-US" sz="1633" dirty="0"/>
          </a:p>
          <a:p>
            <a:r>
              <a:rPr lang="en-US" sz="1633" dirty="0"/>
              <a:t>DC’s private key</a:t>
            </a:r>
            <a:endParaRPr lang="cs-CZ" sz="1633" dirty="0"/>
          </a:p>
        </p:txBody>
      </p:sp>
      <p:sp>
        <p:nvSpPr>
          <p:cNvPr id="17" name="Šipka doprava 16"/>
          <p:cNvSpPr/>
          <p:nvPr/>
        </p:nvSpPr>
        <p:spPr>
          <a:xfrm rot="12404319">
            <a:off x="2209142" y="4255228"/>
            <a:ext cx="3897383" cy="35719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394" tIns="45697" rIns="91394" bIns="45697" rtlCol="0" anchor="ctr"/>
          <a:lstStyle/>
          <a:p>
            <a:pPr algn="ctr"/>
            <a:endParaRPr lang="cs-CZ" sz="1633"/>
          </a:p>
        </p:txBody>
      </p:sp>
      <p:sp>
        <p:nvSpPr>
          <p:cNvPr id="15" name="Zaoblený obdélník 15"/>
          <p:cNvSpPr/>
          <p:nvPr/>
        </p:nvSpPr>
        <p:spPr>
          <a:xfrm>
            <a:off x="2094558" y="4487458"/>
            <a:ext cx="885628" cy="483454"/>
          </a:xfrm>
          <a:prstGeom prst="roundRect">
            <a:avLst>
              <a:gd name="adj" fmla="val 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394" tIns="45697" rIns="91394" bIns="45697" rtlCol="0" anchor="ctr"/>
          <a:lstStyle/>
          <a:p>
            <a:pPr algn="ctr"/>
            <a:r>
              <a:rPr lang="en-US" sz="1633" dirty="0"/>
              <a:t>TGT</a:t>
            </a:r>
            <a:endParaRPr lang="cs-CZ" sz="1633" dirty="0"/>
          </a:p>
        </p:txBody>
      </p:sp>
      <p:sp>
        <p:nvSpPr>
          <p:cNvPr id="16" name="Zaoblený obdélník 15"/>
          <p:cNvSpPr/>
          <p:nvPr/>
        </p:nvSpPr>
        <p:spPr>
          <a:xfrm>
            <a:off x="1257898" y="4487459"/>
            <a:ext cx="836660" cy="483454"/>
          </a:xfrm>
          <a:prstGeom prst="roundRect">
            <a:avLst>
              <a:gd name="adj" fmla="val 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394" tIns="45697" rIns="91394" bIns="45697" rtlCol="0" anchor="ctr"/>
          <a:lstStyle/>
          <a:p>
            <a:pPr algn="ctr"/>
            <a:r>
              <a:rPr lang="en-US" sz="1633" dirty="0"/>
              <a:t>TGT</a:t>
            </a:r>
            <a:endParaRPr lang="cs-CZ" sz="1633" dirty="0"/>
          </a:p>
        </p:txBody>
      </p:sp>
    </p:spTree>
    <p:extLst>
      <p:ext uri="{BB962C8B-B14F-4D97-AF65-F5344CB8AC3E}">
        <p14:creationId xmlns:p14="http://schemas.microsoft.com/office/powerpoint/2010/main" val="542238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NTLM credentials in PAC</a:t>
            </a:r>
            <a:endParaRPr lang="cs-CZ" dirty="0"/>
          </a:p>
        </p:txBody>
      </p:sp>
      <p:sp>
        <p:nvSpPr>
          <p:cNvPr id="4" name="Zaoblený obdélník 3"/>
          <p:cNvSpPr/>
          <p:nvPr/>
        </p:nvSpPr>
        <p:spPr>
          <a:xfrm>
            <a:off x="3115091" y="4058832"/>
            <a:ext cx="1419087" cy="1500198"/>
          </a:xfrm>
          <a:prstGeom prst="roundRect">
            <a:avLst>
              <a:gd name="adj" fmla="val 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394" tIns="45697" rIns="91394" bIns="45697" rtlCol="0" anchor="b"/>
          <a:lstStyle/>
          <a:p>
            <a:pPr algn="r"/>
            <a:r>
              <a:rPr lang="en-US" sz="1633" dirty="0"/>
              <a:t>DC</a:t>
            </a:r>
            <a:br>
              <a:rPr lang="en-US" sz="1633" dirty="0"/>
            </a:br>
            <a:r>
              <a:rPr lang="en-US" sz="1633" dirty="0"/>
              <a:t>Certificate</a:t>
            </a:r>
            <a:endParaRPr lang="cs-CZ" sz="1633" dirty="0"/>
          </a:p>
        </p:txBody>
      </p:sp>
      <p:sp>
        <p:nvSpPr>
          <p:cNvPr id="5" name="Zaoblený obdélník 4"/>
          <p:cNvSpPr/>
          <p:nvPr/>
        </p:nvSpPr>
        <p:spPr>
          <a:xfrm>
            <a:off x="6329465" y="1987129"/>
            <a:ext cx="1419087" cy="178595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394" tIns="45697" rIns="91394" bIns="45697" rtlCol="0" anchor="t"/>
          <a:lstStyle/>
          <a:p>
            <a:r>
              <a:rPr lang="en-US" sz="1633" dirty="0"/>
              <a:t>Client</a:t>
            </a:r>
            <a:br>
              <a:rPr lang="en-US" sz="1633" dirty="0"/>
            </a:br>
            <a:r>
              <a:rPr lang="en-US" sz="1633" dirty="0"/>
              <a:t>Certificate</a:t>
            </a:r>
            <a:endParaRPr lang="cs-CZ" sz="1633" dirty="0"/>
          </a:p>
        </p:txBody>
      </p:sp>
      <p:sp>
        <p:nvSpPr>
          <p:cNvPr id="6" name="Zaoblený obdélník 5"/>
          <p:cNvSpPr/>
          <p:nvPr/>
        </p:nvSpPr>
        <p:spPr>
          <a:xfrm>
            <a:off x="4115119" y="1987129"/>
            <a:ext cx="2214345" cy="178595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394" tIns="45697" rIns="91394" bIns="45697" rtlCol="0" anchor="t"/>
          <a:lstStyle/>
          <a:p>
            <a:r>
              <a:rPr lang="en-US" sz="1633" dirty="0"/>
              <a:t>Client Private key</a:t>
            </a:r>
            <a:endParaRPr lang="cs-CZ" sz="1633" dirty="0"/>
          </a:p>
        </p:txBody>
      </p:sp>
      <p:sp>
        <p:nvSpPr>
          <p:cNvPr id="7" name="Zaoblený obdélník 6"/>
          <p:cNvSpPr/>
          <p:nvPr/>
        </p:nvSpPr>
        <p:spPr>
          <a:xfrm>
            <a:off x="1043608" y="1772816"/>
            <a:ext cx="1571471" cy="1357322"/>
          </a:xfrm>
          <a:prstGeom prst="roundRect">
            <a:avLst>
              <a:gd name="adj" fmla="val 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394" tIns="45697" rIns="91394" bIns="45697" rtlCol="0" anchor="ctr"/>
          <a:lstStyle/>
          <a:p>
            <a:pPr algn="ctr"/>
            <a:r>
              <a:rPr lang="en-US" sz="1633" dirty="0"/>
              <a:t>Client</a:t>
            </a:r>
            <a:endParaRPr lang="cs-CZ" sz="1633" dirty="0"/>
          </a:p>
        </p:txBody>
      </p:sp>
      <p:sp>
        <p:nvSpPr>
          <p:cNvPr id="8" name="Zaoblený obdélník 7"/>
          <p:cNvSpPr/>
          <p:nvPr/>
        </p:nvSpPr>
        <p:spPr>
          <a:xfrm>
            <a:off x="6472326" y="4487458"/>
            <a:ext cx="1571471" cy="1357322"/>
          </a:xfrm>
          <a:prstGeom prst="roundRect">
            <a:avLst>
              <a:gd name="adj" fmla="val 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394" tIns="45697" rIns="91394" bIns="45697" rtlCol="0" anchor="ctr"/>
          <a:lstStyle/>
          <a:p>
            <a:pPr algn="ctr"/>
            <a:r>
              <a:rPr lang="en-US" sz="1633" dirty="0"/>
              <a:t>DC</a:t>
            </a:r>
            <a:endParaRPr lang="cs-CZ" sz="1633" dirty="0"/>
          </a:p>
        </p:txBody>
      </p:sp>
      <p:sp>
        <p:nvSpPr>
          <p:cNvPr id="9" name="Šipka doprava 8"/>
          <p:cNvSpPr/>
          <p:nvPr/>
        </p:nvSpPr>
        <p:spPr>
          <a:xfrm rot="1566316">
            <a:off x="2709180" y="3365832"/>
            <a:ext cx="3897383" cy="35719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394" tIns="45697" rIns="91394" bIns="45697" rtlCol="0" anchor="ctr"/>
          <a:lstStyle/>
          <a:p>
            <a:pPr algn="ctr"/>
            <a:endParaRPr lang="cs-CZ" sz="1633"/>
          </a:p>
        </p:txBody>
      </p:sp>
      <p:sp>
        <p:nvSpPr>
          <p:cNvPr id="10" name="Zaoblený obdélník 9"/>
          <p:cNvSpPr/>
          <p:nvPr/>
        </p:nvSpPr>
        <p:spPr>
          <a:xfrm>
            <a:off x="4355976" y="3058699"/>
            <a:ext cx="1714332" cy="479181"/>
          </a:xfrm>
          <a:prstGeom prst="roundRect">
            <a:avLst>
              <a:gd name="adj" fmla="val 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394" tIns="45697" rIns="91394" bIns="45697" rtlCol="0" anchor="ctr"/>
          <a:lstStyle/>
          <a:p>
            <a:pPr algn="ctr"/>
            <a:r>
              <a:rPr lang="en-US" sz="1633" dirty="0"/>
              <a:t>Timestamp</a:t>
            </a:r>
            <a:endParaRPr lang="cs-CZ" sz="1633" dirty="0"/>
          </a:p>
        </p:txBody>
      </p:sp>
      <p:sp>
        <p:nvSpPr>
          <p:cNvPr id="11" name="Zaoblený obdélník 10"/>
          <p:cNvSpPr/>
          <p:nvPr/>
        </p:nvSpPr>
        <p:spPr>
          <a:xfrm>
            <a:off x="4355976" y="2415759"/>
            <a:ext cx="1714332" cy="479181"/>
          </a:xfrm>
          <a:prstGeom prst="roundRect">
            <a:avLst>
              <a:gd name="adj" fmla="val 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394" tIns="45697" rIns="91394" bIns="45697" rtlCol="0" anchor="ctr"/>
          <a:lstStyle/>
          <a:p>
            <a:pPr algn="ctr"/>
            <a:r>
              <a:rPr lang="en-US" sz="1633" dirty="0"/>
              <a:t>UPN</a:t>
            </a:r>
            <a:endParaRPr lang="cs-CZ" sz="1633" dirty="0"/>
          </a:p>
        </p:txBody>
      </p:sp>
      <p:sp>
        <p:nvSpPr>
          <p:cNvPr id="12" name="Zaoblený obdélník 11"/>
          <p:cNvSpPr/>
          <p:nvPr/>
        </p:nvSpPr>
        <p:spPr>
          <a:xfrm>
            <a:off x="1115036" y="4058832"/>
            <a:ext cx="2000054" cy="1500198"/>
          </a:xfrm>
          <a:prstGeom prst="roundRect">
            <a:avLst>
              <a:gd name="adj" fmla="val 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394" tIns="45697" rIns="91394" bIns="45697" rtlCol="0" anchor="t"/>
          <a:lstStyle/>
          <a:p>
            <a:r>
              <a:rPr lang="en-US" sz="1633" dirty="0"/>
              <a:t>Client Public key</a:t>
            </a:r>
          </a:p>
          <a:p>
            <a:endParaRPr lang="en-US" sz="1633" dirty="0"/>
          </a:p>
          <a:p>
            <a:endParaRPr lang="en-US" sz="1633" dirty="0"/>
          </a:p>
          <a:p>
            <a:endParaRPr lang="en-US" sz="1633" dirty="0"/>
          </a:p>
          <a:p>
            <a:r>
              <a:rPr lang="en-US" sz="1633" dirty="0"/>
              <a:t>DC’s private key</a:t>
            </a:r>
            <a:endParaRPr lang="cs-CZ" sz="1633" dirty="0"/>
          </a:p>
        </p:txBody>
      </p:sp>
      <p:sp>
        <p:nvSpPr>
          <p:cNvPr id="13" name="Šipka doprava 12"/>
          <p:cNvSpPr/>
          <p:nvPr/>
        </p:nvSpPr>
        <p:spPr>
          <a:xfrm rot="12404319">
            <a:off x="2209142" y="4255228"/>
            <a:ext cx="3897383" cy="35719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394" tIns="45697" rIns="91394" bIns="45697" rtlCol="0" anchor="ctr"/>
          <a:lstStyle/>
          <a:p>
            <a:pPr algn="ctr"/>
            <a:endParaRPr lang="cs-CZ" sz="1633"/>
          </a:p>
        </p:txBody>
      </p:sp>
      <p:sp>
        <p:nvSpPr>
          <p:cNvPr id="14" name="Zaoblený obdélník 13"/>
          <p:cNvSpPr/>
          <p:nvPr/>
        </p:nvSpPr>
        <p:spPr>
          <a:xfrm>
            <a:off x="1257898" y="4487459"/>
            <a:ext cx="1714332" cy="479181"/>
          </a:xfrm>
          <a:prstGeom prst="roundRect">
            <a:avLst>
              <a:gd name="adj" fmla="val 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394" tIns="45697" rIns="91394" bIns="45697" rtlCol="0" anchor="ctr"/>
          <a:lstStyle/>
          <a:p>
            <a:pPr algn="ctr"/>
            <a:r>
              <a:rPr lang="en-US" sz="1633" dirty="0"/>
              <a:t>TGT</a:t>
            </a:r>
            <a:endParaRPr lang="cs-CZ" sz="1633" dirty="0"/>
          </a:p>
        </p:txBody>
      </p:sp>
      <p:sp>
        <p:nvSpPr>
          <p:cNvPr id="15" name="Zaoblený obdélník 14"/>
          <p:cNvSpPr/>
          <p:nvPr/>
        </p:nvSpPr>
        <p:spPr>
          <a:xfrm>
            <a:off x="3400813" y="4916088"/>
            <a:ext cx="2285776" cy="1143008"/>
          </a:xfrm>
          <a:prstGeom prst="roundRect">
            <a:avLst>
              <a:gd name="adj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394" tIns="45697" rIns="91394" bIns="45697" rtlCol="0" anchor="t"/>
          <a:lstStyle/>
          <a:p>
            <a:r>
              <a:rPr lang="en-US" sz="1633" dirty="0"/>
              <a:t>User’s Password hash</a:t>
            </a:r>
          </a:p>
        </p:txBody>
      </p:sp>
      <p:sp>
        <p:nvSpPr>
          <p:cNvPr id="16" name="Zaoblený obdélník 15"/>
          <p:cNvSpPr/>
          <p:nvPr/>
        </p:nvSpPr>
        <p:spPr>
          <a:xfrm>
            <a:off x="3543673" y="5344716"/>
            <a:ext cx="2000054" cy="479181"/>
          </a:xfrm>
          <a:prstGeom prst="roundRect">
            <a:avLst>
              <a:gd name="adj" fmla="val 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394" tIns="45697" rIns="91394" bIns="45697" rtlCol="0" anchor="ctr"/>
          <a:lstStyle/>
          <a:p>
            <a:pPr algn="ctr"/>
            <a:r>
              <a:rPr lang="en-US" sz="1633" dirty="0"/>
              <a:t>NTLM</a:t>
            </a:r>
            <a:endParaRPr lang="cs-CZ" sz="1633" dirty="0"/>
          </a:p>
        </p:txBody>
      </p:sp>
    </p:spTree>
    <p:extLst>
      <p:ext uri="{BB962C8B-B14F-4D97-AF65-F5344CB8AC3E}">
        <p14:creationId xmlns:p14="http://schemas.microsoft.com/office/powerpoint/2010/main" val="2033099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dirty="0"/>
              <a:t>Auditing</a:t>
            </a:r>
            <a:endParaRPr lang="cs-CZ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F752A9-CEB2-3BDA-1A94-7C25C339E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983" y="476672"/>
            <a:ext cx="7216017" cy="638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51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 S/C for interactive logon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Interactive</a:t>
            </a:r>
            <a:r>
              <a:rPr lang="en-US" dirty="0"/>
              <a:t> logon only</a:t>
            </a:r>
          </a:p>
          <a:p>
            <a:pPr lvl="1"/>
            <a:r>
              <a:rPr lang="en-US" dirty="0"/>
              <a:t>pre-authentication generate TGT</a:t>
            </a:r>
          </a:p>
          <a:p>
            <a:endParaRPr lang="en-US" dirty="0"/>
          </a:p>
          <a:p>
            <a:r>
              <a:rPr lang="en-US" dirty="0"/>
              <a:t>Per user account in AD</a:t>
            </a:r>
          </a:p>
          <a:p>
            <a:pPr lvl="1"/>
            <a:r>
              <a:rPr lang="en-US" dirty="0" err="1"/>
              <a:t>userAccountControl</a:t>
            </a:r>
            <a:r>
              <a:rPr lang="en-US" dirty="0"/>
              <a:t> = </a:t>
            </a:r>
            <a:r>
              <a:rPr lang="cs-CZ" dirty="0"/>
              <a:t>262144</a:t>
            </a:r>
            <a:r>
              <a:rPr lang="en-US" dirty="0"/>
              <a:t> (</a:t>
            </a:r>
            <a:r>
              <a:rPr lang="cs-CZ" dirty="0"/>
              <a:t>0x40000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GUI randomizes password</a:t>
            </a:r>
          </a:p>
          <a:p>
            <a:r>
              <a:rPr lang="en-US" dirty="0"/>
              <a:t>Per computer by GPO</a:t>
            </a:r>
          </a:p>
          <a:p>
            <a:pPr lvl="1"/>
            <a:r>
              <a:rPr lang="en-US" dirty="0"/>
              <a:t>all users on the computer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0748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Expired passwords prevent S/C logon as well</a:t>
            </a:r>
            <a:br>
              <a:rPr lang="en-US" sz="2400" dirty="0"/>
            </a:br>
            <a:r>
              <a:rPr lang="en-US" sz="2400" dirty="0"/>
              <a:t>2016+ </a:t>
            </a:r>
            <a:r>
              <a:rPr lang="en-US" sz="2400" dirty="0" err="1"/>
              <a:t>msDS-ExpirePasswordsOnSmartCardOnlyAccounts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700808"/>
            <a:ext cx="7056784" cy="448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518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S/C removal behavior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Log-off</a:t>
            </a:r>
          </a:p>
          <a:p>
            <a:r>
              <a:rPr lang="en-US" dirty="0"/>
              <a:t>Lock-out and/or RDP disconnect</a:t>
            </a:r>
          </a:p>
          <a:p>
            <a:endParaRPr lang="en-US" dirty="0"/>
          </a:p>
          <a:p>
            <a:r>
              <a:rPr lang="en-US" dirty="0"/>
              <a:t>Smart Card Removal Policy service must be enabled</a:t>
            </a:r>
          </a:p>
          <a:p>
            <a:pPr lvl="1"/>
            <a:r>
              <a:rPr lang="en-US" dirty="0"/>
              <a:t>GPO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8679026"/>
      </p:ext>
    </p:extLst>
  </p:cSld>
  <p:clrMapOvr>
    <a:masterClrMapping/>
  </p:clrMapOvr>
</p:sld>
</file>

<file path=ppt/theme/theme1.xml><?xml version="1.0" encoding="utf-8"?>
<a:theme xmlns:a="http://schemas.openxmlformats.org/drawingml/2006/main" name="Gopas 1  (3 barvy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</a:theme>
</file>

<file path=ppt/theme/theme2.xml><?xml version="1.0" encoding="utf-8"?>
<a:theme xmlns:a="http://schemas.openxmlformats.org/drawingml/2006/main" name="Gopas 2  (3 barvy + &quot;planetka&quot;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opas 3  (6 barev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opas 4  (6 barev + &quot;planetka&quot;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858</Words>
  <Application>Microsoft Office PowerPoint</Application>
  <PresentationFormat>On-screen Show (4:3)</PresentationFormat>
  <Paragraphs>212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Courier New</vt:lpstr>
      <vt:lpstr>Wingdings</vt:lpstr>
      <vt:lpstr>Gopas 1  (3 barvy)</vt:lpstr>
      <vt:lpstr>Gopas 2  (3 barvy + "planetka")</vt:lpstr>
      <vt:lpstr>Gopas 3  (6 barev)</vt:lpstr>
      <vt:lpstr>Gopas 4  (6 barev + "planetka")</vt:lpstr>
      <vt:lpstr>TLS Client Certificate and Smart Card Logon</vt:lpstr>
      <vt:lpstr>Motivation</vt:lpstr>
      <vt:lpstr>Two certificate authentications</vt:lpstr>
      <vt:lpstr>SChannel TLS client certificate authentication</vt:lpstr>
      <vt:lpstr>Kerberos PKINIT</vt:lpstr>
      <vt:lpstr>Technical requirements</vt:lpstr>
      <vt:lpstr>CA requirements</vt:lpstr>
      <vt:lpstr>Verify NTAuth CAs for a forest using Enteprise PKI console</vt:lpstr>
      <vt:lpstr>NTAuthCertificates object (CN=Public Key Services,CN=Services,CN=Configuration)</vt:lpstr>
      <vt:lpstr>DC certificate requirements (2003+)</vt:lpstr>
      <vt:lpstr>Client certificate requirements</vt:lpstr>
      <vt:lpstr>Client certificate SAN vs. Published Certificates on domain user account</vt:lpstr>
      <vt:lpstr>Since May 2023 a SID extension 1.3.6.1.4.1.311.25.2 enforced in logon certificates by the DCs</vt:lpstr>
      <vt:lpstr>ADFS certificate authentication</vt:lpstr>
      <vt:lpstr>IIS TLS client certificate authentication #1 Enforce TLS and require client certificates</vt:lpstr>
      <vt:lpstr>IIS TLS client certificate authentication #2 Disable all HTTP authentication methods</vt:lpstr>
      <vt:lpstr>IIS TLS client certificate authentication #3 Install Active Directory Client Certificate Authentication Enable AD mapper server-wide</vt:lpstr>
      <vt:lpstr>Firefox does not see Windows certificates by default</vt:lpstr>
      <vt:lpstr>SChannel authentication events on DCs</vt:lpstr>
      <vt:lpstr>SChannel logon events on resource servers</vt:lpstr>
      <vt:lpstr>Hardware requirements</vt:lpstr>
      <vt:lpstr>Hardware drivers</vt:lpstr>
      <vt:lpstr>TPM virtual smart-card</vt:lpstr>
      <vt:lpstr>Smart card logon (PKINIT)</vt:lpstr>
      <vt:lpstr>NTLM credentials in PAC</vt:lpstr>
      <vt:lpstr>Auditing</vt:lpstr>
      <vt:lpstr>Require S/C for interactive logon</vt:lpstr>
      <vt:lpstr>Expired passwords prevent S/C logon as well 2016+ msDS-ExpirePasswordsOnSmartCardOnlyAccounts</vt:lpstr>
      <vt:lpstr>S/C removal behavior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Ondrej Sevecek</cp:lastModifiedBy>
  <cp:revision>2</cp:revision>
  <dcterms:created xsi:type="dcterms:W3CDTF">2013-03-17T16:22:31Z</dcterms:created>
  <dcterms:modified xsi:type="dcterms:W3CDTF">2025-06-27T09:25:55Z</dcterms:modified>
</cp:coreProperties>
</file>