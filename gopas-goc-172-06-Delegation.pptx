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48" r:id="rId2"/>
    <p:sldMasterId id="2147483733" r:id="rId3"/>
    <p:sldMasterId id="2147483763" r:id="rId4"/>
  </p:sldMasterIdLst>
  <p:notesMasterIdLst>
    <p:notesMasterId r:id="rId86"/>
  </p:notesMasterIdLst>
  <p:sldIdLst>
    <p:sldId id="257" r:id="rId5"/>
    <p:sldId id="329" r:id="rId6"/>
    <p:sldId id="331" r:id="rId7"/>
    <p:sldId id="332" r:id="rId8"/>
    <p:sldId id="338" r:id="rId9"/>
    <p:sldId id="335" r:id="rId10"/>
    <p:sldId id="333" r:id="rId11"/>
    <p:sldId id="334" r:id="rId12"/>
    <p:sldId id="348" r:id="rId13"/>
    <p:sldId id="345" r:id="rId14"/>
    <p:sldId id="339" r:id="rId15"/>
    <p:sldId id="340" r:id="rId16"/>
    <p:sldId id="341" r:id="rId17"/>
    <p:sldId id="347" r:id="rId18"/>
    <p:sldId id="342" r:id="rId19"/>
    <p:sldId id="343" r:id="rId20"/>
    <p:sldId id="344" r:id="rId21"/>
    <p:sldId id="346" r:id="rId22"/>
    <p:sldId id="330" r:id="rId23"/>
    <p:sldId id="266" r:id="rId24"/>
    <p:sldId id="278" r:id="rId25"/>
    <p:sldId id="279" r:id="rId26"/>
    <p:sldId id="312" r:id="rId27"/>
    <p:sldId id="308" r:id="rId28"/>
    <p:sldId id="267" r:id="rId29"/>
    <p:sldId id="271" r:id="rId30"/>
    <p:sldId id="309" r:id="rId31"/>
    <p:sldId id="289" r:id="rId32"/>
    <p:sldId id="305" r:id="rId33"/>
    <p:sldId id="290" r:id="rId34"/>
    <p:sldId id="292" r:id="rId35"/>
    <p:sldId id="293" r:id="rId36"/>
    <p:sldId id="321" r:id="rId37"/>
    <p:sldId id="322" r:id="rId38"/>
    <p:sldId id="311" r:id="rId39"/>
    <p:sldId id="288" r:id="rId40"/>
    <p:sldId id="280" r:id="rId41"/>
    <p:sldId id="268" r:id="rId42"/>
    <p:sldId id="272" r:id="rId43"/>
    <p:sldId id="316" r:id="rId44"/>
    <p:sldId id="294" r:id="rId45"/>
    <p:sldId id="315" r:id="rId46"/>
    <p:sldId id="320" r:id="rId47"/>
    <p:sldId id="317" r:id="rId48"/>
    <p:sldId id="323" r:id="rId49"/>
    <p:sldId id="287" r:id="rId50"/>
    <p:sldId id="281" r:id="rId51"/>
    <p:sldId id="269" r:id="rId52"/>
    <p:sldId id="273" r:id="rId53"/>
    <p:sldId id="275" r:id="rId54"/>
    <p:sldId id="276" r:id="rId55"/>
    <p:sldId id="314" r:id="rId56"/>
    <p:sldId id="295" r:id="rId57"/>
    <p:sldId id="306" r:id="rId58"/>
    <p:sldId id="307" r:id="rId59"/>
    <p:sldId id="285" r:id="rId60"/>
    <p:sldId id="310" r:id="rId61"/>
    <p:sldId id="284" r:id="rId62"/>
    <p:sldId id="286" r:id="rId63"/>
    <p:sldId id="282" r:id="rId64"/>
    <p:sldId id="270" r:id="rId65"/>
    <p:sldId id="274" r:id="rId66"/>
    <p:sldId id="313" r:id="rId67"/>
    <p:sldId id="277" r:id="rId68"/>
    <p:sldId id="283" r:id="rId69"/>
    <p:sldId id="319" r:id="rId70"/>
    <p:sldId id="324" r:id="rId71"/>
    <p:sldId id="296" r:id="rId72"/>
    <p:sldId id="297" r:id="rId73"/>
    <p:sldId id="298" r:id="rId74"/>
    <p:sldId id="299" r:id="rId75"/>
    <p:sldId id="318" r:id="rId76"/>
    <p:sldId id="300" r:id="rId77"/>
    <p:sldId id="301" r:id="rId78"/>
    <p:sldId id="302" r:id="rId79"/>
    <p:sldId id="303" r:id="rId80"/>
    <p:sldId id="304" r:id="rId81"/>
    <p:sldId id="325" r:id="rId82"/>
    <p:sldId id="326" r:id="rId83"/>
    <p:sldId id="327" r:id="rId84"/>
    <p:sldId id="328" r:id="rId85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6C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3" autoAdjust="0"/>
    <p:restoredTop sz="94673" autoAdjust="0"/>
  </p:normalViewPr>
  <p:slideViewPr>
    <p:cSldViewPr showGuides="1">
      <p:cViewPr varScale="1">
        <p:scale>
          <a:sx n="70" d="100"/>
          <a:sy n="70" d="100"/>
        </p:scale>
        <p:origin x="93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howGuides="1">
      <p:cViewPr varScale="1">
        <p:scale>
          <a:sx n="98" d="100"/>
          <a:sy n="98" d="100"/>
        </p:scale>
        <p:origin x="-35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ableStyles" Target="tableStyle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1C7F656-6C7C-4016-B601-23B462E6BC26}" type="datetimeFigureOut">
              <a:rPr lang="cs-CZ" smtClean="0"/>
              <a:pPr/>
              <a:t>05.03.2026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319F00E-1642-4F00-B8AC-7581C0C92EAE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78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0FFFC-B299-4DB4-A5A2-5FE0A233D24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018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311807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67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824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0943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794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619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2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1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69699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295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585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9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6211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8070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62414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968323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881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906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32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5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42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73025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609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259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46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7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02226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103820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76351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51896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1299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1476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74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65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687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217054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74053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83218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9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68896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6157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4351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4917918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37352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6990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607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155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01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054609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94504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621723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705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6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937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94" r:id="rId2"/>
    <p:sldLayoutId id="2147483728" r:id="rId3"/>
    <p:sldLayoutId id="2147483726" r:id="rId4"/>
    <p:sldLayoutId id="2147483695" r:id="rId5"/>
    <p:sldLayoutId id="2147483696" r:id="rId6"/>
    <p:sldLayoutId id="2147483723" r:id="rId7"/>
    <p:sldLayoutId id="2147483729" r:id="rId8"/>
    <p:sldLayoutId id="2147483732" r:id="rId9"/>
    <p:sldLayoutId id="2147483727" r:id="rId10"/>
    <p:sldLayoutId id="2147483697" r:id="rId11"/>
    <p:sldLayoutId id="2147483698" r:id="rId12"/>
    <p:sldLayoutId id="2147483730" r:id="rId13"/>
    <p:sldLayoutId id="2147483731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1" name="Skupina 30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74754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7649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4" name="Skupina 23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41237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611188" y="1628801"/>
            <a:ext cx="7921252" cy="1368152"/>
          </a:xfrm>
        </p:spPr>
        <p:txBody>
          <a:bodyPr>
            <a:normAutofit/>
          </a:bodyPr>
          <a:lstStyle/>
          <a:p>
            <a:r>
              <a:rPr lang="en-US" dirty="0"/>
              <a:t>Delegation</a:t>
            </a:r>
            <a:endParaRPr lang="cs-CZ" dirty="0"/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GOPAS: info@gopas</a:t>
            </a:r>
            <a:r>
              <a:rPr lang="en-US" dirty="0"/>
              <a:t>.</a:t>
            </a:r>
            <a:r>
              <a:rPr lang="cs-CZ" dirty="0"/>
              <a:t>cz </a:t>
            </a:r>
            <a:r>
              <a:rPr lang="en-US" dirty="0"/>
              <a:t>|</a:t>
            </a:r>
            <a:r>
              <a:rPr lang="cs-CZ" dirty="0"/>
              <a:t> www.gopas.cz</a:t>
            </a:r>
            <a:r>
              <a:rPr lang="en-US" dirty="0"/>
              <a:t> |</a:t>
            </a:r>
            <a:r>
              <a:rPr lang="cs-CZ" dirty="0"/>
              <a:t> www.facebook.com/P.S.GOPAS</a:t>
            </a:r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0"/>
          </p:nvPr>
        </p:nvSpPr>
        <p:spPr>
          <a:xfrm>
            <a:off x="611188" y="3285232"/>
            <a:ext cx="7921625" cy="2015976"/>
          </a:xfrm>
        </p:spPr>
        <p:txBody>
          <a:bodyPr/>
          <a:lstStyle/>
          <a:p>
            <a:r>
              <a:rPr lang="en-US" dirty="0"/>
              <a:t>Ing. Ondřej Ševeček | GOPAS a.s. |</a:t>
            </a:r>
          </a:p>
          <a:p>
            <a:r>
              <a:rPr lang="en-US" sz="1600" dirty="0"/>
              <a:t>MCSM:Directory2012 | MCM:Directory2008 | </a:t>
            </a:r>
            <a:r>
              <a:rPr lang="en-US" sz="1600" dirty="0" err="1"/>
              <a:t>MVP:Enterprise</a:t>
            </a:r>
            <a:r>
              <a:rPr lang="en-US" sz="1600" dirty="0"/>
              <a:t> Security | </a:t>
            </a:r>
            <a:r>
              <a:rPr lang="cs-CZ" sz="1600" dirty="0"/>
              <a:t>CEH: </a:t>
            </a:r>
            <a:r>
              <a:rPr lang="en-US" sz="1600" dirty="0"/>
              <a:t>Certified Ethical Hacker |</a:t>
            </a:r>
            <a:r>
              <a:rPr lang="cs-CZ" sz="1600" dirty="0"/>
              <a:t> CHFI: </a:t>
            </a:r>
            <a:r>
              <a:rPr lang="cs-CZ" sz="1600" dirty="0" err="1"/>
              <a:t>Computer</a:t>
            </a:r>
            <a:r>
              <a:rPr lang="cs-CZ" sz="1600" dirty="0"/>
              <a:t> </a:t>
            </a:r>
            <a:r>
              <a:rPr lang="cs-CZ" sz="1600" dirty="0" err="1"/>
              <a:t>Hacking</a:t>
            </a:r>
            <a:r>
              <a:rPr lang="cs-CZ" sz="1600" dirty="0"/>
              <a:t> </a:t>
            </a:r>
            <a:r>
              <a:rPr lang="cs-CZ" sz="1600" dirty="0" err="1"/>
              <a:t>Forensic</a:t>
            </a:r>
            <a:r>
              <a:rPr lang="cs-CZ" sz="1600" dirty="0"/>
              <a:t> </a:t>
            </a:r>
            <a:r>
              <a:rPr lang="cs-CZ" sz="1600" dirty="0" err="1"/>
              <a:t>Investigator</a:t>
            </a:r>
            <a:r>
              <a:rPr lang="cs-CZ" sz="1600" dirty="0"/>
              <a:t> </a:t>
            </a:r>
            <a:r>
              <a:rPr lang="en-US" sz="1600" dirty="0"/>
              <a:t>| CISA |</a:t>
            </a:r>
          </a:p>
          <a:p>
            <a:r>
              <a:rPr lang="en-US" dirty="0"/>
              <a:t>ondrej@sevecek.com | www.sevecek.com |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81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Trusts</a:t>
            </a:r>
            <a:endParaRPr lang="cs-CZ" dirty="0">
              <a:solidFill>
                <a:schemeClr val="accent1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8169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2" name="Arrow: Left 31">
            <a:extLst>
              <a:ext uri="{FF2B5EF4-FFF2-40B4-BE49-F238E27FC236}">
                <a16:creationId xmlns:a16="http://schemas.microsoft.com/office/drawing/2014/main" id="{D8FCAA67-4DB1-FA4C-CEFB-EA8921EFCE39}"/>
              </a:ext>
            </a:extLst>
          </p:cNvPr>
          <p:cNvSpPr/>
          <p:nvPr/>
        </p:nvSpPr>
        <p:spPr>
          <a:xfrm rot="21099812">
            <a:off x="3699587" y="5482039"/>
            <a:ext cx="2866463" cy="324036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B93AF8-07AE-C219-3A2A-D7760C8E8532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1FA07A-7E1C-2DE9-7A6B-EA62EACE76C1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</p:spTree>
    <p:extLst>
      <p:ext uri="{BB962C8B-B14F-4D97-AF65-F5344CB8AC3E}">
        <p14:creationId xmlns:p14="http://schemas.microsoft.com/office/powerpoint/2010/main" val="282830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07E7E6C-526D-A5C3-9169-38C5F5B614FA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DB5260-3660-EAF9-FA3F-2B7D18871672}"/>
              </a:ext>
            </a:extLst>
          </p:cNvPr>
          <p:cNvSpPr/>
          <p:nvPr/>
        </p:nvSpPr>
        <p:spPr>
          <a:xfrm>
            <a:off x="457200" y="3663803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DE-SRV$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8BF807-6077-2177-05E4-8D91A9A1670B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8D6F11-1254-B9C4-8F20-FE355A7389EE}"/>
              </a:ext>
            </a:extLst>
          </p:cNvPr>
          <p:cNvSpPr/>
          <p:nvPr/>
        </p:nvSpPr>
        <p:spPr>
          <a:xfrm>
            <a:off x="871447" y="3044562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svc-</a:t>
            </a:r>
            <a:r>
              <a:rPr lang="en-US" sz="1000" dirty="0" err="1"/>
              <a:t>iis</a:t>
            </a:r>
            <a:r>
              <a:rPr lang="en-US" sz="1000" dirty="0"/>
              <a:t>-</a:t>
            </a:r>
            <a:r>
              <a:rPr lang="en-US" sz="1000" dirty="0" err="1"/>
              <a:t>auftrage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1668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DB5260-3660-EAF9-FA3F-2B7D18871672}"/>
              </a:ext>
            </a:extLst>
          </p:cNvPr>
          <p:cNvSpPr/>
          <p:nvPr/>
        </p:nvSpPr>
        <p:spPr>
          <a:xfrm>
            <a:off x="457200" y="3663803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DE-SRV$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66CF76-D33B-6892-D051-AC88CC7E7B49}"/>
              </a:ext>
            </a:extLst>
          </p:cNvPr>
          <p:cNvSpPr/>
          <p:nvPr/>
        </p:nvSpPr>
        <p:spPr>
          <a:xfrm>
            <a:off x="6236043" y="1438612"/>
            <a:ext cx="1064402" cy="56712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GPS$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A03B82-B539-EEED-B9FF-BEBFF3E48CDB}"/>
              </a:ext>
            </a:extLst>
          </p:cNvPr>
          <p:cNvSpPr/>
          <p:nvPr/>
        </p:nvSpPr>
        <p:spPr>
          <a:xfrm>
            <a:off x="2599639" y="1727489"/>
            <a:ext cx="1064402" cy="5671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DE$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7CD6337-F187-6C0A-7897-5F13E2E3B846}"/>
              </a:ext>
            </a:extLst>
          </p:cNvPr>
          <p:cNvSpPr/>
          <p:nvPr/>
        </p:nvSpPr>
        <p:spPr>
          <a:xfrm>
            <a:off x="871447" y="3044562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svc-</a:t>
            </a:r>
            <a:r>
              <a:rPr lang="en-US" sz="1000" dirty="0" err="1"/>
              <a:t>iis</a:t>
            </a:r>
            <a:r>
              <a:rPr lang="en-US" sz="1000" dirty="0"/>
              <a:t>-</a:t>
            </a:r>
            <a:r>
              <a:rPr lang="en-US" sz="1000" dirty="0" err="1"/>
              <a:t>auftrage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BE0BF-A6B8-4DC5-371B-EAD66D51C3D3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9B1D9-DACF-5C18-6B70-68950F4978A0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</p:spTree>
    <p:extLst>
      <p:ext uri="{BB962C8B-B14F-4D97-AF65-F5344CB8AC3E}">
        <p14:creationId xmlns:p14="http://schemas.microsoft.com/office/powerpoint/2010/main" val="358326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07E7E6C-526D-A5C3-9169-38C5F5B614FA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DB5260-3660-EAF9-FA3F-2B7D18871672}"/>
              </a:ext>
            </a:extLst>
          </p:cNvPr>
          <p:cNvSpPr/>
          <p:nvPr/>
        </p:nvSpPr>
        <p:spPr>
          <a:xfrm>
            <a:off x="457200" y="3663803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DE-SRV$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8BF807-6077-2177-05E4-8D91A9A1670B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8D6F11-1254-B9C4-8F20-FE355A7389EE}"/>
              </a:ext>
            </a:extLst>
          </p:cNvPr>
          <p:cNvSpPr/>
          <p:nvPr/>
        </p:nvSpPr>
        <p:spPr>
          <a:xfrm>
            <a:off x="871447" y="3044562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svc-</a:t>
            </a:r>
            <a:r>
              <a:rPr lang="en-US" sz="1000" dirty="0" err="1"/>
              <a:t>iis</a:t>
            </a:r>
            <a:r>
              <a:rPr lang="en-US" sz="1000" dirty="0"/>
              <a:t>-</a:t>
            </a:r>
            <a:r>
              <a:rPr lang="en-US" sz="1000" dirty="0" err="1"/>
              <a:t>auftrage</a:t>
            </a:r>
            <a:endParaRPr lang="en-US" sz="1000" dirty="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2D58DFFF-0D95-8E9F-50A7-9C02013A7B50}"/>
              </a:ext>
            </a:extLst>
          </p:cNvPr>
          <p:cNvSpPr/>
          <p:nvPr/>
        </p:nvSpPr>
        <p:spPr>
          <a:xfrm>
            <a:off x="7866366" y="2497448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5F02BBC3-F328-8549-8E1E-F7C1DE956708}"/>
              </a:ext>
            </a:extLst>
          </p:cNvPr>
          <p:cNvSpPr/>
          <p:nvPr/>
        </p:nvSpPr>
        <p:spPr>
          <a:xfrm>
            <a:off x="173060" y="2822054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</p:spTree>
    <p:extLst>
      <p:ext uri="{BB962C8B-B14F-4D97-AF65-F5344CB8AC3E}">
        <p14:creationId xmlns:p14="http://schemas.microsoft.com/office/powerpoint/2010/main" val="341785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DB5260-3660-EAF9-FA3F-2B7D18871672}"/>
              </a:ext>
            </a:extLst>
          </p:cNvPr>
          <p:cNvSpPr/>
          <p:nvPr/>
        </p:nvSpPr>
        <p:spPr>
          <a:xfrm>
            <a:off x="457200" y="3663803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DE-SRV$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66CF76-D33B-6892-D051-AC88CC7E7B49}"/>
              </a:ext>
            </a:extLst>
          </p:cNvPr>
          <p:cNvSpPr/>
          <p:nvPr/>
        </p:nvSpPr>
        <p:spPr>
          <a:xfrm>
            <a:off x="6236043" y="1438612"/>
            <a:ext cx="1064402" cy="56712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GPS$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A03B82-B539-EEED-B9FF-BEBFF3E48CDB}"/>
              </a:ext>
            </a:extLst>
          </p:cNvPr>
          <p:cNvSpPr/>
          <p:nvPr/>
        </p:nvSpPr>
        <p:spPr>
          <a:xfrm>
            <a:off x="2599639" y="1727489"/>
            <a:ext cx="1064402" cy="5671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DE$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7CD6337-F187-6C0A-7897-5F13E2E3B846}"/>
              </a:ext>
            </a:extLst>
          </p:cNvPr>
          <p:cNvSpPr/>
          <p:nvPr/>
        </p:nvSpPr>
        <p:spPr>
          <a:xfrm>
            <a:off x="871447" y="3044562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svc-</a:t>
            </a:r>
            <a:r>
              <a:rPr lang="en-US" sz="1000" dirty="0" err="1"/>
              <a:t>iis</a:t>
            </a:r>
            <a:r>
              <a:rPr lang="en-US" sz="1000" dirty="0"/>
              <a:t>-</a:t>
            </a:r>
            <a:r>
              <a:rPr lang="en-US" sz="1000" dirty="0" err="1"/>
              <a:t>auftrage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BE0BF-A6B8-4DC5-371B-EAD66D51C3D3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9B1D9-DACF-5C18-6B70-68950F4978A0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8113C6C-E709-B5CD-5EF2-958CF0A3B2C8}"/>
              </a:ext>
            </a:extLst>
          </p:cNvPr>
          <p:cNvSpPr/>
          <p:nvPr/>
        </p:nvSpPr>
        <p:spPr>
          <a:xfrm>
            <a:off x="7866366" y="2497448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7C8A72AB-5F82-8B69-D1C0-D83950E89AEA}"/>
              </a:ext>
            </a:extLst>
          </p:cNvPr>
          <p:cNvSpPr/>
          <p:nvPr/>
        </p:nvSpPr>
        <p:spPr>
          <a:xfrm>
            <a:off x="173060" y="2822054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</p:spTree>
    <p:extLst>
      <p:ext uri="{BB962C8B-B14F-4D97-AF65-F5344CB8AC3E}">
        <p14:creationId xmlns:p14="http://schemas.microsoft.com/office/powerpoint/2010/main" val="191436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DB5260-3660-EAF9-FA3F-2B7D18871672}"/>
              </a:ext>
            </a:extLst>
          </p:cNvPr>
          <p:cNvSpPr/>
          <p:nvPr/>
        </p:nvSpPr>
        <p:spPr>
          <a:xfrm>
            <a:off x="457200" y="3663803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DE-SRV$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66CF76-D33B-6892-D051-AC88CC7E7B49}"/>
              </a:ext>
            </a:extLst>
          </p:cNvPr>
          <p:cNvSpPr/>
          <p:nvPr/>
        </p:nvSpPr>
        <p:spPr>
          <a:xfrm>
            <a:off x="6236043" y="1438612"/>
            <a:ext cx="1064402" cy="56712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GPS$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A03B82-B539-EEED-B9FF-BEBFF3E48CDB}"/>
              </a:ext>
            </a:extLst>
          </p:cNvPr>
          <p:cNvSpPr/>
          <p:nvPr/>
        </p:nvSpPr>
        <p:spPr>
          <a:xfrm>
            <a:off x="2599639" y="1727489"/>
            <a:ext cx="1064402" cy="5671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DE$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7CD6337-F187-6C0A-7897-5F13E2E3B846}"/>
              </a:ext>
            </a:extLst>
          </p:cNvPr>
          <p:cNvSpPr/>
          <p:nvPr/>
        </p:nvSpPr>
        <p:spPr>
          <a:xfrm>
            <a:off x="871447" y="3044562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svc-</a:t>
            </a:r>
            <a:r>
              <a:rPr lang="en-US" sz="1000" dirty="0" err="1"/>
              <a:t>iis</a:t>
            </a:r>
            <a:r>
              <a:rPr lang="en-US" sz="1000" dirty="0"/>
              <a:t>-</a:t>
            </a:r>
            <a:r>
              <a:rPr lang="en-US" sz="1000" dirty="0" err="1"/>
              <a:t>auftrage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BE0BF-A6B8-4DC5-371B-EAD66D51C3D3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9B1D9-DACF-5C18-6B70-68950F4978A0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CB06572F-242A-C392-6E24-BCDCFEB0CBBB}"/>
              </a:ext>
            </a:extLst>
          </p:cNvPr>
          <p:cNvSpPr/>
          <p:nvPr/>
        </p:nvSpPr>
        <p:spPr>
          <a:xfrm>
            <a:off x="7866366" y="2497448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ABFB3F83-CEA3-B2EC-B35D-4D4E6C3B350E}"/>
              </a:ext>
            </a:extLst>
          </p:cNvPr>
          <p:cNvSpPr/>
          <p:nvPr/>
        </p:nvSpPr>
        <p:spPr>
          <a:xfrm>
            <a:off x="173060" y="2822054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06E2907-B2DF-7C99-EF55-D8B59979BAC4}"/>
              </a:ext>
            </a:extLst>
          </p:cNvPr>
          <p:cNvSpPr/>
          <p:nvPr/>
        </p:nvSpPr>
        <p:spPr>
          <a:xfrm>
            <a:off x="5703429" y="777622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41A6954B-CC81-EF85-E98A-FE36558CE58F}"/>
              </a:ext>
            </a:extLst>
          </p:cNvPr>
          <p:cNvSpPr/>
          <p:nvPr/>
        </p:nvSpPr>
        <p:spPr>
          <a:xfrm>
            <a:off x="2089355" y="1051436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</p:spTree>
    <p:extLst>
      <p:ext uri="{BB962C8B-B14F-4D97-AF65-F5344CB8AC3E}">
        <p14:creationId xmlns:p14="http://schemas.microsoft.com/office/powerpoint/2010/main" val="1055607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84280-B703-0CDE-9D50-D737AA936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D82941-D6EB-03C6-341C-186DD877F143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9B57A75-5E47-A4D2-C00D-AE5940420FB0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8BF53BF-838D-A3D2-208C-E33E314D63BA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6D983FE-6739-6C36-D0FF-B29BEA6EA252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A358C1D-23ED-D814-37EC-7777A9BF6DF6}"/>
              </a:ext>
            </a:extLst>
          </p:cNvPr>
          <p:cNvSpPr/>
          <p:nvPr/>
        </p:nvSpPr>
        <p:spPr>
          <a:xfrm rot="11576320">
            <a:off x="1771277" y="4182939"/>
            <a:ext cx="5996639" cy="43204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8588B26-D8A3-84DA-2999-5777FDA218AA}"/>
              </a:ext>
            </a:extLst>
          </p:cNvPr>
          <p:cNvSpPr/>
          <p:nvPr/>
        </p:nvSpPr>
        <p:spPr>
          <a:xfrm rot="13072495">
            <a:off x="3420138" y="3376581"/>
            <a:ext cx="4803450" cy="43204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A03F15A-96F9-1C26-9967-5608577FC1D6}"/>
              </a:ext>
            </a:extLst>
          </p:cNvPr>
          <p:cNvSpPr/>
          <p:nvPr/>
        </p:nvSpPr>
        <p:spPr>
          <a:xfrm rot="14914014">
            <a:off x="5666791" y="3493672"/>
            <a:ext cx="3048792" cy="43204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462B6F-0E27-4726-95E6-191B4DB5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23D834-E83B-AF99-D120-C911AD12E7F8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D71E39-3761-7FEB-83DA-7F640A324B1F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7AD72A0-D42A-14CC-90F0-1DA9479B033F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404FCA-3118-BD8F-322A-2D2EFEC0DDA2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E9CD9E-6D40-EF43-87A8-C9111F0822DB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51B339-90C0-B378-210B-377ADB6B54AC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6BF6BD79-2A10-56FC-D3F6-E13DC6960C1E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E8A5889-39F7-AA07-D9F7-3B4BC06F6FB2}"/>
              </a:ext>
            </a:extLst>
          </p:cNvPr>
          <p:cNvSpPr/>
          <p:nvPr/>
        </p:nvSpPr>
        <p:spPr>
          <a:xfrm>
            <a:off x="457200" y="3663803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DE-SRV$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A39867-84AB-5277-38B7-E8AC50D81C40}"/>
              </a:ext>
            </a:extLst>
          </p:cNvPr>
          <p:cNvSpPr/>
          <p:nvPr/>
        </p:nvSpPr>
        <p:spPr>
          <a:xfrm>
            <a:off x="6236043" y="1438612"/>
            <a:ext cx="1064402" cy="56712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GPS$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AABE1C1-94A3-C5BA-9613-A8D6B296C84D}"/>
              </a:ext>
            </a:extLst>
          </p:cNvPr>
          <p:cNvSpPr/>
          <p:nvPr/>
        </p:nvSpPr>
        <p:spPr>
          <a:xfrm>
            <a:off x="2599639" y="1727489"/>
            <a:ext cx="1064402" cy="5671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DE$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C61E4DA-3121-CA34-F934-57FEE546EAAF}"/>
              </a:ext>
            </a:extLst>
          </p:cNvPr>
          <p:cNvSpPr/>
          <p:nvPr/>
        </p:nvSpPr>
        <p:spPr>
          <a:xfrm>
            <a:off x="871447" y="3044562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svc-</a:t>
            </a:r>
            <a:r>
              <a:rPr lang="en-US" sz="1000" dirty="0" err="1"/>
              <a:t>iis</a:t>
            </a:r>
            <a:r>
              <a:rPr lang="en-US" sz="1000" dirty="0"/>
              <a:t>-</a:t>
            </a:r>
            <a:r>
              <a:rPr lang="en-US" sz="1000" dirty="0" err="1"/>
              <a:t>auftrage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4328E1-28AE-A7C8-F7E7-052746914037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7A3D74-3780-43E5-E822-0246B912E33E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076EEA23-A052-7453-66D7-45869D17A206}"/>
              </a:ext>
            </a:extLst>
          </p:cNvPr>
          <p:cNvSpPr/>
          <p:nvPr/>
        </p:nvSpPr>
        <p:spPr>
          <a:xfrm>
            <a:off x="7866366" y="2497448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0F49034D-89FC-ACB0-BB72-B84AF83C7038}"/>
              </a:ext>
            </a:extLst>
          </p:cNvPr>
          <p:cNvSpPr/>
          <p:nvPr/>
        </p:nvSpPr>
        <p:spPr>
          <a:xfrm>
            <a:off x="173060" y="2822054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712863D8-527C-2AD0-D78D-E107CBDA7CB5}"/>
              </a:ext>
            </a:extLst>
          </p:cNvPr>
          <p:cNvSpPr/>
          <p:nvPr/>
        </p:nvSpPr>
        <p:spPr>
          <a:xfrm>
            <a:off x="5703429" y="777622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CE52A15C-90BE-6A87-CC1F-48AB31F098AC}"/>
              </a:ext>
            </a:extLst>
          </p:cNvPr>
          <p:cNvSpPr/>
          <p:nvPr/>
        </p:nvSpPr>
        <p:spPr>
          <a:xfrm>
            <a:off x="2089355" y="1051436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D59CC1A-88B4-E9A7-B507-0F11333BCC0E}"/>
              </a:ext>
            </a:extLst>
          </p:cNvPr>
          <p:cNvSpPr/>
          <p:nvPr/>
        </p:nvSpPr>
        <p:spPr>
          <a:xfrm rot="16200000">
            <a:off x="6686962" y="3849876"/>
            <a:ext cx="2110578" cy="43204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46F089-E295-74AB-54A2-DAC95CD55E3B}"/>
              </a:ext>
            </a:extLst>
          </p:cNvPr>
          <p:cNvSpPr/>
          <p:nvPr/>
        </p:nvSpPr>
        <p:spPr>
          <a:xfrm>
            <a:off x="7754955" y="3861048"/>
            <a:ext cx="1201096" cy="84174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dns</a:t>
            </a:r>
            <a:endParaRPr lang="en-US" sz="1400" dirty="0"/>
          </a:p>
          <a:p>
            <a:pPr algn="ctr"/>
            <a:r>
              <a:rPr lang="en-US" sz="1400" dirty="0" err="1"/>
              <a:t>udp</a:t>
            </a:r>
            <a:r>
              <a:rPr lang="en-US" sz="1400" dirty="0"/>
              <a:t> 389</a:t>
            </a:r>
          </a:p>
          <a:p>
            <a:pPr algn="ctr"/>
            <a:r>
              <a:rPr lang="en-US" sz="1400" dirty="0" err="1"/>
              <a:t>tcp</a:t>
            </a:r>
            <a:r>
              <a:rPr lang="en-US" sz="1400" dirty="0"/>
              <a:t> 88</a:t>
            </a:r>
          </a:p>
        </p:txBody>
      </p:sp>
    </p:spTree>
    <p:extLst>
      <p:ext uri="{BB962C8B-B14F-4D97-AF65-F5344CB8AC3E}">
        <p14:creationId xmlns:p14="http://schemas.microsoft.com/office/powerpoint/2010/main" val="248361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BE0BF-A6B8-4DC5-371B-EAD66D51C3D3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9B1D9-DACF-5C18-6B70-68950F4978A0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CB06572F-242A-C392-6E24-BCDCFEB0CBBB}"/>
              </a:ext>
            </a:extLst>
          </p:cNvPr>
          <p:cNvSpPr/>
          <p:nvPr/>
        </p:nvSpPr>
        <p:spPr>
          <a:xfrm>
            <a:off x="7866366" y="2497448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3A7024-55DD-2ACE-BEF4-F2E1EA9D357F}"/>
              </a:ext>
            </a:extLst>
          </p:cNvPr>
          <p:cNvSpPr/>
          <p:nvPr/>
        </p:nvSpPr>
        <p:spPr>
          <a:xfrm>
            <a:off x="3470746" y="3849691"/>
            <a:ext cx="900100" cy="3240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92663B-2DB4-AA7E-2676-956DAB8DB9E6}"/>
              </a:ext>
            </a:extLst>
          </p:cNvPr>
          <p:cNvSpPr/>
          <p:nvPr/>
        </p:nvSpPr>
        <p:spPr>
          <a:xfrm>
            <a:off x="4428854" y="3849691"/>
            <a:ext cx="764228" cy="3240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FB5BE2-3012-2288-241E-DCE554D9357D}"/>
              </a:ext>
            </a:extLst>
          </p:cNvPr>
          <p:cNvSpPr/>
          <p:nvPr/>
        </p:nvSpPr>
        <p:spPr>
          <a:xfrm>
            <a:off x="5247931" y="3849691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53CCA4-9BE3-BA42-E70B-0301CC868AA9}"/>
              </a:ext>
            </a:extLst>
          </p:cNvPr>
          <p:cNvSpPr/>
          <p:nvPr/>
        </p:nvSpPr>
        <p:spPr>
          <a:xfrm>
            <a:off x="6063562" y="3849691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</p:spTree>
    <p:extLst>
      <p:ext uri="{BB962C8B-B14F-4D97-AF65-F5344CB8AC3E}">
        <p14:creationId xmlns:p14="http://schemas.microsoft.com/office/powerpoint/2010/main" val="1071075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66CF76-D33B-6892-D051-AC88CC7E7B49}"/>
              </a:ext>
            </a:extLst>
          </p:cNvPr>
          <p:cNvSpPr/>
          <p:nvPr/>
        </p:nvSpPr>
        <p:spPr>
          <a:xfrm>
            <a:off x="6236043" y="1438612"/>
            <a:ext cx="1064402" cy="56712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GPS$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BE0BF-A6B8-4DC5-371B-EAD66D51C3D3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9B1D9-DACF-5C18-6B70-68950F4978A0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CB06572F-242A-C392-6E24-BCDCFEB0CBBB}"/>
              </a:ext>
            </a:extLst>
          </p:cNvPr>
          <p:cNvSpPr/>
          <p:nvPr/>
        </p:nvSpPr>
        <p:spPr>
          <a:xfrm>
            <a:off x="7866366" y="2497448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06E2907-B2DF-7C99-EF55-D8B59979BAC4}"/>
              </a:ext>
            </a:extLst>
          </p:cNvPr>
          <p:cNvSpPr/>
          <p:nvPr/>
        </p:nvSpPr>
        <p:spPr>
          <a:xfrm>
            <a:off x="5703429" y="777622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3A7024-55DD-2ACE-BEF4-F2E1EA9D357F}"/>
              </a:ext>
            </a:extLst>
          </p:cNvPr>
          <p:cNvSpPr/>
          <p:nvPr/>
        </p:nvSpPr>
        <p:spPr>
          <a:xfrm>
            <a:off x="3470746" y="3849691"/>
            <a:ext cx="900100" cy="3240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92663B-2DB4-AA7E-2676-956DAB8DB9E6}"/>
              </a:ext>
            </a:extLst>
          </p:cNvPr>
          <p:cNvSpPr/>
          <p:nvPr/>
        </p:nvSpPr>
        <p:spPr>
          <a:xfrm>
            <a:off x="4428854" y="3849691"/>
            <a:ext cx="764228" cy="3240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FB5BE2-3012-2288-241E-DCE554D9357D}"/>
              </a:ext>
            </a:extLst>
          </p:cNvPr>
          <p:cNvSpPr/>
          <p:nvPr/>
        </p:nvSpPr>
        <p:spPr>
          <a:xfrm>
            <a:off x="5247931" y="3849691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53CCA4-9BE3-BA42-E70B-0301CC868AA9}"/>
              </a:ext>
            </a:extLst>
          </p:cNvPr>
          <p:cNvSpPr/>
          <p:nvPr/>
        </p:nvSpPr>
        <p:spPr>
          <a:xfrm>
            <a:off x="6063562" y="3849691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C344F4-0155-1CC4-6335-74C0B33A7C75}"/>
              </a:ext>
            </a:extLst>
          </p:cNvPr>
          <p:cNvSpPr/>
          <p:nvPr/>
        </p:nvSpPr>
        <p:spPr>
          <a:xfrm>
            <a:off x="3470746" y="4237665"/>
            <a:ext cx="900100" cy="3240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E43268-C755-51A1-E5E3-8B5B3E2C6001}"/>
              </a:ext>
            </a:extLst>
          </p:cNvPr>
          <p:cNvSpPr/>
          <p:nvPr/>
        </p:nvSpPr>
        <p:spPr>
          <a:xfrm>
            <a:off x="4428854" y="4237665"/>
            <a:ext cx="764228" cy="3240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44B25F-9F8A-7A5D-8EC4-D715BC4B2834}"/>
              </a:ext>
            </a:extLst>
          </p:cNvPr>
          <p:cNvSpPr/>
          <p:nvPr/>
        </p:nvSpPr>
        <p:spPr>
          <a:xfrm>
            <a:off x="5247931" y="4237665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A0959A-5D68-6EC8-5263-CB2B82187F31}"/>
              </a:ext>
            </a:extLst>
          </p:cNvPr>
          <p:cNvSpPr/>
          <p:nvPr/>
        </p:nvSpPr>
        <p:spPr>
          <a:xfrm>
            <a:off x="6063562" y="4237665"/>
            <a:ext cx="764229" cy="3240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</a:t>
            </a:r>
          </a:p>
        </p:txBody>
      </p:sp>
    </p:spTree>
    <p:extLst>
      <p:ext uri="{BB962C8B-B14F-4D97-AF65-F5344CB8AC3E}">
        <p14:creationId xmlns:p14="http://schemas.microsoft.com/office/powerpoint/2010/main" val="332056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66CF76-D33B-6892-D051-AC88CC7E7B49}"/>
              </a:ext>
            </a:extLst>
          </p:cNvPr>
          <p:cNvSpPr/>
          <p:nvPr/>
        </p:nvSpPr>
        <p:spPr>
          <a:xfrm>
            <a:off x="6236043" y="1438612"/>
            <a:ext cx="1064402" cy="56712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GPS$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A03B82-B539-EEED-B9FF-BEBFF3E48CDB}"/>
              </a:ext>
            </a:extLst>
          </p:cNvPr>
          <p:cNvSpPr/>
          <p:nvPr/>
        </p:nvSpPr>
        <p:spPr>
          <a:xfrm>
            <a:off x="2599639" y="1727489"/>
            <a:ext cx="1064402" cy="5671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DE$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BE0BF-A6B8-4DC5-371B-EAD66D51C3D3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9B1D9-DACF-5C18-6B70-68950F4978A0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CB06572F-242A-C392-6E24-BCDCFEB0CBBB}"/>
              </a:ext>
            </a:extLst>
          </p:cNvPr>
          <p:cNvSpPr/>
          <p:nvPr/>
        </p:nvSpPr>
        <p:spPr>
          <a:xfrm>
            <a:off x="7866366" y="2497448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06E2907-B2DF-7C99-EF55-D8B59979BAC4}"/>
              </a:ext>
            </a:extLst>
          </p:cNvPr>
          <p:cNvSpPr/>
          <p:nvPr/>
        </p:nvSpPr>
        <p:spPr>
          <a:xfrm>
            <a:off x="5703429" y="777622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41A6954B-CC81-EF85-E98A-FE36558CE58F}"/>
              </a:ext>
            </a:extLst>
          </p:cNvPr>
          <p:cNvSpPr/>
          <p:nvPr/>
        </p:nvSpPr>
        <p:spPr>
          <a:xfrm>
            <a:off x="2089355" y="1051436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3A7024-55DD-2ACE-BEF4-F2E1EA9D357F}"/>
              </a:ext>
            </a:extLst>
          </p:cNvPr>
          <p:cNvSpPr/>
          <p:nvPr/>
        </p:nvSpPr>
        <p:spPr>
          <a:xfrm>
            <a:off x="3470746" y="3849691"/>
            <a:ext cx="900100" cy="3240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92663B-2DB4-AA7E-2676-956DAB8DB9E6}"/>
              </a:ext>
            </a:extLst>
          </p:cNvPr>
          <p:cNvSpPr/>
          <p:nvPr/>
        </p:nvSpPr>
        <p:spPr>
          <a:xfrm>
            <a:off x="4428854" y="3849691"/>
            <a:ext cx="764228" cy="3240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FB5BE2-3012-2288-241E-DCE554D9357D}"/>
              </a:ext>
            </a:extLst>
          </p:cNvPr>
          <p:cNvSpPr/>
          <p:nvPr/>
        </p:nvSpPr>
        <p:spPr>
          <a:xfrm>
            <a:off x="5247931" y="3849691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53CCA4-9BE3-BA42-E70B-0301CC868AA9}"/>
              </a:ext>
            </a:extLst>
          </p:cNvPr>
          <p:cNvSpPr/>
          <p:nvPr/>
        </p:nvSpPr>
        <p:spPr>
          <a:xfrm>
            <a:off x="6063562" y="3849691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C344F4-0155-1CC4-6335-74C0B33A7C75}"/>
              </a:ext>
            </a:extLst>
          </p:cNvPr>
          <p:cNvSpPr/>
          <p:nvPr/>
        </p:nvSpPr>
        <p:spPr>
          <a:xfrm>
            <a:off x="3470746" y="4237665"/>
            <a:ext cx="900100" cy="3240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E43268-C755-51A1-E5E3-8B5B3E2C6001}"/>
              </a:ext>
            </a:extLst>
          </p:cNvPr>
          <p:cNvSpPr/>
          <p:nvPr/>
        </p:nvSpPr>
        <p:spPr>
          <a:xfrm>
            <a:off x="4428854" y="4237665"/>
            <a:ext cx="764228" cy="3240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44B25F-9F8A-7A5D-8EC4-D715BC4B2834}"/>
              </a:ext>
            </a:extLst>
          </p:cNvPr>
          <p:cNvSpPr/>
          <p:nvPr/>
        </p:nvSpPr>
        <p:spPr>
          <a:xfrm>
            <a:off x="5247931" y="4237665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A0959A-5D68-6EC8-5263-CB2B82187F31}"/>
              </a:ext>
            </a:extLst>
          </p:cNvPr>
          <p:cNvSpPr/>
          <p:nvPr/>
        </p:nvSpPr>
        <p:spPr>
          <a:xfrm>
            <a:off x="6063562" y="4237665"/>
            <a:ext cx="764229" cy="3240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A5AD72-A665-DC1E-9E68-690EB5B17C42}"/>
              </a:ext>
            </a:extLst>
          </p:cNvPr>
          <p:cNvSpPr/>
          <p:nvPr/>
        </p:nvSpPr>
        <p:spPr>
          <a:xfrm>
            <a:off x="3468337" y="4625639"/>
            <a:ext cx="900100" cy="3240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A832F2-57E4-7971-C790-87B644489EBE}"/>
              </a:ext>
            </a:extLst>
          </p:cNvPr>
          <p:cNvSpPr/>
          <p:nvPr/>
        </p:nvSpPr>
        <p:spPr>
          <a:xfrm>
            <a:off x="4426445" y="4625639"/>
            <a:ext cx="764228" cy="3240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C2DA26-99DC-C445-7056-F456D0EFBF56}"/>
              </a:ext>
            </a:extLst>
          </p:cNvPr>
          <p:cNvSpPr/>
          <p:nvPr/>
        </p:nvSpPr>
        <p:spPr>
          <a:xfrm>
            <a:off x="5245522" y="4625639"/>
            <a:ext cx="764229" cy="3240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E40573-C063-8979-5F0A-EC99FE3773DC}"/>
              </a:ext>
            </a:extLst>
          </p:cNvPr>
          <p:cNvSpPr/>
          <p:nvPr/>
        </p:nvSpPr>
        <p:spPr>
          <a:xfrm>
            <a:off x="6061153" y="4625639"/>
            <a:ext cx="764229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</a:t>
            </a:r>
          </a:p>
        </p:txBody>
      </p:sp>
    </p:spTree>
    <p:extLst>
      <p:ext uri="{BB962C8B-B14F-4D97-AF65-F5344CB8AC3E}">
        <p14:creationId xmlns:p14="http://schemas.microsoft.com/office/powerpoint/2010/main" val="41594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A267EA4-81BB-2E38-67D0-1BA3E897ECA6}"/>
              </a:ext>
            </a:extLst>
          </p:cNvPr>
          <p:cNvSpPr/>
          <p:nvPr/>
        </p:nvSpPr>
        <p:spPr>
          <a:xfrm>
            <a:off x="3563888" y="5085184"/>
            <a:ext cx="900100" cy="3240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1CBC52-0645-DB0D-4B08-A342037BC69C}"/>
              </a:ext>
            </a:extLst>
          </p:cNvPr>
          <p:cNvSpPr/>
          <p:nvPr/>
        </p:nvSpPr>
        <p:spPr>
          <a:xfrm>
            <a:off x="4521996" y="5085184"/>
            <a:ext cx="764228" cy="3240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1165891-2F51-685E-2787-B7D4752D91EB}"/>
              </a:ext>
            </a:extLst>
          </p:cNvPr>
          <p:cNvSpPr/>
          <p:nvPr/>
        </p:nvSpPr>
        <p:spPr>
          <a:xfrm>
            <a:off x="5341073" y="5085184"/>
            <a:ext cx="764229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2DCAB5-C1EC-E61F-D212-0423E68E7C11}"/>
              </a:ext>
            </a:extLst>
          </p:cNvPr>
          <p:cNvSpPr/>
          <p:nvPr/>
        </p:nvSpPr>
        <p:spPr>
          <a:xfrm>
            <a:off x="6156704" y="5085184"/>
            <a:ext cx="764229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B24256-B60A-E828-5538-8A8D4BB3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/>
          <a:lstStyle/>
          <a:p>
            <a:r>
              <a:rPr lang="cs-CZ" dirty="0"/>
              <a:t>Forest trusts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672A8A4-050C-5FA1-0DE6-C67E80FB6726}"/>
              </a:ext>
            </a:extLst>
          </p:cNvPr>
          <p:cNvSpPr/>
          <p:nvPr/>
        </p:nvSpPr>
        <p:spPr>
          <a:xfrm>
            <a:off x="2483768" y="620688"/>
            <a:ext cx="2448272" cy="211057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GPS</a:t>
            </a:r>
            <a:br>
              <a:rPr lang="cs-CZ" sz="1000" dirty="0"/>
            </a:br>
            <a:r>
              <a:rPr lang="cs-CZ" sz="1000" dirty="0"/>
              <a:t>gopas.virtual</a:t>
            </a:r>
            <a:endParaRPr lang="en-US" sz="1000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8F21049-ACF5-D2B8-3D48-8382D5CFE03F}"/>
              </a:ext>
            </a:extLst>
          </p:cNvPr>
          <p:cNvSpPr/>
          <p:nvPr/>
        </p:nvSpPr>
        <p:spPr>
          <a:xfrm>
            <a:off x="683568" y="2492896"/>
            <a:ext cx="2448272" cy="2110579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</a:t>
            </a:r>
            <a:br>
              <a:rPr lang="cs-CZ" sz="1000" dirty="0"/>
            </a:br>
            <a:r>
              <a:rPr lang="cs-CZ" sz="1000" dirty="0"/>
              <a:t>de.gopas.virtual</a:t>
            </a:r>
            <a:endParaRPr lang="en-US" sz="10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901FF7-6214-7215-CB28-D4D2CE4561DD}"/>
              </a:ext>
            </a:extLst>
          </p:cNvPr>
          <p:cNvSpPr/>
          <p:nvPr/>
        </p:nvSpPr>
        <p:spPr>
          <a:xfrm>
            <a:off x="5940152" y="1052736"/>
            <a:ext cx="2448272" cy="2110579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BOOKS</a:t>
            </a:r>
            <a:br>
              <a:rPr lang="cs-CZ" sz="1000" dirty="0"/>
            </a:br>
            <a:r>
              <a:rPr lang="cs-CZ" sz="1000" dirty="0"/>
              <a:t>book-vendors.com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2091F-7159-7459-E99B-60D20A48364E}"/>
              </a:ext>
            </a:extLst>
          </p:cNvPr>
          <p:cNvSpPr/>
          <p:nvPr/>
        </p:nvSpPr>
        <p:spPr>
          <a:xfrm>
            <a:off x="7524328" y="4905164"/>
            <a:ext cx="108012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wks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593C6-A80E-F524-5979-52357830EFFB}"/>
              </a:ext>
            </a:extLst>
          </p:cNvPr>
          <p:cNvSpPr/>
          <p:nvPr/>
        </p:nvSpPr>
        <p:spPr>
          <a:xfrm>
            <a:off x="683568" y="5445224"/>
            <a:ext cx="1080120" cy="1080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000" dirty="0"/>
              <a:t>DE-SRV</a:t>
            </a:r>
            <a:endParaRPr lang="en-US" sz="1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3CE6F1-24BE-0418-E0E4-3DAE3F4AC9DC}"/>
              </a:ext>
            </a:extLst>
          </p:cNvPr>
          <p:cNvCxnSpPr>
            <a:cxnSpLocks/>
            <a:stCxn id="7" idx="5"/>
            <a:endCxn id="6" idx="3"/>
          </p:cNvCxnSpPr>
          <p:nvPr/>
        </p:nvCxnSpPr>
        <p:spPr>
          <a:xfrm flipV="1">
            <a:off x="2519772" y="2731267"/>
            <a:ext cx="1188132" cy="81691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95C3B-DAED-6162-6941-C7F2E56E2D29}"/>
              </a:ext>
            </a:extLst>
          </p:cNvPr>
          <p:cNvSpPr/>
          <p:nvPr/>
        </p:nvSpPr>
        <p:spPr>
          <a:xfrm>
            <a:off x="7123716" y="5229200"/>
            <a:ext cx="1264708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BOOKS\id1234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212B42-54E8-4CF7-BF51-419DFA897E76}"/>
              </a:ext>
            </a:extLst>
          </p:cNvPr>
          <p:cNvCxnSpPr>
            <a:cxnSpLocks/>
            <a:stCxn id="10" idx="0"/>
            <a:endCxn id="7" idx="3"/>
          </p:cNvCxnSpPr>
          <p:nvPr/>
        </p:nvCxnSpPr>
        <p:spPr>
          <a:xfrm flipV="1">
            <a:off x="1223628" y="4603475"/>
            <a:ext cx="684076" cy="841749"/>
          </a:xfrm>
          <a:prstGeom prst="lin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8EB27B-8937-B504-EDEC-3D2F6DE2EF8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7164288" y="3163315"/>
            <a:ext cx="900100" cy="1741849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67320F-4850-C86B-2235-67758FFDFFDF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4319972" y="1675978"/>
            <a:ext cx="2232248" cy="4320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5FB7FE3-645A-2D3C-0978-2F7C7E569FC3}"/>
              </a:ext>
            </a:extLst>
          </p:cNvPr>
          <p:cNvSpPr/>
          <p:nvPr/>
        </p:nvSpPr>
        <p:spPr>
          <a:xfrm>
            <a:off x="7497702" y="2150607"/>
            <a:ext cx="1064402" cy="56712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DB5260-3660-EAF9-FA3F-2B7D18871672}"/>
              </a:ext>
            </a:extLst>
          </p:cNvPr>
          <p:cNvSpPr/>
          <p:nvPr/>
        </p:nvSpPr>
        <p:spPr>
          <a:xfrm>
            <a:off x="457200" y="3663803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DE-SRV$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66CF76-D33B-6892-D051-AC88CC7E7B49}"/>
              </a:ext>
            </a:extLst>
          </p:cNvPr>
          <p:cNvSpPr/>
          <p:nvPr/>
        </p:nvSpPr>
        <p:spPr>
          <a:xfrm>
            <a:off x="6236043" y="1438612"/>
            <a:ext cx="1064402" cy="56712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GPS$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A03B82-B539-EEED-B9FF-BEBFF3E48CDB}"/>
              </a:ext>
            </a:extLst>
          </p:cNvPr>
          <p:cNvSpPr/>
          <p:nvPr/>
        </p:nvSpPr>
        <p:spPr>
          <a:xfrm>
            <a:off x="2599639" y="1727489"/>
            <a:ext cx="1064402" cy="5671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DE$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7CD6337-F187-6C0A-7897-5F13E2E3B846}"/>
              </a:ext>
            </a:extLst>
          </p:cNvPr>
          <p:cNvSpPr/>
          <p:nvPr/>
        </p:nvSpPr>
        <p:spPr>
          <a:xfrm>
            <a:off x="871447" y="3044562"/>
            <a:ext cx="1064402" cy="567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svc-</a:t>
            </a:r>
            <a:r>
              <a:rPr lang="en-US" sz="1000" dirty="0" err="1"/>
              <a:t>iis</a:t>
            </a:r>
            <a:r>
              <a:rPr lang="en-US" sz="1000" dirty="0"/>
              <a:t>-</a:t>
            </a:r>
            <a:r>
              <a:rPr lang="en-US" sz="1000" dirty="0" err="1"/>
              <a:t>auftrage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BE0BF-A6B8-4DC5-371B-EAD66D51C3D3}"/>
              </a:ext>
            </a:extLst>
          </p:cNvPr>
          <p:cNvSpPr/>
          <p:nvPr/>
        </p:nvSpPr>
        <p:spPr>
          <a:xfrm>
            <a:off x="1005348" y="5549452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cifs</a:t>
            </a:r>
            <a:r>
              <a:rPr lang="en-US" sz="1000" dirty="0"/>
              <a:t>/de-</a:t>
            </a:r>
            <a:r>
              <a:rPr lang="en-US" sz="1000" dirty="0" err="1"/>
              <a:t>srv.de.gopas.virtual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9B1D9-DACF-5C18-6B70-68950F4978A0}"/>
              </a:ext>
            </a:extLst>
          </p:cNvPr>
          <p:cNvSpPr/>
          <p:nvPr/>
        </p:nvSpPr>
        <p:spPr>
          <a:xfrm>
            <a:off x="1005348" y="5924938"/>
            <a:ext cx="1944216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http/auftrage.gopas.de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CB06572F-242A-C392-6E24-BCDCFEB0CBBB}"/>
              </a:ext>
            </a:extLst>
          </p:cNvPr>
          <p:cNvSpPr/>
          <p:nvPr/>
        </p:nvSpPr>
        <p:spPr>
          <a:xfrm>
            <a:off x="7866366" y="2497448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ABFB3F83-CEA3-B2EC-B35D-4D4E6C3B350E}"/>
              </a:ext>
            </a:extLst>
          </p:cNvPr>
          <p:cNvSpPr/>
          <p:nvPr/>
        </p:nvSpPr>
        <p:spPr>
          <a:xfrm>
            <a:off x="173060" y="2822054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06E2907-B2DF-7C99-EF55-D8B59979BAC4}"/>
              </a:ext>
            </a:extLst>
          </p:cNvPr>
          <p:cNvSpPr/>
          <p:nvPr/>
        </p:nvSpPr>
        <p:spPr>
          <a:xfrm>
            <a:off x="5703429" y="777622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41A6954B-CC81-EF85-E98A-FE36558CE58F}"/>
              </a:ext>
            </a:extLst>
          </p:cNvPr>
          <p:cNvSpPr/>
          <p:nvPr/>
        </p:nvSpPr>
        <p:spPr>
          <a:xfrm>
            <a:off x="2089355" y="1051436"/>
            <a:ext cx="936104" cy="936104"/>
          </a:xfrm>
          <a:prstGeom prst="star5">
            <a:avLst>
              <a:gd name="adj" fmla="val 29700"/>
              <a:gd name="hf" fmla="val 105146"/>
              <a:gd name="vf" fmla="val 11055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  <a:p>
            <a:pPr algn="ctr"/>
            <a:r>
              <a:rPr lang="en-US" sz="1000" dirty="0"/>
              <a:t>TGT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3A7024-55DD-2ACE-BEF4-F2E1EA9D357F}"/>
              </a:ext>
            </a:extLst>
          </p:cNvPr>
          <p:cNvSpPr/>
          <p:nvPr/>
        </p:nvSpPr>
        <p:spPr>
          <a:xfrm>
            <a:off x="3470746" y="3849691"/>
            <a:ext cx="900100" cy="3240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92663B-2DB4-AA7E-2676-956DAB8DB9E6}"/>
              </a:ext>
            </a:extLst>
          </p:cNvPr>
          <p:cNvSpPr/>
          <p:nvPr/>
        </p:nvSpPr>
        <p:spPr>
          <a:xfrm>
            <a:off x="4428854" y="3849691"/>
            <a:ext cx="764228" cy="3240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TGT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FB5BE2-3012-2288-241E-DCE554D9357D}"/>
              </a:ext>
            </a:extLst>
          </p:cNvPr>
          <p:cNvSpPr/>
          <p:nvPr/>
        </p:nvSpPr>
        <p:spPr>
          <a:xfrm>
            <a:off x="5247931" y="3849691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53CCA4-9BE3-BA42-E70B-0301CC868AA9}"/>
              </a:ext>
            </a:extLst>
          </p:cNvPr>
          <p:cNvSpPr/>
          <p:nvPr/>
        </p:nvSpPr>
        <p:spPr>
          <a:xfrm>
            <a:off x="6063562" y="3849691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C344F4-0155-1CC4-6335-74C0B33A7C75}"/>
              </a:ext>
            </a:extLst>
          </p:cNvPr>
          <p:cNvSpPr/>
          <p:nvPr/>
        </p:nvSpPr>
        <p:spPr>
          <a:xfrm>
            <a:off x="3470746" y="4237665"/>
            <a:ext cx="900100" cy="3240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E43268-C755-51A1-E5E3-8B5B3E2C6001}"/>
              </a:ext>
            </a:extLst>
          </p:cNvPr>
          <p:cNvSpPr/>
          <p:nvPr/>
        </p:nvSpPr>
        <p:spPr>
          <a:xfrm>
            <a:off x="4428854" y="4237665"/>
            <a:ext cx="764228" cy="3240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44B25F-9F8A-7A5D-8EC4-D715BC4B2834}"/>
              </a:ext>
            </a:extLst>
          </p:cNvPr>
          <p:cNvSpPr/>
          <p:nvPr/>
        </p:nvSpPr>
        <p:spPr>
          <a:xfrm>
            <a:off x="5247931" y="4237665"/>
            <a:ext cx="764229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A0959A-5D68-6EC8-5263-CB2B82187F31}"/>
              </a:ext>
            </a:extLst>
          </p:cNvPr>
          <p:cNvSpPr/>
          <p:nvPr/>
        </p:nvSpPr>
        <p:spPr>
          <a:xfrm>
            <a:off x="6063562" y="4237665"/>
            <a:ext cx="764229" cy="3240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A5AD72-A665-DC1E-9E68-690EB5B17C42}"/>
              </a:ext>
            </a:extLst>
          </p:cNvPr>
          <p:cNvSpPr/>
          <p:nvPr/>
        </p:nvSpPr>
        <p:spPr>
          <a:xfrm>
            <a:off x="3468337" y="4625639"/>
            <a:ext cx="900100" cy="3240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A832F2-57E4-7971-C790-87B644489EBE}"/>
              </a:ext>
            </a:extLst>
          </p:cNvPr>
          <p:cNvSpPr/>
          <p:nvPr/>
        </p:nvSpPr>
        <p:spPr>
          <a:xfrm>
            <a:off x="4426445" y="4625639"/>
            <a:ext cx="764228" cy="3240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delegate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C2DA26-99DC-C445-7056-F456D0EFBF56}"/>
              </a:ext>
            </a:extLst>
          </p:cNvPr>
          <p:cNvSpPr/>
          <p:nvPr/>
        </p:nvSpPr>
        <p:spPr>
          <a:xfrm>
            <a:off x="5245522" y="4625639"/>
            <a:ext cx="764229" cy="3240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GPS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E40573-C063-8979-5F0A-EC99FE3773DC}"/>
              </a:ext>
            </a:extLst>
          </p:cNvPr>
          <p:cNvSpPr/>
          <p:nvPr/>
        </p:nvSpPr>
        <p:spPr>
          <a:xfrm>
            <a:off x="6061153" y="4625639"/>
            <a:ext cx="764229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E008DE-44EE-3740-0AD8-91EFA5AC3635}"/>
              </a:ext>
            </a:extLst>
          </p:cNvPr>
          <p:cNvSpPr/>
          <p:nvPr/>
        </p:nvSpPr>
        <p:spPr>
          <a:xfrm>
            <a:off x="3468337" y="5010510"/>
            <a:ext cx="900100" cy="3240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id1234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63EDE9-FFD6-2307-1ECA-AFA03AAB621B}"/>
              </a:ext>
            </a:extLst>
          </p:cNvPr>
          <p:cNvSpPr/>
          <p:nvPr/>
        </p:nvSpPr>
        <p:spPr>
          <a:xfrm>
            <a:off x="4426445" y="5010510"/>
            <a:ext cx="764228" cy="3240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ED0A48-0640-ECA1-E2B5-FDA014E08006}"/>
              </a:ext>
            </a:extLst>
          </p:cNvPr>
          <p:cNvSpPr/>
          <p:nvPr/>
        </p:nvSpPr>
        <p:spPr>
          <a:xfrm>
            <a:off x="5245522" y="5010510"/>
            <a:ext cx="764229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DF5C79-37A8-2CD3-0C1E-80F628FBB1EB}"/>
              </a:ext>
            </a:extLst>
          </p:cNvPr>
          <p:cNvSpPr/>
          <p:nvPr/>
        </p:nvSpPr>
        <p:spPr>
          <a:xfrm>
            <a:off x="6061153" y="5010510"/>
            <a:ext cx="764229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DE-SRV</a:t>
            </a:r>
          </a:p>
        </p:txBody>
      </p:sp>
    </p:spTree>
    <p:extLst>
      <p:ext uri="{BB962C8B-B14F-4D97-AF65-F5344CB8AC3E}">
        <p14:creationId xmlns:p14="http://schemas.microsoft.com/office/powerpoint/2010/main" val="869503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C216-A1C9-464F-B700-4E4DD2A9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>
            <a:normAutofit/>
          </a:bodyPr>
          <a:lstStyle/>
          <a:p>
            <a:r>
              <a:rPr lang="en-US" sz="2000" dirty="0"/>
              <a:t>Name suffix routing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8936D-CE9B-4412-BA8C-14C3EDB12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1203"/>
            <a:ext cx="8686800" cy="610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9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9F172105-A65D-F30A-A5A5-D951AE63A5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594406"/>
              </p:ext>
            </p:extLst>
          </p:nvPr>
        </p:nvGraphicFramePr>
        <p:xfrm>
          <a:off x="611561" y="43059"/>
          <a:ext cx="8532440" cy="6814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81800" imgH="5896080" progId="">
                  <p:embed/>
                </p:oleObj>
              </mc:Choice>
              <mc:Fallback>
                <p:oleObj r:id="rId2" imgW="7381800" imgH="58960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1561" y="43059"/>
                        <a:ext cx="8532440" cy="6814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3915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0A0CAB6-5643-2E6E-A26D-80905BCB0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559552"/>
              </p:ext>
            </p:extLst>
          </p:nvPr>
        </p:nvGraphicFramePr>
        <p:xfrm>
          <a:off x="611561" y="43059"/>
          <a:ext cx="8532440" cy="6814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81800" imgH="5896080" progId="">
                  <p:embed/>
                </p:oleObj>
              </mc:Choice>
              <mc:Fallback>
                <p:oleObj r:id="rId2" imgW="7381800" imgH="58960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1561" y="43059"/>
                        <a:ext cx="8532440" cy="6814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9797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74E0DF0-CA2C-9945-7410-7244B8D23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073203"/>
              </p:ext>
            </p:extLst>
          </p:nvPr>
        </p:nvGraphicFramePr>
        <p:xfrm>
          <a:off x="611561" y="43059"/>
          <a:ext cx="8532440" cy="6814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81800" imgH="5896080" progId="">
                  <p:embed/>
                </p:oleObj>
              </mc:Choice>
              <mc:Fallback>
                <p:oleObj r:id="rId2" imgW="7381800" imgH="58960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1561" y="43059"/>
                        <a:ext cx="8532440" cy="6814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FB898A4-2A53-C748-0319-8C28B33FFD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293823"/>
              </p:ext>
            </p:extLst>
          </p:nvPr>
        </p:nvGraphicFramePr>
        <p:xfrm>
          <a:off x="0" y="5013176"/>
          <a:ext cx="6669749" cy="1844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267600" imgH="1733400" progId="">
                  <p:embed/>
                </p:oleObj>
              </mc:Choice>
              <mc:Fallback>
                <p:oleObj r:id="rId4" imgW="6267600" imgH="1733400" progId="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857F83A-746D-AFD8-6AB9-67623A9EB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5013176"/>
                        <a:ext cx="6669749" cy="1844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7968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494A-241F-421C-A609-D82E7F2F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TGT/TGS requests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AB120-3F69-4712-B56F-F20C79B31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0421"/>
            <a:ext cx="9144000" cy="183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99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Multi-hop</a:t>
            </a:r>
            <a:endParaRPr lang="cs-CZ" dirty="0">
              <a:solidFill>
                <a:schemeClr val="accent1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86519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Delegation (double-hop)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7462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under </a:t>
            </a:r>
            <a:r>
              <a:rPr lang="en-US" dirty="0">
                <a:solidFill>
                  <a:schemeClr val="accent1"/>
                </a:solidFill>
              </a:rPr>
              <a:t>service</a:t>
            </a:r>
            <a:r>
              <a:rPr lang="en-US" dirty="0"/>
              <a:t> account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5796136" y="2354052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svc-Server</a:t>
            </a:r>
            <a:endParaRPr lang="cs-CZ" sz="1200" dirty="0"/>
          </a:p>
        </p:txBody>
      </p:sp>
      <p:sp>
        <p:nvSpPr>
          <p:cNvPr id="18" name="Rectangle 17"/>
          <p:cNvSpPr/>
          <p:nvPr/>
        </p:nvSpPr>
        <p:spPr>
          <a:xfrm>
            <a:off x="2113384" y="2369072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19" name="Rectangle 18"/>
          <p:cNvSpPr/>
          <p:nvPr/>
        </p:nvSpPr>
        <p:spPr>
          <a:xfrm>
            <a:off x="4404952" y="1515090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svc-Server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2697317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 under the front-end </a:t>
            </a:r>
            <a:r>
              <a:rPr lang="en-US" dirty="0">
                <a:solidFill>
                  <a:schemeClr val="accent1"/>
                </a:solidFill>
              </a:rPr>
              <a:t>client user </a:t>
            </a:r>
            <a:r>
              <a:rPr lang="en-US" dirty="0"/>
              <a:t>account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2113384" y="2369072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19" name="Rectangle 18"/>
          <p:cNvSpPr/>
          <p:nvPr/>
        </p:nvSpPr>
        <p:spPr>
          <a:xfrm>
            <a:off x="4404952" y="1515090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svc-Server</a:t>
            </a:r>
            <a:endParaRPr lang="cs-CZ" sz="1200" dirty="0"/>
          </a:p>
        </p:txBody>
      </p:sp>
      <p:sp>
        <p:nvSpPr>
          <p:cNvPr id="20" name="Down Arrow 19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5747202" y="2354052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762711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0" name="Down Arrow 19"/>
          <p:cNvSpPr/>
          <p:nvPr/>
        </p:nvSpPr>
        <p:spPr>
          <a:xfrm>
            <a:off x="4412468" y="2708920"/>
            <a:ext cx="288032" cy="154817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Nothing to forward with </a:t>
            </a:r>
            <a:r>
              <a:rPr lang="en-US" dirty="0">
                <a:solidFill>
                  <a:schemeClr val="accent1"/>
                </a:solidFill>
              </a:rPr>
              <a:t>NTLM</a:t>
            </a:r>
            <a:r>
              <a:rPr lang="en-US" dirty="0"/>
              <a:t> pass-through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 rot="435143">
            <a:off x="1670307" y="2387551"/>
            <a:ext cx="2912517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2334580" y="2276872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  <a:endParaRPr lang="cs-CZ" sz="1200" dirty="0"/>
          </a:p>
        </p:txBody>
      </p:sp>
      <p:sp>
        <p:nvSpPr>
          <p:cNvPr id="19" name="Rectangle 18"/>
          <p:cNvSpPr/>
          <p:nvPr/>
        </p:nvSpPr>
        <p:spPr>
          <a:xfrm>
            <a:off x="4404952" y="1515090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svc-Server</a:t>
            </a:r>
            <a:endParaRPr lang="cs-CZ" sz="1200" dirty="0"/>
          </a:p>
        </p:txBody>
      </p:sp>
      <p:sp>
        <p:nvSpPr>
          <p:cNvPr id="22" name="Right Arrow 21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Rectangle 22"/>
          <p:cNvSpPr/>
          <p:nvPr/>
        </p:nvSpPr>
        <p:spPr>
          <a:xfrm>
            <a:off x="5747202" y="2354052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anonymous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2049089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Kerberos</a:t>
            </a:r>
            <a:r>
              <a:rPr lang="en-US" dirty="0"/>
              <a:t> TGS tickets required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2113384" y="2369072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19" name="Rectangle 18"/>
          <p:cNvSpPr/>
          <p:nvPr/>
        </p:nvSpPr>
        <p:spPr>
          <a:xfrm>
            <a:off x="4404952" y="1515090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svc-Server</a:t>
            </a:r>
            <a:endParaRPr lang="cs-CZ" sz="1200" dirty="0"/>
          </a:p>
        </p:txBody>
      </p:sp>
      <p:sp>
        <p:nvSpPr>
          <p:cNvPr id="20" name="Down Arrow 19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5747202" y="2354052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Kamil</a:t>
            </a:r>
            <a:endParaRPr lang="cs-CZ" sz="1200" dirty="0"/>
          </a:p>
        </p:txBody>
      </p:sp>
      <p:sp>
        <p:nvSpPr>
          <p:cNvPr id="22" name="Rectangle 21"/>
          <p:cNvSpPr/>
          <p:nvPr/>
        </p:nvSpPr>
        <p:spPr>
          <a:xfrm>
            <a:off x="1763688" y="2747661"/>
            <a:ext cx="57865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200" dirty="0"/>
              <a:t>TGS</a:t>
            </a:r>
            <a:endParaRPr lang="cs-CZ" sz="1200" dirty="0"/>
          </a:p>
        </p:txBody>
      </p:sp>
      <p:sp>
        <p:nvSpPr>
          <p:cNvPr id="23" name="Rectangle 22"/>
          <p:cNvSpPr/>
          <p:nvPr/>
        </p:nvSpPr>
        <p:spPr>
          <a:xfrm>
            <a:off x="2342338" y="2747661"/>
            <a:ext cx="57865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200" dirty="0"/>
              <a:t>Kamil</a:t>
            </a:r>
            <a:endParaRPr lang="cs-CZ" sz="1200" dirty="0"/>
          </a:p>
        </p:txBody>
      </p:sp>
      <p:sp>
        <p:nvSpPr>
          <p:cNvPr id="24" name="Rectangle 23"/>
          <p:cNvSpPr/>
          <p:nvPr/>
        </p:nvSpPr>
        <p:spPr>
          <a:xfrm>
            <a:off x="2920987" y="2747661"/>
            <a:ext cx="921881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200" dirty="0"/>
              <a:t>Server</a:t>
            </a:r>
            <a:endParaRPr lang="cs-CZ" sz="1200" dirty="0"/>
          </a:p>
        </p:txBody>
      </p:sp>
      <p:sp>
        <p:nvSpPr>
          <p:cNvPr id="25" name="Rectangle 24"/>
          <p:cNvSpPr/>
          <p:nvPr/>
        </p:nvSpPr>
        <p:spPr>
          <a:xfrm>
            <a:off x="5436096" y="2721642"/>
            <a:ext cx="57865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200" dirty="0"/>
              <a:t>TGS</a:t>
            </a:r>
            <a:endParaRPr lang="cs-CZ" sz="1200" dirty="0"/>
          </a:p>
        </p:txBody>
      </p:sp>
      <p:sp>
        <p:nvSpPr>
          <p:cNvPr id="26" name="Rectangle 25"/>
          <p:cNvSpPr/>
          <p:nvPr/>
        </p:nvSpPr>
        <p:spPr>
          <a:xfrm>
            <a:off x="6014746" y="2721642"/>
            <a:ext cx="57865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200" dirty="0"/>
              <a:t>Kamil</a:t>
            </a:r>
            <a:endParaRPr lang="cs-CZ" sz="1200" dirty="0"/>
          </a:p>
        </p:txBody>
      </p:sp>
      <p:sp>
        <p:nvSpPr>
          <p:cNvPr id="27" name="Rectangle 26"/>
          <p:cNvSpPr/>
          <p:nvPr/>
        </p:nvSpPr>
        <p:spPr>
          <a:xfrm>
            <a:off x="6593395" y="2721642"/>
            <a:ext cx="826799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sz="1200" dirty="0" err="1"/>
              <a:t>BackEnd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3577555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189218" y="1196752"/>
            <a:ext cx="1321272" cy="8332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LSASS</a:t>
            </a:r>
            <a:endParaRPr lang="cs-CZ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delegation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2208466" y="1927176"/>
            <a:ext cx="1157300" cy="4268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password</a:t>
            </a:r>
            <a:endParaRPr lang="cs-CZ" sz="1200" dirty="0"/>
          </a:p>
        </p:txBody>
      </p:sp>
      <p:sp>
        <p:nvSpPr>
          <p:cNvPr id="18" name="Rectangle 17"/>
          <p:cNvSpPr/>
          <p:nvPr/>
        </p:nvSpPr>
        <p:spPr>
          <a:xfrm>
            <a:off x="4283968" y="1509670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password</a:t>
            </a:r>
            <a:endParaRPr lang="cs-CZ" sz="1200" dirty="0"/>
          </a:p>
        </p:txBody>
      </p:sp>
      <p:sp>
        <p:nvSpPr>
          <p:cNvPr id="20" name="Rectangle 19"/>
          <p:cNvSpPr/>
          <p:nvPr/>
        </p:nvSpPr>
        <p:spPr>
          <a:xfrm>
            <a:off x="5796136" y="2354052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  <a:endParaRPr lang="cs-CZ" sz="1200" dirty="0"/>
          </a:p>
        </p:txBody>
      </p:sp>
      <p:sp>
        <p:nvSpPr>
          <p:cNvPr id="21" name="Rectangle 20"/>
          <p:cNvSpPr/>
          <p:nvPr/>
        </p:nvSpPr>
        <p:spPr>
          <a:xfrm>
            <a:off x="5796136" y="2780928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NTLM</a:t>
            </a:r>
          </a:p>
        </p:txBody>
      </p:sp>
    </p:spTree>
    <p:extLst>
      <p:ext uri="{BB962C8B-B14F-4D97-AF65-F5344CB8AC3E}">
        <p14:creationId xmlns:p14="http://schemas.microsoft.com/office/powerpoint/2010/main" val="3877492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189218" y="1196752"/>
            <a:ext cx="1321272" cy="8332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LSASS</a:t>
            </a:r>
            <a:endParaRPr lang="cs-CZ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delegation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2839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2208466" y="1927176"/>
            <a:ext cx="1157300" cy="4268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password</a:t>
            </a:r>
            <a:endParaRPr lang="cs-CZ" sz="1200" dirty="0"/>
          </a:p>
        </p:txBody>
      </p:sp>
      <p:sp>
        <p:nvSpPr>
          <p:cNvPr id="18" name="Rectangle 17"/>
          <p:cNvSpPr/>
          <p:nvPr/>
        </p:nvSpPr>
        <p:spPr>
          <a:xfrm>
            <a:off x="4283968" y="1509670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password</a:t>
            </a:r>
            <a:endParaRPr lang="cs-CZ" sz="1200" dirty="0"/>
          </a:p>
        </p:txBody>
      </p:sp>
      <p:sp>
        <p:nvSpPr>
          <p:cNvPr id="20" name="Rectangle 19"/>
          <p:cNvSpPr/>
          <p:nvPr/>
        </p:nvSpPr>
        <p:spPr>
          <a:xfrm>
            <a:off x="5796136" y="2354052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  <a:endParaRPr lang="cs-CZ" sz="1200" dirty="0"/>
          </a:p>
        </p:txBody>
      </p:sp>
      <p:sp>
        <p:nvSpPr>
          <p:cNvPr id="22" name="Down Arrow 21"/>
          <p:cNvSpPr/>
          <p:nvPr/>
        </p:nvSpPr>
        <p:spPr>
          <a:xfrm rot="10800000">
            <a:off x="4572000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4732324" y="3285229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normal TGT</a:t>
            </a:r>
            <a:endParaRPr lang="cs-CZ" sz="1200" dirty="0"/>
          </a:p>
        </p:txBody>
      </p:sp>
      <p:sp>
        <p:nvSpPr>
          <p:cNvPr id="24" name="Rectangle 23"/>
          <p:cNvSpPr/>
          <p:nvPr/>
        </p:nvSpPr>
        <p:spPr>
          <a:xfrm>
            <a:off x="4918012" y="3650441"/>
            <a:ext cx="1972296" cy="833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Kamil encrypted</a:t>
            </a:r>
            <a:endParaRPr lang="cs-CZ" sz="1200" dirty="0"/>
          </a:p>
        </p:txBody>
      </p:sp>
      <p:sp>
        <p:nvSpPr>
          <p:cNvPr id="23" name="Rectangle 22"/>
          <p:cNvSpPr/>
          <p:nvPr/>
        </p:nvSpPr>
        <p:spPr>
          <a:xfrm>
            <a:off x="5018100" y="3969559"/>
            <a:ext cx="1728192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TGS:Kamil:BackEnd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3901256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Side note: even basic delegation may sometimes not work</a:t>
            </a:r>
            <a:br>
              <a:rPr lang="en-US" sz="2400" dirty="0"/>
            </a:br>
            <a:r>
              <a:rPr lang="en-US" sz="2400" dirty="0"/>
              <a:t>Verify the </a:t>
            </a:r>
            <a:r>
              <a:rPr lang="en-US" sz="2400" dirty="0" err="1">
                <a:solidFill>
                  <a:schemeClr val="accent1"/>
                </a:solidFill>
              </a:rPr>
              <a:t>ClearText</a:t>
            </a:r>
            <a:r>
              <a:rPr lang="en-US" sz="2400" dirty="0"/>
              <a:t> value of </a:t>
            </a:r>
            <a:r>
              <a:rPr lang="en-US" sz="2400" dirty="0" err="1">
                <a:solidFill>
                  <a:schemeClr val="accent1"/>
                </a:solidFill>
              </a:rPr>
              <a:t>logonMethod</a:t>
            </a:r>
            <a:r>
              <a:rPr lang="en-US" sz="2400" dirty="0"/>
              <a:t> is enabled</a:t>
            </a:r>
            <a:endParaRPr lang="cs-CZ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501" y="1844824"/>
            <a:ext cx="7580679" cy="486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28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RDP requires basic delegation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RDP is </a:t>
            </a:r>
            <a:r>
              <a:rPr lang="en-US" dirty="0">
                <a:solidFill>
                  <a:schemeClr val="accent1"/>
                </a:solidFill>
              </a:rPr>
              <a:t>basic </a:t>
            </a:r>
            <a:r>
              <a:rPr lang="en-US" dirty="0"/>
              <a:t>authentication</a:t>
            </a:r>
          </a:p>
          <a:p>
            <a:r>
              <a:rPr lang="en-US" dirty="0"/>
              <a:t>Kerberos is used only to verify </a:t>
            </a:r>
            <a:r>
              <a:rPr lang="en-US" dirty="0">
                <a:solidFill>
                  <a:schemeClr val="accent1"/>
                </a:solidFill>
              </a:rPr>
              <a:t>server's identity </a:t>
            </a:r>
            <a:r>
              <a:rPr lang="en-US" dirty="0"/>
              <a:t>and not the client identity</a:t>
            </a:r>
          </a:p>
          <a:p>
            <a:pPr lvl="1"/>
            <a:r>
              <a:rPr lang="en-US" dirty="0"/>
              <a:t>normal full TGT generated on RDP server</a:t>
            </a:r>
          </a:p>
          <a:p>
            <a:pPr lvl="1"/>
            <a:endParaRPr lang="en-US" dirty="0"/>
          </a:p>
          <a:p>
            <a:r>
              <a:rPr lang="en-US" dirty="0"/>
              <a:t>Problems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Users</a:t>
            </a:r>
            <a:r>
              <a:rPr lang="en-US" dirty="0"/>
              <a:t> – must type password on each connect or store password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Admins</a:t>
            </a:r>
            <a:r>
              <a:rPr lang="en-US" dirty="0"/>
              <a:t> – clean password transported and stored in memory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919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RDP </a:t>
            </a:r>
            <a:r>
              <a:rPr lang="en-US" dirty="0" err="1"/>
              <a:t>RestrictedAdmin</a:t>
            </a:r>
            <a:r>
              <a:rPr lang="en-US" dirty="0"/>
              <a:t>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Kerberos </a:t>
            </a:r>
            <a:r>
              <a:rPr lang="en-US" dirty="0">
                <a:solidFill>
                  <a:schemeClr val="accent1"/>
                </a:solidFill>
              </a:rPr>
              <a:t>TGS</a:t>
            </a:r>
            <a:r>
              <a:rPr lang="en-US" dirty="0"/>
              <a:t> authentication of </a:t>
            </a:r>
            <a:r>
              <a:rPr lang="en-US" dirty="0">
                <a:solidFill>
                  <a:schemeClr val="accent1"/>
                </a:solidFill>
              </a:rPr>
              <a:t>client</a:t>
            </a:r>
            <a:r>
              <a:rPr lang="en-US" dirty="0"/>
              <a:t> only</a:t>
            </a:r>
          </a:p>
          <a:p>
            <a:r>
              <a:rPr lang="en-US" dirty="0"/>
              <a:t>No full password transferred</a:t>
            </a:r>
          </a:p>
          <a:p>
            <a:r>
              <a:rPr lang="en-US" dirty="0">
                <a:solidFill>
                  <a:schemeClr val="accent1"/>
                </a:solidFill>
              </a:rPr>
              <a:t>Limited delegation </a:t>
            </a:r>
            <a:r>
              <a:rPr lang="en-US" dirty="0"/>
              <a:t>with system tickets injected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mstsc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restrictedAdmin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HKLM\System\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CurrentControlSet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\Control\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DisableRestrictedAdmin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DisableRestrictedAdminOutboundCreds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3378310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SSO with Credentials Delegation</a:t>
            </a:r>
            <a:br>
              <a:rPr lang="en-US" dirty="0"/>
            </a:br>
            <a:r>
              <a:rPr lang="en-US" dirty="0"/>
              <a:t>settings for the </a:t>
            </a:r>
            <a:r>
              <a:rPr lang="en-US" dirty="0">
                <a:solidFill>
                  <a:schemeClr val="accent1"/>
                </a:solidFill>
              </a:rPr>
              <a:t>client side</a:t>
            </a:r>
            <a:endParaRPr lang="cs-CZ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78" y="1484784"/>
            <a:ext cx="8902582" cy="528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54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RDP SSO challenges </a:t>
            </a:r>
            <a:r>
              <a:rPr lang="en-US" dirty="0">
                <a:solidFill>
                  <a:schemeClr val="accent1"/>
                </a:solidFill>
              </a:rPr>
              <a:t>on client</a:t>
            </a:r>
            <a:r>
              <a:rPr lang="en-US" dirty="0"/>
              <a:t>?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2051720" y="2420888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5590456" y="2420888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2051720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2416932" y="3619364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3214192" y="2786100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5955668" y="3619364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Rectangle 9"/>
          <p:cNvSpPr/>
          <p:nvPr/>
        </p:nvSpPr>
        <p:spPr>
          <a:xfrm>
            <a:off x="899592" y="1867998"/>
            <a:ext cx="1661356" cy="745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Hacked MSTSC?</a:t>
            </a:r>
          </a:p>
          <a:p>
            <a:pPr algn="ctr"/>
            <a:r>
              <a:rPr lang="en-US" sz="1400" dirty="0"/>
              <a:t>Hacked IE?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2450107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/>
        </p:nvSpPr>
        <p:spPr>
          <a:xfrm>
            <a:off x="3213992" y="2027380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RDP TLS</a:t>
            </a:r>
          </a:p>
          <a:p>
            <a:pPr algn="ctr"/>
            <a:r>
              <a:rPr lang="en-US" sz="1200" dirty="0"/>
              <a:t>TCP 3389</a:t>
            </a:r>
            <a:endParaRPr lang="cs-CZ" sz="1200" dirty="0"/>
          </a:p>
        </p:txBody>
      </p:sp>
      <p:sp>
        <p:nvSpPr>
          <p:cNvPr id="24" name="Rectangle 23"/>
          <p:cNvSpPr/>
          <p:nvPr/>
        </p:nvSpPr>
        <p:spPr>
          <a:xfrm>
            <a:off x="7027926" y="4336808"/>
            <a:ext cx="1658874" cy="6043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Kerberos</a:t>
            </a:r>
          </a:p>
          <a:p>
            <a:pPr algn="r"/>
            <a:r>
              <a:rPr lang="en-US" sz="1100" dirty="0"/>
              <a:t>TGT, TGS, ...</a:t>
            </a:r>
            <a:endParaRPr lang="cs-CZ" sz="1100" dirty="0"/>
          </a:p>
        </p:txBody>
      </p:sp>
      <p:sp>
        <p:nvSpPr>
          <p:cNvPr id="6" name="Rectangle 5"/>
          <p:cNvSpPr/>
          <p:nvPr/>
        </p:nvSpPr>
        <p:spPr>
          <a:xfrm>
            <a:off x="5590456" y="2532518"/>
            <a:ext cx="1018456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3" name="Rectangle 22"/>
          <p:cNvSpPr/>
          <p:nvPr/>
        </p:nvSpPr>
        <p:spPr>
          <a:xfrm>
            <a:off x="5725958" y="331729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RDP </a:t>
            </a:r>
            <a:r>
              <a:rPr lang="en-US" sz="1050" dirty="0" err="1"/>
              <a:t>Srv</a:t>
            </a:r>
            <a:endParaRPr lang="cs-CZ" sz="10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n-US" sz="2800" dirty="0"/>
              <a:t>Credentials Delegation (</a:t>
            </a:r>
            <a:r>
              <a:rPr lang="en-US" sz="2800" dirty="0" err="1"/>
              <a:t>CredSSP</a:t>
            </a:r>
            <a:r>
              <a:rPr lang="en-US" sz="2800" dirty="0"/>
              <a:t>) security</a:t>
            </a:r>
            <a:br>
              <a:rPr lang="en-US" sz="2800" dirty="0"/>
            </a:br>
            <a:r>
              <a:rPr lang="en-US" sz="2800" dirty="0"/>
              <a:t>LSASS to LSASS encrypted transport</a:t>
            </a:r>
            <a:endParaRPr lang="cs-CZ" sz="2800" dirty="0"/>
          </a:p>
        </p:txBody>
      </p:sp>
      <p:sp>
        <p:nvSpPr>
          <p:cNvPr id="5" name="Rectangle 4"/>
          <p:cNvSpPr/>
          <p:nvPr/>
        </p:nvSpPr>
        <p:spPr>
          <a:xfrm>
            <a:off x="2051720" y="2532517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2" name="Rectangle 11"/>
          <p:cNvSpPr/>
          <p:nvPr/>
        </p:nvSpPr>
        <p:spPr>
          <a:xfrm>
            <a:off x="251520" y="1530118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6243700" y="1530118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6533344" y="5373216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6" name="Rectangle 15"/>
          <p:cNvSpPr/>
          <p:nvPr/>
        </p:nvSpPr>
        <p:spPr>
          <a:xfrm>
            <a:off x="1187624" y="1600504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full-text pwd</a:t>
            </a:r>
            <a:endParaRPr lang="cs-CZ" sz="1200" dirty="0"/>
          </a:p>
        </p:txBody>
      </p:sp>
      <p:sp>
        <p:nvSpPr>
          <p:cNvPr id="18" name="Right Arrow 17"/>
          <p:cNvSpPr/>
          <p:nvPr/>
        </p:nvSpPr>
        <p:spPr>
          <a:xfrm>
            <a:off x="1835696" y="2607310"/>
            <a:ext cx="5328592" cy="4842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In-band transport</a:t>
            </a:r>
            <a:endParaRPr lang="cs-CZ" sz="1100" dirty="0"/>
          </a:p>
        </p:txBody>
      </p:sp>
      <p:sp>
        <p:nvSpPr>
          <p:cNvPr id="20" name="Rectangle 19"/>
          <p:cNvSpPr/>
          <p:nvPr/>
        </p:nvSpPr>
        <p:spPr>
          <a:xfrm>
            <a:off x="2188078" y="331729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MSTSC</a:t>
            </a:r>
            <a:endParaRPr lang="cs-CZ" sz="1050" dirty="0"/>
          </a:p>
        </p:txBody>
      </p:sp>
      <p:sp>
        <p:nvSpPr>
          <p:cNvPr id="28" name="Isosceles Triangle 27"/>
          <p:cNvSpPr/>
          <p:nvPr/>
        </p:nvSpPr>
        <p:spPr>
          <a:xfrm>
            <a:off x="7265820" y="5798808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29" name="Rectangle 28"/>
          <p:cNvSpPr/>
          <p:nvPr/>
        </p:nvSpPr>
        <p:spPr>
          <a:xfrm>
            <a:off x="493382" y="2532517"/>
            <a:ext cx="1157300" cy="5503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TERMSRV TGS</a:t>
            </a:r>
            <a:endParaRPr lang="cs-CZ" sz="1200" dirty="0"/>
          </a:p>
        </p:txBody>
      </p:sp>
      <p:sp>
        <p:nvSpPr>
          <p:cNvPr id="25" name="Up-Down Arrow 24"/>
          <p:cNvSpPr/>
          <p:nvPr/>
        </p:nvSpPr>
        <p:spPr>
          <a:xfrm>
            <a:off x="6990142" y="2653951"/>
            <a:ext cx="468962" cy="3583361"/>
          </a:xfrm>
          <a:prstGeom prst="up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0" name="Rectangle 29"/>
          <p:cNvSpPr/>
          <p:nvPr/>
        </p:nvSpPr>
        <p:spPr>
          <a:xfrm>
            <a:off x="7138076" y="2221232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full-text pwd</a:t>
            </a:r>
            <a:endParaRPr lang="cs-CZ" sz="1200" dirty="0"/>
          </a:p>
        </p:txBody>
      </p:sp>
      <p:sp>
        <p:nvSpPr>
          <p:cNvPr id="32" name="Rectangle 31"/>
          <p:cNvSpPr/>
          <p:nvPr/>
        </p:nvSpPr>
        <p:spPr>
          <a:xfrm>
            <a:off x="340822" y="2181740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</a:t>
            </a:r>
          </a:p>
          <a:p>
            <a:pPr algn="ctr"/>
            <a:r>
              <a:rPr lang="en-US" sz="1200" dirty="0"/>
              <a:t>Session Key</a:t>
            </a:r>
            <a:endParaRPr lang="cs-CZ" sz="1200" dirty="0"/>
          </a:p>
        </p:txBody>
      </p:sp>
      <p:sp>
        <p:nvSpPr>
          <p:cNvPr id="33" name="Rectangle 32"/>
          <p:cNvSpPr/>
          <p:nvPr/>
        </p:nvSpPr>
        <p:spPr>
          <a:xfrm>
            <a:off x="6372200" y="1677031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</a:t>
            </a:r>
          </a:p>
          <a:p>
            <a:pPr algn="ctr"/>
            <a:r>
              <a:rPr lang="en-US" sz="1200" dirty="0"/>
              <a:t>Session Key</a:t>
            </a:r>
            <a:endParaRPr lang="cs-CZ" sz="1200" dirty="0"/>
          </a:p>
        </p:txBody>
      </p:sp>
      <p:sp>
        <p:nvSpPr>
          <p:cNvPr id="34" name="Rectangle 33"/>
          <p:cNvSpPr/>
          <p:nvPr/>
        </p:nvSpPr>
        <p:spPr>
          <a:xfrm>
            <a:off x="3563536" y="1772156"/>
            <a:ext cx="1419824" cy="9804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TGS</a:t>
            </a:r>
          </a:p>
          <a:p>
            <a:pPr algn="ctr"/>
            <a:r>
              <a:rPr lang="en-US" sz="1200" dirty="0"/>
              <a:t>Session Key</a:t>
            </a:r>
            <a:endParaRPr lang="cs-CZ" sz="1200" dirty="0"/>
          </a:p>
        </p:txBody>
      </p:sp>
      <p:sp>
        <p:nvSpPr>
          <p:cNvPr id="31" name="Rectangle 30"/>
          <p:cNvSpPr/>
          <p:nvPr/>
        </p:nvSpPr>
        <p:spPr>
          <a:xfrm>
            <a:off x="3707904" y="2253748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full-text pwd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2775713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/>
        </p:nvSpPr>
        <p:spPr>
          <a:xfrm>
            <a:off x="3213992" y="2027380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RDP TLS</a:t>
            </a:r>
          </a:p>
          <a:p>
            <a:pPr algn="ctr"/>
            <a:r>
              <a:rPr lang="en-US" sz="1200" dirty="0"/>
              <a:t>TCP 3389</a:t>
            </a:r>
            <a:endParaRPr lang="cs-CZ" sz="1200" dirty="0"/>
          </a:p>
        </p:txBody>
      </p:sp>
      <p:sp>
        <p:nvSpPr>
          <p:cNvPr id="6" name="Rectangle 5"/>
          <p:cNvSpPr/>
          <p:nvPr/>
        </p:nvSpPr>
        <p:spPr>
          <a:xfrm>
            <a:off x="5590456" y="2532518"/>
            <a:ext cx="1018456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cs-CZ" sz="1400"/>
              <a:t>RDP </a:t>
            </a:r>
            <a:r>
              <a:rPr lang="en-US" sz="1400"/>
              <a:t>Server</a:t>
            </a:r>
            <a:endParaRPr lang="cs-CZ" sz="1400" dirty="0"/>
          </a:p>
        </p:txBody>
      </p:sp>
      <p:sp>
        <p:nvSpPr>
          <p:cNvPr id="23" name="Rectangle 22"/>
          <p:cNvSpPr/>
          <p:nvPr/>
        </p:nvSpPr>
        <p:spPr>
          <a:xfrm>
            <a:off x="5725958" y="331729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RDP </a:t>
            </a:r>
            <a:r>
              <a:rPr lang="en-US" sz="1050" dirty="0" err="1"/>
              <a:t>Srv</a:t>
            </a:r>
            <a:endParaRPr lang="cs-CZ" sz="10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n-US" sz="2800" dirty="0" err="1"/>
              <a:t>RemoteGuard</a:t>
            </a:r>
            <a:r>
              <a:rPr lang="en-US" sz="2800" dirty="0"/>
              <a:t> for </a:t>
            </a:r>
            <a:r>
              <a:rPr lang="en-US" sz="2800" dirty="0">
                <a:solidFill>
                  <a:schemeClr val="accent1"/>
                </a:solidFill>
              </a:rPr>
              <a:t>business users </a:t>
            </a:r>
            <a:r>
              <a:rPr lang="en-US" sz="2800" dirty="0">
                <a:solidFill>
                  <a:schemeClr val="tx1"/>
                </a:solidFill>
              </a:rPr>
              <a:t>(10/2016+)</a:t>
            </a:r>
            <a:endParaRPr lang="cs-CZ" sz="28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51720" y="2532517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2" name="Rectangle 11"/>
          <p:cNvSpPr/>
          <p:nvPr/>
        </p:nvSpPr>
        <p:spPr>
          <a:xfrm>
            <a:off x="251520" y="1530118"/>
            <a:ext cx="2180928" cy="17009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6243700" y="1530118"/>
            <a:ext cx="2180928" cy="17009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6533344" y="5373216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6" name="Rectangle 15"/>
          <p:cNvSpPr/>
          <p:nvPr/>
        </p:nvSpPr>
        <p:spPr>
          <a:xfrm>
            <a:off x="1043608" y="1888400"/>
            <a:ext cx="1157300" cy="388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 #</a:t>
            </a:r>
            <a:endParaRPr lang="cs-CZ" sz="1200" dirty="0"/>
          </a:p>
        </p:txBody>
      </p:sp>
      <p:sp>
        <p:nvSpPr>
          <p:cNvPr id="20" name="Rectangle 19"/>
          <p:cNvSpPr/>
          <p:nvPr/>
        </p:nvSpPr>
        <p:spPr>
          <a:xfrm>
            <a:off x="2188078" y="331729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MSTSC</a:t>
            </a:r>
            <a:endParaRPr lang="cs-CZ" sz="1050" dirty="0"/>
          </a:p>
        </p:txBody>
      </p:sp>
      <p:sp>
        <p:nvSpPr>
          <p:cNvPr id="28" name="Isosceles Triangle 27"/>
          <p:cNvSpPr/>
          <p:nvPr/>
        </p:nvSpPr>
        <p:spPr>
          <a:xfrm>
            <a:off x="7265820" y="5798808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29" name="Rectangle 28"/>
          <p:cNvSpPr/>
          <p:nvPr/>
        </p:nvSpPr>
        <p:spPr>
          <a:xfrm>
            <a:off x="493382" y="2420888"/>
            <a:ext cx="1157300" cy="3741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tickets</a:t>
            </a:r>
            <a:endParaRPr lang="cs-CZ" sz="1200" dirty="0"/>
          </a:p>
        </p:txBody>
      </p:sp>
      <p:sp>
        <p:nvSpPr>
          <p:cNvPr id="25" name="Up-Down Arrow 24"/>
          <p:cNvSpPr/>
          <p:nvPr/>
        </p:nvSpPr>
        <p:spPr>
          <a:xfrm>
            <a:off x="6990142" y="2795021"/>
            <a:ext cx="468962" cy="3442291"/>
          </a:xfrm>
          <a:prstGeom prst="up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" name="Rectangle 2"/>
          <p:cNvSpPr/>
          <p:nvPr/>
        </p:nvSpPr>
        <p:spPr>
          <a:xfrm>
            <a:off x="2051720" y="2648108"/>
            <a:ext cx="4680520" cy="3488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339752" y="2134461"/>
            <a:ext cx="1244909" cy="5971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Kerberos TGT </a:t>
            </a:r>
            <a:r>
              <a:rPr lang="en-US" sz="1050" dirty="0"/>
              <a:t>required</a:t>
            </a:r>
            <a:endParaRPr lang="cs-CZ" sz="1050" dirty="0"/>
          </a:p>
        </p:txBody>
      </p:sp>
      <p:sp>
        <p:nvSpPr>
          <p:cNvPr id="35" name="Rectangle 34"/>
          <p:cNvSpPr/>
          <p:nvPr/>
        </p:nvSpPr>
        <p:spPr>
          <a:xfrm>
            <a:off x="352329" y="5383207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36" name="Isosceles Triangle 35"/>
          <p:cNvSpPr/>
          <p:nvPr/>
        </p:nvSpPr>
        <p:spPr>
          <a:xfrm>
            <a:off x="1084805" y="5808799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37" name="Up-Down Arrow 36"/>
          <p:cNvSpPr/>
          <p:nvPr/>
        </p:nvSpPr>
        <p:spPr>
          <a:xfrm>
            <a:off x="809127" y="2939038"/>
            <a:ext cx="468962" cy="3308265"/>
          </a:xfrm>
          <a:prstGeom prst="up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1" name="Rectangle 20"/>
          <p:cNvSpPr/>
          <p:nvPr/>
        </p:nvSpPr>
        <p:spPr>
          <a:xfrm>
            <a:off x="7243933" y="4366631"/>
            <a:ext cx="1157300" cy="37413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</a:t>
            </a:r>
            <a:endParaRPr lang="cs-CZ" sz="1200" dirty="0"/>
          </a:p>
        </p:txBody>
      </p:sp>
      <p:sp>
        <p:nvSpPr>
          <p:cNvPr id="22" name="Rectangle 21"/>
          <p:cNvSpPr/>
          <p:nvPr/>
        </p:nvSpPr>
        <p:spPr>
          <a:xfrm>
            <a:off x="7313171" y="4447731"/>
            <a:ext cx="1157300" cy="37413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3181503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RemoteGuard</a:t>
            </a:r>
            <a:r>
              <a:rPr lang="en-US" dirty="0"/>
              <a:t> for </a:t>
            </a:r>
            <a:r>
              <a:rPr lang="en-US" dirty="0">
                <a:solidFill>
                  <a:schemeClr val="accent1"/>
                </a:solidFill>
              </a:rPr>
              <a:t>business users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484784"/>
            <a:ext cx="4968552" cy="522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43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RDP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user</a:t>
            </a:r>
            <a:r>
              <a:rPr lang="en-US" dirty="0"/>
              <a:t> business access to application terminal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must double-hop</a:t>
            </a:r>
          </a:p>
          <a:p>
            <a:pPr lvl="1"/>
            <a:r>
              <a:rPr lang="en-US" dirty="0"/>
              <a:t>RDP SSO</a:t>
            </a:r>
          </a:p>
          <a:p>
            <a:pPr lvl="1"/>
            <a:r>
              <a:rPr lang="en-US" dirty="0"/>
              <a:t>Windows 10/2016+ </a:t>
            </a:r>
            <a:r>
              <a:rPr lang="en-US" dirty="0">
                <a:solidFill>
                  <a:schemeClr val="accent3"/>
                </a:solidFill>
              </a:rPr>
              <a:t>/</a:t>
            </a:r>
            <a:r>
              <a:rPr lang="en-US" dirty="0" err="1">
                <a:solidFill>
                  <a:schemeClr val="accent3"/>
                </a:solidFill>
              </a:rPr>
              <a:t>remoteGuard</a:t>
            </a:r>
            <a:r>
              <a:rPr lang="en-US" dirty="0">
                <a:solidFill>
                  <a:schemeClr val="accent3"/>
                </a:solidFill>
              </a:rPr>
              <a:t> (GPO)</a:t>
            </a:r>
          </a:p>
          <a:p>
            <a:r>
              <a:rPr lang="en-US" dirty="0">
                <a:solidFill>
                  <a:schemeClr val="accent1"/>
                </a:solidFill>
              </a:rPr>
              <a:t>admin</a:t>
            </a:r>
            <a:r>
              <a:rPr lang="en-US" dirty="0"/>
              <a:t> access to insecure machines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must not double-hop</a:t>
            </a:r>
          </a:p>
          <a:p>
            <a:pPr lvl="1"/>
            <a:r>
              <a:rPr lang="en-US" dirty="0"/>
              <a:t>Windows 7/2008R2+ </a:t>
            </a:r>
            <a:r>
              <a:rPr lang="en-US" dirty="0">
                <a:solidFill>
                  <a:schemeClr val="accent3"/>
                </a:solidFill>
              </a:rPr>
              <a:t>/</a:t>
            </a:r>
            <a:r>
              <a:rPr lang="en-US" dirty="0" err="1">
                <a:solidFill>
                  <a:schemeClr val="accent3"/>
                </a:solidFill>
              </a:rPr>
              <a:t>restrictedAdmin</a:t>
            </a:r>
            <a:endParaRPr lang="en-US" dirty="0">
              <a:solidFill>
                <a:schemeClr val="accent3"/>
              </a:solidFill>
            </a:endParaRPr>
          </a:p>
          <a:p>
            <a:pPr lvl="1"/>
            <a:r>
              <a:rPr lang="en-US" dirty="0">
                <a:solidFill>
                  <a:schemeClr val="accent3"/>
                </a:solidFill>
              </a:rPr>
              <a:t>Enter-</a:t>
            </a:r>
            <a:r>
              <a:rPr lang="en-US" dirty="0" err="1">
                <a:solidFill>
                  <a:schemeClr val="accent3"/>
                </a:solidFill>
              </a:rPr>
              <a:t>PSSession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2323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Kerberos </a:t>
            </a:r>
            <a:r>
              <a:rPr lang="en-US" dirty="0">
                <a:solidFill>
                  <a:schemeClr val="accent1"/>
                </a:solidFill>
              </a:rPr>
              <a:t>un</a:t>
            </a:r>
            <a:r>
              <a:rPr lang="en-US" dirty="0"/>
              <a:t>constrained delegation</a:t>
            </a:r>
            <a:endParaRPr lang="cs-CZ" dirty="0">
              <a:solidFill>
                <a:schemeClr val="accent1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1725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Trust this user/computer for delegation to any service (Kerberos only)</a:t>
            </a:r>
            <a:endParaRPr lang="cs-CZ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890" y="1484784"/>
            <a:ext cx="6642110" cy="5373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44824"/>
            <a:ext cx="20446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userAccountControl</a:t>
            </a:r>
            <a:r>
              <a:rPr lang="en-US" sz="1600" dirty="0"/>
              <a:t> flag</a:t>
            </a:r>
          </a:p>
          <a:p>
            <a:r>
              <a:rPr lang="en-US" sz="1600" dirty="0"/>
              <a:t>ADS_UF_TRUSTED_FOR_DELEGATION = </a:t>
            </a:r>
            <a:r>
              <a:rPr lang="cs-CZ" sz="1600" dirty="0">
                <a:solidFill>
                  <a:schemeClr val="accent1"/>
                </a:solidFill>
              </a:rPr>
              <a:t>524288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= 0x80000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2630925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0A2F98-8B40-4A57-872C-5BD85CDD563B}"/>
              </a:ext>
            </a:extLst>
          </p:cNvPr>
          <p:cNvSpPr/>
          <p:nvPr/>
        </p:nvSpPr>
        <p:spPr>
          <a:xfrm>
            <a:off x="2019874" y="1556792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</a:t>
            </a:r>
            <a:endParaRPr lang="cs-CZ" sz="1200" dirty="0"/>
          </a:p>
        </p:txBody>
      </p:sp>
      <p:sp>
        <p:nvSpPr>
          <p:cNvPr id="19" name="Rectangle 18"/>
          <p:cNvSpPr/>
          <p:nvPr/>
        </p:nvSpPr>
        <p:spPr>
          <a:xfrm>
            <a:off x="4189218" y="1196752"/>
            <a:ext cx="1321272" cy="8332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LSASS</a:t>
            </a:r>
            <a:endParaRPr lang="cs-CZ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Kerberos </a:t>
            </a:r>
            <a:r>
              <a:rPr lang="en-US" dirty="0">
                <a:solidFill>
                  <a:schemeClr val="accent1"/>
                </a:solidFill>
              </a:rPr>
              <a:t>un</a:t>
            </a:r>
            <a:r>
              <a:rPr lang="en-US" dirty="0"/>
              <a:t>constrained delegation (DFL 2000+)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4283968" y="1509670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F:TGT</a:t>
            </a:r>
            <a:endParaRPr lang="cs-CZ" sz="1200" dirty="0"/>
          </a:p>
        </p:txBody>
      </p:sp>
      <p:sp>
        <p:nvSpPr>
          <p:cNvPr id="20" name="Rectangle 19"/>
          <p:cNvSpPr/>
          <p:nvPr/>
        </p:nvSpPr>
        <p:spPr>
          <a:xfrm>
            <a:off x="5796136" y="2354052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  <a:endParaRPr lang="cs-CZ" sz="1200" dirty="0"/>
          </a:p>
        </p:txBody>
      </p:sp>
      <p:sp>
        <p:nvSpPr>
          <p:cNvPr id="21" name="Rectangle 20"/>
          <p:cNvSpPr/>
          <p:nvPr/>
        </p:nvSpPr>
        <p:spPr>
          <a:xfrm>
            <a:off x="2163890" y="1927176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F:TGT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2977016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2019874" y="1556792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</a:t>
            </a:r>
            <a:endParaRPr lang="cs-CZ" sz="1200" dirty="0"/>
          </a:p>
        </p:txBody>
      </p:sp>
      <p:sp>
        <p:nvSpPr>
          <p:cNvPr id="19" name="Rectangle 18"/>
          <p:cNvSpPr/>
          <p:nvPr/>
        </p:nvSpPr>
        <p:spPr>
          <a:xfrm>
            <a:off x="4189218" y="1196752"/>
            <a:ext cx="1321272" cy="8332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LSASS</a:t>
            </a:r>
            <a:endParaRPr lang="cs-CZ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Kerberos </a:t>
            </a:r>
            <a:r>
              <a:rPr lang="en-US" dirty="0">
                <a:solidFill>
                  <a:schemeClr val="accent1"/>
                </a:solidFill>
              </a:rPr>
              <a:t>un</a:t>
            </a:r>
            <a:r>
              <a:rPr lang="en-US" dirty="0"/>
              <a:t>constrained delegation (DFL 2000+)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4283968" y="1509670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F:TGT</a:t>
            </a:r>
            <a:endParaRPr lang="cs-CZ" sz="1200" dirty="0"/>
          </a:p>
        </p:txBody>
      </p:sp>
      <p:sp>
        <p:nvSpPr>
          <p:cNvPr id="21" name="Rectangle 20"/>
          <p:cNvSpPr/>
          <p:nvPr/>
        </p:nvSpPr>
        <p:spPr>
          <a:xfrm>
            <a:off x="2163890" y="1927176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F:TGT</a:t>
            </a:r>
            <a:endParaRPr lang="cs-CZ" sz="1200" dirty="0"/>
          </a:p>
        </p:txBody>
      </p:sp>
      <p:sp>
        <p:nvSpPr>
          <p:cNvPr id="22" name="Down Arrow 21"/>
          <p:cNvSpPr/>
          <p:nvPr/>
        </p:nvSpPr>
        <p:spPr>
          <a:xfrm>
            <a:off x="42839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Down Arrow 22"/>
          <p:cNvSpPr/>
          <p:nvPr/>
        </p:nvSpPr>
        <p:spPr>
          <a:xfrm rot="10800000">
            <a:off x="4572000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Rectangle 24"/>
          <p:cNvSpPr/>
          <p:nvPr/>
        </p:nvSpPr>
        <p:spPr>
          <a:xfrm>
            <a:off x="4716016" y="3255522"/>
            <a:ext cx="1972296" cy="8335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F:TGT encrypted</a:t>
            </a:r>
            <a:endParaRPr lang="cs-CZ" sz="1200" dirty="0"/>
          </a:p>
        </p:txBody>
      </p:sp>
      <p:sp>
        <p:nvSpPr>
          <p:cNvPr id="26" name="Rectangle 25"/>
          <p:cNvSpPr/>
          <p:nvPr/>
        </p:nvSpPr>
        <p:spPr>
          <a:xfrm>
            <a:off x="4816104" y="3574640"/>
            <a:ext cx="1728192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TGS:Kamil:BackEnd</a:t>
            </a:r>
            <a:endParaRPr lang="cs-CZ" sz="1200" dirty="0"/>
          </a:p>
        </p:txBody>
      </p:sp>
      <p:sp>
        <p:nvSpPr>
          <p:cNvPr id="27" name="Rectangle 26"/>
          <p:cNvSpPr/>
          <p:nvPr/>
        </p:nvSpPr>
        <p:spPr>
          <a:xfrm>
            <a:off x="5461756" y="2390434"/>
            <a:ext cx="1728192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TGS:Kamil:BackEnd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3202630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494928"/>
          </a:xfrm>
        </p:spPr>
        <p:txBody>
          <a:bodyPr>
            <a:noAutofit/>
          </a:bodyPr>
          <a:lstStyle/>
          <a:p>
            <a:r>
              <a:rPr lang="en-US" sz="2000" dirty="0"/>
              <a:t>Unconstrained delegation allowed on TGS ticket and the F:TGT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27" y="908720"/>
            <a:ext cx="8949674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49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 dirty="0"/>
              <a:t>Account is sensitive and cannot be delegated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protect all</a:t>
            </a:r>
            <a:br>
              <a:rPr lang="en-US" dirty="0"/>
            </a:br>
            <a:r>
              <a:rPr lang="en-US" dirty="0"/>
              <a:t>administrative accounts</a:t>
            </a:r>
          </a:p>
          <a:p>
            <a:pPr lvl="1"/>
            <a:r>
              <a:rPr lang="en-US" sz="1600" dirty="0" err="1">
                <a:solidFill>
                  <a:schemeClr val="accent1"/>
                </a:solidFill>
              </a:rPr>
              <a:t>userAccountControl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flag</a:t>
            </a:r>
            <a:br>
              <a:rPr lang="en-US" sz="1600" dirty="0"/>
            </a:br>
            <a:r>
              <a:rPr lang="cs-CZ" sz="1800" dirty="0"/>
              <a:t>ADS_UF_NOT_DELEGATED</a:t>
            </a:r>
            <a:br>
              <a:rPr lang="en-US" sz="1800" dirty="0"/>
            </a:br>
            <a:r>
              <a:rPr lang="cs-CZ" sz="1800" dirty="0"/>
              <a:t>= </a:t>
            </a:r>
            <a:r>
              <a:rPr lang="cs-CZ" sz="1800" dirty="0">
                <a:solidFill>
                  <a:schemeClr val="accent1"/>
                </a:solidFill>
              </a:rPr>
              <a:t>1048576</a:t>
            </a:r>
            <a:r>
              <a:rPr lang="cs-CZ" sz="1800" dirty="0"/>
              <a:t> = 0x100000</a:t>
            </a:r>
            <a:endParaRPr lang="en-US" sz="1800" dirty="0"/>
          </a:p>
          <a:p>
            <a:pPr lvl="1"/>
            <a:endParaRPr lang="en-US" sz="1800" dirty="0"/>
          </a:p>
          <a:p>
            <a:r>
              <a:rPr lang="en-US" sz="2200" dirty="0"/>
              <a:t>Protected Users</a:t>
            </a:r>
          </a:p>
          <a:p>
            <a:pPr lvl="1"/>
            <a:r>
              <a:rPr lang="en-US" sz="1800" dirty="0"/>
              <a:t>blocks delegation since</a:t>
            </a:r>
            <a:br>
              <a:rPr lang="en-US" sz="1800" dirty="0"/>
            </a:br>
            <a:r>
              <a:rPr lang="en-US" sz="1800" dirty="0"/>
              <a:t>DFL 2012 R2</a:t>
            </a:r>
            <a:endParaRPr lang="cs-CZ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076" y="980728"/>
            <a:ext cx="4599926" cy="589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49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Un</a:t>
            </a:r>
            <a:r>
              <a:rPr lang="en-US" dirty="0"/>
              <a:t>constrained delegation for </a:t>
            </a:r>
            <a:r>
              <a:rPr lang="en-US" dirty="0">
                <a:solidFill>
                  <a:schemeClr val="accent5"/>
                </a:solidFill>
              </a:rPr>
              <a:t>user</a:t>
            </a:r>
            <a:r>
              <a:rPr lang="en-US" dirty="0"/>
              <a:t> accounts from different </a:t>
            </a:r>
            <a:r>
              <a:rPr lang="en-US" dirty="0">
                <a:solidFill>
                  <a:schemeClr val="accent1"/>
                </a:solidFill>
              </a:rPr>
              <a:t>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disabled by default since DC 2016+</a:t>
            </a:r>
          </a:p>
          <a:p>
            <a:r>
              <a:rPr lang="en-US" dirty="0"/>
              <a:t>enable on the trust manually on both sides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netdom.exe trust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localDomain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/domain:&lt;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remoteDomain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EnableTGTDelegation:Yes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4918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Un</a:t>
            </a:r>
            <a:r>
              <a:rPr lang="en-US" dirty="0"/>
              <a:t>constrained delegation with </a:t>
            </a:r>
            <a:r>
              <a:rPr lang="en-US" dirty="0">
                <a:solidFill>
                  <a:schemeClr val="accent1"/>
                </a:solidFill>
              </a:rPr>
              <a:t>Chrome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Edge</a:t>
            </a:r>
            <a:r>
              <a:rPr lang="en-US" dirty="0"/>
              <a:t> (Chromium)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HKEY_LOCAL_MACHINE\SOFTWARE\Policies\Google\</a:t>
            </a:r>
            <a:r>
              <a:rPr lang="en-U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Chrome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AuthNegotiateDelegate</a:t>
            </a:r>
            <a:r>
              <a:rPr lang="en-US" sz="20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en-US" sz="20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20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REG_SZ</a:t>
            </a:r>
          </a:p>
          <a:p>
            <a:pPr lvl="1"/>
            <a:r>
              <a:rPr lang="en-US" dirty="0"/>
              <a:t>comma separated URLs, wildcards allowed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HKEY_LOCAL_MACHINE\Software\Policies\Microsoft\</a:t>
            </a:r>
            <a:r>
              <a:rPr lang="en-US" sz="20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Edge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AuthNegotiateDelegate</a:t>
            </a:r>
            <a:r>
              <a:rPr lang="en-US" sz="20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Allow</a:t>
            </a:r>
            <a:r>
              <a:rPr lang="en-US" sz="20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20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REG_SZ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comma separated URLs, wildcards allowed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 err="1">
                <a:solidFill>
                  <a:schemeClr val="accent2"/>
                </a:solidFill>
              </a:rPr>
              <a:t>A</a:t>
            </a:r>
            <a:r>
              <a:rPr lang="en-US" dirty="0" err="1">
                <a:solidFill>
                  <a:schemeClr val="accent4"/>
                </a:solidFill>
              </a:rPr>
              <a:t>uth</a:t>
            </a:r>
            <a:r>
              <a:rPr lang="en-US" dirty="0" err="1">
                <a:solidFill>
                  <a:schemeClr val="accent2"/>
                </a:solidFill>
              </a:rPr>
              <a:t>N</a:t>
            </a:r>
            <a:r>
              <a:rPr lang="en-US" dirty="0" err="1">
                <a:solidFill>
                  <a:schemeClr val="accent4"/>
                </a:solidFill>
              </a:rPr>
              <a:t>egotiate</a:t>
            </a:r>
            <a:r>
              <a:rPr lang="en-US" dirty="0" err="1">
                <a:solidFill>
                  <a:schemeClr val="accent2"/>
                </a:solidFill>
              </a:rPr>
              <a:t>D</a:t>
            </a:r>
            <a:r>
              <a:rPr lang="en-US" dirty="0" err="1">
                <a:solidFill>
                  <a:schemeClr val="accent4"/>
                </a:solidFill>
              </a:rPr>
              <a:t>elegate</a:t>
            </a:r>
            <a:r>
              <a:rPr lang="en-US" dirty="0" err="1">
                <a:solidFill>
                  <a:schemeClr val="accent2"/>
                </a:solidFill>
              </a:rPr>
              <a:t>A</a:t>
            </a:r>
            <a:r>
              <a:rPr lang="en-US" dirty="0" err="1">
                <a:solidFill>
                  <a:schemeClr val="accent4"/>
                </a:solidFill>
              </a:rPr>
              <a:t>llow</a:t>
            </a:r>
            <a:r>
              <a:rPr lang="en-US" dirty="0" err="1">
                <a:solidFill>
                  <a:schemeClr val="accent2"/>
                </a:solidFill>
              </a:rPr>
              <a:t>l</a:t>
            </a:r>
            <a:r>
              <a:rPr lang="en-US" dirty="0" err="1">
                <a:solidFill>
                  <a:schemeClr val="accent4"/>
                </a:solidFill>
              </a:rPr>
              <a:t>ist</a:t>
            </a:r>
            <a:r>
              <a:rPr lang="en-US" dirty="0">
                <a:solidFill>
                  <a:schemeClr val="accent4"/>
                </a:solidFill>
              </a:rPr>
              <a:t> case sensitive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218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Un</a:t>
            </a:r>
            <a:r>
              <a:rPr lang="en-US" dirty="0"/>
              <a:t>constrained delegation with </a:t>
            </a:r>
            <a:r>
              <a:rPr lang="en-US" dirty="0" err="1">
                <a:solidFill>
                  <a:schemeClr val="accent1"/>
                </a:solidFill>
              </a:rPr>
              <a:t>FireFox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about:config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NEGO (Kerberos) at all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network.negotiate-auth.trusted-uris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gopas.cz,gopas.virtual,canteen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forward F:TGT to URIs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network.negotiate-auth.delegation-uris</a:t>
            </a:r>
            <a:endParaRPr lang="en-US" sz="20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gopas.cz,gopas.virtual,canteen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9121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Double-hop security compared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897319"/>
              </p:ext>
            </p:extLst>
          </p:nvPr>
        </p:nvGraphicFramePr>
        <p:xfrm>
          <a:off x="457200" y="1397001"/>
          <a:ext cx="8229600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8776">
                  <a:extLst>
                    <a:ext uri="{9D8B030D-6E8A-4147-A177-3AD203B41FA5}">
                      <a16:colId xmlns:a16="http://schemas.microsoft.com/office/drawing/2014/main" val="1763118182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2311107023"/>
                    </a:ext>
                  </a:extLst>
                </a:gridCol>
              </a:tblGrid>
              <a:tr h="300859">
                <a:tc>
                  <a:txBody>
                    <a:bodyPr/>
                    <a:lstStyle/>
                    <a:p>
                      <a:r>
                        <a:rPr lang="en-US" sz="1400" dirty="0"/>
                        <a:t>Delegation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869069"/>
                  </a:ext>
                </a:extLst>
              </a:tr>
              <a:tr h="1011060">
                <a:tc>
                  <a:txBody>
                    <a:bodyPr/>
                    <a:lstStyle/>
                    <a:p>
                      <a:r>
                        <a:rPr lang="en-US" sz="1400" dirty="0"/>
                        <a:t>basic</a:t>
                      </a:r>
                      <a:r>
                        <a:rPr lang="en-US" sz="1400" baseline="0" dirty="0"/>
                        <a:t> delegation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SSO</a:t>
                      </a:r>
                    </a:p>
                    <a:p>
                      <a:r>
                        <a:rPr lang="en-US" sz="1400" dirty="0"/>
                        <a:t>must type on insecure client</a:t>
                      </a:r>
                    </a:p>
                    <a:p>
                      <a:r>
                        <a:rPr lang="en-US" sz="1400" dirty="0"/>
                        <a:t>steal password on client (user)</a:t>
                      </a:r>
                      <a:endParaRPr lang="en-US" sz="1400" baseline="0" dirty="0"/>
                    </a:p>
                    <a:p>
                      <a:r>
                        <a:rPr lang="en-US" sz="1400" baseline="0" dirty="0"/>
                        <a:t>steal password on server</a:t>
                      </a:r>
                    </a:p>
                    <a:p>
                      <a:r>
                        <a:rPr lang="en-US" sz="1400" baseline="0" dirty="0"/>
                        <a:t>SSO injection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743506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r>
                        <a:rPr lang="en-US" sz="1400" dirty="0"/>
                        <a:t>RDP SSO </a:t>
                      </a:r>
                      <a:r>
                        <a:rPr lang="en-US" sz="1400" dirty="0" err="1"/>
                        <a:t>CredSSP</a:t>
                      </a:r>
                      <a:r>
                        <a:rPr lang="en-US" sz="1400" dirty="0"/>
                        <a:t> credential delegation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SSO</a:t>
                      </a:r>
                    </a:p>
                    <a:p>
                      <a:r>
                        <a:rPr lang="en-US" sz="1400" dirty="0"/>
                        <a:t>password kept in LSASS memory</a:t>
                      </a:r>
                    </a:p>
                    <a:p>
                      <a:r>
                        <a:rPr lang="en-US" sz="1400" dirty="0"/>
                        <a:t>steal password on client</a:t>
                      </a:r>
                      <a:r>
                        <a:rPr lang="en-US" sz="1400" baseline="0" dirty="0"/>
                        <a:t> (admin)</a:t>
                      </a:r>
                    </a:p>
                    <a:p>
                      <a:r>
                        <a:rPr lang="en-US" sz="1400" baseline="0" dirty="0"/>
                        <a:t>steal password on server</a:t>
                      </a:r>
                    </a:p>
                    <a:p>
                      <a:r>
                        <a:rPr lang="en-US" sz="1400" baseline="0" dirty="0"/>
                        <a:t>SSO injection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869980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r>
                        <a:rPr lang="en-US" sz="1400" dirty="0"/>
                        <a:t>RDP </a:t>
                      </a:r>
                      <a:r>
                        <a:rPr lang="en-US" sz="1400" dirty="0" err="1"/>
                        <a:t>RemoteGuard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SSO</a:t>
                      </a:r>
                    </a:p>
                    <a:p>
                      <a:r>
                        <a:rPr lang="en-US" sz="1400" dirty="0"/>
                        <a:t>TGT only connected to server</a:t>
                      </a:r>
                    </a:p>
                    <a:p>
                      <a:r>
                        <a:rPr lang="en-US" sz="1400" dirty="0"/>
                        <a:t>steal TGT on client (admin)</a:t>
                      </a:r>
                    </a:p>
                    <a:p>
                      <a:r>
                        <a:rPr lang="en-US" sz="1400" dirty="0"/>
                        <a:t>SSO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88399"/>
                  </a:ext>
                </a:extLst>
              </a:tr>
              <a:tr h="337060">
                <a:tc>
                  <a:txBody>
                    <a:bodyPr/>
                    <a:lstStyle/>
                    <a:p>
                      <a:r>
                        <a:rPr lang="en-US" sz="1400" dirty="0"/>
                        <a:t>Kerberos</a:t>
                      </a:r>
                      <a:r>
                        <a:rPr lang="en-US" sz="1400" baseline="0" dirty="0"/>
                        <a:t> unconstrained delegation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SSO</a:t>
                      </a:r>
                    </a:p>
                    <a:p>
                      <a:r>
                        <a:rPr lang="en-US" sz="1400" dirty="0"/>
                        <a:t>TGT forwarded to server</a:t>
                      </a:r>
                    </a:p>
                    <a:p>
                      <a:r>
                        <a:rPr lang="en-US" sz="1400" dirty="0"/>
                        <a:t>steal TGT on client (admin)</a:t>
                      </a:r>
                    </a:p>
                    <a:p>
                      <a:r>
                        <a:rPr lang="en-US" sz="1400" dirty="0"/>
                        <a:t>steal TGT on server</a:t>
                      </a:r>
                    </a:p>
                    <a:p>
                      <a:r>
                        <a:rPr lang="en-US" sz="1400" dirty="0"/>
                        <a:t>SSO injection block on accounts (Protected Users)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4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9772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Kerberos constrained delegation</a:t>
            </a:r>
            <a:endParaRPr lang="cs-CZ" dirty="0">
              <a:solidFill>
                <a:schemeClr val="accent1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7560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Trust this user/computer for delegation to specified services only (</a:t>
            </a:r>
            <a:r>
              <a:rPr lang="en-US" dirty="0">
                <a:solidFill>
                  <a:schemeClr val="accent1"/>
                </a:solidFill>
              </a:rPr>
              <a:t>use Kerberos only</a:t>
            </a:r>
            <a:r>
              <a:rPr lang="en-US" dirty="0"/>
              <a:t>)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1532585"/>
            <a:ext cx="5848325" cy="53254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44824"/>
            <a:ext cx="2530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msDS-AllowedToDelegateTo</a:t>
            </a:r>
            <a:r>
              <a:rPr lang="en-US" sz="1600" dirty="0"/>
              <a:t> attribute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1019802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189218" y="1196752"/>
            <a:ext cx="1602560" cy="8332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LSASS</a:t>
            </a:r>
            <a:endParaRPr lang="cs-CZ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Kerberos constrained delegation (DFL 200</a:t>
            </a:r>
            <a:r>
              <a:rPr lang="cs-CZ" dirty="0"/>
              <a:t>3</a:t>
            </a:r>
            <a:r>
              <a:rPr lang="en-US" dirty="0"/>
              <a:t>+)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4283968" y="1509670"/>
            <a:ext cx="1414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TGS:Kamil:Server</a:t>
            </a:r>
            <a:endParaRPr lang="cs-CZ" sz="1200" dirty="0"/>
          </a:p>
        </p:txBody>
      </p:sp>
      <p:sp>
        <p:nvSpPr>
          <p:cNvPr id="20" name="Rectangle 19"/>
          <p:cNvSpPr/>
          <p:nvPr/>
        </p:nvSpPr>
        <p:spPr>
          <a:xfrm>
            <a:off x="5796136" y="2354052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  <a:endParaRPr lang="cs-CZ" sz="1200" dirty="0"/>
          </a:p>
        </p:txBody>
      </p:sp>
      <p:sp>
        <p:nvSpPr>
          <p:cNvPr id="21" name="Rectangle 20"/>
          <p:cNvSpPr/>
          <p:nvPr/>
        </p:nvSpPr>
        <p:spPr>
          <a:xfrm>
            <a:off x="1979712" y="1927176"/>
            <a:ext cx="1434988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TGS</a:t>
            </a:r>
            <a:r>
              <a:rPr lang="en-US" sz="1200" dirty="0"/>
              <a:t>:</a:t>
            </a:r>
            <a:r>
              <a:rPr lang="en-US" sz="1200" dirty="0" err="1"/>
              <a:t>Kamil:Server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3794342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189218" y="1196752"/>
            <a:ext cx="1321272" cy="8332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LSASS</a:t>
            </a:r>
            <a:endParaRPr lang="cs-CZ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Kerberos constrained delegation (DFL 200</a:t>
            </a:r>
            <a:r>
              <a:rPr lang="cs-CZ" dirty="0"/>
              <a:t>3</a:t>
            </a:r>
            <a:r>
              <a:rPr lang="en-US" dirty="0"/>
              <a:t>+)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Down Arrow 21"/>
          <p:cNvSpPr/>
          <p:nvPr/>
        </p:nvSpPr>
        <p:spPr>
          <a:xfrm>
            <a:off x="4283968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Down Arrow 22"/>
          <p:cNvSpPr/>
          <p:nvPr/>
        </p:nvSpPr>
        <p:spPr>
          <a:xfrm rot="10800000">
            <a:off x="4572000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Rectangle 23"/>
          <p:cNvSpPr/>
          <p:nvPr/>
        </p:nvSpPr>
        <p:spPr>
          <a:xfrm>
            <a:off x="4716016" y="3255522"/>
            <a:ext cx="1972296" cy="83351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Server encrypted</a:t>
            </a:r>
            <a:endParaRPr lang="cs-CZ" sz="1200" dirty="0"/>
          </a:p>
        </p:txBody>
      </p:sp>
      <p:sp>
        <p:nvSpPr>
          <p:cNvPr id="25" name="Rectangle 24"/>
          <p:cNvSpPr/>
          <p:nvPr/>
        </p:nvSpPr>
        <p:spPr>
          <a:xfrm>
            <a:off x="4816104" y="3574640"/>
            <a:ext cx="1728192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TGS:Kamil:BackEnd</a:t>
            </a:r>
            <a:endParaRPr lang="cs-CZ" sz="1200" dirty="0"/>
          </a:p>
        </p:txBody>
      </p:sp>
      <p:sp>
        <p:nvSpPr>
          <p:cNvPr id="26" name="Rectangle 25"/>
          <p:cNvSpPr/>
          <p:nvPr/>
        </p:nvSpPr>
        <p:spPr>
          <a:xfrm>
            <a:off x="4283968" y="1509670"/>
            <a:ext cx="1414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TGS:Kamil:Server</a:t>
            </a:r>
            <a:endParaRPr lang="cs-CZ" sz="1200" dirty="0"/>
          </a:p>
        </p:txBody>
      </p:sp>
      <p:sp>
        <p:nvSpPr>
          <p:cNvPr id="27" name="Rectangle 26"/>
          <p:cNvSpPr/>
          <p:nvPr/>
        </p:nvSpPr>
        <p:spPr>
          <a:xfrm>
            <a:off x="1979712" y="1927176"/>
            <a:ext cx="1434988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TGS</a:t>
            </a:r>
            <a:r>
              <a:rPr lang="en-US" sz="1200" dirty="0"/>
              <a:t>:</a:t>
            </a:r>
            <a:r>
              <a:rPr lang="en-US" sz="1200" dirty="0" err="1"/>
              <a:t>Kamil:Server</a:t>
            </a:r>
            <a:endParaRPr lang="cs-CZ" sz="1200" dirty="0"/>
          </a:p>
        </p:txBody>
      </p:sp>
      <p:sp>
        <p:nvSpPr>
          <p:cNvPr id="28" name="Rectangle 27"/>
          <p:cNvSpPr/>
          <p:nvPr/>
        </p:nvSpPr>
        <p:spPr>
          <a:xfrm>
            <a:off x="5461756" y="2377398"/>
            <a:ext cx="1728192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TGS:Kamil:BackEnd</a:t>
            </a:r>
            <a:endParaRPr lang="cs-CZ" sz="1200" dirty="0"/>
          </a:p>
        </p:txBody>
      </p:sp>
      <p:sp>
        <p:nvSpPr>
          <p:cNvPr id="21" name="Rectangle 20"/>
          <p:cNvSpPr/>
          <p:nvPr/>
        </p:nvSpPr>
        <p:spPr>
          <a:xfrm>
            <a:off x="3013683" y="3312014"/>
            <a:ext cx="1414300" cy="62104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S4U</a:t>
            </a:r>
          </a:p>
          <a:p>
            <a:pPr algn="ctr"/>
            <a:r>
              <a:rPr lang="en-US" sz="1200" dirty="0" err="1"/>
              <a:t>TGS:Kamil:Server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35796828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Constrained delegation requirements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Server</a:t>
            </a:r>
            <a:r>
              <a:rPr lang="en-US" dirty="0"/>
              <a:t> account must read </a:t>
            </a:r>
            <a:r>
              <a:rPr lang="en-US" dirty="0" err="1"/>
              <a:t>tokenGroupsGlobalAndUniversal</a:t>
            </a:r>
            <a:r>
              <a:rPr lang="en-US" dirty="0"/>
              <a:t> attribute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Windows Authorization Access Group (WAAG)</a:t>
            </a:r>
          </a:p>
          <a:p>
            <a:r>
              <a:rPr lang="en-US" dirty="0"/>
              <a:t>Client </a:t>
            </a:r>
            <a:r>
              <a:rPr lang="en-US" dirty="0">
                <a:solidFill>
                  <a:schemeClr val="accent1"/>
                </a:solidFill>
              </a:rPr>
              <a:t>user account </a:t>
            </a:r>
            <a:r>
              <a:rPr lang="en-US" dirty="0"/>
              <a:t>must </a:t>
            </a:r>
            <a:r>
              <a:rPr lang="en-US" dirty="0">
                <a:solidFill>
                  <a:schemeClr val="accent1"/>
                </a:solidFill>
              </a:rPr>
              <a:t>not</a:t>
            </a:r>
            <a:r>
              <a:rPr lang="en-US" dirty="0"/>
              <a:t> have delegation prohibited </a:t>
            </a:r>
            <a:r>
              <a:rPr lang="en-US" dirty="0" err="1"/>
              <a:t>userAccountControl</a:t>
            </a:r>
            <a:r>
              <a:rPr lang="en-US" dirty="0"/>
              <a:t> attribute</a:t>
            </a:r>
          </a:p>
          <a:p>
            <a:pPr lvl="1"/>
            <a:r>
              <a:rPr lang="cs-CZ" dirty="0"/>
              <a:t>ADS_UF_NOT_DELEGATED</a:t>
            </a:r>
            <a:r>
              <a:rPr lang="en-US" dirty="0"/>
              <a:t> = </a:t>
            </a:r>
            <a:r>
              <a:rPr lang="cs-CZ" dirty="0"/>
              <a:t>1048576</a:t>
            </a:r>
            <a:r>
              <a:rPr lang="en-US" dirty="0"/>
              <a:t> = 0x100000</a:t>
            </a:r>
            <a:endParaRPr lang="cs-CZ" dirty="0"/>
          </a:p>
          <a:p>
            <a:r>
              <a:rPr lang="cs-CZ" dirty="0"/>
              <a:t>If using IIS Kernel Mode Authentication</a:t>
            </a:r>
            <a:r>
              <a:rPr lang="en-US" dirty="0"/>
              <a:t> + AD user account</a:t>
            </a:r>
            <a:endParaRPr lang="cs-CZ" dirty="0"/>
          </a:p>
          <a:p>
            <a:pPr lvl="1"/>
            <a:r>
              <a:rPr lang="cs-CZ" dirty="0"/>
              <a:t>must enable </a:t>
            </a:r>
            <a:r>
              <a:rPr lang="cs-CZ" dirty="0">
                <a:solidFill>
                  <a:schemeClr val="accent1"/>
                </a:solidFill>
              </a:rPr>
              <a:t>useAppPoolCredentials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971357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Best practice hints for Kerberos constrained delegation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Full restart </a:t>
            </a:r>
            <a:r>
              <a:rPr lang="en-US" dirty="0"/>
              <a:t>of the </a:t>
            </a:r>
            <a:r>
              <a:rPr lang="en-US" dirty="0">
                <a:solidFill>
                  <a:schemeClr val="accent1"/>
                </a:solidFill>
              </a:rPr>
              <a:t>Server</a:t>
            </a:r>
            <a:r>
              <a:rPr lang="en-US" dirty="0"/>
              <a:t> always</a:t>
            </a:r>
          </a:p>
          <a:p>
            <a:r>
              <a:rPr lang="en-US" dirty="0">
                <a:solidFill>
                  <a:schemeClr val="accent1"/>
                </a:solidFill>
              </a:rPr>
              <a:t>Static TCP</a:t>
            </a:r>
            <a:r>
              <a:rPr lang="en-US" dirty="0"/>
              <a:t> port for </a:t>
            </a:r>
            <a:r>
              <a:rPr lang="en-US" dirty="0">
                <a:solidFill>
                  <a:schemeClr val="accent1"/>
                </a:solidFill>
              </a:rPr>
              <a:t>SQL</a:t>
            </a:r>
            <a:r>
              <a:rPr lang="en-US" dirty="0"/>
              <a:t> servers</a:t>
            </a:r>
          </a:p>
          <a:p>
            <a:r>
              <a:rPr lang="en-US" dirty="0"/>
              <a:t>With </a:t>
            </a:r>
            <a:r>
              <a:rPr lang="en-US" dirty="0">
                <a:solidFill>
                  <a:schemeClr val="accent1"/>
                </a:solidFill>
              </a:rPr>
              <a:t>DFL 2003 </a:t>
            </a:r>
            <a:r>
              <a:rPr lang="en-US" dirty="0"/>
              <a:t>explicitly </a:t>
            </a:r>
            <a:r>
              <a:rPr lang="en-US" dirty="0">
                <a:solidFill>
                  <a:schemeClr val="accent1"/>
                </a:solidFill>
              </a:rPr>
              <a:t>disable AES </a:t>
            </a:r>
            <a:r>
              <a:rPr lang="en-US" dirty="0"/>
              <a:t>for the </a:t>
            </a:r>
            <a:r>
              <a:rPr lang="en-US" dirty="0">
                <a:solidFill>
                  <a:schemeClr val="accent1"/>
                </a:solidFill>
              </a:rPr>
              <a:t>Server</a:t>
            </a:r>
          </a:p>
          <a:p>
            <a:r>
              <a:rPr lang="en-US" dirty="0"/>
              <a:t>Protect </a:t>
            </a:r>
            <a:r>
              <a:rPr lang="en-US" dirty="0">
                <a:solidFill>
                  <a:schemeClr val="accent1"/>
                </a:solidFill>
              </a:rPr>
              <a:t>sensitive accounts </a:t>
            </a:r>
            <a:r>
              <a:rPr lang="en-US" dirty="0"/>
              <a:t>against being delegated</a:t>
            </a:r>
          </a:p>
          <a:p>
            <a:endParaRPr lang="en-US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654454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Constrained delegation </a:t>
            </a:r>
            <a:r>
              <a:rPr lang="en-US" dirty="0"/>
              <a:t>to </a:t>
            </a:r>
            <a:r>
              <a:rPr lang="en-US" dirty="0">
                <a:solidFill>
                  <a:schemeClr val="accent5"/>
                </a:solidFill>
              </a:rPr>
              <a:t>SMB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server</a:t>
            </a:r>
            <a:r>
              <a:rPr lang="en-US" dirty="0"/>
              <a:t>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front-end SPN on user/</a:t>
            </a:r>
            <a:r>
              <a:rPr lang="en-US" dirty="0" err="1"/>
              <a:t>gmsa</a:t>
            </a:r>
            <a:r>
              <a:rPr lang="en-US" dirty="0"/>
              <a:t> account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no </a:t>
            </a:r>
            <a:r>
              <a:rPr lang="en-US" dirty="0"/>
              <a:t>domain/</a:t>
            </a:r>
            <a:r>
              <a:rPr lang="en-US" dirty="0" err="1"/>
              <a:t>gmsa</a:t>
            </a:r>
            <a:r>
              <a:rPr lang="en-US" dirty="0"/>
              <a:t> account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no</a:t>
            </a:r>
            <a:r>
              <a:rPr lang="en-US" dirty="0"/>
              <a:t> domain/</a:t>
            </a:r>
            <a:r>
              <a:rPr lang="en-US" dirty="0" err="1"/>
              <a:t>gmsa</a:t>
            </a:r>
            <a:r>
              <a:rPr lang="en-US" dirty="0"/>
              <a:t> account + Kernel Mode + </a:t>
            </a:r>
            <a:r>
              <a:rPr lang="en-US" dirty="0" err="1"/>
              <a:t>UseAppPoolCredentials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front-end SPN on computer account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  <a:r>
              <a:rPr lang="en-US" dirty="0"/>
              <a:t> domain/</a:t>
            </a:r>
            <a:r>
              <a:rPr lang="en-US" dirty="0" err="1"/>
              <a:t>gmsa</a:t>
            </a:r>
            <a:r>
              <a:rPr lang="en-US" dirty="0"/>
              <a:t> account + Kernel Mode</a:t>
            </a:r>
          </a:p>
          <a:p>
            <a:pPr lvl="2"/>
            <a:r>
              <a:rPr lang="en-US" dirty="0"/>
              <a:t>since 2012+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  <a:r>
              <a:rPr lang="en-US" dirty="0"/>
              <a:t> </a:t>
            </a:r>
            <a:r>
              <a:rPr lang="en-US" dirty="0" err="1"/>
              <a:t>ApplicationPoolIdentity</a:t>
            </a:r>
            <a:endParaRPr lang="en-US" dirty="0"/>
          </a:p>
          <a:p>
            <a:pPr lvl="2"/>
            <a:r>
              <a:rPr lang="en-US" dirty="0"/>
              <a:t>since 2012+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  <a:r>
              <a:rPr lang="en-US" dirty="0"/>
              <a:t> Network Service</a:t>
            </a:r>
          </a:p>
          <a:p>
            <a:pPr lvl="2"/>
            <a:r>
              <a:rPr lang="en-US" dirty="0"/>
              <a:t>since 2012+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  <a:r>
              <a:rPr lang="en-US" dirty="0"/>
              <a:t> SYSTEM</a:t>
            </a:r>
          </a:p>
          <a:p>
            <a:pPr lvl="2"/>
            <a:r>
              <a:rPr lang="en-US" dirty="0"/>
              <a:t>since ever</a:t>
            </a:r>
          </a:p>
        </p:txBody>
      </p:sp>
    </p:spTree>
    <p:extLst>
      <p:ext uri="{BB962C8B-B14F-4D97-AF65-F5344CB8AC3E}">
        <p14:creationId xmlns:p14="http://schemas.microsoft.com/office/powerpoint/2010/main" val="34829044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Delegation in IIS with Kernel mode authentication and </a:t>
            </a:r>
            <a:r>
              <a:rPr lang="en-US" dirty="0" err="1"/>
              <a:t>useAppPoolCredentials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system/</a:t>
            </a:r>
            <a:r>
              <a:rPr lang="en-US" dirty="0" err="1"/>
              <a:t>webServer</a:t>
            </a:r>
            <a:r>
              <a:rPr lang="en-US" dirty="0"/>
              <a:t>/security/authentication/</a:t>
            </a:r>
            <a:r>
              <a:rPr lang="en-US" dirty="0" err="1"/>
              <a:t>windowsAuthentication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6" y="2276873"/>
            <a:ext cx="8620683" cy="456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254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useKernelMode</a:t>
            </a:r>
            <a:r>
              <a:rPr lang="en-US" dirty="0"/>
              <a:t> only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323528" y="4293096"/>
            <a:ext cx="8496944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Rectangle 4"/>
          <p:cNvSpPr/>
          <p:nvPr/>
        </p:nvSpPr>
        <p:spPr>
          <a:xfrm>
            <a:off x="323528" y="1412776"/>
            <a:ext cx="2808312" cy="26642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cs-CZ" sz="1400" dirty="0"/>
              <a:t>user-mode LSASS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0704" y="5229200"/>
            <a:ext cx="2232248" cy="2880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2627784" y="4941168"/>
            <a:ext cx="1728192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HTTP.SYS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1352"/>
            <a:ext cx="2530624" cy="10201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cs-CZ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iis</a:t>
            </a:r>
            <a:r>
              <a:rPr lang="en-US" sz="1400" dirty="0"/>
              <a:t>-canteen</a:t>
            </a:r>
            <a:endParaRPr lang="cs-CZ" sz="1400" dirty="0"/>
          </a:p>
        </p:txBody>
      </p:sp>
      <p:sp>
        <p:nvSpPr>
          <p:cNvPr id="10" name="Rectangle 9"/>
          <p:cNvSpPr/>
          <p:nvPr/>
        </p:nvSpPr>
        <p:spPr>
          <a:xfrm>
            <a:off x="457200" y="2852936"/>
            <a:ext cx="2530624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NT AUTHORITY\System</a:t>
            </a:r>
            <a:endParaRPr lang="cs-CZ" sz="1400" dirty="0"/>
          </a:p>
        </p:txBody>
      </p:sp>
      <p:sp>
        <p:nvSpPr>
          <p:cNvPr id="11" name="Rectangle 10"/>
          <p:cNvSpPr/>
          <p:nvPr/>
        </p:nvSpPr>
        <p:spPr>
          <a:xfrm>
            <a:off x="4211960" y="1412776"/>
            <a:ext cx="1080120" cy="25202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cs-CZ" sz="1600" dirty="0"/>
              <a:t>w3wp</a:t>
            </a:r>
          </a:p>
          <a:p>
            <a:pPr algn="ctr"/>
            <a:r>
              <a:rPr lang="cs-CZ" sz="1600" dirty="0" err="1"/>
              <a:t>gps</a:t>
            </a:r>
            <a:r>
              <a:rPr lang="en-US" sz="1600" dirty="0"/>
              <a:t>\</a:t>
            </a:r>
            <a:r>
              <a:rPr lang="en-US" sz="1600" dirty="0" err="1"/>
              <a:t>iis</a:t>
            </a:r>
            <a:r>
              <a:rPr lang="en-US" sz="1600" dirty="0"/>
              <a:t>-finance</a:t>
            </a:r>
            <a:endParaRPr lang="cs-CZ" sz="1600" dirty="0"/>
          </a:p>
        </p:txBody>
      </p:sp>
      <p:sp>
        <p:nvSpPr>
          <p:cNvPr id="12" name="Rectangle 11"/>
          <p:cNvSpPr/>
          <p:nvPr/>
        </p:nvSpPr>
        <p:spPr>
          <a:xfrm>
            <a:off x="5508104" y="1412776"/>
            <a:ext cx="1080120" cy="25202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cs-CZ" sz="1600" dirty="0"/>
              <a:t>w3wp</a:t>
            </a:r>
          </a:p>
          <a:p>
            <a:pPr algn="ctr"/>
            <a:r>
              <a:rPr lang="cs-CZ" sz="1600" dirty="0" err="1"/>
              <a:t>gps</a:t>
            </a:r>
            <a:r>
              <a:rPr lang="en-US" sz="1600" dirty="0"/>
              <a:t>\</a:t>
            </a:r>
            <a:r>
              <a:rPr lang="en-US" sz="1600" dirty="0" err="1"/>
              <a:t>iis</a:t>
            </a:r>
            <a:r>
              <a:rPr lang="en-US" sz="1600" dirty="0"/>
              <a:t>-orders</a:t>
            </a:r>
            <a:endParaRPr lang="cs-CZ" sz="1600" dirty="0"/>
          </a:p>
        </p:txBody>
      </p:sp>
      <p:sp>
        <p:nvSpPr>
          <p:cNvPr id="13" name="Rectangle 12"/>
          <p:cNvSpPr/>
          <p:nvPr/>
        </p:nvSpPr>
        <p:spPr>
          <a:xfrm>
            <a:off x="6801936" y="1412776"/>
            <a:ext cx="1080120" cy="25202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cs-CZ" sz="1600" dirty="0"/>
              <a:t>w3wp</a:t>
            </a:r>
          </a:p>
          <a:p>
            <a:pPr algn="ctr"/>
            <a:r>
              <a:rPr lang="cs-CZ" sz="1600" dirty="0" err="1"/>
              <a:t>gps</a:t>
            </a:r>
            <a:r>
              <a:rPr lang="en-US" sz="1600" dirty="0"/>
              <a:t>\</a:t>
            </a:r>
            <a:r>
              <a:rPr lang="en-US" sz="1600" dirty="0" err="1"/>
              <a:t>iis</a:t>
            </a:r>
            <a:r>
              <a:rPr lang="en-US" sz="1600" dirty="0"/>
              <a:t>-canteen</a:t>
            </a:r>
            <a:endParaRPr lang="cs-CZ" sz="1600" dirty="0"/>
          </a:p>
        </p:txBody>
      </p:sp>
      <p:sp>
        <p:nvSpPr>
          <p:cNvPr id="14" name="5-Point Star 13"/>
          <p:cNvSpPr/>
          <p:nvPr/>
        </p:nvSpPr>
        <p:spPr>
          <a:xfrm>
            <a:off x="2411760" y="4653136"/>
            <a:ext cx="504056" cy="504056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314496" y="3284984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TGS, session key</a:t>
            </a:r>
            <a:endParaRPr lang="cs-CZ" sz="1200" dirty="0"/>
          </a:p>
        </p:txBody>
      </p:sp>
      <p:sp>
        <p:nvSpPr>
          <p:cNvPr id="18" name="Rectangle 17"/>
          <p:cNvSpPr/>
          <p:nvPr/>
        </p:nvSpPr>
        <p:spPr>
          <a:xfrm>
            <a:off x="1148752" y="3215608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TGS, session key</a:t>
            </a:r>
            <a:endParaRPr lang="cs-CZ" sz="1200" dirty="0"/>
          </a:p>
        </p:txBody>
      </p:sp>
      <p:sp>
        <p:nvSpPr>
          <p:cNvPr id="17" name="Rectangle 16"/>
          <p:cNvSpPr/>
          <p:nvPr/>
        </p:nvSpPr>
        <p:spPr>
          <a:xfrm>
            <a:off x="983008" y="3153008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TGS, session key</a:t>
            </a:r>
            <a:endParaRPr lang="cs-CZ" sz="1200" dirty="0"/>
          </a:p>
        </p:txBody>
      </p:sp>
      <p:sp>
        <p:nvSpPr>
          <p:cNvPr id="16" name="Rectangle 15"/>
          <p:cNvSpPr/>
          <p:nvPr/>
        </p:nvSpPr>
        <p:spPr>
          <a:xfrm>
            <a:off x="911000" y="3267040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TGS, session key</a:t>
            </a:r>
            <a:endParaRPr lang="cs-CZ" sz="1200" dirty="0"/>
          </a:p>
        </p:txBody>
      </p:sp>
      <p:sp>
        <p:nvSpPr>
          <p:cNvPr id="15" name="Rectangle 14"/>
          <p:cNvSpPr/>
          <p:nvPr/>
        </p:nvSpPr>
        <p:spPr>
          <a:xfrm>
            <a:off x="827584" y="3215608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</a:t>
            </a:r>
            <a:br>
              <a:rPr lang="en-US" sz="1200" dirty="0"/>
            </a:br>
            <a:r>
              <a:rPr lang="en-US" sz="1200" dirty="0"/>
              <a:t>session key</a:t>
            </a:r>
            <a:endParaRPr lang="cs-CZ" sz="1200" dirty="0"/>
          </a:p>
        </p:txBody>
      </p:sp>
      <p:sp>
        <p:nvSpPr>
          <p:cNvPr id="20" name="Right Arrow 19"/>
          <p:cNvSpPr/>
          <p:nvPr/>
        </p:nvSpPr>
        <p:spPr>
          <a:xfrm rot="14400000">
            <a:off x="1814155" y="4183387"/>
            <a:ext cx="918542" cy="2880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Right Arrow 20"/>
          <p:cNvSpPr/>
          <p:nvPr/>
        </p:nvSpPr>
        <p:spPr>
          <a:xfrm rot="20038951">
            <a:off x="4336767" y="4610363"/>
            <a:ext cx="288812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Rectangle 21"/>
          <p:cNvSpPr/>
          <p:nvPr/>
        </p:nvSpPr>
        <p:spPr>
          <a:xfrm>
            <a:off x="192692" y="5373216"/>
            <a:ext cx="1354972" cy="348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 Request</a:t>
            </a:r>
            <a:endParaRPr lang="cs-CZ" sz="1200" dirty="0"/>
          </a:p>
        </p:txBody>
      </p:sp>
      <p:sp>
        <p:nvSpPr>
          <p:cNvPr id="23" name="Rectangle 22"/>
          <p:cNvSpPr/>
          <p:nvPr/>
        </p:nvSpPr>
        <p:spPr>
          <a:xfrm>
            <a:off x="5644071" y="4809192"/>
            <a:ext cx="1224136" cy="348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access token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22127140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useKernelMode</a:t>
            </a:r>
            <a:r>
              <a:rPr lang="en-US" dirty="0"/>
              <a:t> + </a:t>
            </a:r>
            <a:r>
              <a:rPr lang="en-US" dirty="0" err="1"/>
              <a:t>useAppPoolCredentials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323528" y="4293096"/>
            <a:ext cx="8496944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Rectangle 4"/>
          <p:cNvSpPr/>
          <p:nvPr/>
        </p:nvSpPr>
        <p:spPr>
          <a:xfrm>
            <a:off x="323528" y="1412776"/>
            <a:ext cx="2808312" cy="26642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cs-CZ" sz="1400" dirty="0"/>
              <a:t>user-mode LSASS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9512" y="5229200"/>
            <a:ext cx="2232248" cy="2880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2627784" y="4941168"/>
            <a:ext cx="1728192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HTTP.SYS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1352"/>
            <a:ext cx="2530624" cy="10201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cs-CZ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iis</a:t>
            </a:r>
            <a:r>
              <a:rPr lang="en-US" sz="1400" dirty="0"/>
              <a:t>-canteen</a:t>
            </a:r>
            <a:endParaRPr lang="cs-CZ" sz="1400" dirty="0"/>
          </a:p>
        </p:txBody>
      </p:sp>
      <p:sp>
        <p:nvSpPr>
          <p:cNvPr id="10" name="Rectangle 9"/>
          <p:cNvSpPr/>
          <p:nvPr/>
        </p:nvSpPr>
        <p:spPr>
          <a:xfrm>
            <a:off x="457200" y="2852936"/>
            <a:ext cx="2530624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NT AUTHORITY\System</a:t>
            </a:r>
            <a:endParaRPr lang="cs-CZ" sz="1400" dirty="0"/>
          </a:p>
        </p:txBody>
      </p:sp>
      <p:sp>
        <p:nvSpPr>
          <p:cNvPr id="11" name="Rectangle 10"/>
          <p:cNvSpPr/>
          <p:nvPr/>
        </p:nvSpPr>
        <p:spPr>
          <a:xfrm>
            <a:off x="4211960" y="1412776"/>
            <a:ext cx="1080120" cy="25202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cs-CZ" sz="1600" dirty="0"/>
              <a:t>w3wp</a:t>
            </a:r>
          </a:p>
          <a:p>
            <a:pPr algn="ctr"/>
            <a:r>
              <a:rPr lang="cs-CZ" sz="1600" dirty="0" err="1"/>
              <a:t>gps</a:t>
            </a:r>
            <a:r>
              <a:rPr lang="en-US" sz="1600" dirty="0"/>
              <a:t>\</a:t>
            </a:r>
            <a:r>
              <a:rPr lang="en-US" sz="1600" dirty="0" err="1"/>
              <a:t>iis</a:t>
            </a:r>
            <a:r>
              <a:rPr lang="en-US" sz="1600" dirty="0"/>
              <a:t>-finance</a:t>
            </a:r>
            <a:endParaRPr lang="cs-CZ" sz="1600" dirty="0"/>
          </a:p>
        </p:txBody>
      </p:sp>
      <p:sp>
        <p:nvSpPr>
          <p:cNvPr id="12" name="Rectangle 11"/>
          <p:cNvSpPr/>
          <p:nvPr/>
        </p:nvSpPr>
        <p:spPr>
          <a:xfrm>
            <a:off x="5508104" y="1412776"/>
            <a:ext cx="1080120" cy="25202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cs-CZ" sz="1600" dirty="0"/>
              <a:t>w3wp</a:t>
            </a:r>
          </a:p>
          <a:p>
            <a:pPr algn="ctr"/>
            <a:r>
              <a:rPr lang="cs-CZ" sz="1600" dirty="0" err="1"/>
              <a:t>gps</a:t>
            </a:r>
            <a:r>
              <a:rPr lang="en-US" sz="1600" dirty="0"/>
              <a:t>\</a:t>
            </a:r>
            <a:r>
              <a:rPr lang="en-US" sz="1600" dirty="0" err="1"/>
              <a:t>iis</a:t>
            </a:r>
            <a:r>
              <a:rPr lang="en-US" sz="1600" dirty="0"/>
              <a:t>-orders</a:t>
            </a:r>
            <a:endParaRPr lang="cs-CZ" sz="1600" dirty="0"/>
          </a:p>
        </p:txBody>
      </p:sp>
      <p:sp>
        <p:nvSpPr>
          <p:cNvPr id="13" name="Rectangle 12"/>
          <p:cNvSpPr/>
          <p:nvPr/>
        </p:nvSpPr>
        <p:spPr>
          <a:xfrm>
            <a:off x="6801936" y="1412776"/>
            <a:ext cx="1080120" cy="25202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cs-CZ" sz="1600" dirty="0"/>
              <a:t>w3wp</a:t>
            </a:r>
          </a:p>
          <a:p>
            <a:pPr algn="ctr"/>
            <a:r>
              <a:rPr lang="cs-CZ" sz="1600" dirty="0" err="1"/>
              <a:t>gps</a:t>
            </a:r>
            <a:r>
              <a:rPr lang="en-US" sz="1600" dirty="0"/>
              <a:t>\</a:t>
            </a:r>
            <a:r>
              <a:rPr lang="en-US" sz="1600" dirty="0" err="1"/>
              <a:t>iis</a:t>
            </a:r>
            <a:r>
              <a:rPr lang="en-US" sz="1600" dirty="0"/>
              <a:t>-canteen</a:t>
            </a:r>
            <a:endParaRPr lang="cs-CZ" sz="1600" dirty="0"/>
          </a:p>
        </p:txBody>
      </p:sp>
      <p:sp>
        <p:nvSpPr>
          <p:cNvPr id="14" name="5-Point Star 13"/>
          <p:cNvSpPr/>
          <p:nvPr/>
        </p:nvSpPr>
        <p:spPr>
          <a:xfrm>
            <a:off x="2411760" y="4653136"/>
            <a:ext cx="504056" cy="504056"/>
          </a:xfrm>
          <a:prstGeom prst="star5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314496" y="2216904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TGS, session key</a:t>
            </a:r>
            <a:endParaRPr lang="cs-CZ" sz="1200" dirty="0"/>
          </a:p>
        </p:txBody>
      </p:sp>
      <p:sp>
        <p:nvSpPr>
          <p:cNvPr id="18" name="Rectangle 17"/>
          <p:cNvSpPr/>
          <p:nvPr/>
        </p:nvSpPr>
        <p:spPr>
          <a:xfrm>
            <a:off x="1148752" y="2147528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TGS, session key</a:t>
            </a:r>
            <a:endParaRPr lang="cs-CZ" sz="1200" dirty="0"/>
          </a:p>
        </p:txBody>
      </p:sp>
      <p:sp>
        <p:nvSpPr>
          <p:cNvPr id="17" name="Rectangle 16"/>
          <p:cNvSpPr/>
          <p:nvPr/>
        </p:nvSpPr>
        <p:spPr>
          <a:xfrm>
            <a:off x="983008" y="2084928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TGS, session key</a:t>
            </a:r>
            <a:endParaRPr lang="cs-CZ" sz="1200" dirty="0"/>
          </a:p>
        </p:txBody>
      </p:sp>
      <p:sp>
        <p:nvSpPr>
          <p:cNvPr id="16" name="Rectangle 15"/>
          <p:cNvSpPr/>
          <p:nvPr/>
        </p:nvSpPr>
        <p:spPr>
          <a:xfrm>
            <a:off x="911000" y="2198960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TGS, session key</a:t>
            </a:r>
            <a:endParaRPr lang="cs-CZ" sz="1200" dirty="0"/>
          </a:p>
        </p:txBody>
      </p:sp>
      <p:sp>
        <p:nvSpPr>
          <p:cNvPr id="15" name="Rectangle 14"/>
          <p:cNvSpPr/>
          <p:nvPr/>
        </p:nvSpPr>
        <p:spPr>
          <a:xfrm>
            <a:off x="827584" y="2147528"/>
            <a:ext cx="1224136" cy="4920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TGS</a:t>
            </a:r>
            <a:br>
              <a:rPr lang="en-US" sz="1200" dirty="0"/>
            </a:br>
            <a:r>
              <a:rPr lang="en-US" sz="1200" dirty="0"/>
              <a:t>session key</a:t>
            </a:r>
            <a:endParaRPr lang="cs-CZ" sz="1200" dirty="0"/>
          </a:p>
        </p:txBody>
      </p:sp>
      <p:sp>
        <p:nvSpPr>
          <p:cNvPr id="20" name="Right Arrow 19"/>
          <p:cNvSpPr/>
          <p:nvPr/>
        </p:nvSpPr>
        <p:spPr>
          <a:xfrm rot="15300000">
            <a:off x="1253823" y="3588239"/>
            <a:ext cx="1918998" cy="288032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Right Arrow 20"/>
          <p:cNvSpPr/>
          <p:nvPr/>
        </p:nvSpPr>
        <p:spPr>
          <a:xfrm rot="20038951">
            <a:off x="4336767" y="4610363"/>
            <a:ext cx="288812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Rectangle 21"/>
          <p:cNvSpPr/>
          <p:nvPr/>
        </p:nvSpPr>
        <p:spPr>
          <a:xfrm>
            <a:off x="192692" y="5373216"/>
            <a:ext cx="1354972" cy="348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 Request</a:t>
            </a:r>
            <a:endParaRPr lang="cs-CZ" sz="1200" dirty="0"/>
          </a:p>
        </p:txBody>
      </p:sp>
      <p:sp>
        <p:nvSpPr>
          <p:cNvPr id="23" name="Rectangle 22"/>
          <p:cNvSpPr/>
          <p:nvPr/>
        </p:nvSpPr>
        <p:spPr>
          <a:xfrm>
            <a:off x="5644071" y="4809192"/>
            <a:ext cx="1224136" cy="348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access token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41826228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Account is sensitive and cannot be delegated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2769033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chemeClr val="accent1"/>
                </a:solidFill>
              </a:rPr>
              <a:t>userAccountControl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flag</a:t>
            </a:r>
          </a:p>
          <a:p>
            <a:pPr marL="0" indent="0">
              <a:buNone/>
            </a:pPr>
            <a:r>
              <a:rPr lang="cs-CZ" sz="1600" dirty="0"/>
              <a:t>ADS_UF_NOT_DELEGATED = </a:t>
            </a:r>
            <a:r>
              <a:rPr lang="cs-CZ" sz="1600" dirty="0">
                <a:solidFill>
                  <a:schemeClr val="accent1"/>
                </a:solidFill>
              </a:rPr>
              <a:t>1048576</a:t>
            </a:r>
            <a:r>
              <a:rPr lang="cs-CZ" sz="1600" dirty="0"/>
              <a:t> = 0x100000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Protected Users </a:t>
            </a:r>
            <a:r>
              <a:rPr lang="en-US" sz="1600" dirty="0"/>
              <a:t>group</a:t>
            </a:r>
            <a:br>
              <a:rPr lang="en-US" sz="1600" dirty="0"/>
            </a:br>
            <a:r>
              <a:rPr lang="en-US" sz="1600" dirty="0"/>
              <a:t>blocks delegation only since 2012 R2 DFL</a:t>
            </a:r>
            <a:endParaRPr lang="cs-CZ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233" y="1196752"/>
            <a:ext cx="5879667" cy="564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964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Delegation disabled on sensitive accounts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0" y="1628800"/>
            <a:ext cx="9109594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6293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delegation tab is not visible unless there is at least one SPN of any kind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556792"/>
            <a:ext cx="6840760" cy="519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924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Kerberos constrained delegation with </a:t>
            </a:r>
            <a:r>
              <a:rPr lang="en-US" dirty="0">
                <a:solidFill>
                  <a:schemeClr val="accent1"/>
                </a:solidFill>
              </a:rPr>
              <a:t>protocol transition</a:t>
            </a:r>
            <a:endParaRPr lang="cs-CZ" dirty="0">
              <a:solidFill>
                <a:schemeClr val="accent1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9376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Trust this user/computer for delegation to specifies services only (</a:t>
            </a:r>
            <a:r>
              <a:rPr lang="en-US" sz="2400" dirty="0">
                <a:solidFill>
                  <a:schemeClr val="accent1"/>
                </a:solidFill>
              </a:rPr>
              <a:t>use any authentication protocol</a:t>
            </a:r>
            <a:r>
              <a:rPr lang="en-US" sz="2400" dirty="0"/>
              <a:t>)</a:t>
            </a:r>
            <a:endParaRPr lang="cs-CZ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634" y="1340769"/>
            <a:ext cx="6186870" cy="5517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44824"/>
            <a:ext cx="24644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msDS-AllowedToDelegateTo</a:t>
            </a:r>
            <a:r>
              <a:rPr lang="en-US" sz="1600" dirty="0"/>
              <a:t> attribute</a:t>
            </a:r>
          </a:p>
          <a:p>
            <a:r>
              <a:rPr lang="en-US" sz="1600" dirty="0"/>
              <a:t>+</a:t>
            </a:r>
          </a:p>
          <a:p>
            <a:r>
              <a:rPr lang="en-US" sz="1600" dirty="0" err="1">
                <a:solidFill>
                  <a:schemeClr val="accent1"/>
                </a:solidFill>
              </a:rPr>
              <a:t>userAccountControl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flag ADS_UF_TRUSTED_FOR_DELEGATION = </a:t>
            </a:r>
            <a:r>
              <a:rPr lang="cs-CZ" sz="1600" dirty="0">
                <a:solidFill>
                  <a:schemeClr val="accent1"/>
                </a:solidFill>
              </a:rPr>
              <a:t>524288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= 0x80000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34198935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189218" y="1196752"/>
            <a:ext cx="1321272" cy="8332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LSASS</a:t>
            </a:r>
            <a:endParaRPr lang="cs-CZ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protocol transition (DFL 2003+)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4283968" y="1509670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 err="1"/>
              <a:t>nothing</a:t>
            </a:r>
            <a:endParaRPr lang="cs-CZ" sz="1200" dirty="0"/>
          </a:p>
        </p:txBody>
      </p:sp>
      <p:sp>
        <p:nvSpPr>
          <p:cNvPr id="20" name="Rectangle 19"/>
          <p:cNvSpPr/>
          <p:nvPr/>
        </p:nvSpPr>
        <p:spPr>
          <a:xfrm>
            <a:off x="5796136" y="2354052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  <a:endParaRPr lang="cs-CZ" sz="1200" dirty="0"/>
          </a:p>
        </p:txBody>
      </p:sp>
      <p:sp>
        <p:nvSpPr>
          <p:cNvPr id="21" name="Rectangle 20"/>
          <p:cNvSpPr/>
          <p:nvPr/>
        </p:nvSpPr>
        <p:spPr>
          <a:xfrm>
            <a:off x="2163890" y="1927176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</a:t>
            </a:r>
            <a:r>
              <a:rPr lang="cs-CZ" sz="1200" dirty="0" err="1"/>
              <a:t>nything</a:t>
            </a:r>
            <a:endParaRPr lang="cs-CZ" sz="1200" dirty="0"/>
          </a:p>
        </p:txBody>
      </p:sp>
      <p:sp>
        <p:nvSpPr>
          <p:cNvPr id="22" name="Rectangle 21"/>
          <p:cNvSpPr/>
          <p:nvPr/>
        </p:nvSpPr>
        <p:spPr>
          <a:xfrm>
            <a:off x="1995028" y="2286472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NTLM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9966" y="2657600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retina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5028" y="3043300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 err="1"/>
              <a:t>questions</a:t>
            </a:r>
            <a:endParaRPr lang="cs-CZ" sz="1200" dirty="0"/>
          </a:p>
        </p:txBody>
      </p:sp>
      <p:sp>
        <p:nvSpPr>
          <p:cNvPr id="25" name="Rectangle 24"/>
          <p:cNvSpPr/>
          <p:nvPr/>
        </p:nvSpPr>
        <p:spPr>
          <a:xfrm>
            <a:off x="2208466" y="3400318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certificate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1483744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189218" y="1196752"/>
            <a:ext cx="1321272" cy="8332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LSASS</a:t>
            </a:r>
            <a:endParaRPr lang="cs-CZ" sz="1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protocol transition (DFL 2003+)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4283968" y="1509670"/>
            <a:ext cx="1157300" cy="42687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 err="1"/>
              <a:t>nothing</a:t>
            </a:r>
            <a:endParaRPr lang="cs-CZ" sz="1200" dirty="0"/>
          </a:p>
        </p:txBody>
      </p:sp>
      <p:sp>
        <p:nvSpPr>
          <p:cNvPr id="21" name="Rectangle 20"/>
          <p:cNvSpPr/>
          <p:nvPr/>
        </p:nvSpPr>
        <p:spPr>
          <a:xfrm>
            <a:off x="2163890" y="1927176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</a:t>
            </a:r>
            <a:r>
              <a:rPr lang="cs-CZ" sz="1200" dirty="0" err="1"/>
              <a:t>nything</a:t>
            </a:r>
            <a:endParaRPr lang="cs-CZ" sz="1200" dirty="0"/>
          </a:p>
        </p:txBody>
      </p:sp>
      <p:sp>
        <p:nvSpPr>
          <p:cNvPr id="22" name="Rectangle 21"/>
          <p:cNvSpPr/>
          <p:nvPr/>
        </p:nvSpPr>
        <p:spPr>
          <a:xfrm>
            <a:off x="1995028" y="2286472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NTLM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9966" y="2657600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retina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5028" y="3043300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 err="1"/>
              <a:t>questions</a:t>
            </a:r>
            <a:endParaRPr lang="cs-CZ" sz="1200" dirty="0"/>
          </a:p>
        </p:txBody>
      </p:sp>
      <p:sp>
        <p:nvSpPr>
          <p:cNvPr id="29" name="Down Arrow 28"/>
          <p:cNvSpPr/>
          <p:nvPr/>
        </p:nvSpPr>
        <p:spPr>
          <a:xfrm>
            <a:off x="4283968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0" name="Down Arrow 29"/>
          <p:cNvSpPr/>
          <p:nvPr/>
        </p:nvSpPr>
        <p:spPr>
          <a:xfrm rot="10800000">
            <a:off x="4572000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1" name="Rectangle 30"/>
          <p:cNvSpPr/>
          <p:nvPr/>
        </p:nvSpPr>
        <p:spPr>
          <a:xfrm>
            <a:off x="4716016" y="3255522"/>
            <a:ext cx="1972296" cy="83351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Server encrypted</a:t>
            </a:r>
            <a:endParaRPr lang="cs-CZ" sz="1200" dirty="0"/>
          </a:p>
        </p:txBody>
      </p:sp>
      <p:sp>
        <p:nvSpPr>
          <p:cNvPr id="32" name="Rectangle 31"/>
          <p:cNvSpPr/>
          <p:nvPr/>
        </p:nvSpPr>
        <p:spPr>
          <a:xfrm>
            <a:off x="4816104" y="3574640"/>
            <a:ext cx="1728192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TGS:Kamil:BackEnd</a:t>
            </a:r>
            <a:endParaRPr lang="cs-CZ" sz="1200" dirty="0"/>
          </a:p>
        </p:txBody>
      </p:sp>
      <p:sp>
        <p:nvSpPr>
          <p:cNvPr id="33" name="Rectangle 32"/>
          <p:cNvSpPr/>
          <p:nvPr/>
        </p:nvSpPr>
        <p:spPr>
          <a:xfrm>
            <a:off x="3401997" y="3565264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 err="1"/>
              <a:t>nothing</a:t>
            </a:r>
            <a:endParaRPr lang="cs-CZ" sz="1200" dirty="0"/>
          </a:p>
        </p:txBody>
      </p:sp>
      <p:sp>
        <p:nvSpPr>
          <p:cNvPr id="34" name="Rectangle 33"/>
          <p:cNvSpPr/>
          <p:nvPr/>
        </p:nvSpPr>
        <p:spPr>
          <a:xfrm>
            <a:off x="5393293" y="2354052"/>
            <a:ext cx="1728192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TGS:Kamil:BackEnd</a:t>
            </a:r>
            <a:endParaRPr lang="cs-CZ" sz="1200" dirty="0"/>
          </a:p>
        </p:txBody>
      </p:sp>
      <p:sp>
        <p:nvSpPr>
          <p:cNvPr id="25" name="Rectangle 24"/>
          <p:cNvSpPr/>
          <p:nvPr/>
        </p:nvSpPr>
        <p:spPr>
          <a:xfrm>
            <a:off x="2118556" y="3400318"/>
            <a:ext cx="1157300" cy="4268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certificate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4440771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Protocol transition </a:t>
            </a:r>
            <a:r>
              <a:rPr lang="en-US" dirty="0"/>
              <a:t>to </a:t>
            </a:r>
            <a:r>
              <a:rPr lang="en-US" dirty="0">
                <a:solidFill>
                  <a:schemeClr val="accent5"/>
                </a:solidFill>
              </a:rPr>
              <a:t>SMB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server</a:t>
            </a:r>
            <a:r>
              <a:rPr lang="en-US" dirty="0"/>
              <a:t>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front-end SPN on user/</a:t>
            </a:r>
            <a:r>
              <a:rPr lang="en-US" dirty="0" err="1"/>
              <a:t>gmsa</a:t>
            </a:r>
            <a:r>
              <a:rPr lang="en-US" dirty="0"/>
              <a:t> account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no </a:t>
            </a:r>
            <a:r>
              <a:rPr lang="en-US" dirty="0"/>
              <a:t>domain/</a:t>
            </a:r>
            <a:r>
              <a:rPr lang="en-US" dirty="0" err="1"/>
              <a:t>gmsa</a:t>
            </a:r>
            <a:r>
              <a:rPr lang="en-US" dirty="0"/>
              <a:t> account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no</a:t>
            </a:r>
            <a:r>
              <a:rPr lang="en-US" dirty="0"/>
              <a:t> domain/</a:t>
            </a:r>
            <a:r>
              <a:rPr lang="en-US" dirty="0" err="1"/>
              <a:t>gmsa</a:t>
            </a:r>
            <a:r>
              <a:rPr lang="en-US" dirty="0"/>
              <a:t> account + Kernel Mode + </a:t>
            </a:r>
            <a:r>
              <a:rPr lang="en-US" dirty="0" err="1"/>
              <a:t>UseAppPoolCredentials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front-end SPN on computer account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  <a:r>
              <a:rPr lang="en-US" dirty="0"/>
              <a:t> domain/</a:t>
            </a:r>
            <a:r>
              <a:rPr lang="en-US" dirty="0" err="1"/>
              <a:t>gmsa</a:t>
            </a:r>
            <a:r>
              <a:rPr lang="en-US" dirty="0"/>
              <a:t> account + Kernel Mode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  <a:r>
              <a:rPr lang="en-US" dirty="0"/>
              <a:t> </a:t>
            </a:r>
            <a:r>
              <a:rPr lang="en-US" dirty="0" err="1"/>
              <a:t>ApplicationPoolIdentity</a:t>
            </a:r>
            <a:endParaRPr lang="en-US" dirty="0"/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  <a:r>
              <a:rPr lang="en-US" dirty="0"/>
              <a:t> Network Service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  <a:r>
              <a:rPr lang="en-US" dirty="0"/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val="19262221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transition requirements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Server </a:t>
            </a:r>
            <a:r>
              <a:rPr lang="en-US" dirty="0"/>
              <a:t>must have user right </a:t>
            </a:r>
            <a:r>
              <a:rPr lang="en-US" dirty="0">
                <a:solidFill>
                  <a:schemeClr val="accent1"/>
                </a:solidFill>
              </a:rPr>
              <a:t>Act as part of operating system</a:t>
            </a:r>
            <a:r>
              <a:rPr lang="en-US" dirty="0"/>
              <a:t> (</a:t>
            </a:r>
            <a:r>
              <a:rPr lang="en-US" dirty="0" err="1">
                <a:solidFill>
                  <a:schemeClr val="accent1"/>
                </a:solidFill>
              </a:rPr>
              <a:t>SetTcbPrivilege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chemeClr val="accent1"/>
                </a:solidFill>
              </a:rPr>
              <a:t>Server</a:t>
            </a:r>
            <a:r>
              <a:rPr lang="en-US" dirty="0"/>
              <a:t> must have the </a:t>
            </a:r>
            <a:r>
              <a:rPr lang="en-US" dirty="0">
                <a:solidFill>
                  <a:schemeClr val="accent1"/>
                </a:solidFill>
              </a:rPr>
              <a:t>Impersonate client after authentication</a:t>
            </a:r>
            <a:r>
              <a:rPr lang="en-US" dirty="0"/>
              <a:t> (</a:t>
            </a:r>
            <a:r>
              <a:rPr lang="en-US" dirty="0">
                <a:solidFill>
                  <a:schemeClr val="accent1"/>
                </a:solidFill>
              </a:rPr>
              <a:t>SeImpersonatePrivilege</a:t>
            </a:r>
            <a:r>
              <a:rPr lang="en-US" dirty="0"/>
              <a:t>) user right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C2WTS</a:t>
            </a:r>
            <a:r>
              <a:rPr lang="en-US" dirty="0"/>
              <a:t> additional requirements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C2WTS</a:t>
            </a:r>
            <a:r>
              <a:rPr lang="en-US" dirty="0"/>
              <a:t> must have the </a:t>
            </a:r>
            <a:r>
              <a:rPr lang="en-US" dirty="0">
                <a:solidFill>
                  <a:schemeClr val="accent1"/>
                </a:solidFill>
              </a:rPr>
              <a:t>Create global objects </a:t>
            </a:r>
            <a:r>
              <a:rPr lang="en-US" dirty="0"/>
              <a:t>(</a:t>
            </a:r>
            <a:r>
              <a:rPr lang="en-US" dirty="0" err="1">
                <a:solidFill>
                  <a:schemeClr val="accent1"/>
                </a:solidFill>
              </a:rPr>
              <a:t>SeCreateGlobalPrivilege</a:t>
            </a:r>
            <a:r>
              <a:rPr lang="en-US" dirty="0"/>
              <a:t>) user right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C2WTS</a:t>
            </a:r>
            <a:r>
              <a:rPr lang="en-US" dirty="0"/>
              <a:t> must be running under </a:t>
            </a:r>
            <a:r>
              <a:rPr lang="en-US" dirty="0">
                <a:solidFill>
                  <a:schemeClr val="accent1"/>
                </a:solidFill>
              </a:rPr>
              <a:t>SYSTEM</a:t>
            </a:r>
            <a:r>
              <a:rPr lang="en-US" dirty="0"/>
              <a:t> or member of local </a:t>
            </a:r>
            <a:r>
              <a:rPr lang="en-US" dirty="0">
                <a:solidFill>
                  <a:schemeClr val="accent1"/>
                </a:solidFill>
              </a:rPr>
              <a:t>Administrators</a:t>
            </a:r>
            <a:r>
              <a:rPr lang="en-US" dirty="0"/>
              <a:t> group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Server</a:t>
            </a:r>
            <a:r>
              <a:rPr lang="en-US" dirty="0"/>
              <a:t> then does </a:t>
            </a:r>
            <a:r>
              <a:rPr lang="en-US" dirty="0">
                <a:solidFill>
                  <a:schemeClr val="accent1"/>
                </a:solidFill>
              </a:rPr>
              <a:t>not need the </a:t>
            </a:r>
            <a:r>
              <a:rPr lang="en-US" dirty="0" err="1">
                <a:solidFill>
                  <a:schemeClr val="accent1"/>
                </a:solidFill>
              </a:rPr>
              <a:t>SeTcbPrivilege</a:t>
            </a:r>
            <a:r>
              <a:rPr lang="en-US" dirty="0"/>
              <a:t> and does </a:t>
            </a:r>
            <a:r>
              <a:rPr lang="en-US" dirty="0">
                <a:solidFill>
                  <a:schemeClr val="accent1"/>
                </a:solidFill>
              </a:rPr>
              <a:t>not </a:t>
            </a:r>
            <a:r>
              <a:rPr lang="en-US" dirty="0" err="1">
                <a:solidFill>
                  <a:schemeClr val="accent1"/>
                </a:solidFill>
              </a:rPr>
              <a:t>neet</a:t>
            </a:r>
            <a:r>
              <a:rPr lang="en-US" dirty="0"/>
              <a:t> to be member of </a:t>
            </a:r>
            <a:r>
              <a:rPr lang="en-US" dirty="0">
                <a:solidFill>
                  <a:schemeClr val="accent1"/>
                </a:solidFill>
              </a:rPr>
              <a:t>Administrators</a:t>
            </a:r>
          </a:p>
        </p:txBody>
      </p:sp>
    </p:spTree>
    <p:extLst>
      <p:ext uri="{BB962C8B-B14F-4D97-AF65-F5344CB8AC3E}">
        <p14:creationId xmlns:p14="http://schemas.microsoft.com/office/powerpoint/2010/main" val="16679375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 implications of protocol transition (use any authentication protocol)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512772"/>
            <a:ext cx="8102054" cy="53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986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KerbHell</a:t>
            </a:r>
            <a:r>
              <a:rPr lang="en-US" dirty="0"/>
              <a:t> note on access to </a:t>
            </a:r>
            <a:r>
              <a:rPr lang="en-US" dirty="0">
                <a:solidFill>
                  <a:schemeClr val="accent1"/>
                </a:solidFill>
              </a:rPr>
              <a:t>SMB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under </a:t>
            </a:r>
            <a:r>
              <a:rPr lang="en-US" dirty="0">
                <a:solidFill>
                  <a:schemeClr val="accent1"/>
                </a:solidFill>
              </a:rPr>
              <a:t>service account</a:t>
            </a:r>
            <a:r>
              <a:rPr lang="en-US" dirty="0"/>
              <a:t> (non SYSTEM)</a:t>
            </a:r>
          </a:p>
          <a:p>
            <a:r>
              <a:rPr lang="en-US" dirty="0"/>
              <a:t>SYSTEM needs to be able to delegate there as well otherwise only SQL and HTTP works</a:t>
            </a:r>
          </a:p>
        </p:txBody>
      </p:sp>
    </p:spTree>
    <p:extLst>
      <p:ext uri="{BB962C8B-B14F-4D97-AF65-F5344CB8AC3E}">
        <p14:creationId xmlns:p14="http://schemas.microsoft.com/office/powerpoint/2010/main" val="11947971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WAP access to Kerberos web servers with </a:t>
            </a:r>
            <a:r>
              <a:rPr lang="en-US" dirty="0">
                <a:solidFill>
                  <a:schemeClr val="accent1"/>
                </a:solidFill>
              </a:rPr>
              <a:t>protocol transition</a:t>
            </a:r>
            <a:endParaRPr lang="cs-CZ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0344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SharePoint Excel Services external data access with Kerberos constrained delegation with </a:t>
            </a:r>
            <a:r>
              <a:rPr lang="en-US" dirty="0">
                <a:solidFill>
                  <a:schemeClr val="accent1"/>
                </a:solidFill>
              </a:rPr>
              <a:t>protocol transition</a:t>
            </a:r>
            <a:endParaRPr lang="cs-CZ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2086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SharePoint authentication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1" y="303127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1" y="4616533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9408" y="1511396"/>
            <a:ext cx="86409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ConentDB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2088770" y="2708920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17" name="Elbow Connector 16"/>
          <p:cNvCxnSpPr>
            <a:stCxn id="14" idx="3"/>
            <a:endCxn id="13" idx="2"/>
          </p:cNvCxnSpPr>
          <p:nvPr/>
        </p:nvCxnSpPr>
        <p:spPr>
          <a:xfrm flipV="1">
            <a:off x="3419872" y="2375492"/>
            <a:ext cx="1751584" cy="5483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9" name="Elbow Connector 18"/>
          <p:cNvCxnSpPr>
            <a:stCxn id="15" idx="0"/>
            <a:endCxn id="13" idx="2"/>
          </p:cNvCxnSpPr>
          <p:nvPr/>
        </p:nvCxnSpPr>
        <p:spPr>
          <a:xfrm rot="5400000" flipH="1" flipV="1">
            <a:off x="3004086" y="2125727"/>
            <a:ext cx="1917604" cy="24171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9" name="Rectangle 28"/>
          <p:cNvSpPr/>
          <p:nvPr/>
        </p:nvSpPr>
        <p:spPr>
          <a:xfrm>
            <a:off x="269434" y="3301060"/>
            <a:ext cx="998387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kamil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277812" y="4633271"/>
            <a:ext cx="990009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julie</a:t>
            </a:r>
            <a:endParaRPr lang="en-US" sz="1200" dirty="0"/>
          </a:p>
        </p:txBody>
      </p:sp>
      <p:sp>
        <p:nvSpPr>
          <p:cNvPr id="31" name="Rectangle 30"/>
          <p:cNvSpPr/>
          <p:nvPr/>
        </p:nvSpPr>
        <p:spPr>
          <a:xfrm>
            <a:off x="269434" y="3730945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869" y="5075281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cxnSp>
        <p:nvCxnSpPr>
          <p:cNvPr id="33" name="Elbow Connector 32"/>
          <p:cNvCxnSpPr>
            <a:stCxn id="31" idx="3"/>
            <a:endCxn id="8" idx="1"/>
          </p:cNvCxnSpPr>
          <p:nvPr/>
        </p:nvCxnSpPr>
        <p:spPr>
          <a:xfrm flipV="1">
            <a:off x="1267822" y="3463324"/>
            <a:ext cx="560979" cy="4825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6" name="Elbow Connector 35"/>
          <p:cNvCxnSpPr>
            <a:stCxn id="31" idx="3"/>
            <a:endCxn id="9" idx="1"/>
          </p:cNvCxnSpPr>
          <p:nvPr/>
        </p:nvCxnSpPr>
        <p:spPr>
          <a:xfrm>
            <a:off x="1267822" y="3945888"/>
            <a:ext cx="560979" cy="11026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9" name="Elbow Connector 38"/>
          <p:cNvCxnSpPr>
            <a:stCxn id="32" idx="3"/>
            <a:endCxn id="9" idx="1"/>
          </p:cNvCxnSpPr>
          <p:nvPr/>
        </p:nvCxnSpPr>
        <p:spPr>
          <a:xfrm flipV="1">
            <a:off x="1271257" y="5048581"/>
            <a:ext cx="557544" cy="2416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2" name="Elbow Connector 41"/>
          <p:cNvCxnSpPr>
            <a:stCxn id="32" idx="3"/>
            <a:endCxn id="8" idx="1"/>
          </p:cNvCxnSpPr>
          <p:nvPr/>
        </p:nvCxnSpPr>
        <p:spPr>
          <a:xfrm flipV="1">
            <a:off x="1271257" y="3463324"/>
            <a:ext cx="557544" cy="18269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15" name="Rectangle 14"/>
          <p:cNvSpPr/>
          <p:nvPr/>
        </p:nvSpPr>
        <p:spPr>
          <a:xfrm>
            <a:off x="2088770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032" y="2690136"/>
            <a:ext cx="980848" cy="3411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service TGS</a:t>
            </a:r>
          </a:p>
        </p:txBody>
      </p:sp>
    </p:spTree>
    <p:extLst>
      <p:ext uri="{BB962C8B-B14F-4D97-AF65-F5344CB8AC3E}">
        <p14:creationId xmlns:p14="http://schemas.microsoft.com/office/powerpoint/2010/main" val="42737743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services without external data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1" y="303127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1" y="4616533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359" y="5031842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5375" y="4832557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71456" y="465313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9408" y="1511396"/>
            <a:ext cx="86409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ConentDB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2088770" y="2708920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17" name="Elbow Connector 16"/>
          <p:cNvCxnSpPr>
            <a:stCxn id="14" idx="3"/>
            <a:endCxn id="13" idx="2"/>
          </p:cNvCxnSpPr>
          <p:nvPr/>
        </p:nvCxnSpPr>
        <p:spPr>
          <a:xfrm flipV="1">
            <a:off x="3419872" y="2375492"/>
            <a:ext cx="1751584" cy="5483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9" name="Elbow Connector 18"/>
          <p:cNvCxnSpPr>
            <a:stCxn id="15" idx="0"/>
            <a:endCxn id="13" idx="2"/>
          </p:cNvCxnSpPr>
          <p:nvPr/>
        </p:nvCxnSpPr>
        <p:spPr>
          <a:xfrm rot="5400000" flipH="1" flipV="1">
            <a:off x="3004086" y="2125727"/>
            <a:ext cx="1917604" cy="24171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0" name="Rectangle 19"/>
          <p:cNvSpPr/>
          <p:nvPr/>
        </p:nvSpPr>
        <p:spPr>
          <a:xfrm>
            <a:off x="5473146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-portal-excel</a:t>
            </a:r>
          </a:p>
        </p:txBody>
      </p:sp>
      <p:cxnSp>
        <p:nvCxnSpPr>
          <p:cNvPr id="21" name="Elbow Connector 20"/>
          <p:cNvCxnSpPr>
            <a:stCxn id="20" idx="0"/>
            <a:endCxn id="13" idx="2"/>
          </p:cNvCxnSpPr>
          <p:nvPr/>
        </p:nvCxnSpPr>
        <p:spPr>
          <a:xfrm rot="16200000" flipV="1">
            <a:off x="4696275" y="2850673"/>
            <a:ext cx="1917604" cy="96724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9" name="Rectangle 28"/>
          <p:cNvSpPr/>
          <p:nvPr/>
        </p:nvSpPr>
        <p:spPr>
          <a:xfrm>
            <a:off x="269434" y="3301060"/>
            <a:ext cx="998387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kamil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277812" y="4633271"/>
            <a:ext cx="990009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julie</a:t>
            </a:r>
            <a:endParaRPr lang="en-US" sz="1200" dirty="0"/>
          </a:p>
        </p:txBody>
      </p:sp>
      <p:sp>
        <p:nvSpPr>
          <p:cNvPr id="31" name="Rectangle 30"/>
          <p:cNvSpPr/>
          <p:nvPr/>
        </p:nvSpPr>
        <p:spPr>
          <a:xfrm>
            <a:off x="269434" y="3730945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869" y="5075281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cxnSp>
        <p:nvCxnSpPr>
          <p:cNvPr id="33" name="Elbow Connector 32"/>
          <p:cNvCxnSpPr>
            <a:stCxn id="31" idx="3"/>
            <a:endCxn id="8" idx="1"/>
          </p:cNvCxnSpPr>
          <p:nvPr/>
        </p:nvCxnSpPr>
        <p:spPr>
          <a:xfrm flipV="1">
            <a:off x="1267822" y="3463324"/>
            <a:ext cx="560979" cy="4825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6" name="Elbow Connector 35"/>
          <p:cNvCxnSpPr>
            <a:stCxn id="31" idx="3"/>
            <a:endCxn id="9" idx="1"/>
          </p:cNvCxnSpPr>
          <p:nvPr/>
        </p:nvCxnSpPr>
        <p:spPr>
          <a:xfrm>
            <a:off x="1267822" y="3945888"/>
            <a:ext cx="560979" cy="11026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9" name="Elbow Connector 38"/>
          <p:cNvCxnSpPr>
            <a:stCxn id="32" idx="3"/>
            <a:endCxn id="9" idx="1"/>
          </p:cNvCxnSpPr>
          <p:nvPr/>
        </p:nvCxnSpPr>
        <p:spPr>
          <a:xfrm flipV="1">
            <a:off x="1271257" y="5048581"/>
            <a:ext cx="557544" cy="2416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2" name="Elbow Connector 41"/>
          <p:cNvCxnSpPr>
            <a:stCxn id="32" idx="3"/>
            <a:endCxn id="8" idx="1"/>
          </p:cNvCxnSpPr>
          <p:nvPr/>
        </p:nvCxnSpPr>
        <p:spPr>
          <a:xfrm flipV="1">
            <a:off x="1271257" y="3463324"/>
            <a:ext cx="557544" cy="18269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47" name="Rectangle 46"/>
          <p:cNvSpPr/>
          <p:nvPr/>
        </p:nvSpPr>
        <p:spPr>
          <a:xfrm>
            <a:off x="3902971" y="3865374"/>
            <a:ext cx="998388" cy="4298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kamil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3902971" y="4295259"/>
            <a:ext cx="998388" cy="4298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XML Claims</a:t>
            </a:r>
          </a:p>
        </p:txBody>
      </p:sp>
      <p:cxnSp>
        <p:nvCxnSpPr>
          <p:cNvPr id="49" name="Elbow Connector 48"/>
          <p:cNvCxnSpPr>
            <a:stCxn id="8" idx="2"/>
            <a:endCxn id="47" idx="1"/>
          </p:cNvCxnSpPr>
          <p:nvPr/>
        </p:nvCxnSpPr>
        <p:spPr>
          <a:xfrm rot="16200000" flipH="1">
            <a:off x="2989438" y="3166783"/>
            <a:ext cx="184945" cy="16421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53" name="Elbow Connector 52"/>
          <p:cNvCxnSpPr>
            <a:stCxn id="9" idx="3"/>
            <a:endCxn id="48" idx="1"/>
          </p:cNvCxnSpPr>
          <p:nvPr/>
        </p:nvCxnSpPr>
        <p:spPr>
          <a:xfrm flipV="1">
            <a:off x="2692897" y="4510202"/>
            <a:ext cx="1210074" cy="5383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15" name="Rectangle 14"/>
          <p:cNvSpPr/>
          <p:nvPr/>
        </p:nvSpPr>
        <p:spPr>
          <a:xfrm>
            <a:off x="2088770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56" name="Elbow Connector 55"/>
          <p:cNvCxnSpPr>
            <a:stCxn id="48" idx="2"/>
            <a:endCxn id="11" idx="1"/>
          </p:cNvCxnSpPr>
          <p:nvPr/>
        </p:nvCxnSpPr>
        <p:spPr>
          <a:xfrm rot="16200000" flipH="1">
            <a:off x="4454040" y="4673269"/>
            <a:ext cx="539461" cy="6432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34" name="Rectangle 33"/>
          <p:cNvSpPr/>
          <p:nvPr/>
        </p:nvSpPr>
        <p:spPr>
          <a:xfrm>
            <a:off x="4681032" y="2690136"/>
            <a:ext cx="980848" cy="3411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service TGS</a:t>
            </a:r>
          </a:p>
        </p:txBody>
      </p:sp>
    </p:spTree>
    <p:extLst>
      <p:ext uri="{BB962C8B-B14F-4D97-AF65-F5344CB8AC3E}">
        <p14:creationId xmlns:p14="http://schemas.microsoft.com/office/powerpoint/2010/main" val="26406084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Requested Kerberos protocol transition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1" y="303127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1" y="4616533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359" y="5031842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5375" y="4832557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71456" y="465313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9408" y="1511396"/>
            <a:ext cx="86409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ConentDB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2088770" y="2708920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17" name="Elbow Connector 16"/>
          <p:cNvCxnSpPr>
            <a:stCxn id="14" idx="3"/>
            <a:endCxn id="13" idx="2"/>
          </p:cNvCxnSpPr>
          <p:nvPr/>
        </p:nvCxnSpPr>
        <p:spPr>
          <a:xfrm flipV="1">
            <a:off x="3419872" y="2375492"/>
            <a:ext cx="1751584" cy="5483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9" name="Elbow Connector 18"/>
          <p:cNvCxnSpPr>
            <a:stCxn id="15" idx="0"/>
            <a:endCxn id="13" idx="2"/>
          </p:cNvCxnSpPr>
          <p:nvPr/>
        </p:nvCxnSpPr>
        <p:spPr>
          <a:xfrm rot="5400000" flipH="1" flipV="1">
            <a:off x="3004086" y="2125727"/>
            <a:ext cx="1917604" cy="24171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0" name="Rectangle 19"/>
          <p:cNvSpPr/>
          <p:nvPr/>
        </p:nvSpPr>
        <p:spPr>
          <a:xfrm>
            <a:off x="5473146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-portal-excel</a:t>
            </a:r>
          </a:p>
        </p:txBody>
      </p:sp>
      <p:cxnSp>
        <p:nvCxnSpPr>
          <p:cNvPr id="21" name="Elbow Connector 20"/>
          <p:cNvCxnSpPr>
            <a:stCxn id="20" idx="0"/>
            <a:endCxn id="13" idx="2"/>
          </p:cNvCxnSpPr>
          <p:nvPr/>
        </p:nvCxnSpPr>
        <p:spPr>
          <a:xfrm rot="16200000" flipV="1">
            <a:off x="4696275" y="2850673"/>
            <a:ext cx="1917604" cy="96724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7" name="Rectangle 26"/>
          <p:cNvSpPr/>
          <p:nvPr/>
        </p:nvSpPr>
        <p:spPr>
          <a:xfrm>
            <a:off x="6923040" y="1511396"/>
            <a:ext cx="1954560" cy="1166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GPS-DATA\HRAGENDA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16189" y="1998499"/>
            <a:ext cx="1629925" cy="4490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AdventureWorks</a:t>
            </a:r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269434" y="3301060"/>
            <a:ext cx="998387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kamil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277812" y="4633271"/>
            <a:ext cx="990009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julie</a:t>
            </a:r>
            <a:endParaRPr lang="en-US" sz="1200" dirty="0"/>
          </a:p>
        </p:txBody>
      </p:sp>
      <p:sp>
        <p:nvSpPr>
          <p:cNvPr id="31" name="Rectangle 30"/>
          <p:cNvSpPr/>
          <p:nvPr/>
        </p:nvSpPr>
        <p:spPr>
          <a:xfrm>
            <a:off x="269434" y="3730945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869" y="5075281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cxnSp>
        <p:nvCxnSpPr>
          <p:cNvPr id="33" name="Elbow Connector 32"/>
          <p:cNvCxnSpPr>
            <a:stCxn id="31" idx="3"/>
            <a:endCxn id="8" idx="1"/>
          </p:cNvCxnSpPr>
          <p:nvPr/>
        </p:nvCxnSpPr>
        <p:spPr>
          <a:xfrm flipV="1">
            <a:off x="1267822" y="3463324"/>
            <a:ext cx="560979" cy="4825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6" name="Elbow Connector 35"/>
          <p:cNvCxnSpPr>
            <a:stCxn id="31" idx="3"/>
            <a:endCxn id="9" idx="1"/>
          </p:cNvCxnSpPr>
          <p:nvPr/>
        </p:nvCxnSpPr>
        <p:spPr>
          <a:xfrm>
            <a:off x="1267822" y="3945888"/>
            <a:ext cx="560979" cy="11026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9" name="Elbow Connector 38"/>
          <p:cNvCxnSpPr>
            <a:stCxn id="32" idx="3"/>
            <a:endCxn id="9" idx="1"/>
          </p:cNvCxnSpPr>
          <p:nvPr/>
        </p:nvCxnSpPr>
        <p:spPr>
          <a:xfrm flipV="1">
            <a:off x="1271257" y="5048581"/>
            <a:ext cx="557544" cy="2416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2" name="Elbow Connector 41"/>
          <p:cNvCxnSpPr>
            <a:stCxn id="32" idx="3"/>
            <a:endCxn id="8" idx="1"/>
          </p:cNvCxnSpPr>
          <p:nvPr/>
        </p:nvCxnSpPr>
        <p:spPr>
          <a:xfrm flipV="1">
            <a:off x="1271257" y="3463324"/>
            <a:ext cx="557544" cy="18269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47" name="Rectangle 46"/>
          <p:cNvSpPr/>
          <p:nvPr/>
        </p:nvSpPr>
        <p:spPr>
          <a:xfrm>
            <a:off x="3902971" y="3865374"/>
            <a:ext cx="998388" cy="4298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/>
              <a:t>julie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3902971" y="4295259"/>
            <a:ext cx="998388" cy="4298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XML Claims</a:t>
            </a:r>
          </a:p>
        </p:txBody>
      </p:sp>
      <p:cxnSp>
        <p:nvCxnSpPr>
          <p:cNvPr id="49" name="Elbow Connector 48"/>
          <p:cNvCxnSpPr>
            <a:stCxn id="8" idx="2"/>
            <a:endCxn id="47" idx="1"/>
          </p:cNvCxnSpPr>
          <p:nvPr/>
        </p:nvCxnSpPr>
        <p:spPr>
          <a:xfrm rot="16200000" flipH="1">
            <a:off x="2989438" y="3166783"/>
            <a:ext cx="184945" cy="16421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53" name="Elbow Connector 52"/>
          <p:cNvCxnSpPr>
            <a:stCxn id="9" idx="3"/>
            <a:endCxn id="48" idx="1"/>
          </p:cNvCxnSpPr>
          <p:nvPr/>
        </p:nvCxnSpPr>
        <p:spPr>
          <a:xfrm flipV="1">
            <a:off x="2692897" y="4510202"/>
            <a:ext cx="1210074" cy="5383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15" name="Rectangle 14"/>
          <p:cNvSpPr/>
          <p:nvPr/>
        </p:nvSpPr>
        <p:spPr>
          <a:xfrm>
            <a:off x="2088770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56" name="Elbow Connector 55"/>
          <p:cNvCxnSpPr>
            <a:stCxn id="48" idx="2"/>
            <a:endCxn id="11" idx="1"/>
          </p:cNvCxnSpPr>
          <p:nvPr/>
        </p:nvCxnSpPr>
        <p:spPr>
          <a:xfrm rot="16200000" flipH="1">
            <a:off x="4454040" y="4673269"/>
            <a:ext cx="539461" cy="6432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64" name="Rectangle 63"/>
          <p:cNvSpPr/>
          <p:nvPr/>
        </p:nvSpPr>
        <p:spPr>
          <a:xfrm>
            <a:off x="7138082" y="3164540"/>
            <a:ext cx="1417751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julie</a:t>
            </a:r>
            <a:endParaRPr lang="en-US" sz="1200" dirty="0"/>
          </a:p>
        </p:txBody>
      </p:sp>
      <p:sp>
        <p:nvSpPr>
          <p:cNvPr id="65" name="Rectangle 64"/>
          <p:cNvSpPr/>
          <p:nvPr/>
        </p:nvSpPr>
        <p:spPr>
          <a:xfrm>
            <a:off x="7133140" y="3606550"/>
            <a:ext cx="1422694" cy="5542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mssqlsvc</a:t>
            </a:r>
            <a:r>
              <a:rPr lang="en-US" sz="1200" dirty="0"/>
              <a:t>/</a:t>
            </a:r>
            <a:r>
              <a:rPr lang="en-US" sz="1200" dirty="0" err="1"/>
              <a:t>gps-data:hragenda</a:t>
            </a:r>
            <a:endParaRPr lang="en-US" sz="1200" dirty="0"/>
          </a:p>
        </p:txBody>
      </p:sp>
      <p:cxnSp>
        <p:nvCxnSpPr>
          <p:cNvPr id="66" name="Elbow Connector 65"/>
          <p:cNvCxnSpPr>
            <a:stCxn id="20" idx="3"/>
            <a:endCxn id="65" idx="1"/>
          </p:cNvCxnSpPr>
          <p:nvPr/>
        </p:nvCxnSpPr>
        <p:spPr>
          <a:xfrm flipV="1">
            <a:off x="6804248" y="3883690"/>
            <a:ext cx="328892" cy="6243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71" name="Elbow Connector 70"/>
          <p:cNvCxnSpPr>
            <a:stCxn id="64" idx="0"/>
            <a:endCxn id="28" idx="2"/>
          </p:cNvCxnSpPr>
          <p:nvPr/>
        </p:nvCxnSpPr>
        <p:spPr>
          <a:xfrm rot="5400000" flipH="1" flipV="1">
            <a:off x="7530535" y="2763923"/>
            <a:ext cx="717040" cy="841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40" name="Rectangle 39"/>
          <p:cNvSpPr/>
          <p:nvPr/>
        </p:nvSpPr>
        <p:spPr>
          <a:xfrm>
            <a:off x="4681032" y="2690136"/>
            <a:ext cx="980848" cy="3411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service TGS</a:t>
            </a:r>
          </a:p>
        </p:txBody>
      </p:sp>
    </p:spTree>
    <p:extLst>
      <p:ext uri="{BB962C8B-B14F-4D97-AF65-F5344CB8AC3E}">
        <p14:creationId xmlns:p14="http://schemas.microsoft.com/office/powerpoint/2010/main" val="22525308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Requested Kerberos protocol transition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1" y="303127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1" y="4616533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359" y="5031842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5375" y="4832557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71456" y="465313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9408" y="1511396"/>
            <a:ext cx="86409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ConentDB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2088770" y="2708920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17" name="Elbow Connector 16"/>
          <p:cNvCxnSpPr>
            <a:stCxn id="14" idx="3"/>
            <a:endCxn id="13" idx="2"/>
          </p:cNvCxnSpPr>
          <p:nvPr/>
        </p:nvCxnSpPr>
        <p:spPr>
          <a:xfrm flipV="1">
            <a:off x="3419872" y="2375492"/>
            <a:ext cx="1751584" cy="5483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9" name="Elbow Connector 18"/>
          <p:cNvCxnSpPr>
            <a:stCxn id="15" idx="0"/>
            <a:endCxn id="13" idx="2"/>
          </p:cNvCxnSpPr>
          <p:nvPr/>
        </p:nvCxnSpPr>
        <p:spPr>
          <a:xfrm rot="5400000" flipH="1" flipV="1">
            <a:off x="3004086" y="2125727"/>
            <a:ext cx="1917604" cy="24171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0" name="Rectangle 19"/>
          <p:cNvSpPr/>
          <p:nvPr/>
        </p:nvSpPr>
        <p:spPr>
          <a:xfrm>
            <a:off x="5473146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-portal-excel</a:t>
            </a:r>
          </a:p>
        </p:txBody>
      </p:sp>
      <p:cxnSp>
        <p:nvCxnSpPr>
          <p:cNvPr id="21" name="Elbow Connector 20"/>
          <p:cNvCxnSpPr>
            <a:stCxn id="20" idx="0"/>
            <a:endCxn id="13" idx="2"/>
          </p:cNvCxnSpPr>
          <p:nvPr/>
        </p:nvCxnSpPr>
        <p:spPr>
          <a:xfrm rot="16200000" flipV="1">
            <a:off x="4696275" y="2850673"/>
            <a:ext cx="1917604" cy="96724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7" name="Rectangle 26"/>
          <p:cNvSpPr/>
          <p:nvPr/>
        </p:nvSpPr>
        <p:spPr>
          <a:xfrm>
            <a:off x="6923040" y="1511396"/>
            <a:ext cx="1954560" cy="1166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GPS-DATA\HRAGENDA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16189" y="1998499"/>
            <a:ext cx="1629925" cy="4490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AdventureWorks</a:t>
            </a:r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269434" y="3301060"/>
            <a:ext cx="998387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kamil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277812" y="4633271"/>
            <a:ext cx="990009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julie</a:t>
            </a:r>
            <a:endParaRPr lang="en-US" sz="1200" dirty="0"/>
          </a:p>
        </p:txBody>
      </p:sp>
      <p:sp>
        <p:nvSpPr>
          <p:cNvPr id="31" name="Rectangle 30"/>
          <p:cNvSpPr/>
          <p:nvPr/>
        </p:nvSpPr>
        <p:spPr>
          <a:xfrm>
            <a:off x="269434" y="3730945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869" y="5075281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cxnSp>
        <p:nvCxnSpPr>
          <p:cNvPr id="33" name="Elbow Connector 32"/>
          <p:cNvCxnSpPr>
            <a:stCxn id="31" idx="3"/>
            <a:endCxn id="8" idx="1"/>
          </p:cNvCxnSpPr>
          <p:nvPr/>
        </p:nvCxnSpPr>
        <p:spPr>
          <a:xfrm flipV="1">
            <a:off x="1267822" y="3463324"/>
            <a:ext cx="560979" cy="4825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6" name="Elbow Connector 35"/>
          <p:cNvCxnSpPr>
            <a:stCxn id="31" idx="3"/>
            <a:endCxn id="9" idx="1"/>
          </p:cNvCxnSpPr>
          <p:nvPr/>
        </p:nvCxnSpPr>
        <p:spPr>
          <a:xfrm>
            <a:off x="1267822" y="3945888"/>
            <a:ext cx="560979" cy="11026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9" name="Elbow Connector 38"/>
          <p:cNvCxnSpPr>
            <a:stCxn id="32" idx="3"/>
            <a:endCxn id="9" idx="1"/>
          </p:cNvCxnSpPr>
          <p:nvPr/>
        </p:nvCxnSpPr>
        <p:spPr>
          <a:xfrm flipV="1">
            <a:off x="1271257" y="5048581"/>
            <a:ext cx="557544" cy="2416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2" name="Elbow Connector 41"/>
          <p:cNvCxnSpPr>
            <a:stCxn id="32" idx="3"/>
            <a:endCxn id="8" idx="1"/>
          </p:cNvCxnSpPr>
          <p:nvPr/>
        </p:nvCxnSpPr>
        <p:spPr>
          <a:xfrm flipV="1">
            <a:off x="1271257" y="3463324"/>
            <a:ext cx="557544" cy="18269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47" name="Rectangle 46"/>
          <p:cNvSpPr/>
          <p:nvPr/>
        </p:nvSpPr>
        <p:spPr>
          <a:xfrm>
            <a:off x="3902971" y="3865374"/>
            <a:ext cx="998388" cy="4298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/>
              <a:t>julie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3902971" y="4295259"/>
            <a:ext cx="998388" cy="4298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XML Claims</a:t>
            </a:r>
          </a:p>
        </p:txBody>
      </p:sp>
      <p:cxnSp>
        <p:nvCxnSpPr>
          <p:cNvPr id="49" name="Elbow Connector 48"/>
          <p:cNvCxnSpPr>
            <a:stCxn id="8" idx="2"/>
            <a:endCxn id="47" idx="1"/>
          </p:cNvCxnSpPr>
          <p:nvPr/>
        </p:nvCxnSpPr>
        <p:spPr>
          <a:xfrm rot="16200000" flipH="1">
            <a:off x="2989438" y="3166783"/>
            <a:ext cx="184945" cy="16421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53" name="Elbow Connector 52"/>
          <p:cNvCxnSpPr>
            <a:stCxn id="9" idx="3"/>
            <a:endCxn id="48" idx="1"/>
          </p:cNvCxnSpPr>
          <p:nvPr/>
        </p:nvCxnSpPr>
        <p:spPr>
          <a:xfrm flipV="1">
            <a:off x="2692897" y="4510202"/>
            <a:ext cx="1210074" cy="5383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15" name="Rectangle 14"/>
          <p:cNvSpPr/>
          <p:nvPr/>
        </p:nvSpPr>
        <p:spPr>
          <a:xfrm>
            <a:off x="2088770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56" name="Elbow Connector 55"/>
          <p:cNvCxnSpPr>
            <a:stCxn id="48" idx="2"/>
            <a:endCxn id="11" idx="1"/>
          </p:cNvCxnSpPr>
          <p:nvPr/>
        </p:nvCxnSpPr>
        <p:spPr>
          <a:xfrm rot="16200000" flipH="1">
            <a:off x="4454040" y="4673269"/>
            <a:ext cx="539461" cy="6432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64" name="Rectangle 63"/>
          <p:cNvSpPr/>
          <p:nvPr/>
        </p:nvSpPr>
        <p:spPr>
          <a:xfrm>
            <a:off x="7138082" y="3164540"/>
            <a:ext cx="1417751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julie</a:t>
            </a:r>
            <a:endParaRPr lang="en-US" sz="1200" dirty="0"/>
          </a:p>
        </p:txBody>
      </p:sp>
      <p:sp>
        <p:nvSpPr>
          <p:cNvPr id="65" name="Rectangle 64"/>
          <p:cNvSpPr/>
          <p:nvPr/>
        </p:nvSpPr>
        <p:spPr>
          <a:xfrm>
            <a:off x="7133140" y="3606550"/>
            <a:ext cx="1422694" cy="5542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mssqlsvc</a:t>
            </a:r>
            <a:r>
              <a:rPr lang="en-US" sz="1200" dirty="0"/>
              <a:t>/</a:t>
            </a:r>
            <a:r>
              <a:rPr lang="en-US" sz="1200" dirty="0" err="1"/>
              <a:t>gps-data:hragenda</a:t>
            </a:r>
            <a:endParaRPr lang="en-US" sz="1200" dirty="0"/>
          </a:p>
        </p:txBody>
      </p:sp>
      <p:cxnSp>
        <p:nvCxnSpPr>
          <p:cNvPr id="66" name="Elbow Connector 65"/>
          <p:cNvCxnSpPr>
            <a:stCxn id="20" idx="3"/>
            <a:endCxn id="65" idx="1"/>
          </p:cNvCxnSpPr>
          <p:nvPr/>
        </p:nvCxnSpPr>
        <p:spPr>
          <a:xfrm flipV="1">
            <a:off x="6804248" y="3883690"/>
            <a:ext cx="328892" cy="6243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71" name="Elbow Connector 70"/>
          <p:cNvCxnSpPr>
            <a:stCxn id="64" idx="0"/>
            <a:endCxn id="28" idx="2"/>
          </p:cNvCxnSpPr>
          <p:nvPr/>
        </p:nvCxnSpPr>
        <p:spPr>
          <a:xfrm rot="5400000" flipH="1" flipV="1">
            <a:off x="7530535" y="2763923"/>
            <a:ext cx="717040" cy="841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9" name="Rectangle 78"/>
          <p:cNvSpPr/>
          <p:nvPr/>
        </p:nvSpPr>
        <p:spPr>
          <a:xfrm>
            <a:off x="5877868" y="4050520"/>
            <a:ext cx="998388" cy="3145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non-Admins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1032" y="2690136"/>
            <a:ext cx="980848" cy="3411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service TGS</a:t>
            </a:r>
          </a:p>
        </p:txBody>
      </p:sp>
    </p:spTree>
    <p:extLst>
      <p:ext uri="{BB962C8B-B14F-4D97-AF65-F5344CB8AC3E}">
        <p14:creationId xmlns:p14="http://schemas.microsoft.com/office/powerpoint/2010/main" val="37957712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Excel Services </a:t>
            </a:r>
            <a:r>
              <a:rPr lang="en-US" sz="2000" dirty="0"/>
              <a:t>web service must not be member of Administrators</a:t>
            </a:r>
            <a:br>
              <a:rPr lang="en-US" sz="2000" dirty="0"/>
            </a:br>
            <a:r>
              <a:rPr lang="en-US" sz="2000" dirty="0"/>
              <a:t>we need </a:t>
            </a:r>
            <a:r>
              <a:rPr lang="en-US" sz="2000" dirty="0">
                <a:solidFill>
                  <a:schemeClr val="accent1"/>
                </a:solidFill>
              </a:rPr>
              <a:t>Claims to Windows token service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dirty="0">
                <a:solidFill>
                  <a:schemeClr val="accent1"/>
                </a:solidFill>
              </a:rPr>
              <a:t>C2WTS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1" y="303127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1" y="4616533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WFE2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359" y="5031842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5375" y="4832557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71456" y="4653136"/>
            <a:ext cx="864096" cy="8640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WBE1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9408" y="1511396"/>
            <a:ext cx="86409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ConentDB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2088770" y="2708920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17" name="Elbow Connector 16"/>
          <p:cNvCxnSpPr>
            <a:stCxn id="14" idx="3"/>
            <a:endCxn id="13" idx="2"/>
          </p:cNvCxnSpPr>
          <p:nvPr/>
        </p:nvCxnSpPr>
        <p:spPr>
          <a:xfrm flipV="1">
            <a:off x="3419872" y="2375492"/>
            <a:ext cx="1751584" cy="5483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9" name="Elbow Connector 18"/>
          <p:cNvCxnSpPr>
            <a:stCxn id="15" idx="0"/>
            <a:endCxn id="13" idx="2"/>
          </p:cNvCxnSpPr>
          <p:nvPr/>
        </p:nvCxnSpPr>
        <p:spPr>
          <a:xfrm rot="5400000" flipH="1" flipV="1">
            <a:off x="3004086" y="2125727"/>
            <a:ext cx="1917604" cy="24171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0" name="Rectangle 19"/>
          <p:cNvSpPr/>
          <p:nvPr/>
        </p:nvSpPr>
        <p:spPr>
          <a:xfrm>
            <a:off x="5473146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-portal-excel</a:t>
            </a:r>
          </a:p>
        </p:txBody>
      </p:sp>
      <p:cxnSp>
        <p:nvCxnSpPr>
          <p:cNvPr id="21" name="Elbow Connector 20"/>
          <p:cNvCxnSpPr>
            <a:stCxn id="20" idx="0"/>
            <a:endCxn id="13" idx="2"/>
          </p:cNvCxnSpPr>
          <p:nvPr/>
        </p:nvCxnSpPr>
        <p:spPr>
          <a:xfrm rot="16200000" flipV="1">
            <a:off x="4696275" y="2850673"/>
            <a:ext cx="1917604" cy="96724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27" name="Rectangle 26"/>
          <p:cNvSpPr/>
          <p:nvPr/>
        </p:nvSpPr>
        <p:spPr>
          <a:xfrm>
            <a:off x="6923040" y="1511396"/>
            <a:ext cx="1954560" cy="11660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GPS-DATA\HRAGENDA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16189" y="1998499"/>
            <a:ext cx="1629925" cy="4490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AdventureWorks</a:t>
            </a:r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269434" y="3301060"/>
            <a:ext cx="998387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kamil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277812" y="4633271"/>
            <a:ext cx="990009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julie</a:t>
            </a:r>
            <a:endParaRPr lang="en-US" sz="1200" dirty="0"/>
          </a:p>
        </p:txBody>
      </p:sp>
      <p:sp>
        <p:nvSpPr>
          <p:cNvPr id="31" name="Rectangle 30"/>
          <p:cNvSpPr/>
          <p:nvPr/>
        </p:nvSpPr>
        <p:spPr>
          <a:xfrm>
            <a:off x="269434" y="3730945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869" y="5075281"/>
            <a:ext cx="998388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http/portal</a:t>
            </a:r>
          </a:p>
        </p:txBody>
      </p:sp>
      <p:cxnSp>
        <p:nvCxnSpPr>
          <p:cNvPr id="33" name="Elbow Connector 32"/>
          <p:cNvCxnSpPr>
            <a:stCxn id="31" idx="3"/>
            <a:endCxn id="8" idx="1"/>
          </p:cNvCxnSpPr>
          <p:nvPr/>
        </p:nvCxnSpPr>
        <p:spPr>
          <a:xfrm flipV="1">
            <a:off x="1267822" y="3463324"/>
            <a:ext cx="560979" cy="4825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6" name="Elbow Connector 35"/>
          <p:cNvCxnSpPr>
            <a:stCxn id="31" idx="3"/>
            <a:endCxn id="9" idx="1"/>
          </p:cNvCxnSpPr>
          <p:nvPr/>
        </p:nvCxnSpPr>
        <p:spPr>
          <a:xfrm>
            <a:off x="1267822" y="3945888"/>
            <a:ext cx="560979" cy="11026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9" name="Elbow Connector 38"/>
          <p:cNvCxnSpPr>
            <a:stCxn id="32" idx="3"/>
            <a:endCxn id="9" idx="1"/>
          </p:cNvCxnSpPr>
          <p:nvPr/>
        </p:nvCxnSpPr>
        <p:spPr>
          <a:xfrm flipV="1">
            <a:off x="1271257" y="5048581"/>
            <a:ext cx="557544" cy="2416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2" name="Elbow Connector 41"/>
          <p:cNvCxnSpPr>
            <a:stCxn id="32" idx="3"/>
            <a:endCxn id="8" idx="1"/>
          </p:cNvCxnSpPr>
          <p:nvPr/>
        </p:nvCxnSpPr>
        <p:spPr>
          <a:xfrm flipV="1">
            <a:off x="1271257" y="3463324"/>
            <a:ext cx="557544" cy="18269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47" name="Rectangle 46"/>
          <p:cNvSpPr/>
          <p:nvPr/>
        </p:nvSpPr>
        <p:spPr>
          <a:xfrm>
            <a:off x="3902971" y="3865374"/>
            <a:ext cx="998388" cy="4298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/>
              <a:t>julie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3902971" y="4295259"/>
            <a:ext cx="998388" cy="4298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XML Claims</a:t>
            </a:r>
          </a:p>
        </p:txBody>
      </p:sp>
      <p:cxnSp>
        <p:nvCxnSpPr>
          <p:cNvPr id="49" name="Elbow Connector 48"/>
          <p:cNvCxnSpPr>
            <a:stCxn id="8" idx="2"/>
            <a:endCxn id="47" idx="1"/>
          </p:cNvCxnSpPr>
          <p:nvPr/>
        </p:nvCxnSpPr>
        <p:spPr>
          <a:xfrm rot="16200000" flipH="1">
            <a:off x="2989438" y="3166783"/>
            <a:ext cx="184945" cy="16421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53" name="Elbow Connector 52"/>
          <p:cNvCxnSpPr>
            <a:stCxn id="9" idx="3"/>
            <a:endCxn id="48" idx="1"/>
          </p:cNvCxnSpPr>
          <p:nvPr/>
        </p:nvCxnSpPr>
        <p:spPr>
          <a:xfrm flipV="1">
            <a:off x="2692897" y="4510202"/>
            <a:ext cx="1210074" cy="5383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15" name="Rectangle 14"/>
          <p:cNvSpPr/>
          <p:nvPr/>
        </p:nvSpPr>
        <p:spPr>
          <a:xfrm>
            <a:off x="2088770" y="4293096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-portal-web</a:t>
            </a:r>
          </a:p>
        </p:txBody>
      </p:sp>
      <p:cxnSp>
        <p:nvCxnSpPr>
          <p:cNvPr id="56" name="Elbow Connector 55"/>
          <p:cNvCxnSpPr>
            <a:stCxn id="48" idx="2"/>
            <a:endCxn id="11" idx="1"/>
          </p:cNvCxnSpPr>
          <p:nvPr/>
        </p:nvCxnSpPr>
        <p:spPr>
          <a:xfrm rot="16200000" flipH="1">
            <a:off x="4454040" y="4673269"/>
            <a:ext cx="539461" cy="6432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64" name="Rectangle 63"/>
          <p:cNvSpPr/>
          <p:nvPr/>
        </p:nvSpPr>
        <p:spPr>
          <a:xfrm>
            <a:off x="7138082" y="3164540"/>
            <a:ext cx="1417751" cy="4298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</a:t>
            </a:r>
            <a:r>
              <a:rPr lang="en-US" sz="1200" dirty="0"/>
              <a:t>\</a:t>
            </a:r>
            <a:r>
              <a:rPr lang="en-US" sz="1200" dirty="0" err="1"/>
              <a:t>julie</a:t>
            </a:r>
            <a:endParaRPr lang="en-US" sz="1200" dirty="0"/>
          </a:p>
        </p:txBody>
      </p:sp>
      <p:sp>
        <p:nvSpPr>
          <p:cNvPr id="65" name="Rectangle 64"/>
          <p:cNvSpPr/>
          <p:nvPr/>
        </p:nvSpPr>
        <p:spPr>
          <a:xfrm>
            <a:off x="7133140" y="3606550"/>
            <a:ext cx="1422694" cy="5542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mssqlsvc</a:t>
            </a:r>
            <a:r>
              <a:rPr lang="en-US" sz="1200" dirty="0"/>
              <a:t>/</a:t>
            </a:r>
            <a:r>
              <a:rPr lang="en-US" sz="1200" dirty="0" err="1"/>
              <a:t>gps-data:hragenda</a:t>
            </a:r>
            <a:endParaRPr lang="en-US" sz="1200" dirty="0"/>
          </a:p>
        </p:txBody>
      </p:sp>
      <p:cxnSp>
        <p:nvCxnSpPr>
          <p:cNvPr id="66" name="Elbow Connector 65"/>
          <p:cNvCxnSpPr>
            <a:stCxn id="20" idx="3"/>
            <a:endCxn id="65" idx="1"/>
          </p:cNvCxnSpPr>
          <p:nvPr/>
        </p:nvCxnSpPr>
        <p:spPr>
          <a:xfrm flipV="1">
            <a:off x="6804248" y="3883690"/>
            <a:ext cx="328892" cy="6243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71" name="Elbow Connector 70"/>
          <p:cNvCxnSpPr>
            <a:stCxn id="64" idx="0"/>
            <a:endCxn id="28" idx="2"/>
          </p:cNvCxnSpPr>
          <p:nvPr/>
        </p:nvCxnSpPr>
        <p:spPr>
          <a:xfrm rot="5400000" flipH="1" flipV="1">
            <a:off x="7530535" y="2763923"/>
            <a:ext cx="717040" cy="841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5" name="Rectangle 74"/>
          <p:cNvSpPr/>
          <p:nvPr/>
        </p:nvSpPr>
        <p:spPr>
          <a:xfrm>
            <a:off x="5473146" y="5290223"/>
            <a:ext cx="1331102" cy="42988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sp</a:t>
            </a:r>
            <a:r>
              <a:rPr lang="en-US" sz="1200" dirty="0"/>
              <a:t>-portal-claims</a:t>
            </a:r>
          </a:p>
        </p:txBody>
      </p:sp>
      <p:cxnSp>
        <p:nvCxnSpPr>
          <p:cNvPr id="76" name="Elbow Connector 75"/>
          <p:cNvCxnSpPr>
            <a:stCxn id="75" idx="3"/>
            <a:endCxn id="75" idx="0"/>
          </p:cNvCxnSpPr>
          <p:nvPr/>
        </p:nvCxnSpPr>
        <p:spPr>
          <a:xfrm flipH="1" flipV="1">
            <a:off x="6138697" y="5290223"/>
            <a:ext cx="665551" cy="214943"/>
          </a:xfrm>
          <a:prstGeom prst="bentConnector4">
            <a:avLst>
              <a:gd name="adj1" fmla="val -34347"/>
              <a:gd name="adj2" fmla="val 206354"/>
            </a:avLst>
          </a:prstGeom>
          <a:ln>
            <a:tailEnd type="triangle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9" name="Rectangle 78"/>
          <p:cNvSpPr/>
          <p:nvPr/>
        </p:nvSpPr>
        <p:spPr>
          <a:xfrm>
            <a:off x="5877868" y="4050520"/>
            <a:ext cx="998388" cy="3145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non-Admins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77868" y="5691911"/>
            <a:ext cx="998388" cy="3145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Administrators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60563" y="5243213"/>
            <a:ext cx="996762" cy="42988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any/some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1032" y="2690136"/>
            <a:ext cx="980848" cy="3411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service TGS</a:t>
            </a:r>
          </a:p>
        </p:txBody>
      </p:sp>
    </p:spTree>
    <p:extLst>
      <p:ext uri="{BB962C8B-B14F-4D97-AF65-F5344CB8AC3E}">
        <p14:creationId xmlns:p14="http://schemas.microsoft.com/office/powerpoint/2010/main" val="11834619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Claims to Windows Token Service (C2WTS) - service account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dummy SPN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7" y="1196752"/>
            <a:ext cx="6114848" cy="553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596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Claims to Windows Token Service (C2WTS) - service account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Protocol transition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to </a:t>
            </a:r>
            <a:r>
              <a:rPr lang="en-US" sz="2000" dirty="0">
                <a:solidFill>
                  <a:schemeClr val="accent1"/>
                </a:solidFill>
              </a:rPr>
              <a:t>itself</a:t>
            </a:r>
            <a:r>
              <a:rPr lang="en-US" sz="2000" dirty="0">
                <a:solidFill>
                  <a:schemeClr val="tx2"/>
                </a:solidFill>
              </a:rPr>
              <a:t> only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772816"/>
            <a:ext cx="6208365" cy="496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677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Excel Services, Performance Point Services, Reporting Services - service account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Dummy SPN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947" y="1556792"/>
            <a:ext cx="6522053" cy="512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606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Excel Services, Performance Point Services, Reporting Services - service account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Protocol transition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to </a:t>
            </a:r>
            <a:r>
              <a:rPr lang="en-US" sz="2000" dirty="0">
                <a:solidFill>
                  <a:schemeClr val="accent1"/>
                </a:solidFill>
              </a:rPr>
              <a:t>data sources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297" y="1628800"/>
            <a:ext cx="6158704" cy="504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99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Cross-domain Kerberos delegation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771434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FAA1C95-13C6-4282-A662-A310A95BC878}"/>
              </a:ext>
            </a:extLst>
          </p:cNvPr>
          <p:cNvSpPr/>
          <p:nvPr/>
        </p:nvSpPr>
        <p:spPr>
          <a:xfrm>
            <a:off x="790140" y="1412776"/>
            <a:ext cx="4069892" cy="3508528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 err="1"/>
              <a:t>yellow.forest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E6E06E-5CA6-4FF1-94A4-2D430AB6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78296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Un</a:t>
            </a:r>
            <a:r>
              <a:rPr lang="en-US" sz="2800" dirty="0"/>
              <a:t>constrained delegation works even </a:t>
            </a:r>
            <a:r>
              <a:rPr lang="en-US" sz="2800" dirty="0">
                <a:solidFill>
                  <a:schemeClr val="accent1"/>
                </a:solidFill>
              </a:rPr>
              <a:t>cross-forest</a:t>
            </a:r>
            <a:r>
              <a:rPr lang="en-US" sz="2800" dirty="0"/>
              <a:t> (if enabled on trusts)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BAAA-1FFD-4B4B-84C1-AD905164F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cs-C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r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trust</a:t>
            </a:r>
            <a:r>
              <a:rPr lang="cs-C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EnableTGTDelegation:Yes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r"/>
            <a:endParaRPr lang="cs-CZ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39C05-8B21-4728-86B6-1DF7E69B59F9}"/>
              </a:ext>
            </a:extLst>
          </p:cNvPr>
          <p:cNvSpPr/>
          <p:nvPr/>
        </p:nvSpPr>
        <p:spPr>
          <a:xfrm>
            <a:off x="2735796" y="2276872"/>
            <a:ext cx="1008112" cy="100811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</a:t>
            </a:r>
          </a:p>
          <a:p>
            <a:pPr algn="ctr"/>
            <a:r>
              <a:rPr lang="en-US" dirty="0"/>
              <a:t>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6D042-411B-4225-A8CD-06C531C2ECB2}"/>
              </a:ext>
            </a:extLst>
          </p:cNvPr>
          <p:cNvSpPr/>
          <p:nvPr/>
        </p:nvSpPr>
        <p:spPr>
          <a:xfrm>
            <a:off x="258335" y="2276872"/>
            <a:ext cx="1008112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A16DDE-08EF-428C-9347-4A06D8A5BB08}"/>
              </a:ext>
            </a:extLst>
          </p:cNvPr>
          <p:cNvSpPr/>
          <p:nvPr/>
        </p:nvSpPr>
        <p:spPr>
          <a:xfrm>
            <a:off x="1619672" y="3645024"/>
            <a:ext cx="936104" cy="936104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6D0B19A-B933-467F-8D34-1D8EF71ED54E}"/>
              </a:ext>
            </a:extLst>
          </p:cNvPr>
          <p:cNvSpPr/>
          <p:nvPr/>
        </p:nvSpPr>
        <p:spPr>
          <a:xfrm>
            <a:off x="1374459" y="2636912"/>
            <a:ext cx="1253325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54ED47-4210-4398-B3A9-0E3AFAC01599}"/>
              </a:ext>
            </a:extLst>
          </p:cNvPr>
          <p:cNvSpPr/>
          <p:nvPr/>
        </p:nvSpPr>
        <p:spPr>
          <a:xfrm>
            <a:off x="1599387" y="2342389"/>
            <a:ext cx="6480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F:TGT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391F865-4BDD-4D01-9412-2142E16760C1}"/>
              </a:ext>
            </a:extLst>
          </p:cNvPr>
          <p:cNvSpPr/>
          <p:nvPr/>
        </p:nvSpPr>
        <p:spPr>
          <a:xfrm>
            <a:off x="5076056" y="3284984"/>
            <a:ext cx="4069892" cy="3508528"/>
          </a:xfrm>
          <a:prstGeom prst="triangl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 err="1"/>
              <a:t>green.forest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C8CB2-798D-4A39-AEDD-037E49512B97}"/>
              </a:ext>
            </a:extLst>
          </p:cNvPr>
          <p:cNvSpPr/>
          <p:nvPr/>
        </p:nvSpPr>
        <p:spPr>
          <a:xfrm>
            <a:off x="7005648" y="3810582"/>
            <a:ext cx="1008112" cy="1008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 End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E584E8-C9C2-4BA2-811E-5338087BF02B}"/>
              </a:ext>
            </a:extLst>
          </p:cNvPr>
          <p:cNvSpPr/>
          <p:nvPr/>
        </p:nvSpPr>
        <p:spPr>
          <a:xfrm>
            <a:off x="5918772" y="5396971"/>
            <a:ext cx="936104" cy="93610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60BB1A3-69DF-4228-B1B1-5A632BF206DB}"/>
              </a:ext>
            </a:extLst>
          </p:cNvPr>
          <p:cNvSpPr/>
          <p:nvPr/>
        </p:nvSpPr>
        <p:spPr>
          <a:xfrm rot="1572385">
            <a:off x="3721575" y="3382072"/>
            <a:ext cx="3357036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83EC33-E690-462E-BD63-080A3E9BAC3E}"/>
              </a:ext>
            </a:extLst>
          </p:cNvPr>
          <p:cNvSpPr/>
          <p:nvPr/>
        </p:nvSpPr>
        <p:spPr>
          <a:xfrm>
            <a:off x="7221836" y="5301577"/>
            <a:ext cx="92290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backend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9CAD1C-AA3E-4E74-A40A-9263962E09E1}"/>
              </a:ext>
            </a:extLst>
          </p:cNvPr>
          <p:cNvSpPr/>
          <p:nvPr/>
        </p:nvSpPr>
        <p:spPr>
          <a:xfrm>
            <a:off x="2411760" y="3573399"/>
            <a:ext cx="489596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161F4F-9574-4AF7-9A4D-D7815FA076DF}"/>
              </a:ext>
            </a:extLst>
          </p:cNvPr>
          <p:cNvSpPr/>
          <p:nvPr/>
        </p:nvSpPr>
        <p:spPr>
          <a:xfrm>
            <a:off x="2884534" y="3573399"/>
            <a:ext cx="1623982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krbtgt</a:t>
            </a:r>
            <a:r>
              <a:rPr lang="en-US" sz="1000" dirty="0"/>
              <a:t>/</a:t>
            </a:r>
            <a:r>
              <a:rPr lang="en-US" sz="1000" dirty="0" err="1"/>
              <a:t>green.domain</a:t>
            </a:r>
            <a:endParaRPr lang="en-US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D90F4E-64DE-49C6-9C3A-608912D1BE6E}"/>
              </a:ext>
            </a:extLst>
          </p:cNvPr>
          <p:cNvSpPr/>
          <p:nvPr/>
        </p:nvSpPr>
        <p:spPr>
          <a:xfrm>
            <a:off x="6732240" y="5301208"/>
            <a:ext cx="489596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</p:spTree>
    <p:extLst>
      <p:ext uri="{BB962C8B-B14F-4D97-AF65-F5344CB8AC3E}">
        <p14:creationId xmlns:p14="http://schemas.microsoft.com/office/powerpoint/2010/main" val="42899675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FAA1C95-13C6-4282-A662-A310A95BC878}"/>
              </a:ext>
            </a:extLst>
          </p:cNvPr>
          <p:cNvSpPr/>
          <p:nvPr/>
        </p:nvSpPr>
        <p:spPr>
          <a:xfrm>
            <a:off x="790140" y="1412776"/>
            <a:ext cx="4069892" cy="3508528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 err="1"/>
              <a:t>yellow.domain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E6E06E-5CA6-4FF1-94A4-2D430AB6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Constrained</a:t>
            </a:r>
            <a:r>
              <a:rPr lang="en-US" sz="2800" dirty="0"/>
              <a:t> delegation does not work to other domains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39C05-8B21-4728-86B6-1DF7E69B59F9}"/>
              </a:ext>
            </a:extLst>
          </p:cNvPr>
          <p:cNvSpPr/>
          <p:nvPr/>
        </p:nvSpPr>
        <p:spPr>
          <a:xfrm>
            <a:off x="2735796" y="2276872"/>
            <a:ext cx="1008112" cy="100811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6D042-411B-4225-A8CD-06C531C2ECB2}"/>
              </a:ext>
            </a:extLst>
          </p:cNvPr>
          <p:cNvSpPr/>
          <p:nvPr/>
        </p:nvSpPr>
        <p:spPr>
          <a:xfrm>
            <a:off x="258335" y="2276872"/>
            <a:ext cx="1008112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A16DDE-08EF-428C-9347-4A06D8A5BB08}"/>
              </a:ext>
            </a:extLst>
          </p:cNvPr>
          <p:cNvSpPr/>
          <p:nvPr/>
        </p:nvSpPr>
        <p:spPr>
          <a:xfrm>
            <a:off x="1619672" y="3645024"/>
            <a:ext cx="936104" cy="936104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6D0B19A-B933-467F-8D34-1D8EF71ED54E}"/>
              </a:ext>
            </a:extLst>
          </p:cNvPr>
          <p:cNvSpPr/>
          <p:nvPr/>
        </p:nvSpPr>
        <p:spPr>
          <a:xfrm>
            <a:off x="1374459" y="2636912"/>
            <a:ext cx="1253325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391F865-4BDD-4D01-9412-2142E16760C1}"/>
              </a:ext>
            </a:extLst>
          </p:cNvPr>
          <p:cNvSpPr/>
          <p:nvPr/>
        </p:nvSpPr>
        <p:spPr>
          <a:xfrm>
            <a:off x="5076056" y="3284984"/>
            <a:ext cx="4069892" cy="3508528"/>
          </a:xfrm>
          <a:prstGeom prst="triangl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 err="1"/>
              <a:t>green.domain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C8CB2-798D-4A39-AEDD-037E49512B97}"/>
              </a:ext>
            </a:extLst>
          </p:cNvPr>
          <p:cNvSpPr/>
          <p:nvPr/>
        </p:nvSpPr>
        <p:spPr>
          <a:xfrm>
            <a:off x="7005648" y="3810582"/>
            <a:ext cx="1008112" cy="1008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 End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E584E8-C9C2-4BA2-811E-5338087BF02B}"/>
              </a:ext>
            </a:extLst>
          </p:cNvPr>
          <p:cNvSpPr/>
          <p:nvPr/>
        </p:nvSpPr>
        <p:spPr>
          <a:xfrm>
            <a:off x="5918772" y="5396971"/>
            <a:ext cx="936104" cy="93610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83EC33-E690-462E-BD63-080A3E9BAC3E}"/>
              </a:ext>
            </a:extLst>
          </p:cNvPr>
          <p:cNvSpPr/>
          <p:nvPr/>
        </p:nvSpPr>
        <p:spPr>
          <a:xfrm>
            <a:off x="7221836" y="5301577"/>
            <a:ext cx="922900" cy="4320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backend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9CAD1C-AA3E-4E74-A40A-9263962E09E1}"/>
              </a:ext>
            </a:extLst>
          </p:cNvPr>
          <p:cNvSpPr/>
          <p:nvPr/>
        </p:nvSpPr>
        <p:spPr>
          <a:xfrm>
            <a:off x="2411760" y="3573399"/>
            <a:ext cx="752282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allowed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161F4F-9574-4AF7-9A4D-D7815FA076DF}"/>
              </a:ext>
            </a:extLst>
          </p:cNvPr>
          <p:cNvSpPr/>
          <p:nvPr/>
        </p:nvSpPr>
        <p:spPr>
          <a:xfrm>
            <a:off x="3164042" y="3573399"/>
            <a:ext cx="1912014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spn</a:t>
            </a:r>
            <a:r>
              <a:rPr lang="en-US" sz="1000" dirty="0"/>
              <a:t>/</a:t>
            </a:r>
            <a:r>
              <a:rPr lang="en-US" sz="1000" dirty="0" err="1"/>
              <a:t>backend.green.domain</a:t>
            </a:r>
            <a:endParaRPr lang="en-US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D90F4E-64DE-49C6-9C3A-608912D1BE6E}"/>
              </a:ext>
            </a:extLst>
          </p:cNvPr>
          <p:cNvSpPr/>
          <p:nvPr/>
        </p:nvSpPr>
        <p:spPr>
          <a:xfrm>
            <a:off x="6732240" y="5301208"/>
            <a:ext cx="489596" cy="4320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6C0B91-5B97-4F8F-AA52-DCDCF09B52A6}"/>
              </a:ext>
            </a:extLst>
          </p:cNvPr>
          <p:cNvSpPr/>
          <p:nvPr/>
        </p:nvSpPr>
        <p:spPr>
          <a:xfrm>
            <a:off x="1574703" y="2081081"/>
            <a:ext cx="92290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frontend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41E137-89D6-4616-B0FD-69BB6DD92916}"/>
              </a:ext>
            </a:extLst>
          </p:cNvPr>
          <p:cNvSpPr/>
          <p:nvPr/>
        </p:nvSpPr>
        <p:spPr>
          <a:xfrm>
            <a:off x="1085107" y="2080712"/>
            <a:ext cx="48959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7BB1D2A8-E75C-4352-B84F-52AEEDA6FF60}"/>
              </a:ext>
            </a:extLst>
          </p:cNvPr>
          <p:cNvSpPr/>
          <p:nvPr/>
        </p:nvSpPr>
        <p:spPr>
          <a:xfrm rot="18900000">
            <a:off x="2956063" y="3841344"/>
            <a:ext cx="612857" cy="612857"/>
          </a:xfrm>
          <a:prstGeom prst="plus">
            <a:avLst>
              <a:gd name="adj" fmla="val 4205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0962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FAA1C95-13C6-4282-A662-A310A95BC878}"/>
              </a:ext>
            </a:extLst>
          </p:cNvPr>
          <p:cNvSpPr/>
          <p:nvPr/>
        </p:nvSpPr>
        <p:spPr>
          <a:xfrm>
            <a:off x="790140" y="1412776"/>
            <a:ext cx="4069892" cy="3508528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 err="1"/>
              <a:t>yellow.domain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E6E06E-5CA6-4FF1-94A4-2D430AB6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78296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Protocol transition </a:t>
            </a:r>
            <a:r>
              <a:rPr lang="en-US" sz="2400" dirty="0"/>
              <a:t>works since 2012+</a:t>
            </a:r>
            <a:r>
              <a:rPr lang="cs-CZ" sz="2400" dirty="0"/>
              <a:t> </a:t>
            </a:r>
            <a:r>
              <a:rPr lang="en-US" sz="2400" dirty="0"/>
              <a:t>(aka Resource Based Kerberos Delegation) in </a:t>
            </a:r>
            <a:r>
              <a:rPr lang="en-US" sz="2400" dirty="0">
                <a:solidFill>
                  <a:schemeClr val="accent1"/>
                </a:solidFill>
              </a:rPr>
              <a:t>a single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527A-0680-47F4-BB77-2EC871A25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1600" dirty="0"/>
              <a:t>do </a:t>
            </a:r>
            <a:r>
              <a:rPr lang="en-US" sz="1600" dirty="0">
                <a:solidFill>
                  <a:schemeClr val="accent2"/>
                </a:solidFill>
              </a:rPr>
              <a:t>not</a:t>
            </a:r>
            <a:r>
              <a:rPr lang="en-US" sz="1600" dirty="0"/>
              <a:t> define the </a:t>
            </a:r>
            <a:r>
              <a:rPr lang="en-US" sz="1600" dirty="0" err="1">
                <a:solidFill>
                  <a:schemeClr val="accent3"/>
                </a:solidFill>
              </a:rPr>
              <a:t>spn</a:t>
            </a:r>
            <a:r>
              <a:rPr lang="en-US" sz="1600" dirty="0">
                <a:solidFill>
                  <a:schemeClr val="accent3"/>
                </a:solidFill>
              </a:rPr>
              <a:t>/backend</a:t>
            </a:r>
            <a:r>
              <a:rPr lang="en-US" sz="1600" dirty="0"/>
              <a:t> on </a:t>
            </a:r>
            <a:r>
              <a:rPr lang="en-US" sz="1600" dirty="0" err="1"/>
              <a:t>FrontEnd</a:t>
            </a:r>
            <a:r>
              <a:rPr lang="en-US" sz="1600" dirty="0"/>
              <a:t> account</a:t>
            </a:r>
            <a:br>
              <a:rPr lang="en-US" sz="1600" dirty="0"/>
            </a:br>
            <a:r>
              <a:rPr lang="en-US" sz="1600" dirty="0"/>
              <a:t>or you get KDC_ERR_POLICY</a:t>
            </a:r>
          </a:p>
          <a:p>
            <a:pPr algn="r"/>
            <a:r>
              <a:rPr lang="en-US" sz="1600" dirty="0"/>
              <a:t>use </a:t>
            </a:r>
            <a:r>
              <a:rPr lang="en-US" sz="1600" dirty="0" err="1">
                <a:solidFill>
                  <a:schemeClr val="accent3"/>
                </a:solidFill>
              </a:rPr>
              <a:t>msDS-AllowedToActOnBehalfOfAnotherIdentity</a:t>
            </a:r>
            <a:r>
              <a:rPr lang="en-US" sz="1600" dirty="0"/>
              <a:t> (</a:t>
            </a:r>
            <a:r>
              <a:rPr lang="en-US" sz="1600" dirty="0" err="1">
                <a:solidFill>
                  <a:schemeClr val="accent3"/>
                </a:solidFill>
              </a:rPr>
              <a:t>PrincipalsAllowedToDelegeteToAccount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>on </a:t>
            </a:r>
            <a:r>
              <a:rPr lang="en-US" sz="1600" dirty="0" err="1"/>
              <a:t>BackEnd</a:t>
            </a:r>
            <a:r>
              <a:rPr lang="en-US" sz="1600" dirty="0"/>
              <a:t> account</a:t>
            </a:r>
            <a:endParaRPr lang="cs-CZ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39C05-8B21-4728-86B6-1DF7E69B59F9}"/>
              </a:ext>
            </a:extLst>
          </p:cNvPr>
          <p:cNvSpPr/>
          <p:nvPr/>
        </p:nvSpPr>
        <p:spPr>
          <a:xfrm>
            <a:off x="2735796" y="2276872"/>
            <a:ext cx="1008112" cy="100811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 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6D042-411B-4225-A8CD-06C531C2ECB2}"/>
              </a:ext>
            </a:extLst>
          </p:cNvPr>
          <p:cNvSpPr/>
          <p:nvPr/>
        </p:nvSpPr>
        <p:spPr>
          <a:xfrm>
            <a:off x="258335" y="2276872"/>
            <a:ext cx="1008112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A16DDE-08EF-428C-9347-4A06D8A5BB08}"/>
              </a:ext>
            </a:extLst>
          </p:cNvPr>
          <p:cNvSpPr/>
          <p:nvPr/>
        </p:nvSpPr>
        <p:spPr>
          <a:xfrm>
            <a:off x="1619672" y="3645024"/>
            <a:ext cx="936104" cy="936104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6D0B19A-B933-467F-8D34-1D8EF71ED54E}"/>
              </a:ext>
            </a:extLst>
          </p:cNvPr>
          <p:cNvSpPr/>
          <p:nvPr/>
        </p:nvSpPr>
        <p:spPr>
          <a:xfrm>
            <a:off x="1374459" y="2636912"/>
            <a:ext cx="1253325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54ED47-4210-4398-B3A9-0E3AFAC01599}"/>
              </a:ext>
            </a:extLst>
          </p:cNvPr>
          <p:cNvSpPr/>
          <p:nvPr/>
        </p:nvSpPr>
        <p:spPr>
          <a:xfrm>
            <a:off x="1599387" y="2348880"/>
            <a:ext cx="648072" cy="4320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nothing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391F865-4BDD-4D01-9412-2142E16760C1}"/>
              </a:ext>
            </a:extLst>
          </p:cNvPr>
          <p:cNvSpPr/>
          <p:nvPr/>
        </p:nvSpPr>
        <p:spPr>
          <a:xfrm>
            <a:off x="5076056" y="3284984"/>
            <a:ext cx="4069892" cy="3508528"/>
          </a:xfrm>
          <a:prstGeom prst="triangl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 err="1"/>
              <a:t>green.domain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C8CB2-798D-4A39-AEDD-037E49512B97}"/>
              </a:ext>
            </a:extLst>
          </p:cNvPr>
          <p:cNvSpPr/>
          <p:nvPr/>
        </p:nvSpPr>
        <p:spPr>
          <a:xfrm>
            <a:off x="7005648" y="3810582"/>
            <a:ext cx="1008112" cy="1008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 End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E584E8-C9C2-4BA2-811E-5338087BF02B}"/>
              </a:ext>
            </a:extLst>
          </p:cNvPr>
          <p:cNvSpPr/>
          <p:nvPr/>
        </p:nvSpPr>
        <p:spPr>
          <a:xfrm>
            <a:off x="5918772" y="5396971"/>
            <a:ext cx="936104" cy="93610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60BB1A3-69DF-4228-B1B1-5A632BF206DB}"/>
              </a:ext>
            </a:extLst>
          </p:cNvPr>
          <p:cNvSpPr/>
          <p:nvPr/>
        </p:nvSpPr>
        <p:spPr>
          <a:xfrm rot="1572385">
            <a:off x="3721575" y="3382072"/>
            <a:ext cx="3357036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2FBBD6-7104-48F7-B423-04A2FACADE6B}"/>
              </a:ext>
            </a:extLst>
          </p:cNvPr>
          <p:cNvSpPr/>
          <p:nvPr/>
        </p:nvSpPr>
        <p:spPr>
          <a:xfrm>
            <a:off x="1835696" y="3501008"/>
            <a:ext cx="489596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4537CC-EDC2-4016-9B65-3C58C32F883E}"/>
              </a:ext>
            </a:extLst>
          </p:cNvPr>
          <p:cNvSpPr/>
          <p:nvPr/>
        </p:nvSpPr>
        <p:spPr>
          <a:xfrm>
            <a:off x="2308470" y="3501008"/>
            <a:ext cx="1623982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krbtgt</a:t>
            </a:r>
            <a:r>
              <a:rPr lang="en-US" sz="1000" dirty="0"/>
              <a:t>/</a:t>
            </a:r>
            <a:r>
              <a:rPr lang="en-US" sz="1000" dirty="0" err="1"/>
              <a:t>green.domain</a:t>
            </a:r>
            <a:endParaRPr lang="en-US" sz="10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4093996-13C1-42E6-BFB0-E537C9090E8E}"/>
              </a:ext>
            </a:extLst>
          </p:cNvPr>
          <p:cNvSpPr/>
          <p:nvPr/>
        </p:nvSpPr>
        <p:spPr>
          <a:xfrm rot="13258888">
            <a:off x="3148804" y="4396079"/>
            <a:ext cx="3406919" cy="2880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83EC33-E690-462E-BD63-080A3E9BAC3E}"/>
              </a:ext>
            </a:extLst>
          </p:cNvPr>
          <p:cNvSpPr/>
          <p:nvPr/>
        </p:nvSpPr>
        <p:spPr>
          <a:xfrm>
            <a:off x="5421636" y="5055503"/>
            <a:ext cx="92290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backend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D90F4E-64DE-49C6-9C3A-608912D1BE6E}"/>
              </a:ext>
            </a:extLst>
          </p:cNvPr>
          <p:cNvSpPr/>
          <p:nvPr/>
        </p:nvSpPr>
        <p:spPr>
          <a:xfrm>
            <a:off x="4932040" y="5055134"/>
            <a:ext cx="489596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TGS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D315D1-BFA8-4465-A57F-0E135A827DAA}"/>
              </a:ext>
            </a:extLst>
          </p:cNvPr>
          <p:cNvSpPr/>
          <p:nvPr/>
        </p:nvSpPr>
        <p:spPr>
          <a:xfrm>
            <a:off x="2416482" y="3861486"/>
            <a:ext cx="1848910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 err="1"/>
              <a:t>Service</a:t>
            </a:r>
            <a:r>
              <a:rPr lang="cs-CZ" sz="1000" dirty="0"/>
              <a:t> </a:t>
            </a:r>
            <a:r>
              <a:rPr lang="cs-CZ" sz="1000" dirty="0" err="1"/>
              <a:t>Asserted</a:t>
            </a:r>
            <a:r>
              <a:rPr lang="cs-CZ" sz="1000" dirty="0"/>
              <a:t> Identity SID</a:t>
            </a:r>
            <a:endParaRPr lang="en-US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9317AB-F75C-4081-ACB9-A766E3EE0FDB}"/>
              </a:ext>
            </a:extLst>
          </p:cNvPr>
          <p:cNvSpPr/>
          <p:nvPr/>
        </p:nvSpPr>
        <p:spPr>
          <a:xfrm>
            <a:off x="7217714" y="3501008"/>
            <a:ext cx="752282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allowed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6ABFB8-EE30-4215-8A48-27DA7E6B49AF}"/>
              </a:ext>
            </a:extLst>
          </p:cNvPr>
          <p:cNvSpPr/>
          <p:nvPr/>
        </p:nvSpPr>
        <p:spPr>
          <a:xfrm>
            <a:off x="7969996" y="3501008"/>
            <a:ext cx="1049744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 err="1"/>
              <a:t>FrontEnd</a:t>
            </a:r>
            <a:r>
              <a:rPr lang="cs-CZ" sz="1000" dirty="0"/>
              <a:t> SID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96889380"/>
      </p:ext>
    </p:extLst>
  </p:cSld>
  <p:clrMapOvr>
    <a:masterClrMapping/>
  </p:clrMapOvr>
</p:sld>
</file>

<file path=ppt/theme/theme1.xml><?xml version="1.0" encoding="utf-8"?>
<a:theme xmlns:a="http://schemas.openxmlformats.org/drawingml/2006/main" name="Gopas 1  (3 barvy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Gopas 2  (3 barvy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pas 3  (6 barev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opas 4  (6 barev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2533</Words>
  <Application>Microsoft Office PowerPoint</Application>
  <PresentationFormat>On-screen Show (4:3)</PresentationFormat>
  <Paragraphs>803</Paragraphs>
  <Slides>81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Arial</vt:lpstr>
      <vt:lpstr>Courier New</vt:lpstr>
      <vt:lpstr>Wingdings</vt:lpstr>
      <vt:lpstr>Gopas 1  (3 barvy)</vt:lpstr>
      <vt:lpstr>Gopas 2  (3 barvy + "planetka")</vt:lpstr>
      <vt:lpstr>Gopas 3  (6 barev)</vt:lpstr>
      <vt:lpstr>Gopas 4  (6 barev + "planetka")</vt:lpstr>
      <vt:lpstr>Delegation</vt:lpstr>
      <vt:lpstr>Trusts</vt:lpstr>
      <vt:lpstr>Forest trusts</vt:lpstr>
      <vt:lpstr>Forest trusts</vt:lpstr>
      <vt:lpstr>Forest trusts</vt:lpstr>
      <vt:lpstr>Forest trusts</vt:lpstr>
      <vt:lpstr>Forest trusts</vt:lpstr>
      <vt:lpstr>Forest trusts</vt:lpstr>
      <vt:lpstr>Forest trusts</vt:lpstr>
      <vt:lpstr>Forest trusts</vt:lpstr>
      <vt:lpstr>Forest trusts</vt:lpstr>
      <vt:lpstr>Forest trusts</vt:lpstr>
      <vt:lpstr>Forest trusts</vt:lpstr>
      <vt:lpstr>Name suffix routing</vt:lpstr>
      <vt:lpstr>PowerPoint Presentation</vt:lpstr>
      <vt:lpstr>PowerPoint Presentation</vt:lpstr>
      <vt:lpstr>PowerPoint Presentation</vt:lpstr>
      <vt:lpstr>Trust TGT/TGS requests</vt:lpstr>
      <vt:lpstr>Multi-hop</vt:lpstr>
      <vt:lpstr>Delegation (double-hop)</vt:lpstr>
      <vt:lpstr>Access under service account</vt:lpstr>
      <vt:lpstr>Access under the front-end client user account</vt:lpstr>
      <vt:lpstr>Nothing to forward with NTLM pass-through</vt:lpstr>
      <vt:lpstr>Kerberos TGS tickets required</vt:lpstr>
      <vt:lpstr>Basic delegation</vt:lpstr>
      <vt:lpstr>Basic delegation</vt:lpstr>
      <vt:lpstr>Side note: even basic delegation may sometimes not work Verify the ClearText value of logonMethod is enabled</vt:lpstr>
      <vt:lpstr>RDP requires basic delegation</vt:lpstr>
      <vt:lpstr>RDP RestrictedAdmin mode</vt:lpstr>
      <vt:lpstr>RDP SSO with Credentials Delegation settings for the client side</vt:lpstr>
      <vt:lpstr>RDP SSO challenges on client?</vt:lpstr>
      <vt:lpstr>Credentials Delegation (CredSSP) security LSASS to LSASS encrypted transport</vt:lpstr>
      <vt:lpstr>RemoteGuard for business users (10/2016+)</vt:lpstr>
      <vt:lpstr>RemoteGuard for business users</vt:lpstr>
      <vt:lpstr>Secure RDP usage</vt:lpstr>
      <vt:lpstr>Kerberos unconstrained delegation</vt:lpstr>
      <vt:lpstr>Trust this user/computer for delegation to any service (Kerberos only)</vt:lpstr>
      <vt:lpstr>Kerberos unconstrained delegation (DFL 2000+)</vt:lpstr>
      <vt:lpstr>Kerberos unconstrained delegation (DFL 2000+)</vt:lpstr>
      <vt:lpstr>Unconstrained delegation allowed on TGS ticket and the F:TGT</vt:lpstr>
      <vt:lpstr>Account is sensitive and cannot be delegated</vt:lpstr>
      <vt:lpstr>Unconstrained delegation for user accounts from different forests</vt:lpstr>
      <vt:lpstr>Unconstrained delegation with Chrome and Edge (Chromium)</vt:lpstr>
      <vt:lpstr>Unconstrained delegation with FireFox</vt:lpstr>
      <vt:lpstr>Double-hop security compared</vt:lpstr>
      <vt:lpstr>Kerberos constrained delegation</vt:lpstr>
      <vt:lpstr>Trust this user/computer for delegation to specified services only (use Kerberos only)</vt:lpstr>
      <vt:lpstr>Kerberos constrained delegation (DFL 2003+)</vt:lpstr>
      <vt:lpstr>Kerberos constrained delegation (DFL 2003+)</vt:lpstr>
      <vt:lpstr>Constrained delegation requirements</vt:lpstr>
      <vt:lpstr>Best practice hints for Kerberos constrained delegation</vt:lpstr>
      <vt:lpstr>Constrained delegation to SMB server account</vt:lpstr>
      <vt:lpstr>Delegation in IIS with Kernel mode authentication and useAppPoolCredentials</vt:lpstr>
      <vt:lpstr>useKernelMode only</vt:lpstr>
      <vt:lpstr>useKernelMode + useAppPoolCredentials</vt:lpstr>
      <vt:lpstr>Account is sensitive and cannot be delegated</vt:lpstr>
      <vt:lpstr>Delegation disabled on sensitive accounts</vt:lpstr>
      <vt:lpstr>The delegation tab is not visible unless there is at least one SPN of any kind</vt:lpstr>
      <vt:lpstr>Kerberos constrained delegation with protocol transition</vt:lpstr>
      <vt:lpstr>Trust this user/computer for delegation to specifies services only (use any authentication protocol)</vt:lpstr>
      <vt:lpstr>Kerberos protocol transition (DFL 2003+)</vt:lpstr>
      <vt:lpstr>Kerberos protocol transition (DFL 2003+)</vt:lpstr>
      <vt:lpstr>Protocol transition to SMB server account</vt:lpstr>
      <vt:lpstr>Protocol transition requirements</vt:lpstr>
      <vt:lpstr>Security implications of protocol transition (use any authentication protocol)</vt:lpstr>
      <vt:lpstr>KerbHell note on access to SMB</vt:lpstr>
      <vt:lpstr>WAP access to Kerberos web servers with protocol transition</vt:lpstr>
      <vt:lpstr>SharePoint Excel Services external data access with Kerberos constrained delegation with protocol transition</vt:lpstr>
      <vt:lpstr>Basic SharePoint authentication infrastructure</vt:lpstr>
      <vt:lpstr>Excel services without external data access</vt:lpstr>
      <vt:lpstr>Requested Kerberos protocol transition</vt:lpstr>
      <vt:lpstr>Requested Kerberos protocol transition</vt:lpstr>
      <vt:lpstr>Excel Services web service must not be member of Administrators we need Claims to Windows token service (C2WTS)</vt:lpstr>
      <vt:lpstr>Claims to Windows Token Service (C2WTS) - service account</vt:lpstr>
      <vt:lpstr>Claims to Windows Token Service (C2WTS) - service account</vt:lpstr>
      <vt:lpstr>Excel Services, Performance Point Services, Reporting Services - service account</vt:lpstr>
      <vt:lpstr>Excel Services, Performance Point Services, Reporting Services - service account</vt:lpstr>
      <vt:lpstr>Cross-domain Kerberos delegation</vt:lpstr>
      <vt:lpstr>Unconstrained delegation works even cross-forest (if enabled on trusts)</vt:lpstr>
      <vt:lpstr>Constrained delegation does not work to other domains</vt:lpstr>
      <vt:lpstr>Protocol transition works since 2012+ (aka Resource Based Kerberos Delegation) in a single forest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Administrator</cp:lastModifiedBy>
  <cp:revision>3</cp:revision>
  <dcterms:created xsi:type="dcterms:W3CDTF">2013-03-17T16:22:31Z</dcterms:created>
  <dcterms:modified xsi:type="dcterms:W3CDTF">2026-03-05T12:46:13Z</dcterms:modified>
</cp:coreProperties>
</file>