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48" r:id="rId2"/>
    <p:sldMasterId id="2147483733" r:id="rId3"/>
    <p:sldMasterId id="2147483763" r:id="rId4"/>
  </p:sldMasterIdLst>
  <p:notesMasterIdLst>
    <p:notesMasterId r:id="rId78"/>
  </p:notesMasterIdLst>
  <p:sldIdLst>
    <p:sldId id="257" r:id="rId5"/>
    <p:sldId id="315" r:id="rId6"/>
    <p:sldId id="308" r:id="rId7"/>
    <p:sldId id="310" r:id="rId8"/>
    <p:sldId id="309" r:id="rId9"/>
    <p:sldId id="304" r:id="rId10"/>
    <p:sldId id="350" r:id="rId11"/>
    <p:sldId id="305" r:id="rId12"/>
    <p:sldId id="319" r:id="rId13"/>
    <p:sldId id="306" r:id="rId14"/>
    <p:sldId id="311" r:id="rId15"/>
    <p:sldId id="312" r:id="rId16"/>
    <p:sldId id="313" r:id="rId17"/>
    <p:sldId id="348" r:id="rId18"/>
    <p:sldId id="278" r:id="rId19"/>
    <p:sldId id="303" r:id="rId20"/>
    <p:sldId id="299" r:id="rId21"/>
    <p:sldId id="314" r:id="rId22"/>
    <p:sldId id="300" r:id="rId23"/>
    <p:sldId id="301" r:id="rId24"/>
    <p:sldId id="317" r:id="rId25"/>
    <p:sldId id="302" r:id="rId26"/>
    <p:sldId id="347" r:id="rId27"/>
    <p:sldId id="318" r:id="rId28"/>
    <p:sldId id="316" r:id="rId29"/>
    <p:sldId id="282" r:id="rId30"/>
    <p:sldId id="279" r:id="rId31"/>
    <p:sldId id="274" r:id="rId32"/>
    <p:sldId id="275" r:id="rId33"/>
    <p:sldId id="276" r:id="rId34"/>
    <p:sldId id="273" r:id="rId35"/>
    <p:sldId id="285" r:id="rId36"/>
    <p:sldId id="283" r:id="rId37"/>
    <p:sldId id="349" r:id="rId38"/>
    <p:sldId id="345" r:id="rId39"/>
    <p:sldId id="344" r:id="rId40"/>
    <p:sldId id="346" r:id="rId41"/>
    <p:sldId id="281" r:id="rId42"/>
    <p:sldId id="284" r:id="rId43"/>
    <p:sldId id="259" r:id="rId44"/>
    <p:sldId id="260" r:id="rId45"/>
    <p:sldId id="293" r:id="rId46"/>
    <p:sldId id="291" r:id="rId47"/>
    <p:sldId id="292" r:id="rId48"/>
    <p:sldId id="287" r:id="rId49"/>
    <p:sldId id="290" r:id="rId50"/>
    <p:sldId id="289" r:id="rId51"/>
    <p:sldId id="295" r:id="rId52"/>
    <p:sldId id="329" r:id="rId53"/>
    <p:sldId id="326" r:id="rId54"/>
    <p:sldId id="323" r:id="rId55"/>
    <p:sldId id="332" r:id="rId56"/>
    <p:sldId id="334" r:id="rId57"/>
    <p:sldId id="322" r:id="rId58"/>
    <p:sldId id="320" r:id="rId59"/>
    <p:sldId id="330" r:id="rId60"/>
    <p:sldId id="331" r:id="rId61"/>
    <p:sldId id="321" r:id="rId62"/>
    <p:sldId id="333" r:id="rId63"/>
    <p:sldId id="324" r:id="rId64"/>
    <p:sldId id="325" r:id="rId65"/>
    <p:sldId id="342" r:id="rId66"/>
    <p:sldId id="327" r:id="rId67"/>
    <p:sldId id="328" r:id="rId68"/>
    <p:sldId id="336" r:id="rId69"/>
    <p:sldId id="335" r:id="rId70"/>
    <p:sldId id="341" r:id="rId71"/>
    <p:sldId id="337" r:id="rId72"/>
    <p:sldId id="339" r:id="rId73"/>
    <p:sldId id="338" r:id="rId74"/>
    <p:sldId id="340" r:id="rId75"/>
    <p:sldId id="343" r:id="rId76"/>
    <p:sldId id="280" r:id="rId77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6C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3" autoAdjust="0"/>
    <p:restoredTop sz="94673" autoAdjust="0"/>
  </p:normalViewPr>
  <p:slideViewPr>
    <p:cSldViewPr showGuides="1">
      <p:cViewPr varScale="1">
        <p:scale>
          <a:sx n="70" d="100"/>
          <a:sy n="70" d="100"/>
        </p:scale>
        <p:origin x="129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howGuides="1">
      <p:cViewPr varScale="1">
        <p:scale>
          <a:sx n="98" d="100"/>
          <a:sy n="98" d="100"/>
        </p:scale>
        <p:origin x="-35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1C7F656-6C7C-4016-B601-23B462E6BC26}" type="datetimeFigureOut">
              <a:rPr lang="cs-CZ" smtClean="0"/>
              <a:pPr/>
              <a:t>06.03.2026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319F00E-1642-4F00-B8AC-7581C0C92EAE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78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0FFFC-B299-4DB4-A5A2-5FE0A233D24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0180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19F00E-1642-4F00-B8AC-7581C0C92EAE}" type="slidenum">
              <a:rPr lang="cs-CZ" smtClean="0"/>
              <a:pPr/>
              <a:t>20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57700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311807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67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824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0943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794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619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2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1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69699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295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585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9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6211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8070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62414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968323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881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906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32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5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42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73025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609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259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46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7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02226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103820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76351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51896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1299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1476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74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65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687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217054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74053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83218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9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68896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6157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4351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4917918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37352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6990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607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155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01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054609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94504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621723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705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6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937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94" r:id="rId2"/>
    <p:sldLayoutId id="2147483728" r:id="rId3"/>
    <p:sldLayoutId id="2147483726" r:id="rId4"/>
    <p:sldLayoutId id="2147483695" r:id="rId5"/>
    <p:sldLayoutId id="2147483696" r:id="rId6"/>
    <p:sldLayoutId id="2147483723" r:id="rId7"/>
    <p:sldLayoutId id="2147483729" r:id="rId8"/>
    <p:sldLayoutId id="2147483732" r:id="rId9"/>
    <p:sldLayoutId id="2147483727" r:id="rId10"/>
    <p:sldLayoutId id="2147483697" r:id="rId11"/>
    <p:sldLayoutId id="2147483698" r:id="rId12"/>
    <p:sldLayoutId id="2147483730" r:id="rId13"/>
    <p:sldLayoutId id="2147483731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1" name="Skupina 30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74754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7649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4" name="Skupina 23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41237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5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7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9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4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611188" y="1628801"/>
            <a:ext cx="7921252" cy="1368152"/>
          </a:xfrm>
        </p:spPr>
        <p:txBody>
          <a:bodyPr>
            <a:normAutofit/>
          </a:bodyPr>
          <a:lstStyle/>
          <a:p>
            <a:r>
              <a:rPr lang="en-US" dirty="0"/>
              <a:t>Modern Kerberos topics</a:t>
            </a:r>
            <a:endParaRPr lang="cs-CZ" dirty="0"/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GOPAS: info@gopas</a:t>
            </a:r>
            <a:r>
              <a:rPr lang="en-US"/>
              <a:t>.</a:t>
            </a:r>
            <a:r>
              <a:rPr lang="cs-CZ"/>
              <a:t>cz </a:t>
            </a:r>
            <a:r>
              <a:rPr lang="en-US" dirty="0"/>
              <a:t>|</a:t>
            </a:r>
            <a:r>
              <a:rPr lang="cs-CZ" dirty="0"/>
              <a:t> www.gopas.cz</a:t>
            </a:r>
            <a:r>
              <a:rPr lang="en-US" dirty="0"/>
              <a:t> |</a:t>
            </a:r>
            <a:r>
              <a:rPr lang="cs-CZ" dirty="0"/>
              <a:t> www.facebook.com/P.S.GOPAS</a:t>
            </a:r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0"/>
          </p:nvPr>
        </p:nvSpPr>
        <p:spPr>
          <a:xfrm>
            <a:off x="611188" y="3285232"/>
            <a:ext cx="7921625" cy="2015976"/>
          </a:xfrm>
        </p:spPr>
        <p:txBody>
          <a:bodyPr/>
          <a:lstStyle/>
          <a:p>
            <a:r>
              <a:rPr lang="en-US" dirty="0"/>
              <a:t>Ing. </a:t>
            </a:r>
            <a:r>
              <a:rPr lang="en-US" dirty="0" err="1"/>
              <a:t>Ond</a:t>
            </a:r>
            <a:r>
              <a:rPr lang="cs-CZ" dirty="0" err="1"/>
              <a:t>řej</a:t>
            </a:r>
            <a:r>
              <a:rPr lang="cs-CZ" dirty="0"/>
              <a:t> Ševeček </a:t>
            </a:r>
            <a:r>
              <a:rPr lang="en-US" dirty="0"/>
              <a:t>| GOPAS a.s. |</a:t>
            </a:r>
          </a:p>
          <a:p>
            <a:r>
              <a:rPr lang="en-US" sz="1800" dirty="0"/>
              <a:t>MCSM:Directory2012 | MCM:Directory2008 | </a:t>
            </a:r>
            <a:r>
              <a:rPr lang="en-US" sz="1800" dirty="0" err="1"/>
              <a:t>MVP:Enterprise</a:t>
            </a:r>
            <a:r>
              <a:rPr lang="en-US" sz="1800" dirty="0"/>
              <a:t> Security | </a:t>
            </a:r>
            <a:r>
              <a:rPr lang="cs-CZ" sz="1800" dirty="0"/>
              <a:t>CEH: </a:t>
            </a:r>
            <a:r>
              <a:rPr lang="en-US" sz="1800" dirty="0"/>
              <a:t>Certified Ethical Hacker |</a:t>
            </a:r>
            <a:r>
              <a:rPr lang="cs-CZ" sz="1800" dirty="0"/>
              <a:t> CHFI: </a:t>
            </a:r>
            <a:r>
              <a:rPr lang="cs-CZ" sz="1800" dirty="0" err="1"/>
              <a:t>Computer</a:t>
            </a:r>
            <a:r>
              <a:rPr lang="cs-CZ" sz="1800" dirty="0"/>
              <a:t> </a:t>
            </a:r>
            <a:r>
              <a:rPr lang="cs-CZ" sz="1800" dirty="0" err="1"/>
              <a:t>Hacking</a:t>
            </a:r>
            <a:r>
              <a:rPr lang="cs-CZ" sz="1800" dirty="0"/>
              <a:t> </a:t>
            </a:r>
            <a:r>
              <a:rPr lang="cs-CZ" sz="1800" dirty="0" err="1"/>
              <a:t>Forensic</a:t>
            </a:r>
            <a:r>
              <a:rPr lang="cs-CZ" sz="1800" dirty="0"/>
              <a:t> </a:t>
            </a:r>
            <a:r>
              <a:rPr lang="cs-CZ" sz="1800" dirty="0" err="1"/>
              <a:t>Investigator</a:t>
            </a:r>
            <a:r>
              <a:rPr lang="cs-CZ" sz="1800" dirty="0"/>
              <a:t> </a:t>
            </a:r>
            <a:r>
              <a:rPr lang="en-US" sz="1800"/>
              <a:t>| CISA |</a:t>
            </a:r>
            <a:endParaRPr lang="en-US" sz="1800" dirty="0"/>
          </a:p>
          <a:p>
            <a:r>
              <a:rPr lang="en-US" dirty="0"/>
              <a:t>ondrej@sevecek.com | www.sevecek.com |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81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D78F38-163E-4330-8A65-961E0D11B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 fontScale="85000" lnSpcReduction="20000"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Note: IE does not follow the Persistent-Auth header and sends AP-REQ (TGS) on every request with Kerberos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9A933-3490-4A3D-92D1-342F75E71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Persistent-Auth</a:t>
            </a:r>
            <a:r>
              <a:rPr lang="en-US" dirty="0"/>
              <a:t> HTTP response header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71BD42-B062-4C96-AD15-DB1E2D5C2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930871"/>
              </p:ext>
            </p:extLst>
          </p:nvPr>
        </p:nvGraphicFramePr>
        <p:xfrm>
          <a:off x="251520" y="1397001"/>
          <a:ext cx="8640960" cy="3238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1228">
                  <a:extLst>
                    <a:ext uri="{9D8B030D-6E8A-4147-A177-3AD203B41FA5}">
                      <a16:colId xmlns:a16="http://schemas.microsoft.com/office/drawing/2014/main" val="1485151230"/>
                    </a:ext>
                  </a:extLst>
                </a:gridCol>
                <a:gridCol w="4849732">
                  <a:extLst>
                    <a:ext uri="{9D8B030D-6E8A-4147-A177-3AD203B41FA5}">
                      <a16:colId xmlns:a16="http://schemas.microsoft.com/office/drawing/2014/main" val="1448896227"/>
                    </a:ext>
                  </a:extLst>
                </a:gridCol>
              </a:tblGrid>
              <a:tr h="809645">
                <a:tc>
                  <a:txBody>
                    <a:bodyPr/>
                    <a:lstStyle/>
                    <a:p>
                      <a:r>
                        <a:rPr lang="en-US" sz="1400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963787"/>
                  </a:ext>
                </a:extLst>
              </a:tr>
              <a:tr h="809645">
                <a:tc>
                  <a:txBody>
                    <a:bodyPr/>
                    <a:lstStyle/>
                    <a:p>
                      <a:r>
                        <a:rPr lang="en-US" sz="1400" dirty="0" err="1"/>
                        <a:t>authPersistSingleRequest</a:t>
                      </a:r>
                      <a:r>
                        <a:rPr lang="en-US" sz="1400" dirty="0"/>
                        <a:t>: </a:t>
                      </a: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true</a:t>
                      </a:r>
                    </a:p>
                    <a:p>
                      <a:r>
                        <a:rPr lang="en-US" sz="1400" dirty="0" err="1"/>
                        <a:t>authPersistNonNTLM</a:t>
                      </a:r>
                      <a:r>
                        <a:rPr lang="en-US" sz="1400" dirty="0"/>
                        <a:t>: 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NTLM: Persistent-Auth: false, </a:t>
                      </a: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2x401 on every request</a:t>
                      </a:r>
                    </a:p>
                    <a:p>
                      <a:r>
                        <a:rPr lang="en-US" sz="1400" dirty="0"/>
                        <a:t>Kerberos: Persistent-Auth: false, </a:t>
                      </a: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401 on every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899880"/>
                  </a:ext>
                </a:extLst>
              </a:tr>
              <a:tr h="809645">
                <a:tc>
                  <a:txBody>
                    <a:bodyPr/>
                    <a:lstStyle/>
                    <a:p>
                      <a:r>
                        <a:rPr lang="en-US" sz="1400" dirty="0" err="1"/>
                        <a:t>authPersistSingleRequest</a:t>
                      </a:r>
                      <a:r>
                        <a:rPr lang="en-US" sz="1400" dirty="0"/>
                        <a:t>: </a:t>
                      </a: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false (default)</a:t>
                      </a:r>
                    </a:p>
                    <a:p>
                      <a:r>
                        <a:rPr lang="en-US" sz="1400" dirty="0" err="1"/>
                        <a:t>authPersistNonNTLM</a:t>
                      </a:r>
                      <a:r>
                        <a:rPr lang="en-US" sz="1400" dirty="0"/>
                        <a:t>: </a:t>
                      </a: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true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NTLM: Persistent-Auth: true</a:t>
                      </a:r>
                    </a:p>
                    <a:p>
                      <a:r>
                        <a:rPr lang="en-US" sz="1400" dirty="0"/>
                        <a:t>Kerberos: Persistent-Auth: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7756"/>
                  </a:ext>
                </a:extLst>
              </a:tr>
              <a:tr h="809645">
                <a:tc>
                  <a:txBody>
                    <a:bodyPr/>
                    <a:lstStyle/>
                    <a:p>
                      <a:r>
                        <a:rPr lang="en-US" sz="1400" dirty="0" err="1"/>
                        <a:t>authPersistSingleRequest</a:t>
                      </a:r>
                      <a:r>
                        <a:rPr lang="en-US" sz="1400" dirty="0"/>
                        <a:t>: </a:t>
                      </a: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false</a:t>
                      </a:r>
                    </a:p>
                    <a:p>
                      <a:r>
                        <a:rPr lang="en-US" sz="1400" dirty="0" err="1"/>
                        <a:t>authPersistNonNTLM</a:t>
                      </a:r>
                      <a:r>
                        <a:rPr lang="en-US" sz="1400" dirty="0"/>
                        <a:t>: </a:t>
                      </a: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NTLM: Persistent-Auth: true</a:t>
                      </a:r>
                    </a:p>
                    <a:p>
                      <a:r>
                        <a:rPr lang="en-US" sz="1400" dirty="0"/>
                        <a:t>Kerberos: Persistent-Auth: false, </a:t>
                      </a: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401 on every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9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94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propagation in mixed environments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4067944" y="1772816"/>
            <a:ext cx="1152128" cy="11521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 2003</a:t>
            </a:r>
            <a:endParaRPr lang="cs-CZ" dirty="0"/>
          </a:p>
        </p:txBody>
      </p:sp>
      <p:sp>
        <p:nvSpPr>
          <p:cNvPr id="5" name="Rectangle 4"/>
          <p:cNvSpPr/>
          <p:nvPr/>
        </p:nvSpPr>
        <p:spPr>
          <a:xfrm>
            <a:off x="4067944" y="3284984"/>
            <a:ext cx="1152128" cy="11521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 2025</a:t>
            </a:r>
            <a:endParaRPr lang="cs-CZ" dirty="0"/>
          </a:p>
        </p:txBody>
      </p:sp>
      <p:sp>
        <p:nvSpPr>
          <p:cNvPr id="6" name="Rectangle 5"/>
          <p:cNvSpPr/>
          <p:nvPr/>
        </p:nvSpPr>
        <p:spPr>
          <a:xfrm>
            <a:off x="4067944" y="4797152"/>
            <a:ext cx="1152128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DC 2022</a:t>
            </a:r>
            <a:endParaRPr lang="cs-CZ" dirty="0"/>
          </a:p>
        </p:txBody>
      </p:sp>
      <p:sp>
        <p:nvSpPr>
          <p:cNvPr id="7" name="Right Arrow 6"/>
          <p:cNvSpPr/>
          <p:nvPr/>
        </p:nvSpPr>
        <p:spPr>
          <a:xfrm>
            <a:off x="899592" y="5697252"/>
            <a:ext cx="2988332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403648" y="5517232"/>
            <a:ext cx="108012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password</a:t>
            </a:r>
            <a:endParaRPr lang="cs-CZ" sz="1400" dirty="0"/>
          </a:p>
        </p:txBody>
      </p:sp>
      <p:sp>
        <p:nvSpPr>
          <p:cNvPr id="9" name="Rectangle 8"/>
          <p:cNvSpPr/>
          <p:nvPr/>
        </p:nvSpPr>
        <p:spPr>
          <a:xfrm>
            <a:off x="4644008" y="5697252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10" name="Rectangle 9"/>
          <p:cNvSpPr/>
          <p:nvPr/>
        </p:nvSpPr>
        <p:spPr>
          <a:xfrm>
            <a:off x="5394424" y="5697252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SHA-1</a:t>
            </a:r>
            <a:endParaRPr lang="cs-CZ" sz="1400" dirty="0"/>
          </a:p>
        </p:txBody>
      </p:sp>
      <p:sp>
        <p:nvSpPr>
          <p:cNvPr id="11" name="Rectangle 10"/>
          <p:cNvSpPr/>
          <p:nvPr/>
        </p:nvSpPr>
        <p:spPr>
          <a:xfrm>
            <a:off x="4644008" y="4221088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12" name="Rectangle 11"/>
          <p:cNvSpPr/>
          <p:nvPr/>
        </p:nvSpPr>
        <p:spPr>
          <a:xfrm>
            <a:off x="5394424" y="4221088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SHA-1</a:t>
            </a:r>
            <a:endParaRPr lang="cs-CZ" sz="1400" dirty="0"/>
          </a:p>
        </p:txBody>
      </p:sp>
      <p:sp>
        <p:nvSpPr>
          <p:cNvPr id="13" name="Rectangle 12"/>
          <p:cNvSpPr/>
          <p:nvPr/>
        </p:nvSpPr>
        <p:spPr>
          <a:xfrm>
            <a:off x="4644008" y="2708920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5394424" y="2708920"/>
            <a:ext cx="7560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SHA-1</a:t>
            </a:r>
            <a:endParaRPr lang="cs-CZ" sz="1400" dirty="0"/>
          </a:p>
        </p:txBody>
      </p:sp>
      <p:sp>
        <p:nvSpPr>
          <p:cNvPr id="15" name="Right Arrow 14"/>
          <p:cNvSpPr/>
          <p:nvPr/>
        </p:nvSpPr>
        <p:spPr>
          <a:xfrm rot="16200000">
            <a:off x="5344610" y="4958562"/>
            <a:ext cx="855712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Right Arrow 15"/>
          <p:cNvSpPr/>
          <p:nvPr/>
        </p:nvSpPr>
        <p:spPr>
          <a:xfrm rot="16200000">
            <a:off x="5344610" y="3465004"/>
            <a:ext cx="855712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Right Arrow 16"/>
          <p:cNvSpPr/>
          <p:nvPr/>
        </p:nvSpPr>
        <p:spPr>
          <a:xfrm>
            <a:off x="899592" y="1592796"/>
            <a:ext cx="244827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Rectangle 17"/>
          <p:cNvSpPr/>
          <p:nvPr/>
        </p:nvSpPr>
        <p:spPr>
          <a:xfrm>
            <a:off x="1403648" y="1412776"/>
            <a:ext cx="1080120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password</a:t>
            </a:r>
            <a:endParaRPr lang="cs-CZ" sz="1400" dirty="0"/>
          </a:p>
        </p:txBody>
      </p:sp>
      <p:sp>
        <p:nvSpPr>
          <p:cNvPr id="19" name="Rectangle 18"/>
          <p:cNvSpPr/>
          <p:nvPr/>
        </p:nvSpPr>
        <p:spPr>
          <a:xfrm>
            <a:off x="3509882" y="1592796"/>
            <a:ext cx="75608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20" name="Rectangle 19"/>
          <p:cNvSpPr/>
          <p:nvPr/>
        </p:nvSpPr>
        <p:spPr>
          <a:xfrm>
            <a:off x="3503715" y="3140968"/>
            <a:ext cx="75608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21" name="Rectangle 20"/>
          <p:cNvSpPr/>
          <p:nvPr/>
        </p:nvSpPr>
        <p:spPr>
          <a:xfrm>
            <a:off x="3515550" y="4653136"/>
            <a:ext cx="75608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MD4</a:t>
            </a:r>
            <a:endParaRPr lang="cs-CZ" sz="1400" dirty="0"/>
          </a:p>
        </p:txBody>
      </p:sp>
      <p:sp>
        <p:nvSpPr>
          <p:cNvPr id="22" name="Right Arrow 21"/>
          <p:cNvSpPr/>
          <p:nvPr/>
        </p:nvSpPr>
        <p:spPr>
          <a:xfrm rot="5400000">
            <a:off x="3285716" y="2367620"/>
            <a:ext cx="85571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Right Arrow 22"/>
          <p:cNvSpPr/>
          <p:nvPr/>
        </p:nvSpPr>
        <p:spPr>
          <a:xfrm rot="5400000">
            <a:off x="3285716" y="3914316"/>
            <a:ext cx="85571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207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DFL 2008+ </a:t>
            </a:r>
            <a:r>
              <a:rPr lang="en-US" sz="2000" dirty="0"/>
              <a:t>mixed algorithm tickets with </a:t>
            </a:r>
            <a:r>
              <a:rPr lang="en-US" sz="2000" dirty="0">
                <a:solidFill>
                  <a:schemeClr val="accent1"/>
                </a:solidFill>
              </a:rPr>
              <a:t>MD4 password </a:t>
            </a:r>
            <a:r>
              <a:rPr lang="en-US" sz="2000" dirty="0"/>
              <a:t>only</a:t>
            </a:r>
            <a:br>
              <a:rPr lang="en-US" sz="2000" dirty="0"/>
            </a:br>
            <a:r>
              <a:rPr lang="en-US" sz="2000" dirty="0"/>
              <a:t>with </a:t>
            </a:r>
            <a:r>
              <a:rPr lang="en-US" sz="2000" dirty="0" err="1">
                <a:solidFill>
                  <a:schemeClr val="accent1"/>
                </a:solidFill>
              </a:rPr>
              <a:t>msDS-SupportedEncryptionTypes</a:t>
            </a:r>
            <a:r>
              <a:rPr lang="en-US" sz="2000" dirty="0">
                <a:solidFill>
                  <a:schemeClr val="accent1"/>
                </a:solidFill>
              </a:rPr>
              <a:t> = AES+RC4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0768"/>
            <a:ext cx="7704856" cy="26029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18" y="4087776"/>
            <a:ext cx="7939382" cy="277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65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DFL 2008+ </a:t>
            </a:r>
            <a:r>
              <a:rPr lang="en-US" sz="2000" dirty="0"/>
              <a:t>mixed algorithm tickets with </a:t>
            </a:r>
            <a:r>
              <a:rPr lang="en-US" sz="2000" dirty="0">
                <a:solidFill>
                  <a:schemeClr val="accent1"/>
                </a:solidFill>
              </a:rPr>
              <a:t>MD4 password </a:t>
            </a:r>
            <a:r>
              <a:rPr lang="en-US" sz="2000" dirty="0"/>
              <a:t>only</a:t>
            </a:r>
            <a:br>
              <a:rPr lang="en-US" sz="2000" dirty="0"/>
            </a:br>
            <a:r>
              <a:rPr lang="en-US" sz="2000" dirty="0"/>
              <a:t>with </a:t>
            </a:r>
            <a:r>
              <a:rPr lang="en-US" sz="2000" dirty="0" err="1">
                <a:solidFill>
                  <a:schemeClr val="accent1"/>
                </a:solidFill>
              </a:rPr>
              <a:t>msDS-SupportedEncryptionTypes</a:t>
            </a:r>
            <a:r>
              <a:rPr lang="en-US" sz="2000" dirty="0">
                <a:solidFill>
                  <a:schemeClr val="accent1"/>
                </a:solidFill>
              </a:rPr>
              <a:t> = </a:t>
            </a:r>
            <a:r>
              <a:rPr lang="en-US" sz="2000" dirty="0">
                <a:solidFill>
                  <a:schemeClr val="accent2"/>
                </a:solidFill>
              </a:rPr>
              <a:t>RC4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0768"/>
            <a:ext cx="7674338" cy="26029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791" y="4087776"/>
            <a:ext cx="7579209" cy="277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35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</a:t>
            </a:r>
            <a:r>
              <a:rPr lang="en-US" dirty="0">
                <a:solidFill>
                  <a:schemeClr val="accent1"/>
                </a:solidFill>
              </a:rPr>
              <a:t>RC4</a:t>
            </a:r>
            <a:r>
              <a:rPr lang="en-US" dirty="0"/>
              <a:t> </a:t>
            </a:r>
            <a:r>
              <a:rPr lang="en-US" dirty="0" err="1"/>
              <a:t>etype</a:t>
            </a:r>
            <a:r>
              <a:rPr lang="en-US" dirty="0"/>
              <a:t> usage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0x01 = DES-CRC</a:t>
            </a:r>
          </a:p>
          <a:p>
            <a:pPr marL="0" indent="0">
              <a:buNone/>
            </a:pPr>
            <a:r>
              <a:rPr lang="en-US" sz="1600" dirty="0"/>
              <a:t>0x03 = DES-CBC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0x17 = RC4</a:t>
            </a:r>
          </a:p>
          <a:p>
            <a:pPr marL="0" indent="0">
              <a:buNone/>
            </a:pPr>
            <a:r>
              <a:rPr lang="en-US" sz="1600" dirty="0"/>
              <a:t>0x11 = AES128-SHA1</a:t>
            </a:r>
          </a:p>
          <a:p>
            <a:pPr marL="0" indent="0">
              <a:buNone/>
            </a:pPr>
            <a:r>
              <a:rPr lang="en-US" sz="1600" dirty="0"/>
              <a:t>0x12 = AES256-SHA1</a:t>
            </a:r>
          </a:p>
          <a:p>
            <a:pPr marL="0" indent="0">
              <a:buNone/>
            </a:pPr>
            <a:r>
              <a:rPr lang="en-US" sz="1600" dirty="0"/>
              <a:t>0xFFFFFFFF = failure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13" y="1340769"/>
            <a:ext cx="6396288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65A8-2A56-BBB4-4AB0-3FE6FB52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82960"/>
          </a:xfrm>
        </p:spPr>
        <p:txBody>
          <a:bodyPr>
            <a:normAutofit/>
          </a:bodyPr>
          <a:lstStyle/>
          <a:p>
            <a:r>
              <a:rPr lang="en-US" sz="2000" dirty="0"/>
              <a:t>2025-jan update 2016/2019/2022/2025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861A60-AA05-9590-2A53-61700646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794" y="899591"/>
            <a:ext cx="7277244" cy="5481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873A71-64BF-7DFB-5841-E97C3ADC9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898" y="3429000"/>
            <a:ext cx="4915102" cy="343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9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</a:t>
            </a:r>
            <a:r>
              <a:rPr lang="en-US" dirty="0">
                <a:solidFill>
                  <a:schemeClr val="accent1"/>
                </a:solidFill>
              </a:rPr>
              <a:t>RC4</a:t>
            </a:r>
            <a:r>
              <a:rPr lang="en-US" dirty="0"/>
              <a:t> </a:t>
            </a:r>
            <a:r>
              <a:rPr lang="en-US" dirty="0" err="1"/>
              <a:t>etype</a:t>
            </a:r>
            <a:r>
              <a:rPr lang="en-US" dirty="0"/>
              <a:t> usage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/Data[@Name='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TicketEncryptionType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'] = 23</a:t>
            </a: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/Data[@Name='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TicketEncryptionType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0x17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not: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'0x17'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310" y="2276872"/>
            <a:ext cx="5767690" cy="45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8E10-E22D-4322-B5FC-12EF9B87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all TGS tickets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99CE-9AD2-4A59-9E0D-A627803B7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ADObject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LDAPFilter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servicePrincipalName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=*)' -Server localhost:3268 `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-Properties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servicePrincipalName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 -Expand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servicePrincipalName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% {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get $_ } &gt; c:\temp\all-tgs-tickets.txt</a:t>
            </a:r>
          </a:p>
        </p:txBody>
      </p:sp>
    </p:spTree>
    <p:extLst>
      <p:ext uri="{BB962C8B-B14F-4D97-AF65-F5344CB8AC3E}">
        <p14:creationId xmlns:p14="http://schemas.microsoft.com/office/powerpoint/2010/main" val="2878324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 (enforce) AES on DCs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84576"/>
          </a:xfrm>
        </p:spPr>
        <p:txBody>
          <a:bodyPr>
            <a:normAutofit/>
          </a:bodyPr>
          <a:lstStyle/>
          <a:p>
            <a:r>
              <a:rPr lang="en-US" sz="2000" dirty="0"/>
              <a:t>everything is AES without any compatibility in mind</a:t>
            </a:r>
          </a:p>
          <a:p>
            <a:pPr lvl="1"/>
            <a:r>
              <a:rPr lang="en-US" sz="1800" dirty="0"/>
              <a:t>as against the same on clients/servers which would just stop accepting RC4 and fail</a:t>
            </a:r>
          </a:p>
          <a:p>
            <a:r>
              <a:rPr lang="en-US" sz="2000" dirty="0"/>
              <a:t>define </a:t>
            </a:r>
            <a:r>
              <a:rPr lang="en-US" sz="2000" dirty="0">
                <a:solidFill>
                  <a:schemeClr val="accent1"/>
                </a:solidFill>
              </a:rPr>
              <a:t>explicit contra</a:t>
            </a:r>
            <a:r>
              <a:rPr lang="en-US" sz="2000" dirty="0"/>
              <a:t>-policy in order to revert back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1" y="2636912"/>
            <a:ext cx="8818257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1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ETYPE_NOTSUPP (0xE)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37909"/>
            <a:ext cx="8532440" cy="552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8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ETYPE_NOTSUPP (0xE)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5" y="1241185"/>
            <a:ext cx="6876256" cy="561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83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Always reset KRBTGT account on 2008+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2009"/>
            <a:ext cx="8686800" cy="559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471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E76C-D4B6-4923-8989-BC56A2C1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How to do it safely - disable RC4 usage carefully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1DD6-E5CA-4CC7-91DF-75966E69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9" y="980728"/>
            <a:ext cx="8229600" cy="561662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all passwords have been changed/reset 2x</a:t>
            </a:r>
          </a:p>
          <a:p>
            <a:pPr lvl="1"/>
            <a:r>
              <a:rPr lang="en-US" dirty="0"/>
              <a:t>on a 2008+ DC</a:t>
            </a:r>
          </a:p>
          <a:p>
            <a:r>
              <a:rPr lang="en-US" dirty="0"/>
              <a:t>everything seems to be AES</a:t>
            </a:r>
          </a:p>
          <a:p>
            <a:pPr lvl="1"/>
            <a:r>
              <a:rPr lang="en-US" dirty="0"/>
              <a:t>events</a:t>
            </a:r>
          </a:p>
          <a:p>
            <a:pPr lvl="1"/>
            <a:r>
              <a:rPr lang="en-US" dirty="0" err="1"/>
              <a:t>klist</a:t>
            </a:r>
            <a:r>
              <a:rPr lang="en-US" dirty="0"/>
              <a:t> get</a:t>
            </a:r>
          </a:p>
          <a:p>
            <a:r>
              <a:rPr lang="en-US" dirty="0"/>
              <a:t>prepare </a:t>
            </a:r>
            <a:r>
              <a:rPr lang="en-US" dirty="0">
                <a:solidFill>
                  <a:schemeClr val="accent2"/>
                </a:solidFill>
              </a:rPr>
              <a:t>RC4 disabled</a:t>
            </a:r>
            <a:r>
              <a:rPr lang="en-US" dirty="0"/>
              <a:t> policy</a:t>
            </a:r>
          </a:p>
          <a:p>
            <a:pPr lvl="1"/>
            <a:r>
              <a:rPr lang="en-US" dirty="0"/>
              <a:t>for OU=Domain Controllers only</a:t>
            </a:r>
          </a:p>
          <a:p>
            <a:r>
              <a:rPr lang="en-US" dirty="0"/>
              <a:t>prepare </a:t>
            </a:r>
            <a:r>
              <a:rPr lang="en-US" dirty="0">
                <a:solidFill>
                  <a:schemeClr val="accent2"/>
                </a:solidFill>
              </a:rPr>
              <a:t>RC4 enabled</a:t>
            </a:r>
            <a:r>
              <a:rPr lang="en-US" dirty="0"/>
              <a:t> contra policy</a:t>
            </a:r>
          </a:p>
          <a:p>
            <a:pPr lvl="1"/>
            <a:r>
              <a:rPr lang="en-US" dirty="0"/>
              <a:t>for OU=Domain Controllers only</a:t>
            </a:r>
          </a:p>
          <a:p>
            <a:r>
              <a:rPr lang="en-US" dirty="0"/>
              <a:t>reset </a:t>
            </a:r>
            <a:r>
              <a:rPr lang="en-US" dirty="0" err="1"/>
              <a:t>krbtgt</a:t>
            </a:r>
            <a:r>
              <a:rPr lang="en-US" dirty="0"/>
              <a:t> account</a:t>
            </a:r>
          </a:p>
          <a:p>
            <a:r>
              <a:rPr lang="en-US" dirty="0"/>
              <a:t>replicate domain</a:t>
            </a:r>
          </a:p>
          <a:p>
            <a:r>
              <a:rPr lang="en-US" dirty="0"/>
              <a:t>wait 8 days</a:t>
            </a:r>
          </a:p>
          <a:p>
            <a:r>
              <a:rPr lang="en-US" dirty="0"/>
              <a:t>reset </a:t>
            </a:r>
            <a:r>
              <a:rPr lang="en-US" dirty="0" err="1"/>
              <a:t>krbtgt</a:t>
            </a:r>
            <a:r>
              <a:rPr lang="en-US" dirty="0"/>
              <a:t> account again</a:t>
            </a:r>
          </a:p>
          <a:p>
            <a:r>
              <a:rPr lang="en-US" dirty="0"/>
              <a:t>replicate domain again</a:t>
            </a:r>
          </a:p>
          <a:p>
            <a:r>
              <a:rPr lang="en-US" dirty="0"/>
              <a:t>remove yourself from Protected Users</a:t>
            </a:r>
          </a:p>
          <a:p>
            <a:r>
              <a:rPr lang="en-US" dirty="0"/>
              <a:t>full logoff/logon 2x</a:t>
            </a:r>
          </a:p>
          <a:p>
            <a:r>
              <a:rPr lang="en-US" dirty="0"/>
              <a:t>enable </a:t>
            </a:r>
            <a:r>
              <a:rPr lang="en-US" dirty="0">
                <a:solidFill>
                  <a:schemeClr val="accent2"/>
                </a:solidFill>
              </a:rPr>
              <a:t>RC4 disabled</a:t>
            </a:r>
            <a:r>
              <a:rPr lang="en-US" dirty="0"/>
              <a:t> policy</a:t>
            </a:r>
          </a:p>
          <a:p>
            <a:r>
              <a:rPr lang="en-US" dirty="0" err="1"/>
              <a:t>gpupdate</a:t>
            </a:r>
            <a:endParaRPr lang="en-US" dirty="0"/>
          </a:p>
          <a:p>
            <a:r>
              <a:rPr lang="en-US" dirty="0"/>
              <a:t>Restart-Service </a:t>
            </a:r>
            <a:r>
              <a:rPr lang="en-US" dirty="0" err="1"/>
              <a:t>kdc</a:t>
            </a:r>
            <a:endParaRPr lang="en-US" dirty="0"/>
          </a:p>
          <a:p>
            <a:r>
              <a:rPr lang="en-US" dirty="0" err="1"/>
              <a:t>runas</a:t>
            </a:r>
            <a:endParaRPr lang="en-US" dirty="0"/>
          </a:p>
          <a:p>
            <a:r>
              <a:rPr lang="en-US" dirty="0" err="1"/>
              <a:t>klist</a:t>
            </a:r>
            <a:r>
              <a:rPr lang="en-US" dirty="0"/>
              <a:t> get ...</a:t>
            </a:r>
          </a:p>
          <a:p>
            <a:r>
              <a:rPr lang="en-US" dirty="0"/>
              <a:t>full restart some other DC and try logging on</a:t>
            </a:r>
          </a:p>
        </p:txBody>
      </p:sp>
    </p:spTree>
    <p:extLst>
      <p:ext uri="{BB962C8B-B14F-4D97-AF65-F5344CB8AC3E}">
        <p14:creationId xmlns:p14="http://schemas.microsoft.com/office/powerpoint/2010/main" val="154568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Protected Users group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Windows </a:t>
            </a:r>
            <a:r>
              <a:rPr lang="en-US" dirty="0">
                <a:solidFill>
                  <a:schemeClr val="accent1"/>
                </a:solidFill>
              </a:rPr>
              <a:t>8.1</a:t>
            </a:r>
            <a:r>
              <a:rPr lang="en-US" dirty="0"/>
              <a:t> and Windows </a:t>
            </a:r>
            <a:r>
              <a:rPr lang="en-US" dirty="0">
                <a:solidFill>
                  <a:schemeClr val="accent1"/>
                </a:solidFill>
              </a:rPr>
              <a:t>2012 R2</a:t>
            </a:r>
          </a:p>
          <a:p>
            <a:pPr lvl="1"/>
            <a:r>
              <a:rPr lang="en-US" dirty="0"/>
              <a:t>some local enforcement</a:t>
            </a:r>
          </a:p>
          <a:p>
            <a:pPr lvl="1"/>
            <a:r>
              <a:rPr lang="en-US" dirty="0"/>
              <a:t>no cache, no local NTLM credentials, no credential delegation, TGT renewal only</a:t>
            </a:r>
          </a:p>
          <a:p>
            <a:pPr lvl="1"/>
            <a:r>
              <a:rPr lang="en-US" dirty="0"/>
              <a:t>no client cache for remote </a:t>
            </a:r>
            <a:r>
              <a:rPr lang="en-US" dirty="0">
                <a:solidFill>
                  <a:schemeClr val="accent1"/>
                </a:solidFill>
              </a:rPr>
              <a:t>service TGS </a:t>
            </a:r>
            <a:r>
              <a:rPr lang="en-US" dirty="0"/>
              <a:t>tickets which are themselves members of Protected Users</a:t>
            </a:r>
          </a:p>
          <a:p>
            <a:r>
              <a:rPr lang="en-US" dirty="0">
                <a:solidFill>
                  <a:schemeClr val="accent1"/>
                </a:solidFill>
              </a:rPr>
              <a:t>DFL 2012 R2</a:t>
            </a:r>
          </a:p>
          <a:p>
            <a:pPr lvl="1"/>
            <a:r>
              <a:rPr lang="en-US" dirty="0"/>
              <a:t>no RC4/DES TGT tickets (TGS still possible)</a:t>
            </a:r>
          </a:p>
          <a:p>
            <a:pPr lvl="1"/>
            <a:r>
              <a:rPr lang="en-US" dirty="0"/>
              <a:t>no Kerberos delegation</a:t>
            </a:r>
          </a:p>
          <a:p>
            <a:pPr lvl="1"/>
            <a:r>
              <a:rPr lang="en-US" dirty="0"/>
              <a:t>4 hour TGT lifetime</a:t>
            </a:r>
          </a:p>
          <a:p>
            <a:pPr lvl="1"/>
            <a:r>
              <a:rPr lang="en-US" dirty="0"/>
              <a:t>no Kerberos TGT renewal</a:t>
            </a:r>
          </a:p>
          <a:p>
            <a:pPr lvl="1"/>
            <a:r>
              <a:rPr lang="en-US" dirty="0"/>
              <a:t>no NTLM authentication by DCs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640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blocked by DCs (DFL 2012 R2+)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24" y="1772816"/>
            <a:ext cx="8818075" cy="50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1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Kerberos from non-domain machines (2008/Vista+ client)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domain DNS (Kerberos realm): </a:t>
            </a:r>
            <a:r>
              <a:rPr lang="en-US" sz="1800" dirty="0" err="1">
                <a:solidFill>
                  <a:schemeClr val="accent5"/>
                </a:solidFill>
              </a:rPr>
              <a:t>gopas.virtual</a:t>
            </a:r>
            <a:endParaRPr lang="en-US" sz="1800" dirty="0">
              <a:solidFill>
                <a:schemeClr val="accent5"/>
              </a:solidFill>
            </a:endParaRPr>
          </a:p>
          <a:p>
            <a:r>
              <a:rPr lang="en-US" sz="1800" dirty="0"/>
              <a:t>SAM: </a:t>
            </a:r>
            <a:r>
              <a:rPr lang="en-US" sz="1800" dirty="0" err="1"/>
              <a:t>gps</a:t>
            </a:r>
            <a:r>
              <a:rPr lang="en-US" sz="1800" dirty="0"/>
              <a:t>\</a:t>
            </a:r>
            <a:r>
              <a:rPr lang="en-US" sz="1800" dirty="0" err="1">
                <a:solidFill>
                  <a:schemeClr val="accent1"/>
                </a:solidFill>
              </a:rPr>
              <a:t>kml</a:t>
            </a:r>
            <a:endParaRPr lang="en-US" sz="1800" dirty="0">
              <a:solidFill>
                <a:schemeClr val="accent1"/>
              </a:solidFill>
            </a:endParaRPr>
          </a:p>
          <a:p>
            <a:r>
              <a:rPr lang="en-US" sz="1800" dirty="0"/>
              <a:t>UPN: </a:t>
            </a:r>
            <a:r>
              <a:rPr lang="en-US" sz="1800" dirty="0">
                <a:solidFill>
                  <a:schemeClr val="accent2"/>
                </a:solidFill>
              </a:rPr>
              <a:t>rychnovsky.kamil@gopas.cz</a:t>
            </a:r>
          </a:p>
          <a:p>
            <a:r>
              <a:rPr lang="en-US" sz="1800" dirty="0">
                <a:solidFill>
                  <a:schemeClr val="accent3"/>
                </a:solidFill>
              </a:rPr>
              <a:t>USE1</a:t>
            </a:r>
            <a:r>
              <a:rPr lang="en-US" sz="1800" dirty="0"/>
              <a:t>: </a:t>
            </a:r>
            <a:r>
              <a:rPr lang="en-US" sz="1800" dirty="0">
                <a:solidFill>
                  <a:schemeClr val="accent5"/>
                </a:solidFill>
              </a:rPr>
              <a:t>gopas.virtual</a:t>
            </a:r>
            <a:r>
              <a:rPr lang="en-US" sz="1800" dirty="0"/>
              <a:t>\</a:t>
            </a:r>
            <a:r>
              <a:rPr lang="en-US" sz="1800" dirty="0">
                <a:solidFill>
                  <a:schemeClr val="accent2"/>
                </a:solidFill>
              </a:rPr>
              <a:t>rychnovsky.kamil@gopas.cz</a:t>
            </a:r>
          </a:p>
          <a:p>
            <a:r>
              <a:rPr lang="en-US" sz="1800" dirty="0">
                <a:solidFill>
                  <a:schemeClr val="accent3"/>
                </a:solidFill>
              </a:rPr>
              <a:t>USE2</a:t>
            </a:r>
            <a:r>
              <a:rPr lang="en-US" sz="1800" dirty="0"/>
              <a:t>: </a:t>
            </a:r>
            <a:r>
              <a:rPr lang="en-US" sz="1800" dirty="0" err="1">
                <a:solidFill>
                  <a:schemeClr val="accent1"/>
                </a:solidFill>
              </a:rPr>
              <a:t>kml</a:t>
            </a:r>
            <a:r>
              <a:rPr lang="en-US" sz="1800" dirty="0" err="1"/>
              <a:t>@</a:t>
            </a:r>
            <a:r>
              <a:rPr lang="en-US" sz="1800" dirty="0" err="1">
                <a:solidFill>
                  <a:schemeClr val="accent5"/>
                </a:solidFill>
              </a:rPr>
              <a:t>gopas.virtual</a:t>
            </a:r>
            <a:endParaRPr lang="en-US" sz="1800" dirty="0">
              <a:solidFill>
                <a:schemeClr val="accent5"/>
              </a:solidFill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3225231"/>
            <a:ext cx="5925696" cy="363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86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for non-domain machines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44823"/>
            <a:ext cx="8928992" cy="319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54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from non-domain machines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412775"/>
            <a:ext cx="8928992" cy="37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87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from non-domain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2098576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nslookup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set q=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srv</a:t>
            </a:r>
            <a:endParaRPr lang="en-US" sz="18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kerberos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tcp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8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msdcs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gopas.virtual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ldap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tcp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8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msdcs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gopas.virtual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345" y="1268760"/>
            <a:ext cx="6412655" cy="55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99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9C6E-6878-4FD1-BB4A-8C27AFC6C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 ports for Kerberos (client -&gt; DCs)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1868D-1BD4-493D-BB94-67BA98C4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DNS UDP 53</a:t>
            </a:r>
          </a:p>
          <a:p>
            <a:r>
              <a:rPr lang="en-US" dirty="0"/>
              <a:t>DNS TCP 53</a:t>
            </a:r>
          </a:p>
          <a:p>
            <a:pPr lvl="1"/>
            <a:r>
              <a:rPr lang="en-US" dirty="0"/>
              <a:t>responses bigger than 512 B or DNSSES</a:t>
            </a:r>
          </a:p>
          <a:p>
            <a:endParaRPr lang="en-US" dirty="0"/>
          </a:p>
          <a:p>
            <a:r>
              <a:rPr lang="en-US" dirty="0"/>
              <a:t>LDAP UDP 389</a:t>
            </a:r>
          </a:p>
          <a:p>
            <a:pPr lvl="1"/>
            <a:r>
              <a:rPr lang="en-US" dirty="0"/>
              <a:t>LDAP ping to determine if a DC is online </a:t>
            </a:r>
            <a:r>
              <a:rPr lang="en-US"/>
              <a:t>(600ms </a:t>
            </a:r>
            <a:r>
              <a:rPr lang="en-US" dirty="0"/>
              <a:t>timeout)</a:t>
            </a:r>
          </a:p>
          <a:p>
            <a:endParaRPr lang="en-US" dirty="0"/>
          </a:p>
          <a:p>
            <a:r>
              <a:rPr lang="en-US" dirty="0"/>
              <a:t>Kerberos TCP 88</a:t>
            </a:r>
          </a:p>
          <a:p>
            <a:r>
              <a:rPr lang="en-US" dirty="0"/>
              <a:t>Kerberos TCP 464</a:t>
            </a:r>
          </a:p>
          <a:p>
            <a:pPr lvl="1"/>
            <a:r>
              <a:rPr lang="en-US" dirty="0"/>
              <a:t>change password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5299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everything Kerberos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ADC0C-D343-4226-86C6-4B1CD295E434}"/>
              </a:ext>
            </a:extLst>
          </p:cNvPr>
          <p:cNvSpPr txBox="1"/>
          <p:nvPr/>
        </p:nvSpPr>
        <p:spPr>
          <a:xfrm>
            <a:off x="683568" y="1556792"/>
            <a:ext cx="78488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purge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-li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3e4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006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Network Service</a:t>
            </a:r>
            <a:endParaRPr lang="it-IT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purge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-li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3e5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006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Local Service</a:t>
            </a:r>
            <a:endParaRPr lang="it-IT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purge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-li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3e7</a:t>
            </a:r>
            <a:r>
              <a:rPr lang="it-IT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solidFill>
                  <a:srgbClr val="006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SYSTEM</a:t>
            </a:r>
            <a:endParaRPr lang="it-IT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purge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Clear-</a:t>
            </a:r>
            <a:r>
              <a:rPr lang="en-US" sz="18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DnsClientCache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6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rather than ipconfig /</a:t>
            </a:r>
            <a:r>
              <a:rPr lang="en-US" sz="1800" dirty="0" err="1">
                <a:solidFill>
                  <a:srgbClr val="006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flushdns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purge_bind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6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 DCs after Kerberos/KDC policy changes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gpupdate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Restart-Service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kdc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6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 all after some Kerberos policy changes</a:t>
            </a:r>
            <a:endParaRPr lang="en-US" sz="18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shutdown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/r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/t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A2BE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</a:t>
            </a:r>
          </a:p>
        </p:txBody>
      </p:sp>
    </p:spTree>
    <p:extLst>
      <p:ext uri="{BB962C8B-B14F-4D97-AF65-F5344CB8AC3E}">
        <p14:creationId xmlns:p14="http://schemas.microsoft.com/office/powerpoint/2010/main" val="1765907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6CA9-F30A-E032-A730-6712CAF4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82960"/>
          </a:xfrm>
        </p:spPr>
        <p:txBody>
          <a:bodyPr>
            <a:noAutofit/>
          </a:bodyPr>
          <a:lstStyle/>
          <a:p>
            <a:r>
              <a:rPr lang="en-US" sz="2000" dirty="0"/>
              <a:t>Testing Kerberos even from </a:t>
            </a:r>
            <a:r>
              <a:rPr lang="en-US" sz="2000" dirty="0">
                <a:solidFill>
                  <a:schemeClr val="accent1"/>
                </a:solidFill>
              </a:rPr>
              <a:t>non-domain</a:t>
            </a:r>
            <a:r>
              <a:rPr lang="en-US" sz="2000" dirty="0"/>
              <a:t> or </a:t>
            </a:r>
            <a:r>
              <a:rPr lang="en-US" sz="2000" dirty="0">
                <a:solidFill>
                  <a:schemeClr val="accent1"/>
                </a:solidFill>
              </a:rPr>
              <a:t>non-trusted</a:t>
            </a:r>
            <a:r>
              <a:rPr lang="en-US" sz="2000" dirty="0"/>
              <a:t> forest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61780-CA74-ADD2-283F-51C34345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runas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netonly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user:wks-admin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@gopas.virtual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get host/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anycomputer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Note: use either </a:t>
            </a:r>
            <a:r>
              <a:rPr lang="en-US" sz="16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 0xC0000072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or </a:t>
            </a:r>
            <a:r>
              <a:rPr lang="en-US" sz="16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 0x533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see bellow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4615C67-B925-5EF8-1D62-AFEF35422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937202"/>
              </p:ext>
            </p:extLst>
          </p:nvPr>
        </p:nvGraphicFramePr>
        <p:xfrm>
          <a:off x="549275" y="4827587"/>
          <a:ext cx="8594725" cy="203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594297" imgH="2030750" progId="">
                  <p:embed/>
                </p:oleObj>
              </mc:Choice>
              <mc:Fallback>
                <p:oleObj r:id="rId2" imgW="8594297" imgH="203075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9275" y="4827587"/>
                        <a:ext cx="8594725" cy="2030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A4CB1DE-561D-3762-8543-CB5CF3B6A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505269"/>
              </p:ext>
            </p:extLst>
          </p:nvPr>
        </p:nvGraphicFramePr>
        <p:xfrm>
          <a:off x="0" y="2558942"/>
          <a:ext cx="9144000" cy="259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833529" imgH="2510454" progId="">
                  <p:embed/>
                </p:oleObj>
              </mc:Choice>
              <mc:Fallback>
                <p:oleObj r:id="rId4" imgW="8833529" imgH="2510454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2558942"/>
                        <a:ext cx="9144000" cy="2598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344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D4E8-FE3F-4133-8A2A-925B3E42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RDP</a:t>
            </a:r>
            <a:r>
              <a:rPr lang="en-US" sz="2400" dirty="0"/>
              <a:t> with </a:t>
            </a:r>
            <a:r>
              <a:rPr lang="en-US" sz="2400" dirty="0">
                <a:solidFill>
                  <a:schemeClr val="accent1"/>
                </a:solidFill>
              </a:rPr>
              <a:t>smart card logon </a:t>
            </a:r>
            <a:r>
              <a:rPr lang="en-US" sz="2400" dirty="0"/>
              <a:t>from non-domain machines or different forest with </a:t>
            </a:r>
            <a:r>
              <a:rPr lang="en-US" sz="2400" dirty="0">
                <a:solidFill>
                  <a:schemeClr val="accent1"/>
                </a:solidFill>
              </a:rPr>
              <a:t>NLA required </a:t>
            </a:r>
            <a:r>
              <a:rPr lang="en-US" sz="2400" dirty="0"/>
              <a:t>on RDP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E3232-9545-43AD-999A-A9E02A19C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must perform Kerberos PKINIT</a:t>
            </a:r>
          </a:p>
          <a:p>
            <a:pPr lvl="1"/>
            <a:r>
              <a:rPr lang="en-US" sz="1800" dirty="0"/>
              <a:t>no NTLM credentials</a:t>
            </a:r>
          </a:p>
          <a:p>
            <a:endParaRPr lang="en-US" sz="2000" dirty="0"/>
          </a:p>
          <a:p>
            <a:r>
              <a:rPr lang="en-US" sz="2000" dirty="0"/>
              <a:t>non-domain workgroup machines</a:t>
            </a:r>
          </a:p>
          <a:p>
            <a:pPr lvl="1"/>
            <a:r>
              <a:rPr lang="en-US" sz="1800" dirty="0"/>
              <a:t>root CA of the SC cert must be trusted</a:t>
            </a:r>
          </a:p>
          <a:p>
            <a:pPr lvl="1"/>
            <a:r>
              <a:rPr lang="en-US" sz="1800" dirty="0"/>
              <a:t>issuing CA of the SC cert does NOT need to be </a:t>
            </a:r>
            <a:r>
              <a:rPr lang="en-US" sz="1800" dirty="0" err="1"/>
              <a:t>NTAuth</a:t>
            </a:r>
            <a:endParaRPr lang="en-US" sz="1800" dirty="0"/>
          </a:p>
          <a:p>
            <a:r>
              <a:rPr lang="en-US" sz="2000" dirty="0"/>
              <a:t>different forest machines</a:t>
            </a:r>
          </a:p>
          <a:p>
            <a:pPr lvl="1"/>
            <a:r>
              <a:rPr lang="en-US" sz="1800" dirty="0"/>
              <a:t>root CA of the SC cert must be trusted</a:t>
            </a:r>
          </a:p>
          <a:p>
            <a:pPr lvl="1"/>
            <a:r>
              <a:rPr lang="en-US" sz="1800" dirty="0"/>
              <a:t>issuing CA of the SC cert must be </a:t>
            </a:r>
            <a:r>
              <a:rPr lang="en-US" sz="1800" dirty="0" err="1"/>
              <a:t>NTAuth</a:t>
            </a:r>
            <a:r>
              <a:rPr lang="en-US" sz="1800" dirty="0"/>
              <a:t> in local registry</a:t>
            </a:r>
          </a:p>
          <a:p>
            <a:pPr lvl="1"/>
            <a:endParaRPr lang="en-US" sz="1800" dirty="0"/>
          </a:p>
          <a:p>
            <a:endParaRPr lang="en-US" sz="2000" dirty="0"/>
          </a:p>
          <a:p>
            <a:r>
              <a:rPr lang="en-US" sz="2000" dirty="0"/>
              <a:t>without NLA on RDP server no certificate requirements</a:t>
            </a:r>
          </a:p>
        </p:txBody>
      </p:sp>
    </p:spTree>
    <p:extLst>
      <p:ext uri="{BB962C8B-B14F-4D97-AF65-F5344CB8AC3E}">
        <p14:creationId xmlns:p14="http://schemas.microsoft.com/office/powerpoint/2010/main" val="649836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06F26F-A32E-483C-A07F-376CD5683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21465"/>
            <a:ext cx="8892480" cy="663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21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group membership (</a:t>
            </a:r>
            <a:r>
              <a:rPr lang="en-US" dirty="0">
                <a:solidFill>
                  <a:schemeClr val="accent1"/>
                </a:solidFill>
              </a:rPr>
              <a:t>F</a:t>
            </a:r>
            <a:r>
              <a:rPr lang="en-US" dirty="0"/>
              <a:t>FL 2016)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226" y="1412776"/>
            <a:ext cx="8229600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Enable-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ADOptionalFeature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'Privileged Access Management Feature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-Scope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Forest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-Target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book-vendors.com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Add-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ADGroupMember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Accounting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-Member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id1234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8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MemberTimeToLive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TimeSpan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]::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FromMinutes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(40))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Get-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ADGroup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Accounting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-Property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Member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8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ShowMemberTimeToLive</a:t>
            </a:r>
            <a:endParaRPr lang="en-US" sz="1800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038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Limiting pass-the-credentials attacks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Pass-the-</a:t>
            </a:r>
            <a:r>
              <a:rPr lang="en-US" dirty="0">
                <a:solidFill>
                  <a:schemeClr val="accent1"/>
                </a:solidFill>
              </a:rPr>
              <a:t>password</a:t>
            </a:r>
          </a:p>
          <a:p>
            <a:pPr lvl="1"/>
            <a:r>
              <a:rPr lang="en-US" dirty="0"/>
              <a:t>never appears in memory</a:t>
            </a:r>
          </a:p>
          <a:p>
            <a:r>
              <a:rPr lang="en-US" dirty="0"/>
              <a:t>Pass-the-</a:t>
            </a:r>
            <a:r>
              <a:rPr lang="en-US" dirty="0">
                <a:solidFill>
                  <a:schemeClr val="accent1"/>
                </a:solidFill>
              </a:rPr>
              <a:t>hash</a:t>
            </a:r>
          </a:p>
          <a:p>
            <a:pPr lvl="1"/>
            <a:r>
              <a:rPr lang="en-US" dirty="0"/>
              <a:t>block NTLM with GPO (7/2008 R2+)</a:t>
            </a:r>
          </a:p>
          <a:p>
            <a:pPr lvl="1"/>
            <a:r>
              <a:rPr lang="en-US" dirty="0"/>
              <a:t>and/or use </a:t>
            </a:r>
            <a:r>
              <a:rPr lang="en-US" dirty="0">
                <a:solidFill>
                  <a:schemeClr val="accent5"/>
                </a:solidFill>
              </a:rPr>
              <a:t>Protected Users</a:t>
            </a:r>
            <a:r>
              <a:rPr lang="en-US" dirty="0"/>
              <a:t> group (2012/8+)</a:t>
            </a:r>
          </a:p>
          <a:p>
            <a:pPr lvl="1"/>
            <a:r>
              <a:rPr lang="en-US" dirty="0"/>
              <a:t>sometimes reset the passwords</a:t>
            </a:r>
          </a:p>
          <a:p>
            <a:r>
              <a:rPr lang="en-US" dirty="0"/>
              <a:t>Pass-the-</a:t>
            </a:r>
            <a:r>
              <a:rPr lang="en-US" dirty="0">
                <a:solidFill>
                  <a:schemeClr val="accent1"/>
                </a:solidFill>
              </a:rPr>
              <a:t>TGT</a:t>
            </a:r>
          </a:p>
          <a:p>
            <a:pPr lvl="1"/>
            <a:r>
              <a:rPr lang="en-US" dirty="0"/>
              <a:t>shorten ticket expiration</a:t>
            </a:r>
          </a:p>
          <a:p>
            <a:pPr lvl="1"/>
            <a:r>
              <a:rPr lang="en-US" dirty="0"/>
              <a:t>10 hours default, 1 hour tested by me in 5k machines, all MS products since Windows XP :-)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chemeClr val="accent5"/>
                </a:solidFill>
              </a:rPr>
              <a:t>Armoring</a:t>
            </a:r>
            <a:r>
              <a:rPr lang="en-US" dirty="0"/>
              <a:t> since 2012/8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52562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Armoring support for K</a:t>
            </a:r>
            <a:r>
              <a:rPr lang="en-US" dirty="0">
                <a:solidFill>
                  <a:schemeClr val="accent1"/>
                </a:solidFill>
              </a:rPr>
              <a:t>DC</a:t>
            </a:r>
            <a:r>
              <a:rPr lang="en-US" dirty="0"/>
              <a:t> with </a:t>
            </a:r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dirty="0"/>
              <a:t>FL 2012+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412776"/>
            <a:ext cx="7416824" cy="478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69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Armoring support for </a:t>
            </a:r>
            <a:r>
              <a:rPr lang="en-US" dirty="0">
                <a:solidFill>
                  <a:schemeClr val="accent1"/>
                </a:solidFill>
              </a:rPr>
              <a:t>clients</a:t>
            </a:r>
            <a:r>
              <a:rPr lang="en-US" dirty="0"/>
              <a:t> 8/2012+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12776"/>
            <a:ext cx="6823031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12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AS request with FAST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0768"/>
            <a:ext cx="7859216" cy="478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62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Armoring</a:t>
            </a:r>
            <a:br>
              <a:rPr lang="en-US" sz="2400" dirty="0"/>
            </a:br>
            <a:r>
              <a:rPr lang="en-US" sz="2400" dirty="0"/>
              <a:t>FAST</a:t>
            </a:r>
            <a:endParaRPr lang="cs-CZ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894" y="260648"/>
            <a:ext cx="7162106" cy="65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80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Pre-authentication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password = 2</a:t>
            </a:r>
          </a:p>
          <a:p>
            <a:r>
              <a:rPr lang="en-US" dirty="0"/>
              <a:t>smart card (PKINIT) = 15</a:t>
            </a:r>
          </a:p>
          <a:p>
            <a:r>
              <a:rPr lang="en-US" dirty="0"/>
              <a:t>FAST(password) = 138</a:t>
            </a:r>
          </a:p>
          <a:p>
            <a:r>
              <a:rPr lang="en-US" dirty="0"/>
              <a:t>FAST(PKINIT) = 15 (yes, </a:t>
            </a:r>
            <a:r>
              <a:rPr lang="en-US"/>
              <a:t>the same)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872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Policies (</a:t>
            </a:r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dirty="0"/>
              <a:t>FL 2012 R2+)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Kerberos </a:t>
            </a:r>
            <a:r>
              <a:rPr lang="en-US" dirty="0">
                <a:solidFill>
                  <a:schemeClr val="accent1"/>
                </a:solidFill>
              </a:rPr>
              <a:t>armoring</a:t>
            </a:r>
            <a:r>
              <a:rPr lang="en-US" dirty="0"/>
              <a:t> in place in order to limit TGT issuance</a:t>
            </a:r>
          </a:p>
          <a:p>
            <a:pPr lvl="1"/>
            <a:r>
              <a:rPr lang="en-US" dirty="0"/>
              <a:t>not necessary for TGS restrictions</a:t>
            </a:r>
          </a:p>
          <a:p>
            <a:r>
              <a:rPr lang="en-US" dirty="0" err="1"/>
              <a:t>msDS-AssignedAuthNPolicy</a:t>
            </a:r>
            <a:br>
              <a:rPr lang="en-US" dirty="0"/>
            </a:br>
            <a:r>
              <a:rPr lang="en-US" dirty="0" err="1"/>
              <a:t>msDS-AssignedAuthNPolicySilo</a:t>
            </a:r>
            <a:endParaRPr lang="en-US" dirty="0"/>
          </a:p>
          <a:p>
            <a:pPr lvl="1"/>
            <a:r>
              <a:rPr lang="en-US" dirty="0"/>
              <a:t>assigned directly from user/computer/</a:t>
            </a:r>
            <a:r>
              <a:rPr lang="en-US" dirty="0" err="1"/>
              <a:t>gmsa</a:t>
            </a:r>
            <a:r>
              <a:rPr lang="en-US" dirty="0"/>
              <a:t> account</a:t>
            </a:r>
          </a:p>
          <a:p>
            <a:pPr lvl="1"/>
            <a:r>
              <a:rPr lang="en-US" dirty="0"/>
              <a:t>cannot use groups</a:t>
            </a:r>
          </a:p>
          <a:p>
            <a:r>
              <a:rPr lang="en-US" dirty="0">
                <a:solidFill>
                  <a:schemeClr val="accent1"/>
                </a:solidFill>
              </a:rPr>
              <a:t>device rules</a:t>
            </a:r>
            <a:r>
              <a:rPr lang="en-US" dirty="0"/>
              <a:t> require </a:t>
            </a:r>
            <a:r>
              <a:rPr lang="en-US" dirty="0" err="1"/>
              <a:t>CompoundID</a:t>
            </a:r>
            <a:r>
              <a:rPr lang="en-US" dirty="0"/>
              <a:t> (see later)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119920"/>
            <a:ext cx="8784976" cy="9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626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5B13-8C3F-825D-D999-E0D1B041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Different policies effects (details later)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784DF-8A27-C269-E384-CC7FFCC27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6372200" cy="18638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5E440F-B01A-F998-6E65-F40ED044E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4405"/>
            <a:ext cx="6084168" cy="2022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7C43C7-25FC-15ED-E8A1-16D5D44C6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22557"/>
            <a:ext cx="6084168" cy="18188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6F4C79-3AA0-B265-5436-AD1971823E12}"/>
              </a:ext>
            </a:extLst>
          </p:cNvPr>
          <p:cNvSpPr txBox="1"/>
          <p:nvPr/>
        </p:nvSpPr>
        <p:spPr>
          <a:xfrm>
            <a:off x="6372200" y="1400403"/>
            <a:ext cx="2170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TG</a:t>
            </a:r>
            <a:r>
              <a:rPr lang="en-US" b="1" dirty="0">
                <a:solidFill>
                  <a:schemeClr val="accent4"/>
                </a:solidFill>
              </a:rPr>
              <a:t>T</a:t>
            </a:r>
            <a:r>
              <a:rPr lang="en-US" dirty="0">
                <a:solidFill>
                  <a:schemeClr val="accent4"/>
                </a:solidFill>
              </a:rPr>
              <a:t> requests will be armored (FAST)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20F5C-6E76-A21C-508F-40274200E664}"/>
              </a:ext>
            </a:extLst>
          </p:cNvPr>
          <p:cNvSpPr txBox="1"/>
          <p:nvPr/>
        </p:nvSpPr>
        <p:spPr>
          <a:xfrm>
            <a:off x="6354232" y="3358733"/>
            <a:ext cx="2170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TG</a:t>
            </a:r>
            <a:r>
              <a:rPr lang="en-US" b="1" dirty="0">
                <a:solidFill>
                  <a:schemeClr val="accent2"/>
                </a:solidFill>
              </a:rPr>
              <a:t>S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requests</a:t>
            </a:r>
            <a:r>
              <a:rPr lang="en-US" dirty="0">
                <a:solidFill>
                  <a:schemeClr val="accent2"/>
                </a:solidFill>
              </a:rPr>
              <a:t> will be compound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7F2536-ADA8-4950-956B-AA3537F73A9B}"/>
              </a:ext>
            </a:extLst>
          </p:cNvPr>
          <p:cNvSpPr txBox="1"/>
          <p:nvPr/>
        </p:nvSpPr>
        <p:spPr>
          <a:xfrm>
            <a:off x="6354232" y="5360001"/>
            <a:ext cx="2170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TG</a:t>
            </a:r>
            <a:r>
              <a:rPr lang="en-US" b="1" dirty="0">
                <a:solidFill>
                  <a:schemeClr val="accent3"/>
                </a:solidFill>
              </a:rPr>
              <a:t>S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3"/>
                </a:solidFill>
              </a:rPr>
              <a:t>tickets</a:t>
            </a:r>
            <a:r>
              <a:rPr lang="en-US" dirty="0">
                <a:solidFill>
                  <a:schemeClr val="accent3"/>
                </a:solidFill>
              </a:rPr>
              <a:t> will be compound</a:t>
            </a:r>
          </a:p>
        </p:txBody>
      </p:sp>
    </p:spTree>
    <p:extLst>
      <p:ext uri="{BB962C8B-B14F-4D97-AF65-F5344CB8AC3E}">
        <p14:creationId xmlns:p14="http://schemas.microsoft.com/office/powerpoint/2010/main" val="2180105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D11D-C5C9-4AED-75C4-C0CA1D35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Device</a:t>
            </a:r>
            <a:r>
              <a:rPr lang="en-US" sz="2000" dirty="0"/>
              <a:t> rules for </a:t>
            </a:r>
            <a:r>
              <a:rPr lang="en-US" sz="2000" dirty="0">
                <a:solidFill>
                  <a:schemeClr val="accent1"/>
                </a:solidFill>
              </a:rPr>
              <a:t>TGS</a:t>
            </a:r>
            <a:r>
              <a:rPr lang="en-US" sz="2000" dirty="0"/>
              <a:t> authentication policies</a:t>
            </a:r>
            <a:br>
              <a:rPr lang="en-US" sz="2000" dirty="0"/>
            </a:br>
            <a:r>
              <a:rPr lang="en-US" sz="2000" dirty="0"/>
              <a:t>(</a:t>
            </a:r>
            <a:r>
              <a:rPr lang="en-US" sz="2000" dirty="0">
                <a:solidFill>
                  <a:schemeClr val="accent1"/>
                </a:solidFill>
              </a:rPr>
              <a:t>service tickets </a:t>
            </a:r>
            <a:r>
              <a:rPr lang="en-US" sz="2000" dirty="0"/>
              <a:t>for user accounts, service tickets for service accounts)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A1621-55DA-5DD6-41DA-932B9A7C3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TGS requests must come to KDC with compound ID directly from clients</a:t>
            </a:r>
          </a:p>
          <a:p>
            <a:pPr lvl="1"/>
            <a:r>
              <a:rPr lang="en-US" sz="1600" dirty="0">
                <a:solidFill>
                  <a:schemeClr val="accent2"/>
                </a:solidFill>
              </a:rPr>
              <a:t>not by default</a:t>
            </a:r>
            <a:r>
              <a:rPr lang="en-US" sz="1600" dirty="0"/>
              <a:t>, only AS requests are compounded by default</a:t>
            </a:r>
          </a:p>
          <a:p>
            <a:pPr lvl="1"/>
            <a:r>
              <a:rPr lang="en-US" sz="1600" dirty="0"/>
              <a:t>enable 2 GPOs - </a:t>
            </a:r>
            <a:r>
              <a:rPr lang="en-US" sz="1600" dirty="0">
                <a:solidFill>
                  <a:schemeClr val="accent2"/>
                </a:solidFill>
              </a:rPr>
              <a:t>see next slides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KDC must encourage clients to send TGS requests with compound ID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600" dirty="0"/>
              <a:t>clients must be configured to use this functionality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6B4F8-7073-3B8C-F5E5-956D0212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1008"/>
            <a:ext cx="9144000" cy="23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00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8BCE-5D55-2DF4-ABDC-9F9C5326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KDC</a:t>
            </a:r>
            <a:r>
              <a:rPr lang="en-US" sz="2400" dirty="0"/>
              <a:t>'s </a:t>
            </a:r>
            <a:r>
              <a:rPr lang="en-US" sz="2400" dirty="0">
                <a:solidFill>
                  <a:schemeClr val="accent2"/>
                </a:solidFill>
              </a:rPr>
              <a:t>AS reply </a:t>
            </a:r>
            <a:r>
              <a:rPr lang="en-US" sz="2400" dirty="0"/>
              <a:t>may contain flag for </a:t>
            </a:r>
            <a:r>
              <a:rPr lang="en-US" sz="2400" dirty="0">
                <a:solidFill>
                  <a:schemeClr val="accent1"/>
                </a:solidFill>
              </a:rPr>
              <a:t>clients</a:t>
            </a:r>
            <a:r>
              <a:rPr lang="en-US" sz="2400" dirty="0"/>
              <a:t> to encourage compound TGS requests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149E2-AD63-479C-BBD7-59BD7A87D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7" y="1338811"/>
            <a:ext cx="6948264" cy="55191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568B04-198D-9AC1-716E-B5D65B4E9D75}"/>
              </a:ext>
            </a:extLst>
          </p:cNvPr>
          <p:cNvSpPr txBox="1"/>
          <p:nvPr/>
        </p:nvSpPr>
        <p:spPr>
          <a:xfrm>
            <a:off x="179512" y="4293096"/>
            <a:ext cx="2016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PA-FX-FAST in PADATA of AS </a:t>
            </a:r>
            <a:r>
              <a:rPr lang="en-US" sz="1600" dirty="0">
                <a:solidFill>
                  <a:schemeClr val="accent5"/>
                </a:solidFill>
              </a:rPr>
              <a:t>reply</a:t>
            </a:r>
            <a:r>
              <a:rPr lang="en-US" sz="1600" dirty="0">
                <a:solidFill>
                  <a:schemeClr val="accent2"/>
                </a:solidFill>
              </a:rPr>
              <a:t> from KDC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2F285-F38E-0545-4144-EFC13D11E051}"/>
              </a:ext>
            </a:extLst>
          </p:cNvPr>
          <p:cNvSpPr txBox="1"/>
          <p:nvPr/>
        </p:nvSpPr>
        <p:spPr>
          <a:xfrm>
            <a:off x="179512" y="5259280"/>
            <a:ext cx="201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Request compound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4049032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8BCE-5D55-2DF4-ABDC-9F9C5326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Every </a:t>
            </a:r>
            <a:r>
              <a:rPr lang="en-US" sz="2400" dirty="0">
                <a:solidFill>
                  <a:schemeClr val="accent2"/>
                </a:solidFill>
              </a:rPr>
              <a:t>Client</a:t>
            </a:r>
            <a:r>
              <a:rPr lang="en-US" sz="2400" dirty="0"/>
              <a:t>'s </a:t>
            </a:r>
            <a:r>
              <a:rPr lang="en-US" sz="2400" dirty="0">
                <a:solidFill>
                  <a:schemeClr val="accent2"/>
                </a:solidFill>
              </a:rPr>
              <a:t>TGS request</a:t>
            </a:r>
            <a:r>
              <a:rPr lang="en-US" sz="2400" dirty="0"/>
              <a:t> will contain compound 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68B04-198D-9AC1-716E-B5D65B4E9D75}"/>
              </a:ext>
            </a:extLst>
          </p:cNvPr>
          <p:cNvSpPr txBox="1"/>
          <p:nvPr/>
        </p:nvSpPr>
        <p:spPr>
          <a:xfrm>
            <a:off x="179512" y="2348880"/>
            <a:ext cx="2016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PA-FX-FAST in PADATA of TGS </a:t>
            </a:r>
            <a:r>
              <a:rPr lang="en-US" sz="1600" dirty="0">
                <a:solidFill>
                  <a:schemeClr val="accent5"/>
                </a:solidFill>
              </a:rPr>
              <a:t>requests</a:t>
            </a:r>
            <a:r>
              <a:rPr lang="en-US" sz="1600" dirty="0">
                <a:solidFill>
                  <a:schemeClr val="accent2"/>
                </a:solidFill>
              </a:rPr>
              <a:t> from client to KDC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92A3C-0388-EEE9-1C36-D085C9B01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33" y="1628800"/>
            <a:ext cx="6972267" cy="522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DD08AE-418D-DD63-5E8E-AA083BE4ED94}"/>
              </a:ext>
            </a:extLst>
          </p:cNvPr>
          <p:cNvSpPr txBox="1"/>
          <p:nvPr/>
        </p:nvSpPr>
        <p:spPr>
          <a:xfrm>
            <a:off x="179512" y="5259280"/>
            <a:ext cx="2016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Always send compound authentication first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B0225-DEDD-EAE3-3973-37DFFFFCB460}"/>
              </a:ext>
            </a:extLst>
          </p:cNvPr>
          <p:cNvSpPr txBox="1"/>
          <p:nvPr/>
        </p:nvSpPr>
        <p:spPr>
          <a:xfrm>
            <a:off x="179511" y="3506736"/>
            <a:ext cx="20162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</a:rPr>
              <a:t>does not work without the previous setting</a:t>
            </a:r>
            <a:r>
              <a:rPr lang="en-US" sz="1600" dirty="0">
                <a:solidFill>
                  <a:schemeClr val="accent2"/>
                </a:solidFill>
              </a:rPr>
              <a:t> encouraging clients to do it with a flag inside AS </a:t>
            </a:r>
            <a:r>
              <a:rPr lang="en-US" sz="1600" dirty="0">
                <a:solidFill>
                  <a:schemeClr val="accent5"/>
                </a:solidFill>
              </a:rPr>
              <a:t>reply</a:t>
            </a:r>
          </a:p>
        </p:txBody>
      </p:sp>
    </p:spTree>
    <p:extLst>
      <p:ext uri="{BB962C8B-B14F-4D97-AF65-F5344CB8AC3E}">
        <p14:creationId xmlns:p14="http://schemas.microsoft.com/office/powerpoint/2010/main" val="3092921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authentication to servers must be enabled on </a:t>
            </a:r>
            <a:r>
              <a:rPr lang="en-US" dirty="0">
                <a:solidFill>
                  <a:schemeClr val="accent1"/>
                </a:solidFill>
              </a:rPr>
              <a:t>target</a:t>
            </a:r>
            <a:r>
              <a:rPr lang="en-US" dirty="0"/>
              <a:t> accounts (TGS)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996952"/>
            <a:ext cx="6665371" cy="37444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65" y="1700808"/>
            <a:ext cx="5296110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254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KDC proxy for Kerberos clients (8/2012+)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trusted HTTPS required on KDC Proxy</a:t>
            </a:r>
          </a:p>
          <a:p>
            <a:pPr lvl="1"/>
            <a:r>
              <a:rPr lang="en-US" sz="1800" dirty="0"/>
              <a:t>Windows Server 2012+</a:t>
            </a:r>
          </a:p>
          <a:p>
            <a:pPr lvl="1"/>
            <a:r>
              <a:rPr lang="en-US" sz="1800" dirty="0" err="1">
                <a:solidFill>
                  <a:schemeClr val="accent1"/>
                </a:solidFill>
              </a:rPr>
              <a:t>netsh</a:t>
            </a:r>
            <a:r>
              <a:rPr lang="en-US" sz="1800" dirty="0">
                <a:solidFill>
                  <a:schemeClr val="accent1"/>
                </a:solidFill>
              </a:rPr>
              <a:t> http add </a:t>
            </a:r>
            <a:r>
              <a:rPr lang="en-US" sz="1800" dirty="0" err="1">
                <a:solidFill>
                  <a:schemeClr val="accent1"/>
                </a:solidFill>
              </a:rPr>
              <a:t>urlacl</a:t>
            </a:r>
            <a:r>
              <a:rPr lang="en-US" sz="1800" dirty="0">
                <a:solidFill>
                  <a:schemeClr val="accent1"/>
                </a:solidFill>
              </a:rPr>
              <a:t> https://+:443/KdcProxy "user=Network Service"</a:t>
            </a:r>
          </a:p>
          <a:p>
            <a:pPr lvl="1"/>
            <a:r>
              <a:rPr lang="en-US" sz="1800" dirty="0" err="1">
                <a:solidFill>
                  <a:schemeClr val="accent1"/>
                </a:solidFill>
              </a:rPr>
              <a:t>netsh</a:t>
            </a:r>
            <a:r>
              <a:rPr lang="en-US" sz="1800" dirty="0">
                <a:solidFill>
                  <a:schemeClr val="accent1"/>
                </a:solidFill>
              </a:rPr>
              <a:t> http add </a:t>
            </a:r>
            <a:r>
              <a:rPr lang="en-US" sz="1800" dirty="0" err="1">
                <a:solidFill>
                  <a:schemeClr val="accent1"/>
                </a:solidFill>
              </a:rPr>
              <a:t>sslcert</a:t>
            </a:r>
            <a:r>
              <a:rPr lang="en-US" sz="1800" dirty="0">
                <a:solidFill>
                  <a:schemeClr val="accent1"/>
                </a:solidFill>
              </a:rPr>
              <a:t> ...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3" y="3140968"/>
            <a:ext cx="7679285" cy="37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80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GOLD</a:t>
            </a:r>
            <a:r>
              <a:rPr lang="en-US" dirty="0"/>
              <a:t> production forests and </a:t>
            </a:r>
            <a:r>
              <a:rPr lang="en-US" dirty="0">
                <a:solidFill>
                  <a:schemeClr val="accent4"/>
                </a:solidFill>
              </a:rPr>
              <a:t>RED</a:t>
            </a:r>
            <a:r>
              <a:rPr lang="en-US" dirty="0"/>
              <a:t> forest</a:t>
            </a:r>
            <a:endParaRPr lang="cs-CZ" dirty="0"/>
          </a:p>
        </p:txBody>
      </p:sp>
      <p:sp>
        <p:nvSpPr>
          <p:cNvPr id="4" name="Isosceles Triangle 3"/>
          <p:cNvSpPr/>
          <p:nvPr/>
        </p:nvSpPr>
        <p:spPr>
          <a:xfrm>
            <a:off x="671247" y="1628800"/>
            <a:ext cx="2255290" cy="1944216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gold1.forest</a:t>
            </a:r>
            <a:endParaRPr lang="cs-CZ" sz="1400" dirty="0"/>
          </a:p>
        </p:txBody>
      </p:sp>
      <p:sp>
        <p:nvSpPr>
          <p:cNvPr id="5" name="Isosceles Triangle 4"/>
          <p:cNvSpPr/>
          <p:nvPr/>
        </p:nvSpPr>
        <p:spPr>
          <a:xfrm>
            <a:off x="611560" y="3255076"/>
            <a:ext cx="2255290" cy="1944216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gold3.forest</a:t>
            </a:r>
            <a:endParaRPr lang="cs-CZ" sz="1400" dirty="0"/>
          </a:p>
        </p:txBody>
      </p:sp>
      <p:sp>
        <p:nvSpPr>
          <p:cNvPr id="11" name="Isosceles Triangle 10"/>
          <p:cNvSpPr/>
          <p:nvPr/>
        </p:nvSpPr>
        <p:spPr>
          <a:xfrm>
            <a:off x="6156176" y="1814916"/>
            <a:ext cx="2255290" cy="1944216"/>
          </a:xfrm>
          <a:prstGeom prst="triangl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red.forest</a:t>
            </a:r>
            <a:endParaRPr lang="cs-CZ" sz="1400" dirty="0"/>
          </a:p>
        </p:txBody>
      </p:sp>
      <p:sp>
        <p:nvSpPr>
          <p:cNvPr id="13" name="Right Arrow 12"/>
          <p:cNvSpPr/>
          <p:nvPr/>
        </p:nvSpPr>
        <p:spPr>
          <a:xfrm>
            <a:off x="2051720" y="2542284"/>
            <a:ext cx="5184575" cy="24727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5" name="Right Arrow 14"/>
          <p:cNvSpPr/>
          <p:nvPr/>
        </p:nvSpPr>
        <p:spPr>
          <a:xfrm rot="20436252">
            <a:off x="2200800" y="3916162"/>
            <a:ext cx="4737214" cy="24727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Isosceles Triangle 5"/>
          <p:cNvSpPr/>
          <p:nvPr/>
        </p:nvSpPr>
        <p:spPr>
          <a:xfrm>
            <a:off x="1800333" y="2431740"/>
            <a:ext cx="2255290" cy="1944216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gold2.forest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 rot="21045766">
            <a:off x="3048253" y="3109351"/>
            <a:ext cx="4132142" cy="24727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8" name="Rectangle 17"/>
          <p:cNvSpPr/>
          <p:nvPr/>
        </p:nvSpPr>
        <p:spPr>
          <a:xfrm>
            <a:off x="3851920" y="1955966"/>
            <a:ext cx="1512168" cy="6946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one-way</a:t>
            </a:r>
            <a:br>
              <a:rPr lang="en-US" sz="1200" dirty="0"/>
            </a:br>
            <a:r>
              <a:rPr lang="en-US" sz="1200" dirty="0"/>
              <a:t>forest</a:t>
            </a:r>
            <a:br>
              <a:rPr lang="en-US" sz="1200" dirty="0"/>
            </a:br>
            <a:r>
              <a:rPr lang="en-US" sz="1200" dirty="0"/>
              <a:t>PIM trust</a:t>
            </a:r>
            <a:endParaRPr lang="cs-CZ" sz="1200" dirty="0"/>
          </a:p>
        </p:txBody>
      </p:sp>
      <p:sp>
        <p:nvSpPr>
          <p:cNvPr id="19" name="Oval 18"/>
          <p:cNvSpPr/>
          <p:nvPr/>
        </p:nvSpPr>
        <p:spPr>
          <a:xfrm>
            <a:off x="1537996" y="5073341"/>
            <a:ext cx="1152128" cy="43204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servers</a:t>
            </a:r>
            <a:endParaRPr lang="cs-CZ" sz="1200" dirty="0"/>
          </a:p>
        </p:txBody>
      </p:sp>
      <p:sp>
        <p:nvSpPr>
          <p:cNvPr id="20" name="Oval 19"/>
          <p:cNvSpPr/>
          <p:nvPr/>
        </p:nvSpPr>
        <p:spPr>
          <a:xfrm>
            <a:off x="1124856" y="5415316"/>
            <a:ext cx="1152128" cy="43204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services</a:t>
            </a:r>
            <a:endParaRPr lang="cs-CZ" sz="1200" dirty="0"/>
          </a:p>
        </p:txBody>
      </p:sp>
      <p:sp>
        <p:nvSpPr>
          <p:cNvPr id="21" name="Oval 20"/>
          <p:cNvSpPr/>
          <p:nvPr/>
        </p:nvSpPr>
        <p:spPr>
          <a:xfrm>
            <a:off x="2350473" y="5272954"/>
            <a:ext cx="1152128" cy="5744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business accounts</a:t>
            </a:r>
            <a:endParaRPr lang="cs-CZ" sz="1200" dirty="0"/>
          </a:p>
        </p:txBody>
      </p:sp>
      <p:sp>
        <p:nvSpPr>
          <p:cNvPr id="22" name="Oval 21"/>
          <p:cNvSpPr/>
          <p:nvPr/>
        </p:nvSpPr>
        <p:spPr>
          <a:xfrm>
            <a:off x="7522768" y="2045968"/>
            <a:ext cx="1152128" cy="100220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RED admin accounts</a:t>
            </a:r>
            <a:endParaRPr lang="cs-CZ" sz="1200" dirty="0"/>
          </a:p>
        </p:txBody>
      </p:sp>
      <p:sp>
        <p:nvSpPr>
          <p:cNvPr id="23" name="Oval 22"/>
          <p:cNvSpPr/>
          <p:nvPr/>
        </p:nvSpPr>
        <p:spPr>
          <a:xfrm>
            <a:off x="6084167" y="3661904"/>
            <a:ext cx="1152128" cy="100220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GOLD1 admin accounts</a:t>
            </a:r>
            <a:endParaRPr lang="cs-CZ" sz="1200" dirty="0"/>
          </a:p>
        </p:txBody>
      </p:sp>
      <p:sp>
        <p:nvSpPr>
          <p:cNvPr id="24" name="Oval 23"/>
          <p:cNvSpPr/>
          <p:nvPr/>
        </p:nvSpPr>
        <p:spPr>
          <a:xfrm>
            <a:off x="6558772" y="4097360"/>
            <a:ext cx="1152128" cy="100220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GOLD2</a:t>
            </a:r>
          </a:p>
          <a:p>
            <a:pPr algn="ctr"/>
            <a:r>
              <a:rPr lang="en-US" sz="1200" dirty="0"/>
              <a:t>admin accounts</a:t>
            </a:r>
            <a:endParaRPr lang="cs-CZ" sz="1200" dirty="0"/>
          </a:p>
        </p:txBody>
      </p:sp>
      <p:sp>
        <p:nvSpPr>
          <p:cNvPr id="25" name="Oval 24"/>
          <p:cNvSpPr/>
          <p:nvPr/>
        </p:nvSpPr>
        <p:spPr>
          <a:xfrm>
            <a:off x="7092280" y="4515029"/>
            <a:ext cx="1152128" cy="100220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GOLD3 admin accounts</a:t>
            </a:r>
            <a:endParaRPr lang="cs-CZ" sz="1200" dirty="0"/>
          </a:p>
        </p:txBody>
      </p:sp>
      <p:sp>
        <p:nvSpPr>
          <p:cNvPr id="26" name="Right Arrow 25"/>
          <p:cNvSpPr/>
          <p:nvPr/>
        </p:nvSpPr>
        <p:spPr>
          <a:xfrm rot="10480282">
            <a:off x="3400033" y="4866733"/>
            <a:ext cx="3060735" cy="24727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7" name="Rectangle 26"/>
          <p:cNvSpPr/>
          <p:nvPr/>
        </p:nvSpPr>
        <p:spPr>
          <a:xfrm>
            <a:off x="4289890" y="5062734"/>
            <a:ext cx="1512168" cy="3525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administration</a:t>
            </a:r>
            <a:endParaRPr lang="cs-CZ" sz="1200" dirty="0"/>
          </a:p>
        </p:txBody>
      </p:sp>
      <p:sp>
        <p:nvSpPr>
          <p:cNvPr id="28" name="Rectangle 27"/>
          <p:cNvSpPr/>
          <p:nvPr/>
        </p:nvSpPr>
        <p:spPr>
          <a:xfrm>
            <a:off x="7918812" y="2932402"/>
            <a:ext cx="767988" cy="3525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admin</a:t>
            </a:r>
            <a:endParaRPr lang="cs-CZ" sz="1200" dirty="0"/>
          </a:p>
        </p:txBody>
      </p:sp>
      <p:sp>
        <p:nvSpPr>
          <p:cNvPr id="29" name="Oval 28"/>
          <p:cNvSpPr/>
          <p:nvPr/>
        </p:nvSpPr>
        <p:spPr>
          <a:xfrm>
            <a:off x="1737665" y="5745252"/>
            <a:ext cx="1152128" cy="5744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low-level privileged accounts</a:t>
            </a:r>
            <a:endParaRPr lang="cs-CZ" sz="1050" dirty="0"/>
          </a:p>
        </p:txBody>
      </p:sp>
    </p:spTree>
    <p:extLst>
      <p:ext uri="{BB962C8B-B14F-4D97-AF65-F5344CB8AC3E}">
        <p14:creationId xmlns:p14="http://schemas.microsoft.com/office/powerpoint/2010/main" val="2558997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principals / groups</a:t>
            </a:r>
            <a:endParaRPr lang="cs-CZ" dirty="0"/>
          </a:p>
        </p:txBody>
      </p:sp>
      <p:sp>
        <p:nvSpPr>
          <p:cNvPr id="4" name="Isosceles Triangle 3"/>
          <p:cNvSpPr/>
          <p:nvPr/>
        </p:nvSpPr>
        <p:spPr>
          <a:xfrm>
            <a:off x="528712" y="1628800"/>
            <a:ext cx="2255290" cy="1944216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gold1.forest</a:t>
            </a:r>
            <a:endParaRPr lang="cs-CZ" sz="1400" dirty="0"/>
          </a:p>
        </p:txBody>
      </p:sp>
      <p:sp>
        <p:nvSpPr>
          <p:cNvPr id="5" name="Isosceles Triangle 4"/>
          <p:cNvSpPr/>
          <p:nvPr/>
        </p:nvSpPr>
        <p:spPr>
          <a:xfrm>
            <a:off x="469025" y="3255076"/>
            <a:ext cx="2255290" cy="1944216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gold3.forest</a:t>
            </a:r>
            <a:endParaRPr lang="cs-CZ" sz="1400" dirty="0"/>
          </a:p>
        </p:txBody>
      </p:sp>
      <p:sp>
        <p:nvSpPr>
          <p:cNvPr id="11" name="Isosceles Triangle 10"/>
          <p:cNvSpPr/>
          <p:nvPr/>
        </p:nvSpPr>
        <p:spPr>
          <a:xfrm>
            <a:off x="6379990" y="1814916"/>
            <a:ext cx="2255290" cy="1944216"/>
          </a:xfrm>
          <a:prstGeom prst="triangl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red.forest</a:t>
            </a:r>
            <a:endParaRPr lang="cs-CZ" sz="1400" dirty="0"/>
          </a:p>
        </p:txBody>
      </p:sp>
      <p:sp>
        <p:nvSpPr>
          <p:cNvPr id="6" name="Isosceles Triangle 5"/>
          <p:cNvSpPr/>
          <p:nvPr/>
        </p:nvSpPr>
        <p:spPr>
          <a:xfrm>
            <a:off x="1657798" y="2431740"/>
            <a:ext cx="2255290" cy="1944216"/>
          </a:xfrm>
          <a:prstGeom prst="triangl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gold2.forest</a:t>
            </a:r>
            <a:endParaRPr lang="cs-CZ" sz="1400" dirty="0"/>
          </a:p>
        </p:txBody>
      </p:sp>
      <p:sp>
        <p:nvSpPr>
          <p:cNvPr id="19" name="Oval 18"/>
          <p:cNvSpPr/>
          <p:nvPr/>
        </p:nvSpPr>
        <p:spPr>
          <a:xfrm>
            <a:off x="664660" y="5073341"/>
            <a:ext cx="1152128" cy="43204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servers</a:t>
            </a:r>
            <a:endParaRPr lang="cs-CZ" sz="1200" dirty="0"/>
          </a:p>
        </p:txBody>
      </p:sp>
      <p:sp>
        <p:nvSpPr>
          <p:cNvPr id="20" name="Oval 19"/>
          <p:cNvSpPr/>
          <p:nvPr/>
        </p:nvSpPr>
        <p:spPr>
          <a:xfrm>
            <a:off x="251520" y="5415316"/>
            <a:ext cx="1152128" cy="43204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services</a:t>
            </a:r>
            <a:endParaRPr lang="cs-CZ" sz="1200" dirty="0"/>
          </a:p>
        </p:txBody>
      </p:sp>
      <p:sp>
        <p:nvSpPr>
          <p:cNvPr id="21" name="Oval 20"/>
          <p:cNvSpPr/>
          <p:nvPr/>
        </p:nvSpPr>
        <p:spPr>
          <a:xfrm>
            <a:off x="1477137" y="5272954"/>
            <a:ext cx="1152128" cy="5744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business accounts</a:t>
            </a:r>
            <a:endParaRPr lang="cs-CZ" sz="1200" dirty="0"/>
          </a:p>
        </p:txBody>
      </p:sp>
      <p:sp>
        <p:nvSpPr>
          <p:cNvPr id="22" name="Oval 21"/>
          <p:cNvSpPr/>
          <p:nvPr/>
        </p:nvSpPr>
        <p:spPr>
          <a:xfrm>
            <a:off x="7740352" y="3357030"/>
            <a:ext cx="1152128" cy="100220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RED admin accounts</a:t>
            </a:r>
            <a:endParaRPr lang="cs-CZ" sz="1050" dirty="0"/>
          </a:p>
        </p:txBody>
      </p:sp>
      <p:sp>
        <p:nvSpPr>
          <p:cNvPr id="23" name="Oval 22"/>
          <p:cNvSpPr/>
          <p:nvPr/>
        </p:nvSpPr>
        <p:spPr>
          <a:xfrm>
            <a:off x="5630458" y="1364621"/>
            <a:ext cx="1152128" cy="100220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GOLD1 admin accounts</a:t>
            </a:r>
            <a:endParaRPr lang="cs-CZ" sz="1050" dirty="0"/>
          </a:p>
        </p:txBody>
      </p:sp>
      <p:sp>
        <p:nvSpPr>
          <p:cNvPr id="24" name="Oval 23"/>
          <p:cNvSpPr/>
          <p:nvPr/>
        </p:nvSpPr>
        <p:spPr>
          <a:xfrm>
            <a:off x="5838692" y="2457662"/>
            <a:ext cx="1152128" cy="100220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GOLD2</a:t>
            </a:r>
          </a:p>
          <a:p>
            <a:pPr algn="ctr"/>
            <a:r>
              <a:rPr lang="en-US" sz="1050" dirty="0"/>
              <a:t>admin accounts</a:t>
            </a:r>
            <a:endParaRPr lang="cs-CZ" sz="1050" dirty="0"/>
          </a:p>
        </p:txBody>
      </p:sp>
      <p:sp>
        <p:nvSpPr>
          <p:cNvPr id="25" name="Oval 24"/>
          <p:cNvSpPr/>
          <p:nvPr/>
        </p:nvSpPr>
        <p:spPr>
          <a:xfrm>
            <a:off x="6091958" y="3550703"/>
            <a:ext cx="1152128" cy="100220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GOLD3 admin accounts</a:t>
            </a:r>
            <a:endParaRPr lang="cs-CZ" sz="1050" dirty="0"/>
          </a:p>
        </p:txBody>
      </p:sp>
      <p:sp>
        <p:nvSpPr>
          <p:cNvPr id="28" name="Oval 27"/>
          <p:cNvSpPr/>
          <p:nvPr/>
        </p:nvSpPr>
        <p:spPr>
          <a:xfrm>
            <a:off x="4329879" y="1241620"/>
            <a:ext cx="1152128" cy="100220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GOLD1 Domain Admins</a:t>
            </a:r>
            <a:endParaRPr lang="cs-CZ" sz="1050" dirty="0"/>
          </a:p>
        </p:txBody>
      </p:sp>
      <p:sp>
        <p:nvSpPr>
          <p:cNvPr id="29" name="Oval 28"/>
          <p:cNvSpPr/>
          <p:nvPr/>
        </p:nvSpPr>
        <p:spPr>
          <a:xfrm>
            <a:off x="4584023" y="2480813"/>
            <a:ext cx="1152128" cy="100220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GOLD2 Enterprise Admins</a:t>
            </a:r>
            <a:endParaRPr lang="cs-CZ" sz="1050" dirty="0"/>
          </a:p>
        </p:txBody>
      </p:sp>
      <p:sp>
        <p:nvSpPr>
          <p:cNvPr id="30" name="Oval 29"/>
          <p:cNvSpPr/>
          <p:nvPr/>
        </p:nvSpPr>
        <p:spPr>
          <a:xfrm>
            <a:off x="4875634" y="3956996"/>
            <a:ext cx="1152128" cy="100220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GOLD3</a:t>
            </a:r>
          </a:p>
          <a:p>
            <a:pPr algn="ctr"/>
            <a:r>
              <a:rPr lang="en-US" sz="1050" dirty="0"/>
              <a:t>App Admins</a:t>
            </a:r>
            <a:endParaRPr lang="cs-CZ" sz="1050" dirty="0"/>
          </a:p>
        </p:txBody>
      </p:sp>
      <p:sp>
        <p:nvSpPr>
          <p:cNvPr id="31" name="Oval 30"/>
          <p:cNvSpPr/>
          <p:nvPr/>
        </p:nvSpPr>
        <p:spPr>
          <a:xfrm>
            <a:off x="5533843" y="4604867"/>
            <a:ext cx="1152128" cy="1002203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GOLD3</a:t>
            </a:r>
          </a:p>
          <a:p>
            <a:pPr algn="ctr"/>
            <a:r>
              <a:rPr lang="en-US" sz="1050" dirty="0"/>
              <a:t>Data Admins</a:t>
            </a:r>
            <a:endParaRPr lang="cs-CZ" sz="1050" dirty="0"/>
          </a:p>
        </p:txBody>
      </p:sp>
      <p:cxnSp>
        <p:nvCxnSpPr>
          <p:cNvPr id="7" name="Straight Connector 6"/>
          <p:cNvCxnSpPr>
            <a:stCxn id="28" idx="6"/>
            <a:endCxn id="23" idx="2"/>
          </p:cNvCxnSpPr>
          <p:nvPr/>
        </p:nvCxnSpPr>
        <p:spPr>
          <a:xfrm>
            <a:off x="5482007" y="1742722"/>
            <a:ext cx="148451" cy="12300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2" name="Straight Connector 31"/>
          <p:cNvCxnSpPr>
            <a:stCxn id="29" idx="6"/>
            <a:endCxn id="24" idx="2"/>
          </p:cNvCxnSpPr>
          <p:nvPr/>
        </p:nvCxnSpPr>
        <p:spPr>
          <a:xfrm flipV="1">
            <a:off x="5736151" y="2958764"/>
            <a:ext cx="102541" cy="23151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3" name="Straight Connector 32"/>
          <p:cNvCxnSpPr>
            <a:stCxn id="30" idx="7"/>
            <a:endCxn id="25" idx="2"/>
          </p:cNvCxnSpPr>
          <p:nvPr/>
        </p:nvCxnSpPr>
        <p:spPr>
          <a:xfrm flipV="1">
            <a:off x="5859037" y="4051805"/>
            <a:ext cx="232921" cy="5196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34" name="Straight Connector 33"/>
          <p:cNvCxnSpPr>
            <a:stCxn id="31" idx="0"/>
            <a:endCxn id="25" idx="3"/>
          </p:cNvCxnSpPr>
          <p:nvPr/>
        </p:nvCxnSpPr>
        <p:spPr>
          <a:xfrm flipV="1">
            <a:off x="6109907" y="4406137"/>
            <a:ext cx="150776" cy="198730"/>
          </a:xfrm>
          <a:prstGeom prst="lin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39" name="Oval 38"/>
          <p:cNvSpPr/>
          <p:nvPr/>
        </p:nvSpPr>
        <p:spPr>
          <a:xfrm>
            <a:off x="819397" y="1364621"/>
            <a:ext cx="1152128" cy="100220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GOLD1 Domain Admins</a:t>
            </a:r>
            <a:endParaRPr lang="cs-CZ" sz="1050" dirty="0"/>
          </a:p>
        </p:txBody>
      </p:sp>
      <p:sp>
        <p:nvSpPr>
          <p:cNvPr id="40" name="Oval 39"/>
          <p:cNvSpPr/>
          <p:nvPr/>
        </p:nvSpPr>
        <p:spPr>
          <a:xfrm>
            <a:off x="2670629" y="2583233"/>
            <a:ext cx="1152128" cy="100220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GOLD2 Enterprise Admins</a:t>
            </a:r>
            <a:endParaRPr lang="cs-CZ" sz="1050" dirty="0"/>
          </a:p>
        </p:txBody>
      </p:sp>
      <p:sp>
        <p:nvSpPr>
          <p:cNvPr id="41" name="Oval 40"/>
          <p:cNvSpPr/>
          <p:nvPr/>
        </p:nvSpPr>
        <p:spPr>
          <a:xfrm>
            <a:off x="2546052" y="4622605"/>
            <a:ext cx="1152128" cy="100220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GOLD3 App Admins</a:t>
            </a:r>
            <a:endParaRPr lang="cs-CZ" sz="1050" dirty="0"/>
          </a:p>
        </p:txBody>
      </p:sp>
      <p:sp>
        <p:nvSpPr>
          <p:cNvPr id="42" name="Oval 41"/>
          <p:cNvSpPr/>
          <p:nvPr/>
        </p:nvSpPr>
        <p:spPr>
          <a:xfrm>
            <a:off x="3065781" y="5381842"/>
            <a:ext cx="1152128" cy="100220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GOLD3</a:t>
            </a:r>
          </a:p>
          <a:p>
            <a:pPr algn="ctr"/>
            <a:r>
              <a:rPr lang="en-US" sz="1050" dirty="0"/>
              <a:t>Data Admins</a:t>
            </a:r>
            <a:endParaRPr lang="cs-CZ" sz="1050" dirty="0"/>
          </a:p>
        </p:txBody>
      </p:sp>
      <p:cxnSp>
        <p:nvCxnSpPr>
          <p:cNvPr id="46" name="Straight Arrow Connector 45"/>
          <p:cNvCxnSpPr>
            <a:stCxn id="28" idx="2"/>
            <a:endCxn id="39" idx="6"/>
          </p:cNvCxnSpPr>
          <p:nvPr/>
        </p:nvCxnSpPr>
        <p:spPr>
          <a:xfrm flipH="1">
            <a:off x="1971525" y="1742722"/>
            <a:ext cx="2358354" cy="123001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47" name="Straight Arrow Connector 46"/>
          <p:cNvCxnSpPr>
            <a:stCxn id="29" idx="2"/>
            <a:endCxn id="40" idx="6"/>
          </p:cNvCxnSpPr>
          <p:nvPr/>
        </p:nvCxnSpPr>
        <p:spPr>
          <a:xfrm flipH="1">
            <a:off x="3822757" y="2981915"/>
            <a:ext cx="761266" cy="10242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0" name="Straight Arrow Connector 49"/>
          <p:cNvCxnSpPr>
            <a:stCxn id="30" idx="2"/>
            <a:endCxn id="41" idx="6"/>
          </p:cNvCxnSpPr>
          <p:nvPr/>
        </p:nvCxnSpPr>
        <p:spPr>
          <a:xfrm flipH="1">
            <a:off x="3698180" y="4458098"/>
            <a:ext cx="1177454" cy="665609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3" name="Straight Arrow Connector 52"/>
          <p:cNvCxnSpPr>
            <a:stCxn id="31" idx="3"/>
            <a:endCxn id="42" idx="6"/>
          </p:cNvCxnSpPr>
          <p:nvPr/>
        </p:nvCxnSpPr>
        <p:spPr>
          <a:xfrm flipH="1">
            <a:off x="4217909" y="5460301"/>
            <a:ext cx="1484659" cy="422643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56" name="Oval 55"/>
          <p:cNvSpPr/>
          <p:nvPr/>
        </p:nvSpPr>
        <p:spPr>
          <a:xfrm>
            <a:off x="3833045" y="6161003"/>
            <a:ext cx="658489" cy="35127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S-3-2</a:t>
            </a:r>
            <a:endParaRPr lang="cs-CZ" sz="800" dirty="0"/>
          </a:p>
        </p:txBody>
      </p:sp>
      <p:sp>
        <p:nvSpPr>
          <p:cNvPr id="57" name="Oval 56"/>
          <p:cNvSpPr/>
          <p:nvPr/>
        </p:nvSpPr>
        <p:spPr>
          <a:xfrm>
            <a:off x="6300192" y="5384521"/>
            <a:ext cx="658489" cy="35127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S-3-2</a:t>
            </a:r>
            <a:endParaRPr lang="cs-CZ" sz="800" dirty="0"/>
          </a:p>
        </p:txBody>
      </p:sp>
      <p:sp>
        <p:nvSpPr>
          <p:cNvPr id="58" name="Oval 57"/>
          <p:cNvSpPr/>
          <p:nvPr/>
        </p:nvSpPr>
        <p:spPr>
          <a:xfrm>
            <a:off x="4561583" y="3890113"/>
            <a:ext cx="658489" cy="35127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S-3-1</a:t>
            </a:r>
            <a:endParaRPr lang="cs-CZ" sz="800" dirty="0"/>
          </a:p>
        </p:txBody>
      </p:sp>
      <p:sp>
        <p:nvSpPr>
          <p:cNvPr id="59" name="Oval 58"/>
          <p:cNvSpPr/>
          <p:nvPr/>
        </p:nvSpPr>
        <p:spPr>
          <a:xfrm>
            <a:off x="3203848" y="4517884"/>
            <a:ext cx="658489" cy="35127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S-3-1</a:t>
            </a:r>
            <a:endParaRPr lang="cs-CZ" sz="800" dirty="0"/>
          </a:p>
        </p:txBody>
      </p:sp>
      <p:sp>
        <p:nvSpPr>
          <p:cNvPr id="35" name="Oval 34"/>
          <p:cNvSpPr/>
          <p:nvPr/>
        </p:nvSpPr>
        <p:spPr>
          <a:xfrm>
            <a:off x="864329" y="5735797"/>
            <a:ext cx="1152128" cy="57441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low-level privileged accounts</a:t>
            </a:r>
            <a:endParaRPr lang="cs-CZ" sz="1050" dirty="0"/>
          </a:p>
        </p:txBody>
      </p:sp>
    </p:spTree>
    <p:extLst>
      <p:ext uri="{BB962C8B-B14F-4D97-AF65-F5344CB8AC3E}">
        <p14:creationId xmlns:p14="http://schemas.microsoft.com/office/powerpoint/2010/main" val="2781609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SIDs overview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built-in SIDs</a:t>
            </a:r>
          </a:p>
          <a:p>
            <a:pPr lvl="1"/>
            <a:r>
              <a:rPr lang="en-US" dirty="0"/>
              <a:t>S-1-1-0 Everyone</a:t>
            </a:r>
          </a:p>
          <a:p>
            <a:pPr lvl="1"/>
            <a:r>
              <a:rPr lang="en-US" dirty="0"/>
              <a:t>S-1-5-11 Authenticated Users</a:t>
            </a:r>
          </a:p>
          <a:p>
            <a:pPr lvl="1"/>
            <a:r>
              <a:rPr lang="en-US" dirty="0"/>
              <a:t>S-1-5-4 Interactive</a:t>
            </a:r>
          </a:p>
          <a:p>
            <a:pPr lvl="1"/>
            <a:r>
              <a:rPr lang="en-US" dirty="0"/>
              <a:t>S-1-5-2 Network</a:t>
            </a:r>
          </a:p>
          <a:p>
            <a:pPr lvl="1"/>
            <a:r>
              <a:rPr lang="en-US" dirty="0"/>
              <a:t>S-1-5-6 Service</a:t>
            </a:r>
          </a:p>
          <a:p>
            <a:pPr lvl="1"/>
            <a:r>
              <a:rPr lang="en-US" dirty="0"/>
              <a:t>S-1-5-18 SYSTEM</a:t>
            </a:r>
          </a:p>
          <a:p>
            <a:pPr lvl="1"/>
            <a:r>
              <a:rPr lang="en-US" dirty="0"/>
              <a:t>S-1-5-20 Network Service</a:t>
            </a:r>
          </a:p>
          <a:p>
            <a:pPr lvl="1"/>
            <a:r>
              <a:rPr lang="en-US" dirty="0"/>
              <a:t>S-1-5-32-544 Administrators (the group)</a:t>
            </a:r>
          </a:p>
          <a:p>
            <a:pPr lvl="1"/>
            <a:r>
              <a:rPr lang="en-US" dirty="0"/>
              <a:t>S-1-5-32-550 Print Operators</a:t>
            </a:r>
          </a:p>
          <a:p>
            <a:pPr lvl="1"/>
            <a:r>
              <a:rPr lang="en-US" dirty="0"/>
              <a:t>S-1-5-32-548 Account Operators</a:t>
            </a:r>
          </a:p>
          <a:p>
            <a:pPr lvl="1"/>
            <a:r>
              <a:rPr lang="en-US" dirty="0"/>
              <a:t>...</a:t>
            </a:r>
          </a:p>
          <a:p>
            <a:r>
              <a:rPr lang="en-US" dirty="0"/>
              <a:t>well-known SIDs (S-1-5-21-domain-domain-domain-5xx)</a:t>
            </a:r>
          </a:p>
          <a:p>
            <a:pPr lvl="1"/>
            <a:r>
              <a:rPr lang="en-US" dirty="0"/>
              <a:t>-500 Administrator (the user)</a:t>
            </a:r>
          </a:p>
          <a:p>
            <a:pPr lvl="1"/>
            <a:r>
              <a:rPr lang="en-US" dirty="0"/>
              <a:t>-512 Domain Admins</a:t>
            </a:r>
          </a:p>
          <a:p>
            <a:pPr lvl="1"/>
            <a:r>
              <a:rPr lang="en-US" dirty="0"/>
              <a:t>-519 Enterprise Admins</a:t>
            </a:r>
          </a:p>
          <a:p>
            <a:pPr lvl="1"/>
            <a:r>
              <a:rPr lang="en-US" dirty="0"/>
              <a:t>-513 Domain Users</a:t>
            </a:r>
          </a:p>
          <a:p>
            <a:pPr lvl="1"/>
            <a:r>
              <a:rPr lang="en-US" dirty="0"/>
              <a:t>-515 Domain Computers</a:t>
            </a:r>
          </a:p>
          <a:p>
            <a:pPr lvl="1"/>
            <a:r>
              <a:rPr lang="en-US" dirty="0"/>
              <a:t>-516 Domain Controllers</a:t>
            </a:r>
          </a:p>
          <a:p>
            <a:pPr lvl="1"/>
            <a:r>
              <a:rPr lang="en-US" dirty="0"/>
              <a:t>-520 Group Policy Creator Owners</a:t>
            </a:r>
          </a:p>
          <a:p>
            <a:pPr lvl="1"/>
            <a:r>
              <a:rPr lang="en-US" dirty="0"/>
              <a:t>...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86226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Notes on SID</a:t>
            </a:r>
            <a:r>
              <a:rPr lang="en-US" dirty="0"/>
              <a:t> filtering (external trust)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external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outbound trust (default)</a:t>
            </a:r>
          </a:p>
          <a:p>
            <a:pPr marL="457200" lvl="1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trust </a:t>
            </a:r>
            <a:r>
              <a:rPr lang="en-US" sz="1400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domain: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/add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oneSide:trusting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passwordT:TPa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$$w0rdT'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trustedDomain.trustAttributes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0x4 = QUARANTINED_DOMAIN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trustedDomain.trustType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0x2 = UPLEVEL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all </a:t>
            </a:r>
            <a:r>
              <a:rPr lang="en-US" dirty="0"/>
              <a:t>SIDs </a:t>
            </a:r>
            <a:r>
              <a:rPr lang="en-US" dirty="0">
                <a:solidFill>
                  <a:schemeClr val="accent2"/>
                </a:solidFill>
              </a:rPr>
              <a:t>except </a:t>
            </a:r>
            <a:r>
              <a:rPr lang="en-US" dirty="0"/>
              <a:t>for those of the trusted </a:t>
            </a:r>
            <a:r>
              <a:rPr lang="en-US" dirty="0">
                <a:solidFill>
                  <a:schemeClr val="accent5"/>
                </a:solidFill>
              </a:rPr>
              <a:t>domain</a:t>
            </a:r>
            <a:r>
              <a:rPr lang="en-US" dirty="0"/>
              <a:t> filtered out </a:t>
            </a:r>
            <a:r>
              <a:rPr lang="en-US" dirty="0">
                <a:solidFill>
                  <a:schemeClr val="accent2"/>
                </a:solidFill>
              </a:rPr>
              <a:t>always</a:t>
            </a:r>
          </a:p>
          <a:p>
            <a:r>
              <a:rPr lang="en-US" dirty="0">
                <a:solidFill>
                  <a:schemeClr val="accent1"/>
                </a:solidFill>
              </a:rPr>
              <a:t>external </a:t>
            </a:r>
            <a:r>
              <a:rPr lang="en-US" dirty="0"/>
              <a:t>outbound trust (</a:t>
            </a:r>
            <a:r>
              <a:rPr lang="en-US" dirty="0">
                <a:solidFill>
                  <a:schemeClr val="accent1"/>
                </a:solidFill>
              </a:rPr>
              <a:t>no quarantine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trust </a:t>
            </a:r>
            <a:r>
              <a:rPr lang="en-US" sz="1400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domain: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/add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oneSide:trusting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passwordT:TPa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$$w0rdT'</a:t>
            </a:r>
            <a:endParaRPr lang="en-US" sz="14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trust </a:t>
            </a:r>
            <a:r>
              <a:rPr lang="en-US" sz="1400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domain: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quarantine:no</a:t>
            </a:r>
            <a:endParaRPr lang="en-US" sz="14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trustedDomain.trustAttributes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0x0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trustedDomain.trustType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0x2 = UPLEVEL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built-in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well-known</a:t>
            </a:r>
            <a:r>
              <a:rPr lang="en-US" dirty="0"/>
              <a:t> SIDs filtered out </a:t>
            </a:r>
            <a:r>
              <a:rPr lang="en-US" dirty="0">
                <a:solidFill>
                  <a:schemeClr val="accent2"/>
                </a:solidFill>
              </a:rPr>
              <a:t>always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local forest </a:t>
            </a:r>
            <a:r>
              <a:rPr lang="en-US" dirty="0"/>
              <a:t>SIDs </a:t>
            </a:r>
            <a:r>
              <a:rPr lang="en-US" dirty="0">
                <a:solidFill>
                  <a:schemeClr val="accent1"/>
                </a:solidFill>
              </a:rPr>
              <a:t>allowed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any other </a:t>
            </a:r>
            <a:r>
              <a:rPr lang="en-US" dirty="0"/>
              <a:t>SIDs </a:t>
            </a:r>
            <a:r>
              <a:rPr lang="en-US" dirty="0">
                <a:solidFill>
                  <a:schemeClr val="accent1"/>
                </a:solidFill>
              </a:rPr>
              <a:t>allowed</a:t>
            </a:r>
          </a:p>
        </p:txBody>
      </p:sp>
    </p:spTree>
    <p:extLst>
      <p:ext uri="{BB962C8B-B14F-4D97-AF65-F5344CB8AC3E}">
        <p14:creationId xmlns:p14="http://schemas.microsoft.com/office/powerpoint/2010/main" val="7931906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SID filtering (forest trust)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forest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outbound trust (default)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$forest = 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System.DirectoryServices.ActiveDirectory.Forest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forest.CreateLocalSideOfTrustRelationship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'Outbound', 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$$w0rdT')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trustedDomain.trustAttributes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0x8 = FOREST_TRANSITIVE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trustedDomain.trustType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0x2 = UPLEVEL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all </a:t>
            </a:r>
            <a:r>
              <a:rPr lang="en-US" sz="2400" dirty="0"/>
              <a:t>SIDs </a:t>
            </a:r>
            <a:r>
              <a:rPr lang="en-US" sz="2400" dirty="0">
                <a:solidFill>
                  <a:schemeClr val="accent2"/>
                </a:solidFill>
              </a:rPr>
              <a:t>except </a:t>
            </a:r>
            <a:r>
              <a:rPr lang="en-US" sz="2400" dirty="0"/>
              <a:t>for those of the trusted </a:t>
            </a:r>
            <a:r>
              <a:rPr lang="en-US" sz="2400" dirty="0">
                <a:solidFill>
                  <a:schemeClr val="accent5"/>
                </a:solidFill>
              </a:rPr>
              <a:t>forest </a:t>
            </a:r>
            <a:r>
              <a:rPr lang="en-US" sz="2400" dirty="0"/>
              <a:t>filtered out </a:t>
            </a:r>
            <a:r>
              <a:rPr lang="en-US" sz="2400" dirty="0">
                <a:solidFill>
                  <a:schemeClr val="accent2"/>
                </a:solidFill>
              </a:rPr>
              <a:t>always</a:t>
            </a:r>
          </a:p>
          <a:p>
            <a:r>
              <a:rPr lang="en-US" dirty="0">
                <a:solidFill>
                  <a:schemeClr val="accent1"/>
                </a:solidFill>
              </a:rPr>
              <a:t>forest </a:t>
            </a:r>
            <a:r>
              <a:rPr lang="en-US" dirty="0"/>
              <a:t>outbound trust (</a:t>
            </a:r>
            <a:r>
              <a:rPr lang="en-US" dirty="0">
                <a:solidFill>
                  <a:schemeClr val="accent1"/>
                </a:solidFill>
              </a:rPr>
              <a:t>no quarantine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$forest = 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System.DirectoryServices.ActiveDirectory.Forest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forest.CreateLocalSideOfTrustRelationship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'Outbound', 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$$w0rdT')</a:t>
            </a:r>
          </a:p>
          <a:p>
            <a:pPr marL="457200" lvl="1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trust </a:t>
            </a:r>
            <a:r>
              <a:rPr lang="en-US" sz="1400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domain: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enableSIDhistory:yes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trustedDomain.trustAttributes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0x48 = FOREST_TRANSITIVE | TREAT_AS_EXTERNAL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trustedDomain.trustType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0x2 = UPLEVEL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built-in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2"/>
                </a:solidFill>
              </a:rPr>
              <a:t>well-known</a:t>
            </a:r>
            <a:r>
              <a:rPr lang="en-US" sz="2400" dirty="0"/>
              <a:t> SIDs filtered out </a:t>
            </a:r>
            <a:r>
              <a:rPr lang="en-US" sz="2400" dirty="0">
                <a:solidFill>
                  <a:schemeClr val="accent2"/>
                </a:solidFill>
              </a:rPr>
              <a:t>always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local forest </a:t>
            </a:r>
            <a:r>
              <a:rPr lang="en-US" sz="2400" dirty="0"/>
              <a:t>SIDs </a:t>
            </a:r>
            <a:r>
              <a:rPr lang="en-US" sz="2400" dirty="0">
                <a:solidFill>
                  <a:schemeClr val="accent1"/>
                </a:solidFill>
              </a:rPr>
              <a:t>allowed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any other </a:t>
            </a:r>
            <a:r>
              <a:rPr lang="en-US" sz="2400" dirty="0"/>
              <a:t>SIDs </a:t>
            </a:r>
            <a:r>
              <a:rPr lang="en-US" sz="2400" dirty="0">
                <a:solidFill>
                  <a:schemeClr val="accent1"/>
                </a:solidFill>
              </a:rPr>
              <a:t>allowed</a:t>
            </a:r>
          </a:p>
        </p:txBody>
      </p:sp>
    </p:spTree>
    <p:extLst>
      <p:ext uri="{BB962C8B-B14F-4D97-AF65-F5344CB8AC3E}">
        <p14:creationId xmlns:p14="http://schemas.microsoft.com/office/powerpoint/2010/main" val="5267901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PIM trusts and RED forests (</a:t>
            </a:r>
            <a:r>
              <a:rPr lang="en-US" dirty="0">
                <a:solidFill>
                  <a:schemeClr val="accent1"/>
                </a:solidFill>
              </a:rPr>
              <a:t>F</a:t>
            </a:r>
            <a:r>
              <a:rPr lang="en-US" dirty="0"/>
              <a:t>FL 2016)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Privileged Identity Management (PIM) by RED forest</a:t>
            </a:r>
          </a:p>
          <a:p>
            <a:r>
              <a:rPr lang="en-US" dirty="0"/>
              <a:t>unrestricted foreign identity SID injection into Kerberos tickets</a:t>
            </a:r>
          </a:p>
          <a:p>
            <a:pPr lvl="1"/>
            <a:r>
              <a:rPr lang="en-US" dirty="0"/>
              <a:t>shadow principals</a:t>
            </a:r>
          </a:p>
          <a:p>
            <a:pPr lvl="1"/>
            <a:r>
              <a:rPr lang="en-US" dirty="0"/>
              <a:t>shadow groups</a:t>
            </a:r>
          </a:p>
          <a:p>
            <a:pPr lvl="1"/>
            <a:r>
              <a:rPr lang="en-US" dirty="0"/>
              <a:t>SID history</a:t>
            </a:r>
          </a:p>
        </p:txBody>
      </p:sp>
    </p:spTree>
    <p:extLst>
      <p:ext uri="{BB962C8B-B14F-4D97-AF65-F5344CB8AC3E}">
        <p14:creationId xmlns:p14="http://schemas.microsoft.com/office/powerpoint/2010/main" val="15897625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PIM trust requirements on the </a:t>
            </a:r>
            <a:r>
              <a:rPr lang="en-US" dirty="0">
                <a:solidFill>
                  <a:schemeClr val="accent5"/>
                </a:solidFill>
              </a:rPr>
              <a:t>GOLD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forest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forest functional level (</a:t>
            </a:r>
            <a:r>
              <a:rPr lang="en-US" dirty="0">
                <a:solidFill>
                  <a:schemeClr val="accent1"/>
                </a:solidFill>
              </a:rPr>
              <a:t>F</a:t>
            </a:r>
            <a:r>
              <a:rPr lang="en-US" dirty="0"/>
              <a:t>FL) 201</a:t>
            </a:r>
            <a:r>
              <a:rPr lang="en-US" dirty="0">
                <a:solidFill>
                  <a:schemeClr val="accent1"/>
                </a:solidFill>
              </a:rPr>
              <a:t>2 R2</a:t>
            </a:r>
            <a:r>
              <a:rPr lang="en-US" dirty="0"/>
              <a:t>+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((Get-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ADDomain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-Identity </a:t>
            </a:r>
            <a:r>
              <a:rPr lang="en-US" sz="1400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'Windows2012R2Domain') { Set-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ADDomainMode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Windows2012R2Domain -Identity </a:t>
            </a:r>
            <a:r>
              <a:rPr lang="en-US" sz="1400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-Confirm:$false }</a:t>
            </a:r>
            <a:endParaRPr lang="en-US" sz="1400" dirty="0"/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((Get-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-Identity </a:t>
            </a:r>
            <a:r>
              <a:rPr lang="en-US" sz="1400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'Windows2012R2Forest') { Set-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ADForestMode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Windows2012R2Forest -Identity </a:t>
            </a:r>
            <a:r>
              <a:rPr lang="en-US" sz="1400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-Confirm:$false }</a:t>
            </a:r>
          </a:p>
          <a:p>
            <a:r>
              <a:rPr lang="en-US" dirty="0">
                <a:solidFill>
                  <a:schemeClr val="accent2"/>
                </a:solidFill>
              </a:rPr>
              <a:t>outbound trust </a:t>
            </a:r>
            <a:r>
              <a:rPr lang="en-US" dirty="0"/>
              <a:t>only</a:t>
            </a: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$forest = [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System.DirectoryServices.ActiveDirectory.Forest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]::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GetCurrentForest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forest.CreateLocalSideOfTrustRelationship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300" dirty="0" err="1">
                <a:solidFill>
                  <a:srgbClr val="E500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'Outbound', '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TPa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$$w0rdT')</a:t>
            </a: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trust </a:t>
            </a:r>
            <a:r>
              <a:rPr lang="en-US" sz="1300" dirty="0" err="1">
                <a:solidFill>
                  <a:srgbClr val="C8D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domain:</a:t>
            </a:r>
            <a:r>
              <a:rPr lang="en-US" sz="1300" dirty="0" err="1">
                <a:solidFill>
                  <a:srgbClr val="E500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9FE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300" dirty="0" err="1">
                <a:solidFill>
                  <a:srgbClr val="009FE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enableSIDhistory:yes</a:t>
            </a:r>
            <a:endParaRPr lang="en-US" sz="13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trust </a:t>
            </a:r>
            <a:r>
              <a:rPr lang="en-US" sz="1300" dirty="0" err="1">
                <a:solidFill>
                  <a:srgbClr val="C8D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gold.forest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domain:</a:t>
            </a:r>
            <a:r>
              <a:rPr lang="en-US" sz="1300" dirty="0" err="1">
                <a:solidFill>
                  <a:srgbClr val="E500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9FE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300" dirty="0" err="1">
                <a:solidFill>
                  <a:srgbClr val="009FE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enablePIMtrust:yes</a:t>
            </a:r>
            <a:endParaRPr lang="en-US" sz="13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trustedDomain.trustAttributes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0x48 = FOREST_TRANSITIVE | TREAT_AS_EXTERNAL | PIM_TRUST</a:t>
            </a: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trustedDomain.trustType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0x2 = UPLEVEL</a:t>
            </a: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trustedDomain.trustDirection</a:t>
            </a:r>
            <a:r>
              <a:rPr lang="en-US" sz="13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0x2 = OUTBOUND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built-in</a:t>
            </a:r>
            <a:r>
              <a:rPr lang="en-US" sz="2000" dirty="0"/>
              <a:t> SIDs filtered out </a:t>
            </a:r>
            <a:r>
              <a:rPr lang="en-US" sz="2000" dirty="0">
                <a:solidFill>
                  <a:schemeClr val="accent2"/>
                </a:solidFill>
              </a:rPr>
              <a:t>always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other </a:t>
            </a:r>
            <a:r>
              <a:rPr lang="en-US" sz="2000" dirty="0"/>
              <a:t>SIDs including </a:t>
            </a:r>
            <a:r>
              <a:rPr lang="en-US" sz="2000" dirty="0">
                <a:solidFill>
                  <a:schemeClr val="accent1"/>
                </a:solidFill>
              </a:rPr>
              <a:t>well-known </a:t>
            </a:r>
            <a:r>
              <a:rPr lang="en-US" sz="2000" dirty="0"/>
              <a:t>SIDs </a:t>
            </a:r>
            <a:r>
              <a:rPr lang="en-US" sz="2000" dirty="0">
                <a:solidFill>
                  <a:schemeClr val="accent1"/>
                </a:solidFill>
              </a:rPr>
              <a:t>allowed</a:t>
            </a:r>
          </a:p>
        </p:txBody>
      </p:sp>
    </p:spTree>
    <p:extLst>
      <p:ext uri="{BB962C8B-B14F-4D97-AF65-F5344CB8AC3E}">
        <p14:creationId xmlns:p14="http://schemas.microsoft.com/office/powerpoint/2010/main" val="6259964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PIM trust requirements on the </a:t>
            </a:r>
            <a:r>
              <a:rPr lang="en-US" dirty="0">
                <a:solidFill>
                  <a:schemeClr val="accent4"/>
                </a:solidFill>
              </a:rPr>
              <a:t>RED </a:t>
            </a:r>
            <a:r>
              <a:rPr lang="en-US" dirty="0"/>
              <a:t>forest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forest functional level (</a:t>
            </a:r>
            <a:r>
              <a:rPr lang="en-US" dirty="0">
                <a:solidFill>
                  <a:schemeClr val="accent1"/>
                </a:solidFill>
              </a:rPr>
              <a:t>F</a:t>
            </a:r>
            <a:r>
              <a:rPr lang="en-US" dirty="0"/>
              <a:t>FL) 201</a:t>
            </a:r>
            <a:r>
              <a:rPr lang="en-US" dirty="0">
                <a:solidFill>
                  <a:schemeClr val="accent1"/>
                </a:solidFill>
              </a:rPr>
              <a:t>6</a:t>
            </a:r>
            <a:r>
              <a:rPr lang="en-US" dirty="0"/>
              <a:t>+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((Get-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ADDomain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-Identity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'Windows2016Domain') { Set-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ADDomainMode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Windows2016Domain -Identity 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-Confirm:$false }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((Get-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-Identity 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'Windows2016Forest') { Set-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ADForestMode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ForestMode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Windows2016Forest -Identity 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-Confirm:$false }</a:t>
            </a:r>
          </a:p>
          <a:p>
            <a:r>
              <a:rPr lang="en-US" dirty="0"/>
              <a:t>PAM feature enabled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Enable-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ADOptionalFeature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'Privileged Access Management Feature' -Scope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ForestOrConfigurationSet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-Target </a:t>
            </a:r>
            <a:r>
              <a:rPr lang="en-US" sz="14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-Confirm:$true</a:t>
            </a:r>
          </a:p>
          <a:p>
            <a:r>
              <a:rPr lang="en-US" dirty="0">
                <a:solidFill>
                  <a:schemeClr val="accent2"/>
                </a:solidFill>
              </a:rPr>
              <a:t>incoming forest trust </a:t>
            </a:r>
            <a:r>
              <a:rPr lang="en-US" dirty="0"/>
              <a:t>only + name suffix routing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Collections.ArrayList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$routing = @()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[string[]]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'gold.forest' | % { Get-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$_ } | % { @() + $_.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SPNSuffixes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$_.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UPNSuffixes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$_.Domains } | select -Unique | ? { $_ -like '?*' } | % { $_.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ToLower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} | sort Length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| % {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$_ ; [void]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routing.Add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| ? {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-like ('*.{0}' -f $_) } | % { [void]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routing.Remove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} }</a:t>
            </a:r>
          </a:p>
          <a:p>
            <a:pPr marL="457200" lvl="1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$routing | % {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trust red.forest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domain:gold.forest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addTLN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:$_ }</a:t>
            </a: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trustedDomain.trustAttributes</a:t>
            </a:r>
            <a:r>
              <a:rPr lang="en-US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0x8 = FOREST_TRANSITIVE</a:t>
            </a: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trustedDomain.trustType</a:t>
            </a:r>
            <a:r>
              <a:rPr lang="en-US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0x2 = UPLEVEL</a:t>
            </a:r>
          </a:p>
          <a:p>
            <a:pPr marL="457200" lvl="1" indent="0">
              <a:buClr>
                <a:srgbClr val="1E326C"/>
              </a:buClr>
              <a:buNone/>
            </a:pPr>
            <a:r>
              <a:rPr lang="en-US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trustedDomain.trustDirection</a:t>
            </a:r>
            <a:r>
              <a:rPr lang="en-US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0x2 </a:t>
            </a:r>
            <a:r>
              <a:rPr lang="en-US" sz="14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INBOUND</a:t>
            </a:r>
            <a:endParaRPr lang="en-US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buClr>
                <a:srgbClr val="1E326C"/>
              </a:buClr>
            </a:pPr>
            <a:r>
              <a:rPr lang="en-US" dirty="0">
                <a:solidFill>
                  <a:prstClr val="black"/>
                </a:solidFill>
              </a:rPr>
              <a:t>enable AES on the trust (not necessary if Protected Users group used)</a:t>
            </a:r>
          </a:p>
          <a:p>
            <a:pPr lvl="1">
              <a:buClr>
                <a:srgbClr val="1E326C"/>
              </a:buClr>
            </a:pPr>
            <a:r>
              <a:rPr lang="en-US" dirty="0">
                <a:solidFill>
                  <a:prstClr val="black"/>
                </a:solidFill>
              </a:rPr>
              <a:t>no command line tool, undocumented Win32 LSASS API only</a:t>
            </a:r>
          </a:p>
          <a:p>
            <a:pPr lvl="0">
              <a:buClr>
                <a:srgbClr val="1E326C"/>
              </a:buClr>
            </a:pPr>
            <a:endParaRPr lang="en-US" dirty="0">
              <a:solidFill>
                <a:prstClr val="black"/>
              </a:solidFill>
            </a:endParaRPr>
          </a:p>
          <a:p>
            <a:pPr lvl="0">
              <a:buClr>
                <a:srgbClr val="1E326C"/>
              </a:buClr>
            </a:pPr>
            <a:endParaRPr lang="en-US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6268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-99392"/>
            <a:ext cx="8229600" cy="782960"/>
          </a:xfrm>
        </p:spPr>
        <p:txBody>
          <a:bodyPr>
            <a:normAutofit/>
          </a:bodyPr>
          <a:lstStyle/>
          <a:p>
            <a:r>
              <a:rPr lang="en-US" sz="2000" dirty="0"/>
              <a:t>Shadow principals on the </a:t>
            </a:r>
            <a:r>
              <a:rPr lang="en-US" sz="2000" dirty="0">
                <a:solidFill>
                  <a:schemeClr val="accent4"/>
                </a:solidFill>
              </a:rPr>
              <a:t>RED </a:t>
            </a:r>
            <a:r>
              <a:rPr lang="en-US" sz="2000" dirty="0"/>
              <a:t>forest</a:t>
            </a:r>
            <a:endParaRPr lang="cs-CZ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928992" cy="612068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global:New-ADShadowPrincipal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([string]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goldDomain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[string]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[string]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mapToRedPrincipalSAM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errorActionPreferenceBackup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global:errorActionPreference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try {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global:errorActionPreference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'Stop'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redRootDSE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[ADSI] 'LDAP://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RootDSE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redConfigDN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rootDSE.configurationNamingContext.Value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'CN=Shadow Principal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Configuration,CN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=Services,{0}'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redConfigDN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Write-Host ('Open the shadow principals container: {0}'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[ADSI] ('LDAP://{0}'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redPrincipalsDE.Properties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distinguishedName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'].Item(0)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Write-Host ('Connect to the GOLD domain: {0}'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goldDomain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goldRootDSE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[ADSI] ('LDAP://{0}/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RootDSE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goldDomain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goldDomainDN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goldRootDSE.defaultNamingContext.Value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Write-Host ('Prepare search for GOLD principal in the GOLD domain: {0} | {1}'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goldDomainDN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goldSearcher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ADSISearcher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('(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sAMAccountName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={0})'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goldSearcher.SearchRoot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([ADSI] ('LDAP://{0}'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goldDomainDN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goldSearcher.SearchScope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'Subtree'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goldSearcher.PropertiesToLoad.AddRange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(('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distinguishedname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samaccountname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'))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Write-Host ('Find the GOLD principal in the GOLD domain: {0} | {1}'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goldDomainDN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goldSearcher.Filter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goldPrincipalFound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goldSearcher.FindOne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[string]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goldPrincipalFound.Properties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sAMAccountName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'].Item(0)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[string]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goldPrincipalFound.Properties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distinguishedName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'].Item(0)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[byte[]]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goldPrincipalSIDBIN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goldPrincipalFound.Properties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'].Item(0)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[string]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(New-Object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System.Security.Principal.SecurityIdentifier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goldPrincipalSIDBIN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0).Value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Write-Host ('GOLD principal found: {0} | {1} | {2}'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redPrincipalFound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Get-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ADObject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LDAPFilter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('(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sAMAccountName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={0})'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mapToRedPrincipalSAM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-Properties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sAMAccountName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redPrincipalFound.DistinguishedName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Write-Host ('RED principal found: {0} | {1}'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redPrincipalFound.SamAccountName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'{0}-{1}'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goldDomain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goldPrincipalSAM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'CN={0},{1}'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redPrincipalsDN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[object]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$null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Write-Host ('Try opening an existing shadow principal: {0}'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try {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Get-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ADObject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-Identity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 catch {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error.Clear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}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([object]::Equals($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$null)) {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Write-Host ('Create a new shadow principal: {0}'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ADObject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-Name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-Path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-Type 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msDS-ShadowPrincipal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OtherAttr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@{ 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msDS-ShadowPrincipalSid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goldPrincipalSID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PassThru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Write-Host ('Map the red principal to the gold principal: {0}' -f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Set-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ADObject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-Identity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existingShadow.DistinguishedName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-Add @{ member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redPrincipalDN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 finally {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global:errorActionPreference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errorActionPreferenceBackup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goldSearcher.SearchRoot.Dispose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goldSearcher.Dispose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goldRootDSE.Dispose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redPrincipalsDE.Dispose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redRootDSE.Dispose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0103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EFF7B67-1D0E-A5AE-4F0F-975A2E990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Windows Hello for Business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A5430ED-6B76-1E31-C2F4-6A617E7543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731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C729-083C-CE7E-858D-51B28BD9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Hello for Business (WHB)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0E12-CD3A-88E1-EB3D-6D4624C7C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mostly single-machine business user scenarios</a:t>
            </a:r>
          </a:p>
          <a:p>
            <a:pPr lvl="1"/>
            <a:r>
              <a:rPr lang="en-US" dirty="0"/>
              <a:t>credentials bound to TPM locally</a:t>
            </a:r>
          </a:p>
          <a:p>
            <a:pPr lvl="1"/>
            <a:r>
              <a:rPr lang="en-US" dirty="0"/>
              <a:t>not available over RDP</a:t>
            </a:r>
          </a:p>
          <a:p>
            <a:r>
              <a:rPr lang="en-US" dirty="0"/>
              <a:t>Kerberos PKINIT SC logon with ADDS</a:t>
            </a:r>
          </a:p>
          <a:p>
            <a:pPr lvl="1"/>
            <a:r>
              <a:rPr lang="en-US" dirty="0"/>
              <a:t>NTLM# available through PAC TGT extension</a:t>
            </a:r>
          </a:p>
          <a:p>
            <a:pPr lvl="1"/>
            <a:r>
              <a:rPr lang="en-US" dirty="0"/>
              <a:t>does not depend on passwords in AAD or password-less</a:t>
            </a:r>
          </a:p>
          <a:p>
            <a:pPr lvl="1"/>
            <a:r>
              <a:rPr lang="en-US" dirty="0"/>
              <a:t>password write-back not necessary</a:t>
            </a:r>
          </a:p>
          <a:p>
            <a:r>
              <a:rPr lang="en-US" dirty="0"/>
              <a:t>key trust</a:t>
            </a:r>
          </a:p>
          <a:p>
            <a:pPr lvl="1"/>
            <a:r>
              <a:rPr lang="en-US" dirty="0"/>
              <a:t>DFL 2008+ and DCs 2012+</a:t>
            </a:r>
          </a:p>
          <a:p>
            <a:r>
              <a:rPr lang="en-US" dirty="0"/>
              <a:t>certificate trust</a:t>
            </a:r>
          </a:p>
          <a:p>
            <a:pPr lvl="1"/>
            <a:r>
              <a:rPr lang="en-US" dirty="0"/>
              <a:t>DFL 2008R2+ and FFL 2008R2+</a:t>
            </a:r>
          </a:p>
          <a:p>
            <a:pPr lvl="1"/>
            <a:r>
              <a:rPr lang="en-US" dirty="0"/>
              <a:t>ADFS</a:t>
            </a:r>
          </a:p>
        </p:txBody>
      </p:sp>
    </p:spTree>
    <p:extLst>
      <p:ext uri="{BB962C8B-B14F-4D97-AF65-F5344CB8AC3E}">
        <p14:creationId xmlns:p14="http://schemas.microsoft.com/office/powerpoint/2010/main" val="2136124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Azure AD joined machines or hybrid joined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3F0A-5BF8-8E61-8B33-853104174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dsregcmd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/status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09A11D2-FB68-8939-A6CC-DC0F153805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03631"/>
              </p:ext>
            </p:extLst>
          </p:nvPr>
        </p:nvGraphicFramePr>
        <p:xfrm>
          <a:off x="1169053" y="1484784"/>
          <a:ext cx="7971532" cy="5373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19920" imgH="4057560" progId="">
                  <p:embed/>
                </p:oleObj>
              </mc:Choice>
              <mc:Fallback>
                <p:oleObj r:id="rId2" imgW="6019920" imgH="40575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69053" y="1484784"/>
                        <a:ext cx="7971532" cy="5373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9432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6AC6-0DA0-88A3-875E-82926AD7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800" dirty="0"/>
              <a:t>AAD account logged on a workgroup machine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D21E0E9-13B1-FB7B-E318-4D1A39A4A9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233920"/>
              </p:ext>
            </p:extLst>
          </p:nvPr>
        </p:nvGraphicFramePr>
        <p:xfrm>
          <a:off x="1907705" y="905361"/>
          <a:ext cx="7236296" cy="595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77040" imgH="4505400" progId="">
                  <p:embed/>
                </p:oleObj>
              </mc:Choice>
              <mc:Fallback>
                <p:oleObj r:id="rId2" imgW="5477040" imgH="45054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7705" y="905361"/>
                        <a:ext cx="7236296" cy="5952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2B6AAC7-2B09-077F-C007-7C77C1D58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427950"/>
              </p:ext>
            </p:extLst>
          </p:nvPr>
        </p:nvGraphicFramePr>
        <p:xfrm>
          <a:off x="-11424" y="3573015"/>
          <a:ext cx="3503304" cy="245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86000" imgH="1600200" progId="">
                  <p:embed/>
                </p:oleObj>
              </mc:Choice>
              <mc:Fallback>
                <p:oleObj r:id="rId4" imgW="2286000" imgH="16002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1424" y="3573015"/>
                        <a:ext cx="3503304" cy="2452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84116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6AC6-0DA0-88A3-875E-82926AD7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AAD account </a:t>
            </a:r>
            <a:r>
              <a:rPr lang="en-US" sz="2400" dirty="0">
                <a:solidFill>
                  <a:schemeClr val="accent1"/>
                </a:solidFill>
              </a:rPr>
              <a:t>logon provider </a:t>
            </a:r>
            <a:r>
              <a:rPr lang="en-US" sz="2400" dirty="0"/>
              <a:t>and </a:t>
            </a:r>
            <a:r>
              <a:rPr lang="en-US" sz="2400" dirty="0">
                <a:solidFill>
                  <a:schemeClr val="accent1"/>
                </a:solidFill>
              </a:rPr>
              <a:t>cache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5F83326-0ECA-1743-21B5-B959372E7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814268"/>
              </p:ext>
            </p:extLst>
          </p:nvPr>
        </p:nvGraphicFramePr>
        <p:xfrm>
          <a:off x="2296" y="836712"/>
          <a:ext cx="9141704" cy="4744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029360" imgH="3648240" progId="">
                  <p:embed/>
                </p:oleObj>
              </mc:Choice>
              <mc:Fallback>
                <p:oleObj r:id="rId2" imgW="7029360" imgH="36482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6" y="836712"/>
                        <a:ext cx="9141704" cy="4744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E736283-D6BF-4B88-F2A4-D3DB4F1800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40232"/>
              </p:ext>
            </p:extLst>
          </p:nvPr>
        </p:nvGraphicFramePr>
        <p:xfrm>
          <a:off x="683568" y="4388337"/>
          <a:ext cx="8460431" cy="2469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591240" imgH="1924200" progId="">
                  <p:embed/>
                </p:oleObj>
              </mc:Choice>
              <mc:Fallback>
                <p:oleObj r:id="rId4" imgW="6591240" imgH="19242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3568" y="4388337"/>
                        <a:ext cx="8460431" cy="2469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8293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WHB user certificate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3F0A-5BF8-8E61-8B33-853104174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E1A8716-1EC5-8B68-D0F6-7EC2ADD8D3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332651"/>
              </p:ext>
            </p:extLst>
          </p:nvPr>
        </p:nvGraphicFramePr>
        <p:xfrm>
          <a:off x="0" y="873296"/>
          <a:ext cx="4932040" cy="4469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57760" imgH="3495600" progId="">
                  <p:embed/>
                </p:oleObj>
              </mc:Choice>
              <mc:Fallback>
                <p:oleObj r:id="rId2" imgW="3857760" imgH="34956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873296"/>
                        <a:ext cx="4932040" cy="44692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F9DD018-46AB-A2E0-AEEC-9D1F0B550F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728633"/>
              </p:ext>
            </p:extLst>
          </p:nvPr>
        </p:nvGraphicFramePr>
        <p:xfrm>
          <a:off x="4059201" y="2852936"/>
          <a:ext cx="5084799" cy="4005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57760" imgH="3038400" progId="">
                  <p:embed/>
                </p:oleObj>
              </mc:Choice>
              <mc:Fallback>
                <p:oleObj r:id="rId4" imgW="3857760" imgH="30384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59201" y="2852936"/>
                        <a:ext cx="5084799" cy="4005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51713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WHB </a:t>
            </a:r>
            <a:r>
              <a:rPr lang="en-US" sz="2400" dirty="0" err="1"/>
              <a:t>msDS-KeyCredentialLink</a:t>
            </a:r>
            <a:endParaRPr lang="en-US" sz="24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2CBF532-A6A7-4FAB-F541-C836069314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81781"/>
              </p:ext>
            </p:extLst>
          </p:nvPr>
        </p:nvGraphicFramePr>
        <p:xfrm>
          <a:off x="2837057" y="980728"/>
          <a:ext cx="6306943" cy="5877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14640" imgH="3648240" progId="">
                  <p:embed/>
                </p:oleObj>
              </mc:Choice>
              <mc:Fallback>
                <p:oleObj r:id="rId2" imgW="3914640" imgH="36482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37057" y="980728"/>
                        <a:ext cx="6306943" cy="5877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709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WHB </a:t>
            </a:r>
            <a:r>
              <a:rPr lang="en-US" sz="2400" dirty="0" err="1"/>
              <a:t>msDS-KeyCredentialLink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3F0A-5BF8-8E61-8B33-853104174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$keys = Get-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ADUser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-Identity tana `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-Properties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msDS-KeyCredentialLink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select -Expand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msDS-KeyCredentialLink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foreach ($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oneKey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 $keys) { Write-Host $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oneKey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C451E56-A690-E950-4892-47DA68870F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096227"/>
              </p:ext>
            </p:extLst>
          </p:nvPr>
        </p:nvGraphicFramePr>
        <p:xfrm>
          <a:off x="5728" y="2291729"/>
          <a:ext cx="4566272" cy="4566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57760" imgH="3857760" progId="">
                  <p:embed/>
                </p:oleObj>
              </mc:Choice>
              <mc:Fallback>
                <p:oleObj r:id="rId2" imgW="3857760" imgH="38577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8" y="2291729"/>
                        <a:ext cx="4566272" cy="4566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0496B8C-E127-5887-5681-73C6961E0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919579"/>
              </p:ext>
            </p:extLst>
          </p:nvPr>
        </p:nvGraphicFramePr>
        <p:xfrm>
          <a:off x="1885759" y="2470770"/>
          <a:ext cx="7258242" cy="2254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562800" imgH="2038320" progId="">
                  <p:embed/>
                </p:oleObj>
              </mc:Choice>
              <mc:Fallback>
                <p:oleObj r:id="rId4" imgW="6562800" imgH="20383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85759" y="2470770"/>
                        <a:ext cx="7258242" cy="2254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40754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 err="1"/>
              <a:t>msDS-KeyCredentialLink</a:t>
            </a:r>
            <a:r>
              <a:rPr lang="en-US" sz="2400" dirty="0"/>
              <a:t> vs. </a:t>
            </a:r>
            <a:r>
              <a:rPr lang="en-US" sz="2400" dirty="0" err="1"/>
              <a:t>msDS</a:t>
            </a:r>
            <a:r>
              <a:rPr lang="en-US" sz="2400" dirty="0"/>
              <a:t>-Device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8B3477B-D235-9A9B-77FC-ACE08A62E8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755770"/>
              </p:ext>
            </p:extLst>
          </p:nvPr>
        </p:nvGraphicFramePr>
        <p:xfrm>
          <a:off x="0" y="908720"/>
          <a:ext cx="5364088" cy="4036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09880" imgH="2867040" progId="">
                  <p:embed/>
                </p:oleObj>
              </mc:Choice>
              <mc:Fallback>
                <p:oleObj r:id="rId2" imgW="3809880" imgH="28670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908720"/>
                        <a:ext cx="5364088" cy="4036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D694B7B-1BEB-7A43-3699-87102BDC79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357176"/>
              </p:ext>
            </p:extLst>
          </p:nvPr>
        </p:nvGraphicFramePr>
        <p:xfrm>
          <a:off x="1858363" y="4653136"/>
          <a:ext cx="7285637" cy="2204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515280" imgH="1971720" progId="">
                  <p:embed/>
                </p:oleObj>
              </mc:Choice>
              <mc:Fallback>
                <p:oleObj r:id="rId4" imgW="6515280" imgH="19717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58363" y="4653136"/>
                        <a:ext cx="7285637" cy="22048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75358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WHB certificate private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3F0A-5BF8-8E61-8B33-853104174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>
            <a:normAutofit/>
          </a:bodyPr>
          <a:lstStyle/>
          <a:p>
            <a:r>
              <a:rPr lang="en-US" sz="2000" dirty="0"/>
              <a:t>CSP: Microsoft Passport Key Storage Provider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B47061E-BCD6-29EB-F3CD-CFD36C8289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509416"/>
              </p:ext>
            </p:extLst>
          </p:nvPr>
        </p:nvGraphicFramePr>
        <p:xfrm>
          <a:off x="0" y="2181418"/>
          <a:ext cx="9144000" cy="3524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96320" imgH="3429000" progId="">
                  <p:embed/>
                </p:oleObj>
              </mc:Choice>
              <mc:Fallback>
                <p:oleObj r:id="rId2" imgW="8896320" imgH="34290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2181418"/>
                        <a:ext cx="9144000" cy="3524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2333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WHB certificate private key in base S/C CSP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3F0A-5BF8-8E61-8B33-853104174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>
            <a:normAutofit/>
          </a:bodyPr>
          <a:lstStyle/>
          <a:p>
            <a:r>
              <a:rPr lang="en-US" sz="2000" dirty="0"/>
              <a:t>CSP: Microsoft Base Smart Card Crypto Provider (or KSP)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250A031-B8FE-5082-7805-83987510DD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281865"/>
              </p:ext>
            </p:extLst>
          </p:nvPr>
        </p:nvGraphicFramePr>
        <p:xfrm>
          <a:off x="2771801" y="1518284"/>
          <a:ext cx="6372200" cy="5339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19760" imgH="4876920" progId="">
                  <p:embed/>
                </p:oleObj>
              </mc:Choice>
              <mc:Fallback>
                <p:oleObj r:id="rId2" imgW="5819760" imgH="48769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1801" y="1518284"/>
                        <a:ext cx="6372200" cy="5339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93956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AS_REQ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9FD6D2B-7C43-4B7D-2ED0-14A2CC3DEE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936785"/>
              </p:ext>
            </p:extLst>
          </p:nvPr>
        </p:nvGraphicFramePr>
        <p:xfrm>
          <a:off x="0" y="1604226"/>
          <a:ext cx="9144000" cy="4057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934320" imgH="3076560" progId="">
                  <p:embed/>
                </p:oleObj>
              </mc:Choice>
              <mc:Fallback>
                <p:oleObj r:id="rId2" imgW="6934320" imgH="30765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04226"/>
                        <a:ext cx="9144000" cy="4057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44362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AS_REQ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2384607-4A53-CBA1-1CAF-D81291F3FD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469394"/>
              </p:ext>
            </p:extLst>
          </p:nvPr>
        </p:nvGraphicFramePr>
        <p:xfrm>
          <a:off x="5744" y="1556792"/>
          <a:ext cx="9138256" cy="4240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562720" imgH="2581200" progId="">
                  <p:embed/>
                </p:oleObj>
              </mc:Choice>
              <mc:Fallback>
                <p:oleObj r:id="rId2" imgW="5562720" imgH="25812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44" y="1556792"/>
                        <a:ext cx="9138256" cy="4240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18649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Right 13">
            <a:extLst>
              <a:ext uri="{FF2B5EF4-FFF2-40B4-BE49-F238E27FC236}">
                <a16:creationId xmlns:a16="http://schemas.microsoft.com/office/drawing/2014/main" id="{106D487A-E4F7-4274-958B-FEBDF0225536}"/>
              </a:ext>
            </a:extLst>
          </p:cNvPr>
          <p:cNvSpPr/>
          <p:nvPr/>
        </p:nvSpPr>
        <p:spPr>
          <a:xfrm rot="7843688">
            <a:off x="6339388" y="4986964"/>
            <a:ext cx="1255287" cy="57606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F9FE8-5024-4F7E-8C46-623156C5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82960"/>
          </a:xfrm>
        </p:spPr>
        <p:txBody>
          <a:bodyPr>
            <a:normAutofit/>
          </a:bodyPr>
          <a:lstStyle/>
          <a:p>
            <a:r>
              <a:rPr lang="en-US" sz="2800" dirty="0"/>
              <a:t>Trust DC certificate CAs on non-domain machines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E1C8C8F-12C2-4581-825B-71BF4685C308}"/>
              </a:ext>
            </a:extLst>
          </p:cNvPr>
          <p:cNvSpPr/>
          <p:nvPr/>
        </p:nvSpPr>
        <p:spPr>
          <a:xfrm rot="1512032">
            <a:off x="2559657" y="2790280"/>
            <a:ext cx="4400107" cy="57606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A17B5F7-4852-4A05-BD37-AEF2D7796DC4}"/>
              </a:ext>
            </a:extLst>
          </p:cNvPr>
          <p:cNvSpPr/>
          <p:nvPr/>
        </p:nvSpPr>
        <p:spPr>
          <a:xfrm>
            <a:off x="3497153" y="1903653"/>
            <a:ext cx="2520280" cy="217265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subordinate CA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352B7-4A56-40C2-A9DB-DFB7F5C85E9A}"/>
              </a:ext>
            </a:extLst>
          </p:cNvPr>
          <p:cNvSpPr txBox="1"/>
          <p:nvPr/>
        </p:nvSpPr>
        <p:spPr>
          <a:xfrm>
            <a:off x="2555776" y="1224389"/>
            <a:ext cx="5739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certutil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-f 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addstore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c:\temp\rootca.crt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44992-24D3-4D60-B260-2B695819CD40}"/>
              </a:ext>
            </a:extLst>
          </p:cNvPr>
          <p:cNvSpPr txBox="1"/>
          <p:nvPr/>
        </p:nvSpPr>
        <p:spPr>
          <a:xfrm>
            <a:off x="504186" y="4962654"/>
            <a:ext cx="78374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certutil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-f 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-enterprise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addstore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ntauth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c:\temp\issuingca.crt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1ECC8C5-4398-4A93-8A38-5A8D8A0DE73D}"/>
              </a:ext>
            </a:extLst>
          </p:cNvPr>
          <p:cNvSpPr/>
          <p:nvPr/>
        </p:nvSpPr>
        <p:spPr>
          <a:xfrm>
            <a:off x="827584" y="1045765"/>
            <a:ext cx="2520280" cy="217265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root CA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BDB9FAA-DCE9-4B4F-9AF0-D2A7D2024A7E}"/>
              </a:ext>
            </a:extLst>
          </p:cNvPr>
          <p:cNvSpPr/>
          <p:nvPr/>
        </p:nvSpPr>
        <p:spPr>
          <a:xfrm>
            <a:off x="6166520" y="2629941"/>
            <a:ext cx="2520280" cy="217265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issuing CA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F64EC-261B-447E-B7EA-2574D751B1D6}"/>
              </a:ext>
            </a:extLst>
          </p:cNvPr>
          <p:cNvSpPr txBox="1"/>
          <p:nvPr/>
        </p:nvSpPr>
        <p:spPr>
          <a:xfrm>
            <a:off x="504186" y="5875024"/>
            <a:ext cx="4257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certutil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urlfetch</a:t>
            </a:r>
            <a:r>
              <a:rPr lang="en-US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-verify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.cer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DFBC56-E981-4CCA-96B5-1A7510BC1AB0}"/>
              </a:ext>
            </a:extLst>
          </p:cNvPr>
          <p:cNvSpPr/>
          <p:nvPr/>
        </p:nvSpPr>
        <p:spPr>
          <a:xfrm>
            <a:off x="5734472" y="5517232"/>
            <a:ext cx="864096" cy="864096"/>
          </a:xfrm>
          <a:prstGeom prst="roundRect">
            <a:avLst>
              <a:gd name="adj" fmla="val 878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172C53-382C-4FA8-9315-C5DFEB3C8C5C}"/>
              </a:ext>
            </a:extLst>
          </p:cNvPr>
          <p:cNvSpPr/>
          <p:nvPr/>
        </p:nvSpPr>
        <p:spPr>
          <a:xfrm>
            <a:off x="5886872" y="5785980"/>
            <a:ext cx="864096" cy="864096"/>
          </a:xfrm>
          <a:prstGeom prst="roundRect">
            <a:avLst>
              <a:gd name="adj" fmla="val 878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DC20C6F-CBD9-478E-BF5F-56BBBB3BE96B}"/>
              </a:ext>
            </a:extLst>
          </p:cNvPr>
          <p:cNvSpPr/>
          <p:nvPr/>
        </p:nvSpPr>
        <p:spPr>
          <a:xfrm>
            <a:off x="6166520" y="5661248"/>
            <a:ext cx="864096" cy="864096"/>
          </a:xfrm>
          <a:prstGeom prst="roundRect">
            <a:avLst>
              <a:gd name="adj" fmla="val 878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DC</a:t>
            </a:r>
          </a:p>
        </p:txBody>
      </p:sp>
    </p:spTree>
    <p:extLst>
      <p:ext uri="{BB962C8B-B14F-4D97-AF65-F5344CB8AC3E}">
        <p14:creationId xmlns:p14="http://schemas.microsoft.com/office/powerpoint/2010/main" val="19267597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Normal TGT/TGS issued by WHB S/C logon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5563CE5-B1FE-C2A7-007E-AADD1D26C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325931"/>
              </p:ext>
            </p:extLst>
          </p:nvPr>
        </p:nvGraphicFramePr>
        <p:xfrm>
          <a:off x="195943" y="1124744"/>
          <a:ext cx="8948057" cy="5733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43640" imgH="4705200" progId="">
                  <p:embed/>
                </p:oleObj>
              </mc:Choice>
              <mc:Fallback>
                <p:oleObj r:id="rId2" imgW="7343640" imgH="47052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5943" y="1124744"/>
                        <a:ext cx="8948057" cy="5733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03708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B6F-7D85-6525-96A9-82AD8AD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WHB with normal SC AS event 4768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D974D70-CB02-0DBD-D30D-35EC772DE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525657"/>
              </p:ext>
            </p:extLst>
          </p:nvPr>
        </p:nvGraphicFramePr>
        <p:xfrm>
          <a:off x="963740" y="908720"/>
          <a:ext cx="8180260" cy="594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86680" imgH="4572000" progId="">
                  <p:embed/>
                </p:oleObj>
              </mc:Choice>
              <mc:Fallback>
                <p:oleObj r:id="rId2" imgW="6286680" imgH="45720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3740" y="908720"/>
                        <a:ext cx="8180260" cy="5949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93858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D091-B44F-A036-0D2A-7AC0AD971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WHB gets NTLM MD4 NT hash from TGT PAC normally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B2A45-4E47-19CF-465B-D152D58A4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>
            <a:normAutofit/>
          </a:bodyPr>
          <a:lstStyle/>
          <a:p>
            <a:r>
              <a:rPr lang="en-US" sz="1800" dirty="0"/>
              <a:t>not available until first TGT obtained after every logon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1B375B8-12A9-A7BC-60FA-BCA356B53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385120"/>
              </p:ext>
            </p:extLst>
          </p:nvPr>
        </p:nvGraphicFramePr>
        <p:xfrm>
          <a:off x="2267744" y="1412901"/>
          <a:ext cx="6876256" cy="544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57920" imgH="4638600" progId="">
                  <p:embed/>
                </p:oleObj>
              </mc:Choice>
              <mc:Fallback>
                <p:oleObj r:id="rId2" imgW="5857920" imgH="46386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67744" y="1412901"/>
                        <a:ext cx="6876256" cy="544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50591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6881-F08B-FD97-5EE2-6D18D89A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WHB issues from non-domain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442F2-8BC2-817C-4D97-5940F7831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using short names</a:t>
            </a:r>
          </a:p>
          <a:p>
            <a:pPr lvl="1"/>
            <a:r>
              <a:rPr lang="en-US" dirty="0"/>
              <a:t>mind the </a:t>
            </a:r>
            <a:r>
              <a:rPr lang="en-US" dirty="0">
                <a:solidFill>
                  <a:schemeClr val="accent1"/>
                </a:solidFill>
              </a:rPr>
              <a:t>DNS suffix </a:t>
            </a:r>
            <a:r>
              <a:rPr lang="en-US" dirty="0"/>
              <a:t>per NIC or computer wide</a:t>
            </a:r>
          </a:p>
          <a:p>
            <a:r>
              <a:rPr lang="en-US" dirty="0"/>
              <a:t>\\SMB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ok</a:t>
            </a:r>
          </a:p>
          <a:p>
            <a:r>
              <a:rPr lang="en-US" dirty="0"/>
              <a:t>Excel</a:t>
            </a:r>
          </a:p>
          <a:p>
            <a:pPr lvl="1"/>
            <a:r>
              <a:rPr lang="en-US" dirty="0"/>
              <a:t>you must type </a:t>
            </a:r>
            <a:r>
              <a:rPr lang="en-US" dirty="0">
                <a:solidFill>
                  <a:schemeClr val="accent1"/>
                </a:solidFill>
              </a:rPr>
              <a:t>FQDN</a:t>
            </a:r>
            <a:r>
              <a:rPr lang="en-US" dirty="0"/>
              <a:t> or the client requests short name SPN</a:t>
            </a:r>
          </a:p>
          <a:p>
            <a:pPr lvl="2"/>
            <a:r>
              <a:rPr lang="en-US" dirty="0" err="1"/>
              <a:t>mssqlsvc</a:t>
            </a:r>
            <a:r>
              <a:rPr lang="en-US" dirty="0"/>
              <a:t>/gps-data:53087</a:t>
            </a:r>
          </a:p>
          <a:p>
            <a:r>
              <a:rPr lang="en-US" dirty="0"/>
              <a:t>IE/Edge/Chrome</a:t>
            </a:r>
          </a:p>
          <a:p>
            <a:pPr lvl="1"/>
            <a:r>
              <a:rPr lang="en-US" dirty="0"/>
              <a:t>do not forget about </a:t>
            </a:r>
            <a:r>
              <a:rPr lang="en-US" dirty="0">
                <a:solidFill>
                  <a:schemeClr val="accent1"/>
                </a:solidFill>
              </a:rPr>
              <a:t>Local Intranet </a:t>
            </a:r>
            <a:r>
              <a:rPr lang="en-US" dirty="0"/>
              <a:t>zone</a:t>
            </a:r>
          </a:p>
          <a:p>
            <a:r>
              <a:rPr lang="en-US" dirty="0"/>
              <a:t>RDP</a:t>
            </a:r>
          </a:p>
          <a:p>
            <a:pPr lvl="1"/>
            <a:r>
              <a:rPr lang="en-US" dirty="0"/>
              <a:t>does </a:t>
            </a:r>
            <a:r>
              <a:rPr lang="en-US" dirty="0">
                <a:solidFill>
                  <a:schemeClr val="accent2"/>
                </a:solidFill>
              </a:rPr>
              <a:t>not</a:t>
            </a:r>
            <a:r>
              <a:rPr lang="en-US" dirty="0"/>
              <a:t> work with NLA (no attempt on requesting TGS)</a:t>
            </a:r>
          </a:p>
          <a:p>
            <a:pPr lvl="1"/>
            <a:r>
              <a:rPr lang="en-US" dirty="0"/>
              <a:t>without NLA the RDP server does </a:t>
            </a:r>
            <a:r>
              <a:rPr lang="en-US" dirty="0">
                <a:solidFill>
                  <a:schemeClr val="accent2"/>
                </a:solidFill>
              </a:rPr>
              <a:t>not</a:t>
            </a:r>
            <a:r>
              <a:rPr lang="en-US" dirty="0"/>
              <a:t> see the certificate as usable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/</a:t>
            </a:r>
            <a:r>
              <a:rPr lang="en-US" dirty="0" err="1">
                <a:solidFill>
                  <a:schemeClr val="accent5"/>
                </a:solidFill>
              </a:rPr>
              <a:t>restrictedAdmin</a:t>
            </a:r>
            <a:r>
              <a:rPr lang="en-US" dirty="0">
                <a:solidFill>
                  <a:schemeClr val="accent5"/>
                </a:solidFill>
              </a:rPr>
              <a:t> works with NLA ok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/</a:t>
            </a:r>
            <a:r>
              <a:rPr lang="en-US" dirty="0" err="1">
                <a:solidFill>
                  <a:schemeClr val="accent5"/>
                </a:solidFill>
              </a:rPr>
              <a:t>remoteGuard</a:t>
            </a:r>
            <a:r>
              <a:rPr lang="en-US" dirty="0">
                <a:solidFill>
                  <a:schemeClr val="accent5"/>
                </a:solidFill>
              </a:rPr>
              <a:t> works with NLA ok</a:t>
            </a:r>
          </a:p>
        </p:txBody>
      </p:sp>
    </p:spTree>
    <p:extLst>
      <p:ext uri="{BB962C8B-B14F-4D97-AF65-F5344CB8AC3E}">
        <p14:creationId xmlns:p14="http://schemas.microsoft.com/office/powerpoint/2010/main" val="29363507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0725-144D-4778-8458-EFFEE30E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Kerberos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D2F1-7BB1-4906-9742-CB4A694EC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DFL 2008 only, DC 2008+ only</a:t>
            </a:r>
          </a:p>
          <a:p>
            <a:r>
              <a:rPr lang="en-US" dirty="0"/>
              <a:t>no PKI for DC certificates</a:t>
            </a:r>
          </a:p>
          <a:p>
            <a:r>
              <a:rPr lang="en-US" dirty="0"/>
              <a:t>no waiting for initial AAD Connect sync</a:t>
            </a:r>
          </a:p>
        </p:txBody>
      </p:sp>
    </p:spTree>
    <p:extLst>
      <p:ext uri="{BB962C8B-B14F-4D97-AF65-F5344CB8AC3E}">
        <p14:creationId xmlns:p14="http://schemas.microsoft.com/office/powerpoint/2010/main" val="21320372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AABB-46A0-4EC2-B3F2-A032634D2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Kerberos trust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3AECB8-06BF-4941-9DDA-C2C06EF62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50" y="1988840"/>
            <a:ext cx="8686800" cy="2158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C0A332-D65A-45A4-900F-4FA77D5B0E33}"/>
              </a:ext>
            </a:extLst>
          </p:cNvPr>
          <p:cNvSpPr txBox="1"/>
          <p:nvPr/>
        </p:nvSpPr>
        <p:spPr>
          <a:xfrm>
            <a:off x="179511" y="1463307"/>
            <a:ext cx="8577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Install-Module 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AzureADHybridAuthenticationManagement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-Scope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AllUsers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2B9CEA-643C-4602-994D-3EB9BBF4D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1" y="5589240"/>
            <a:ext cx="8686799" cy="1101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E94BB4-BCAD-4398-9E29-4E3DE3BCA27F}"/>
              </a:ext>
            </a:extLst>
          </p:cNvPr>
          <p:cNvSpPr txBox="1"/>
          <p:nvPr/>
        </p:nvSpPr>
        <p:spPr>
          <a:xfrm>
            <a:off x="179511" y="4458877"/>
            <a:ext cx="79608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Set-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AzureADKerberosServer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-Domain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UserPrincipalName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Note: no domain admin credentials =&gt; SSO with Kerberos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Note: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UserPrincipalName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GUI web page logon dialog with MFA</a:t>
            </a:r>
          </a:p>
        </p:txBody>
      </p:sp>
    </p:spTree>
    <p:extLst>
      <p:ext uri="{BB962C8B-B14F-4D97-AF65-F5344CB8AC3E}">
        <p14:creationId xmlns:p14="http://schemas.microsoft.com/office/powerpoint/2010/main" val="13092945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AABB-46A0-4EC2-B3F2-A032634D2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Kerberos trust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0ED3D4-4AF5-41BF-814E-DBCA911FA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420888"/>
            <a:ext cx="6804249" cy="2948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0D29C6-47F8-4FAF-9B1E-0ED979B49150}"/>
              </a:ext>
            </a:extLst>
          </p:cNvPr>
          <p:cNvSpPr txBox="1"/>
          <p:nvPr/>
        </p:nvSpPr>
        <p:spPr>
          <a:xfrm>
            <a:off x="683568" y="1628800"/>
            <a:ext cx="61093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HKLM\Software\Policies\Microsoft\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PassportForWork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UseCloudTrustForOnPremAuth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DWORD = 1</a:t>
            </a:r>
          </a:p>
        </p:txBody>
      </p:sp>
    </p:spTree>
    <p:extLst>
      <p:ext uri="{BB962C8B-B14F-4D97-AF65-F5344CB8AC3E}">
        <p14:creationId xmlns:p14="http://schemas.microsoft.com/office/powerpoint/2010/main" val="7285441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2634D-AA7C-43EB-AB4C-2692C7BFE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82960"/>
          </a:xfrm>
        </p:spPr>
        <p:txBody>
          <a:bodyPr/>
          <a:lstStyle/>
          <a:p>
            <a:r>
              <a:rPr lang="en-US" dirty="0"/>
              <a:t>Cloud Kerberos trust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6FE9D-F5BD-4D1A-92BD-5D5A53098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5" y="1101061"/>
            <a:ext cx="8028385" cy="575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376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96C1-1F8A-413C-847F-527B8D514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82960"/>
          </a:xfrm>
        </p:spPr>
        <p:txBody>
          <a:bodyPr/>
          <a:lstStyle/>
          <a:p>
            <a:r>
              <a:rPr lang="en-US" dirty="0"/>
              <a:t>Cloud trust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18117-69B3-4C85-9C9D-40C6F18EA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3178696" cy="5112568"/>
          </a:xfrm>
        </p:spPr>
        <p:txBody>
          <a:bodyPr>
            <a:normAutofit/>
          </a:bodyPr>
          <a:lstStyle/>
          <a:p>
            <a:r>
              <a:rPr lang="en-US" sz="2000" dirty="0"/>
              <a:t>non-initial "TGT" obtained as TGS request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DD3A7-9EE9-4A39-9E2F-D91237542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" y="2653469"/>
            <a:ext cx="8229600" cy="42045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7CEE6A-5375-4DD4-8191-0CA7D3570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325" y="-7414"/>
            <a:ext cx="540067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5167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EF70-43A0-430D-8659-EE074A5CD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782960"/>
          </a:xfrm>
        </p:spPr>
        <p:txBody>
          <a:bodyPr/>
          <a:lstStyle/>
          <a:p>
            <a:r>
              <a:rPr lang="en-US" dirty="0"/>
              <a:t>Cloud Kerberos trust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0182F-6C64-416E-BB09-47FBB730C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352" y="1196752"/>
            <a:ext cx="5576120" cy="4536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F49A2A-9728-4B5A-8364-8E07D917630A}"/>
              </a:ext>
            </a:extLst>
          </p:cNvPr>
          <p:cNvSpPr txBox="1"/>
          <p:nvPr/>
        </p:nvSpPr>
        <p:spPr>
          <a:xfrm>
            <a:off x="480189" y="5846284"/>
            <a:ext cx="69910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Cloud primary TGT invisible, stored in LSASS memory encrypted with TPM</a:t>
            </a:r>
          </a:p>
        </p:txBody>
      </p:sp>
    </p:spTree>
    <p:extLst>
      <p:ext uri="{BB962C8B-B14F-4D97-AF65-F5344CB8AC3E}">
        <p14:creationId xmlns:p14="http://schemas.microsoft.com/office/powerpoint/2010/main" val="10829119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My training in GOPAS</a:t>
            </a:r>
          </a:p>
          <a:p>
            <a:endParaRPr lang="en-US" dirty="0"/>
          </a:p>
          <a:p>
            <a:r>
              <a:rPr lang="en-US" dirty="0"/>
              <a:t>GOC161 - Cryptography</a:t>
            </a:r>
          </a:p>
          <a:p>
            <a:r>
              <a:rPr lang="en-US" dirty="0"/>
              <a:t>GOC166 - Advanced ADFS</a:t>
            </a:r>
            <a:endParaRPr lang="cs-CZ" dirty="0"/>
          </a:p>
          <a:p>
            <a:r>
              <a:rPr lang="cs-CZ" dirty="0"/>
              <a:t>GOC167 - </a:t>
            </a:r>
            <a:r>
              <a:rPr lang="en-US" dirty="0"/>
              <a:t>Troubleshooting </a:t>
            </a:r>
            <a:r>
              <a:rPr lang="cs-CZ" dirty="0" err="1"/>
              <a:t>Remote</a:t>
            </a:r>
            <a:r>
              <a:rPr lang="cs-CZ" dirty="0"/>
              <a:t> Access, VPN and </a:t>
            </a:r>
            <a:r>
              <a:rPr lang="cs-CZ" dirty="0" err="1"/>
              <a:t>DirectAccess</a:t>
            </a:r>
            <a:endParaRPr lang="en-US" dirty="0"/>
          </a:p>
          <a:p>
            <a:r>
              <a:rPr lang="en-US" dirty="0"/>
              <a:t>GOC169 - ISO/IEC 2700x in Windows environment</a:t>
            </a:r>
          </a:p>
          <a:p>
            <a:r>
              <a:rPr lang="en-US" dirty="0"/>
              <a:t>GOC171 - Active Directory Troubleshooting</a:t>
            </a:r>
          </a:p>
          <a:p>
            <a:r>
              <a:rPr lang="en-US" dirty="0"/>
              <a:t>GOC172 - Kerberos Troubleshooting</a:t>
            </a:r>
          </a:p>
          <a:p>
            <a:r>
              <a:rPr lang="en-US" dirty="0"/>
              <a:t>GOC173 - Enterprise PKI Deployment</a:t>
            </a:r>
          </a:p>
          <a:p>
            <a:r>
              <a:rPr lang="en-US" dirty="0"/>
              <a:t>GOC175 - Advanced Windows Security</a:t>
            </a:r>
          </a:p>
        </p:txBody>
      </p:sp>
    </p:spTree>
    <p:extLst>
      <p:ext uri="{BB962C8B-B14F-4D97-AF65-F5344CB8AC3E}">
        <p14:creationId xmlns:p14="http://schemas.microsoft.com/office/powerpoint/2010/main" val="1289579068"/>
      </p:ext>
    </p:extLst>
  </p:cSld>
  <p:clrMapOvr>
    <a:masterClrMapping/>
  </p:clrMapOvr>
</p:sld>
</file>

<file path=ppt/theme/theme1.xml><?xml version="1.0" encoding="utf-8"?>
<a:theme xmlns:a="http://schemas.openxmlformats.org/drawingml/2006/main" name="Gopas 1  (3 barvy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Gopas 2  (3 barvy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pas 3  (6 barev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opas 4  (6 barev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3495</Words>
  <Application>Microsoft Office PowerPoint</Application>
  <PresentationFormat>On-screen Show (4:3)</PresentationFormat>
  <Paragraphs>533</Paragraphs>
  <Slides>73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Arial</vt:lpstr>
      <vt:lpstr>Courier New</vt:lpstr>
      <vt:lpstr>Wingdings</vt:lpstr>
      <vt:lpstr>Gopas 1  (3 barvy)</vt:lpstr>
      <vt:lpstr>Gopas 2  (3 barvy + "planetka")</vt:lpstr>
      <vt:lpstr>Gopas 3  (6 barev)</vt:lpstr>
      <vt:lpstr>Gopas 4  (6 barev + "planetka")</vt:lpstr>
      <vt:lpstr>Modern Kerberos topics</vt:lpstr>
      <vt:lpstr>Persistent-Auth HTTP response header</vt:lpstr>
      <vt:lpstr>Hash propagation in mixed environments</vt:lpstr>
      <vt:lpstr>DFL 2008+ mixed algorithm tickets with MD4 password only with msDS-SupportedEncryptionTypes = AES+RC4</vt:lpstr>
      <vt:lpstr>DFL 2008+ mixed algorithm tickets with MD4 password only with msDS-SupportedEncryptionTypes = RC4</vt:lpstr>
      <vt:lpstr>Audit RC4 etype usage</vt:lpstr>
      <vt:lpstr>2025-jan update 2016/2019/2022/2025</vt:lpstr>
      <vt:lpstr>Audit RC4 etype usage</vt:lpstr>
      <vt:lpstr>Get all TGS tickets possible</vt:lpstr>
      <vt:lpstr>Require (enforce) AES on DCs </vt:lpstr>
      <vt:lpstr>ETYPE_NOTSUPP (0xE)</vt:lpstr>
      <vt:lpstr>ETYPE_NOTSUPP (0xE)</vt:lpstr>
      <vt:lpstr>Always reset KRBTGT account on 2008+</vt:lpstr>
      <vt:lpstr>How to do it safely - disable RC4 usage carefully</vt:lpstr>
      <vt:lpstr>Protected Users group</vt:lpstr>
      <vt:lpstr>NTLM blocked by DCs (DFL 2012 R2+)</vt:lpstr>
      <vt:lpstr>Kerberos from non-domain machines (2008/Vista+ client)</vt:lpstr>
      <vt:lpstr>Kerberos for non-domain machines</vt:lpstr>
      <vt:lpstr>Kerberos from non-domain machines</vt:lpstr>
      <vt:lpstr>Kerberos from non-domain machines</vt:lpstr>
      <vt:lpstr>Firewall ports for Kerberos (client -&gt; DCs)</vt:lpstr>
      <vt:lpstr>Refresh everything Kerberos</vt:lpstr>
      <vt:lpstr>Testing Kerberos even from non-domain or non-trusted forest machines</vt:lpstr>
      <vt:lpstr>RDP with smart card logon from non-domain machines or different forest with NLA required on RDP server</vt:lpstr>
      <vt:lpstr>PowerPoint Presentation</vt:lpstr>
      <vt:lpstr>Temporary group membership (FFL 2016)</vt:lpstr>
      <vt:lpstr>Limiting pass-the-credentials attacks</vt:lpstr>
      <vt:lpstr>Armoring support for KDC with DFL 2012+</vt:lpstr>
      <vt:lpstr>Armoring support for clients 8/2012+</vt:lpstr>
      <vt:lpstr>Kerberos AS request with FAST</vt:lpstr>
      <vt:lpstr>Armoring FAST</vt:lpstr>
      <vt:lpstr>Pre-authentication types</vt:lpstr>
      <vt:lpstr>Authentication Policies (DFL 2012 R2+)</vt:lpstr>
      <vt:lpstr>Different policies effects (details later)</vt:lpstr>
      <vt:lpstr>Device rules for TGS authentication policies (service tickets for user accounts, service tickets for service accounts)</vt:lpstr>
      <vt:lpstr>KDC's AS reply may contain flag for clients to encourage compound TGS requests</vt:lpstr>
      <vt:lpstr>Every Client's TGS request will contain compound ID</vt:lpstr>
      <vt:lpstr>Compound authentication to servers must be enabled on target accounts (TGS)</vt:lpstr>
      <vt:lpstr>KDC proxy for Kerberos clients (8/2012+)</vt:lpstr>
      <vt:lpstr>GOLD production forests and RED forest</vt:lpstr>
      <vt:lpstr>Shadow principals / groups</vt:lpstr>
      <vt:lpstr>SIDs overview</vt:lpstr>
      <vt:lpstr>Notes on SID filtering (external trust)</vt:lpstr>
      <vt:lpstr>Notes on SID filtering (forest trust)</vt:lpstr>
      <vt:lpstr>PIM trusts and RED forests (FFL 2016)</vt:lpstr>
      <vt:lpstr>PIM trust requirements on the GOLD forest</vt:lpstr>
      <vt:lpstr>PIM trust requirements on the RED forest</vt:lpstr>
      <vt:lpstr>Shadow principals on the RED forest</vt:lpstr>
      <vt:lpstr>Windows Hello for Business</vt:lpstr>
      <vt:lpstr>Windows Hello for Business (WHB)</vt:lpstr>
      <vt:lpstr>Azure AD joined machines or hybrid joined machines</vt:lpstr>
      <vt:lpstr>AAD account logged on a workgroup machine</vt:lpstr>
      <vt:lpstr>AAD account logon provider and cache</vt:lpstr>
      <vt:lpstr>WHB user certificate</vt:lpstr>
      <vt:lpstr>WHB msDS-KeyCredentialLink</vt:lpstr>
      <vt:lpstr>WHB msDS-KeyCredentialLink</vt:lpstr>
      <vt:lpstr>msDS-KeyCredentialLink vs. msDS-Device</vt:lpstr>
      <vt:lpstr>WHB certificate private key</vt:lpstr>
      <vt:lpstr>WHB certificate private key in base S/C CSP</vt:lpstr>
      <vt:lpstr>AS_REQ</vt:lpstr>
      <vt:lpstr>AS_REQ</vt:lpstr>
      <vt:lpstr>Trust DC certificate CAs on non-domain machines</vt:lpstr>
      <vt:lpstr>Normal TGT/TGS issued by WHB S/C logon</vt:lpstr>
      <vt:lpstr>WHB with normal SC AS event 4768</vt:lpstr>
      <vt:lpstr>WHB gets NTLM MD4 NT hash from TGT PAC normally</vt:lpstr>
      <vt:lpstr>WHB issues from non-domain computers</vt:lpstr>
      <vt:lpstr>Cloud Kerberos trust</vt:lpstr>
      <vt:lpstr>Cloud Kerberos trust</vt:lpstr>
      <vt:lpstr>Cloud Kerberos trust</vt:lpstr>
      <vt:lpstr>Cloud Kerberos trust</vt:lpstr>
      <vt:lpstr>Cloud trust</vt:lpstr>
      <vt:lpstr>Cloud Kerberos trust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Administrator</cp:lastModifiedBy>
  <cp:revision>6</cp:revision>
  <dcterms:created xsi:type="dcterms:W3CDTF">2013-03-17T16:22:31Z</dcterms:created>
  <dcterms:modified xsi:type="dcterms:W3CDTF">2026-03-06T09:30:23Z</dcterms:modified>
</cp:coreProperties>
</file>